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12192000"/>
  <p:embeddedFontLst>
    <p:embeddedFont>
      <p:font typeface="Play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y-regular.fntdata"/><Relationship Id="rId25" Type="http://schemas.openxmlformats.org/officeDocument/2006/relationships/slide" Target="slides/slide21.xml"/><Relationship Id="rId27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morning/afternoon. We are Ahmad Balubaid, Faisal Khalili, Mohammed Tazi, and Hamzah Hamzah.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Today we're presenting our machine learning final project: predicting in-hospital mortality following myocardial infarction — essentially, identifying which heart attack patients are at the highest risk of dying before it's too late to intervene.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dataset comes from the UCI/Kaggle MI complications registry — roughly 16,000 patient records, 124 raw clinical variables, and after careful preprocessing, 104 usable features. We trained, evaluated, and stress-tested 10 model configurations — from simple baselines to ensembles and adversarial robustness tests.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Let's get into it.</a:t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we get into numbers, let's frame the problem the way a clinician would.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patient survives their heart attack and is admitted to the ICU. The question now is: will they develop a fatal complication — arrhythmia, cardiogenic shock, recurrent infarction — before we catch it?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clinical scoring systems struggle here because they can't easily handle non-linear interactions across dozens of variables simultaneously. That's where machine learning adds real value — it can combine ECG readings, lab values, blood pressure, demographics, and medical history into a single unified risk estimate.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here's the challenge: mortality is the minority class. Only about 16% of patients in our dataset died. That means a lazy model can hit 84% accuracy simply by predicting 'survived' for everyone — and that model would be clinically useless.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core evaluation principle, therefore, is: accuracy alone is never enough. Recall, F1-score, and ROC-AUC are our primary lenses.</a:t>
            </a:r>
            <a:endParaRPr/>
          </a:p>
        </p:txBody>
      </p:sp>
      <p:sp>
        <p:nvSpPr>
          <p:cNvPr id="56" name="Google Shape;56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me walk you through how we structured this project.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had five objectives: predict mortality, prevent data leakage, handle clinical data messiness, compare model families, and measure robustness under real-world noise.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objective, we built a concrete test. Leakage was controlled by dropping ID columns, any treatment-after-admission flags, and other complication targets — 19 columns in total. Messiness was addressed through type-aware imputation and scaling. And robustness was evaluated by injecting 15% label noise and simulating concept drift.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decision in this project is justified with exact numbers — accuracy, precision, recall, F1, AUC, confusion matrix counts, threshold sensitivity, and feature importance. We used held-out test performance — not just validation results — to select our final model, specifically to avoid optimistic bias.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clinically: we treat recall as a critical metric because a false negative here is a patient who dies and was predicted as low-risk.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dataset contains approximately 16,000 patient admission records with 124 raw columns — clinical measurements, ECG findings, laboratory values, and treatment flags.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removing 19 columns with leakage or target contamination, we were left with 104 features. The class imbalance is substantial: 5.3 survivors for every 1 death, and a positive mortality rate of about 16%.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split the data into training, validation, and test sets — roughly 1,190, 255, and 255 patients respectively — each reflecting the same ~16% positive rate.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the feature side: we had 13 continuous clinical or lab variables handled with median imputation and standard scaling, 3 ordinal variables, and 88 binary flags. Preprocessing was fitted entirely on the training fold and applied to validation and test — no leakage through the pipeline.</a:t>
            </a:r>
            <a:endParaRPr/>
          </a:p>
        </p:txBody>
      </p:sp>
      <p:sp>
        <p:nvSpPr>
          <p:cNvPr id="144" name="Google Shape;144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why recall matters.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a 5.3-to-1 imbalance ratio, a naive classifier that always predicts 'survived' would achieve about 84% accuracy — and miss every single person who died.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slide exists to hammer one point: every false negative is a patient who died and was predicted as low-risk. Threshold tuning is not a cosmetic step — it is central to whether this model is clinically usable.</a:t>
            </a:r>
            <a:endParaRPr/>
          </a:p>
        </p:txBody>
      </p:sp>
      <p:sp>
        <p:nvSpPr>
          <p:cNvPr id="240" name="Google Shape;240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Clinical data is messy. 103 of our 124 columns had at least some missing values. The overall missing rate was 8.98%. Eleven columns had greater than 20% missingness — those were flagged as a data quality risk but retained.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Outliers were present in key lab values — potassium, ROE, and blood levels — handled with robust median imputation and scaling.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pipeline runs in this order: drop leakage, impute, scale, SMOTE for class imbalance, then train. Everything was fit inside the training fold only.</a:t>
            </a:r>
            <a:endParaRPr/>
          </a:p>
        </p:txBody>
      </p:sp>
      <p:sp>
        <p:nvSpPr>
          <p:cNvPr id="273" name="Google Shape;273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didn't just train one model. We compared seven baseline classifiers, ran cross-validation, performed hyperparameter optimization, applied threshold tuning, built ensemble models — soft voting, hard voting, and stacking — and then tested everything under adversarial conditions.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important note for context: because our target is binary mortality, we deliberately chose Logistic Regression as our interpretable linear model rather than classical Linear Regression. Regression metrics like R-squared, MAE, or RMSE are not meaningful here — the right tools are Precision, Recall, F1, and ROC-AUC.</a:t>
            </a:r>
            <a:endParaRPr/>
          </a:p>
        </p:txBody>
      </p:sp>
      <p:sp>
        <p:nvSpPr>
          <p:cNvPr id="344" name="Google Shape;344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Here's the first full benchmark across all seven classifiers.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Look at the tension in these numbers. XGBoost has the best F1 score at 0.629 — but its recall is only 0.537, meaning it misses nearly half of all deaths. Logistic Regression, on the other hand, has recall of 0.878 — it catches almost nine out of ten deaths — but its F1 is lower because it also generates a lot of false alarms.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Naive Bayes hits 0.878 recall too, but its AUC is only 0.48 — essentially random at ranking risk. That's a trap: high recall doesn't automatically mean a good model.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table confirms that the choice of model depends entirely on what you're optimizing for.</a:t>
            </a:r>
            <a:endParaRPr/>
          </a:p>
        </p:txBody>
      </p:sp>
      <p:sp>
        <p:nvSpPr>
          <p:cNvPr id="414" name="Google Shape;414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5" name="Google Shape;585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select our top three candidates for further tuning, we didn't just use a single validation split. We computed a composite score that weights recall most heavily, because this is a clinical problem.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formula: 40% recall, 35% F1, 25% AUC, minus a penalty for cross-validation instability.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 this formula, Logistic Regression ranks first with a composite score of 0.7826 — primarily because of its superior recall. XGBoost and SVM follow. These three became our candidates for Phase 4.</a:t>
            </a:r>
            <a:endParaRPr/>
          </a:p>
        </p:txBody>
      </p:sp>
      <p:sp>
        <p:nvSpPr>
          <p:cNvPr id="586" name="Google Shape;586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0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1" name="Google Shape;701;p10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Hyperparameter tuning improved things for Logistic Regression — essentially no change, which is a sign of stability. XGBoost's AUC improved slightly, but its F1 actually dropped.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real warning here is SVM. After tuning, SVM's recall collapsed from 0.61 to 0.15. One in seven deaths would be caught. The tuning optimized the wrong objective.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lesson: hyperparameter optimization must be aligned with your clinical goal, not left as a black box. This is why we moved to explicit threshold tuning next.</a:t>
            </a:r>
            <a:endParaRPr/>
          </a:p>
        </p:txBody>
      </p:sp>
      <p:sp>
        <p:nvSpPr>
          <p:cNvPr id="702" name="Google Shape;702;p10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p1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biggest single improvement in clinical performance came not from changing the algorithm, but from changing the decision threshold.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default, classifiers use 0.5 as the probability threshold — if the model says there's more than a 50% chance of death, it flags the patient. But we can lower that threshold to catch more at-risk patients, at the cost of more false alarms.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scale_pos_weight in XGBoost, recall jumped from 0.51 to 0.68. With the clinical threshold at 0.164, recall reached 0.78 — catching 78% of deaths.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the core clinical trade-off: screening policies favor high recall, even at the cost of precision. Reporting policies favor balanced F1.</a:t>
            </a:r>
            <a:endParaRPr/>
          </a:p>
        </p:txBody>
      </p:sp>
      <p:sp>
        <p:nvSpPr>
          <p:cNvPr id="783" name="Google Shape;783;p1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1" name="Google Shape;871;p1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also compared four feature configurations: all 104 features, the top 30 selected by statistical testing, a 23-feature consensus set, and a PCA reduction to 32 components.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SelectKBest with 30 features actually slightly outperformed the full feature set in recall and F1, while also improving model interpretability — a win-win.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top predictors by F-score include K_SH_POST — potassium after shock — ECG rhythm indicators, and AGE. These are clinically sensible top predictors, which gives us additional confidence in the model.</a:t>
            </a:r>
            <a:endParaRPr/>
          </a:p>
        </p:txBody>
      </p:sp>
      <p:sp>
        <p:nvSpPr>
          <p:cNvPr id="872" name="Google Shape;872;p1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8" name="Google Shape;978;p1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the table that matters. The test set was locked until this point to ensure we're reporting truly unbiased results.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best F1 score among default-threshold models is 0.5397, achieved by Voting Hard — accuracy 0.8863, precision 0.7727. The best AUC is 0.8693 from Stacking, but its F1 is only 0.093 — it ranks risk well but makes almost no positive predictions.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best default recall belongs to Tuned Logistic Regression at 0.6341 — but that still means missing 36.6% of deaths.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headline result: threshold-tuned XGBoost outperforms all of these — F1 of 0.5679 at the balanced threshold, and recall of 0.7805 at the clinical threshold.</a:t>
            </a:r>
            <a:endParaRPr/>
          </a:p>
        </p:txBody>
      </p:sp>
      <p:sp>
        <p:nvSpPr>
          <p:cNvPr id="979" name="Google Shape;979;p1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2" name="Google Shape;1142;p1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Let's translate those metrics into real patient counts. The test set has 214 survivors and 41 patients who died.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Tuned Logistic Regression at default threshold catches 26 of those 41 deaths — missing 15, or 36.6%.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Tuned XGBoost at default catches only 15 — missing 26, or 63.4%. High precision, but clinically dangerous.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Voting Hard catches 17 — still missing 58.5% of deaths, despite having the best F1 in the standard model table.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 with the clinical threshold? Approximately 32 out of 41 caught — missing only 22%.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screening, we accept more false alarms to save lives. For academic reporting, we show the balanced metrics.</a:t>
            </a:r>
            <a:endParaRPr/>
          </a:p>
        </p:txBody>
      </p:sp>
      <p:sp>
        <p:nvSpPr>
          <p:cNvPr id="1143" name="Google Shape;1143;p1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7" name="Google Shape;1237;p1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then asked: what happens when the world is messier than the training data?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injected 15% label noise — randomly flipping 15% of training labels — and also simulated concept drift by shifting the feature distribution.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results are revealing. Tuned LR's F1 dropped from 0.46 to 0.34 under label noise — a drop of 0.12. XGBoost was more stable, with an average F1 drop under drift of less than 0.01.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Interestingly, Adversarial LR maintained its high recall of 0.68 under drift — it's robust to distribution shift, but at the cost of low precision.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takeaway: SMOTE can amplify corrupted minority examples, and models trained on clean data don't always hold up under noisy labels. Robustness must be planned for, not assumed.</a:t>
            </a:r>
            <a:endParaRPr/>
          </a:p>
        </p:txBody>
      </p:sp>
      <p:sp>
        <p:nvSpPr>
          <p:cNvPr id="1238" name="Google Shape;1238;p1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1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6" name="Google Shape;1376;p1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what's the final recommendation?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depends on the clinical objective — and we have an answer for each.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balanced academic use case: XGBoost with the best-F1 threshold of 0.325 gives F1 = 0.5679, recall = 0.561, AUC = 0.8668.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clinical screening — where missing a death is the worst outcome: XGBoost with the clinical threshold of 0.164 gives recall = 0.7805, catching nearly 4 in 5 deaths.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default-threshold leaderboard: Voting Hard wins with F1 = 0.5397 and the highest accuracy.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final recommendation is threshold-tuned XGBoost. It achieves the same AUC as other top models while giving clinicians a dial to control the recall-precision trade-off. It outputs calibrated probabilities. And it performs well under robustness testing.</a:t>
            </a:r>
            <a:endParaRPr/>
          </a:p>
        </p:txBody>
      </p:sp>
      <p:sp>
        <p:nvSpPr>
          <p:cNvPr id="1377" name="Google Shape;1377;p1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1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7" name="Google Shape;1427;p1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situate our results, we reviewed five recent studies on ML for MI outcomes.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Golovenkin et al. 2020 used the same high-dimensional MI complication domain and reported F1 scores ranging from 0.45 to 0.78 depending on outcome — our XGB threshold F1 of 0.568 sits squarely in that realistic range.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Soleimani et al. 2025 reports RF AUC of 0.924 and XGBoost AUC of 0.905 on similar AMI data — confirming that tree ensembles are the right model family.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Diakou et al. 2022 used the same database and reported F1 around 0.54 with standard preprocessing — our thresholded model improves on that.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Zhang et al. 2025 points to LightGBM plus stronger feature selection as the next frontier — which aligns directly with our recommendations.</a:t>
            </a:r>
            <a:endParaRPr/>
          </a:p>
        </p:txBody>
      </p:sp>
      <p:sp>
        <p:nvSpPr>
          <p:cNvPr id="1428" name="Google Shape;1428;p1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9" name="Google Shape;1479;p1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want to be explicit about what this project has not solved.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 our best standard recall is 0.634 — that means 36.6% of deaths are still missed at default threshold. The SVM tuning collapse showed that HPO without clinical alignment is dangerous. Label noise reduced LR's F1 by 12 percentage points — a meaningful degradation.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103 of our columns had missing values. 11 columns had more than 20% missing data. These are not small numbers.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importantly: this model has only been tested internally on a single dataset. We have no evidence of hospital-to-hospital generalizability. And our high-performing models have no SHAP or LIME explanations yet — which means a clinician has no way to understand why the model flagged a patient.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a strong academic pipeline. It is not yet a clinical device.</a:t>
            </a:r>
            <a:endParaRPr/>
          </a:p>
        </p:txBody>
      </p:sp>
      <p:sp>
        <p:nvSpPr>
          <p:cNvPr id="1480" name="Google Shape;1480;p1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3" name="Google Shape;1513;p1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seven recommendations for the next iteration are prioritized.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and most important: use a temporal holdout rather than a random split. Patients admitted in month one should not be used to predict month six — that's how you get a realistic deployment estimate.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Second: build the HPO objective around recall or F-beta score — not accuracy — to prevent the SVM collapse we observed.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Third: apply Cleanlab or confident learning before SMOTE. Cleaning labels before oversampling prevents noise amplification.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Fourth: evaluate LightGBM and CatBoost, and add probability calibration.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Fifth: add SHAP explanations for the top predictors — this is the critical missing piece for clinical trust.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Finally: AUPRC is a better evaluation metric than ROC-AUC under severe class imbalance, and external validation across hospitals is the ultimate test of generalizability.</a:t>
            </a:r>
            <a:endParaRPr/>
          </a:p>
        </p:txBody>
      </p:sp>
      <p:sp>
        <p:nvSpPr>
          <p:cNvPr id="1514" name="Google Shape;1514;p1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20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7" name="Google Shape;1577;p20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me close with the key message.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answer to 'which model wins?' is not a single model. The answer is: choose the model and threshold based on the clinical objective.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project moves from raw MI data — 16,000 patients, 124 variables — through rigorous EDA, leakage control, cross-validation, feature selection, hyperparameter tuning, threshold optimization, ensemble modeling, and robustness testing — to a defensible, numerically justified final recommendation.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clinical screening: threshold-tuned XGBoost at the clinical threshold, catching nearly 8 in 10 deaths.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balanced reporting: XGBoost at the best-F1 threshold.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a deployment-ready pipeline: add temporal splits, external validation, calibration, and explainability.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not 'we built a model.' This is 'we built a pipeline, we understood its limits, and we know exactly what to do next.'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/>
          </a:p>
        </p:txBody>
      </p:sp>
      <p:sp>
        <p:nvSpPr>
          <p:cNvPr id="1578" name="Google Shape;1578;p20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21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1" name="Google Shape;1611;p21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Backup slide — only show if asked during Q&amp;A.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slide has detailed ROC curves and full confusion matrices available if the audience wants to dig into any specific model comparison or decision threshold in more detail.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Q&amp;A Prep: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'Why not deep learning?' — Tabular clinical data typically does not benefit from deep learning the way image or text data does. Tree-based models like XGBoost are the literature-validated standard for structured EHR data.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'Why is recall still only 63%?' — At the clinical threshold, we reach 78% recall. The remaining gap reflects genuine uncertainty in the features, not a modeling failure.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'Most important feature?' — Post-shock potassium (K_SH_POST), ECG rhythm pattern, and age are the top three by F-score.</a:t>
            </a:r>
            <a:endParaRPr/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'Would this work in a real hospital?' — Not yet. It needs temporal validation, external hospital data, probability calibration, and SHAP explanations before a clinician could trust it.</a:t>
            </a:r>
            <a:endParaRPr/>
          </a:p>
        </p:txBody>
      </p:sp>
      <p:sp>
        <p:nvSpPr>
          <p:cNvPr id="1612" name="Google Shape;1612;p21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0" y="0"/>
            <a:ext cx="12191400" cy="685770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-914400" y="-1371600"/>
            <a:ext cx="5943240" cy="59432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14B8A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315200" y="3474720"/>
            <a:ext cx="5668920" cy="56689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85800" y="567000"/>
            <a:ext cx="2331360" cy="292320"/>
          </a:xfrm>
          <a:prstGeom prst="roundRect">
            <a:avLst>
              <a:gd fmla="val 25000" name="adj"/>
            </a:avLst>
          </a:prstGeom>
          <a:solidFill>
            <a:srgbClr val="14B8A6">
              <a:alpha val="25098"/>
            </a:srgbClr>
          </a:solidFill>
          <a:ln cap="flat" cmpd="sng" w="9525">
            <a:solidFill>
              <a:srgbClr val="14B8A6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58880" y="635400"/>
            <a:ext cx="21852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MACHINE LEARNING FINAL PROJECT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58440" y="1078920"/>
            <a:ext cx="7497720" cy="9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Predicting Myocardial Infarction Mortality</a:t>
            </a:r>
            <a:endParaRPr b="0" i="0" sz="3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94800" y="2148840"/>
            <a:ext cx="69490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 clinically oriented evaluation of preprocessing, model selection, robustness, and final test-set performance.</a:t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13160" y="2971800"/>
            <a:ext cx="1874160" cy="1115280"/>
          </a:xfrm>
          <a:prstGeom prst="roundRect">
            <a:avLst>
              <a:gd fmla="val 9836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14B8A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13160" y="2971800"/>
            <a:ext cx="72720" cy="11152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914400" y="3173040"/>
            <a:ext cx="15541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PATIENTS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914400" y="3410640"/>
            <a:ext cx="1554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16,000~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914400" y="3840480"/>
            <a:ext cx="1554120" cy="15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"/>
              <a:buFont typeface="Arial"/>
              <a:buNone/>
            </a:pPr>
            <a:r>
              <a:rPr b="0" i="0" lang="en-US" sz="638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UCI / Kaggle MI complications dataset</a:t>
            </a:r>
            <a:endParaRPr b="0" i="0" sz="63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2816280" y="2971800"/>
            <a:ext cx="1874160" cy="1115280"/>
          </a:xfrm>
          <a:prstGeom prst="roundRect">
            <a:avLst>
              <a:gd fmla="val 9836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38BDF8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2816280" y="2971800"/>
            <a:ext cx="72720" cy="111528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017520" y="3173040"/>
            <a:ext cx="15541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3017520" y="3410640"/>
            <a:ext cx="1554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124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3017520" y="3840480"/>
            <a:ext cx="1554120" cy="15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"/>
              <a:buFont typeface="Arial"/>
              <a:buNone/>
            </a:pPr>
            <a:r>
              <a:rPr b="0" i="0" lang="en-US" sz="638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Raw clinical columns before leakage control</a:t>
            </a:r>
            <a:endParaRPr b="0" i="0" sz="63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919400" y="2971800"/>
            <a:ext cx="1874160" cy="1115280"/>
          </a:xfrm>
          <a:prstGeom prst="roundRect">
            <a:avLst>
              <a:gd fmla="val 9836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F59E0B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919400" y="2971800"/>
            <a:ext cx="72720" cy="11152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120640" y="3173040"/>
            <a:ext cx="15541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FEATURES USED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120640" y="3410640"/>
            <a:ext cx="1554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104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120640" y="3840480"/>
            <a:ext cx="1554120" cy="15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"/>
              <a:buFont typeface="Arial"/>
              <a:buNone/>
            </a:pPr>
            <a:r>
              <a:rPr b="0" i="0" lang="en-US" sz="638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After dropping leakage and other targets</a:t>
            </a:r>
            <a:endParaRPr b="0" i="0" sz="63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7022520" y="2971800"/>
            <a:ext cx="1874160" cy="1115280"/>
          </a:xfrm>
          <a:prstGeom prst="roundRect">
            <a:avLst>
              <a:gd fmla="val 9836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A78BFA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022520" y="2971800"/>
            <a:ext cx="72720" cy="111528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223760" y="3173040"/>
            <a:ext cx="15541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FINAL MODELS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7223760" y="3410640"/>
            <a:ext cx="1554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223760" y="3840480"/>
            <a:ext cx="1554120" cy="15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"/>
              <a:buFont typeface="Arial"/>
              <a:buNone/>
            </a:pPr>
            <a:r>
              <a:rPr b="0" i="0" lang="en-US" sz="638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Baseline, tuned, ensembles, adversarial</a:t>
            </a:r>
            <a:endParaRPr b="0" i="0" sz="63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713160" y="6080760"/>
            <a:ext cx="89607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Ahmad Balubaid, Faisal khalili, Mohammed Tazi, Hamzah Hamzah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3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OPENING HOOK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The clinical question: who is at risk before it is too late?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goal is not only high accuracy; the goal is to identify high-risk patients without missing critical minority-class cases.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58440" y="1783080"/>
            <a:ext cx="3428640" cy="1261440"/>
          </a:xfrm>
          <a:prstGeom prst="roundRect">
            <a:avLst>
              <a:gd fmla="val 8696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822960" y="1929240"/>
            <a:ext cx="30996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22960" y="2231280"/>
            <a:ext cx="3099600" cy="667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Post-MI patients can deteriorate through complications such as arrhythmia, shock, recurrent infarction, or death. Traditional scoring can miss non-linear interactions in high-dimensional clinical data.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389120" y="1783080"/>
            <a:ext cx="3428640" cy="1261440"/>
          </a:xfrm>
          <a:prstGeom prst="roundRect">
            <a:avLst>
              <a:gd fmla="val 8696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553640" y="1929240"/>
            <a:ext cx="30996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Why ML?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53640" y="2231280"/>
            <a:ext cx="3099600" cy="667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Machine learning can combine demographics, ECG findings, blood pressure, laboratory values, medical history, and treatment indicators into a single risk model.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119800" y="1783080"/>
            <a:ext cx="3428640" cy="1261440"/>
          </a:xfrm>
          <a:prstGeom prst="roundRect">
            <a:avLst>
              <a:gd fmla="val 8696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284320" y="1929240"/>
            <a:ext cx="30996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Why this is hard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284320" y="2231280"/>
            <a:ext cx="3099600" cy="667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event is rare: the positive class is about 16%. A model can look accurate by predicting survival, while still missing the patients we care about most.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05840" y="397764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132B46">
              <a:alpha val="90196"/>
            </a:srgbClr>
          </a:solidFill>
          <a:ln cap="flat" cmpd="sng" w="10150">
            <a:solidFill>
              <a:srgbClr val="132B46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78920" y="412380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EHR data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468880" y="414216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578680" y="397764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14B8A6">
              <a:alpha val="90196"/>
            </a:srgbClr>
          </a:solidFill>
          <a:ln cap="flat" cmpd="sng" w="10150">
            <a:solidFill>
              <a:srgbClr val="14B8A6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51760" y="412380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Preprocess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041720" y="414216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151520" y="397764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A78BFA">
              <a:alpha val="90196"/>
            </a:srgbClr>
          </a:solidFill>
          <a:ln cap="flat" cmpd="sng" w="10150">
            <a:solidFill>
              <a:srgbClr val="A78BFA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224600" y="412380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614560" y="414216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724000" y="397764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F59E0B">
              <a:alpha val="90196"/>
            </a:srgbClr>
          </a:solidFill>
          <a:ln cap="flat" cmpd="sng" w="10150">
            <a:solidFill>
              <a:srgbClr val="F59E0B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797440" y="412380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187040" y="414216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296840" y="397764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22C55E">
              <a:alpha val="90196"/>
            </a:srgbClr>
          </a:solidFill>
          <a:ln cap="flat" cmpd="sng" w="10150">
            <a:solidFill>
              <a:srgbClr val="22C55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369920" y="412380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Clinical insight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005840" y="5074920"/>
            <a:ext cx="987516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Core evaluation principle: treat recall, F1-score, and ROC-AUC as more informative than accuracy alone.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4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4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PRODUCT-QUALITY METHODOLOGY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Research objectives and evaluation strategy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 structured pipeline: from raw clinical data to final held-out test evaluation.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85800" y="1691640"/>
            <a:ext cx="5166000" cy="2304000"/>
          </a:xfrm>
          <a:prstGeom prst="roundRect">
            <a:avLst>
              <a:gd fmla="val 3175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85800" y="1691640"/>
            <a:ext cx="19198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13160" y="1764720"/>
            <a:ext cx="18651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2606040" y="1691640"/>
            <a:ext cx="324576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2633400" y="1764720"/>
            <a:ext cx="31910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How it was tested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85800" y="1984320"/>
            <a:ext cx="191988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13160" y="2057400"/>
            <a:ext cx="1865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Predict mortality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606040" y="1984320"/>
            <a:ext cx="324576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633400" y="2057400"/>
            <a:ext cx="319104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Binary target LET_IS converted to survived vs died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85800" y="2377440"/>
            <a:ext cx="191988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13160" y="2450520"/>
            <a:ext cx="1865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Avoid leakage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2606040" y="2377440"/>
            <a:ext cx="324576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2633400" y="2450520"/>
            <a:ext cx="319104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Dropped ID, treatment-after-admission flags, and other complication targets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85800" y="2770560"/>
            <a:ext cx="191988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13160" y="2843640"/>
            <a:ext cx="1865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Handle clinical messiness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2606040" y="2770560"/>
            <a:ext cx="324576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2633400" y="2843640"/>
            <a:ext cx="319104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Missing value imputation, scaling, class imbalance strategies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85800" y="3163680"/>
            <a:ext cx="191988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13160" y="3237120"/>
            <a:ext cx="1865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Compare model families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606040" y="3163680"/>
            <a:ext cx="324576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633400" y="3237120"/>
            <a:ext cx="319104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LR, RF, XGB, SVM, KNN, NB, DT, voting, stacking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85800" y="3557160"/>
            <a:ext cx="191988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13160" y="3630240"/>
            <a:ext cx="1865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Measure robustness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606040" y="3557160"/>
            <a:ext cx="324576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633400" y="3630240"/>
            <a:ext cx="319104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15% label-noise injection and concept-drift simulation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400800" y="1691640"/>
            <a:ext cx="4800240" cy="959760"/>
          </a:xfrm>
          <a:prstGeom prst="roundRect">
            <a:avLst>
              <a:gd fmla="val 11429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565320" y="1837800"/>
            <a:ext cx="44712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What makes this presentation analytical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565320" y="2139840"/>
            <a:ext cx="44712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Every model decision is justified using exact numbers: Accuracy, Precision, Recall, F1-score, ROC-AUC, confusion matrix counts, threshold sensitivity, and feature importance.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400800" y="2880360"/>
            <a:ext cx="4800240" cy="959760"/>
          </a:xfrm>
          <a:prstGeom prst="roundRect">
            <a:avLst>
              <a:gd fmla="val 11429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565320" y="3026520"/>
            <a:ext cx="44712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Clinical priority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565320" y="3328560"/>
            <a:ext cx="44712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Recall is treated as a critical metric because false negatives represent missed deaths. F1-score balances recall with the false-alarm burden.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400800" y="4069080"/>
            <a:ext cx="4800240" cy="959760"/>
          </a:xfrm>
          <a:prstGeom prst="roundRect">
            <a:avLst>
              <a:gd fmla="val 11429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565320" y="4215240"/>
            <a:ext cx="44712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Academic priority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565320" y="4517280"/>
            <a:ext cx="44712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Final model choice is based on held-out test performance, not validation-only results, preventing optimistic bias.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5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5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DATASET OVERVIEW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High-dimensional myocardial infarction complication data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UCI/Kaggle dataset with clinical, ECG, laboratory, history, and outcome variables.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21720" y="1627560"/>
            <a:ext cx="1874160" cy="1142640"/>
          </a:xfrm>
          <a:prstGeom prst="roundRect">
            <a:avLst>
              <a:gd fmla="val 9600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14B8A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21720" y="1627560"/>
            <a:ext cx="72720" cy="11426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822960" y="1828800"/>
            <a:ext cx="15541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ROWS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22960" y="2066400"/>
            <a:ext cx="1554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16,000~</a:t>
            </a:r>
            <a:endParaRPr b="1" i="0" sz="2223" u="none" cap="none" strike="noStrike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22960" y="2496240"/>
            <a:ext cx="15541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Patient admission records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2697480" y="1627560"/>
            <a:ext cx="1874160" cy="1142640"/>
          </a:xfrm>
          <a:prstGeom prst="roundRect">
            <a:avLst>
              <a:gd fmla="val 9600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38BDF8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697480" y="1627560"/>
            <a:ext cx="72720" cy="114264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898720" y="1828800"/>
            <a:ext cx="15541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RAW COLUMNS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898720" y="2066400"/>
            <a:ext cx="1554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124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2898720" y="2496240"/>
            <a:ext cx="15541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"/>
              <a:buFont typeface="Arial"/>
              <a:buNone/>
            </a:pPr>
            <a:r>
              <a:rPr b="0" i="0" lang="en-US" sz="741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Before target and leakage filtering</a:t>
            </a:r>
            <a:endParaRPr b="0" i="0" sz="74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773240" y="1627560"/>
            <a:ext cx="1874160" cy="1142640"/>
          </a:xfrm>
          <a:prstGeom prst="roundRect">
            <a:avLst>
              <a:gd fmla="val 9600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F59E0B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773240" y="1627560"/>
            <a:ext cx="72720" cy="11426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974480" y="1828800"/>
            <a:ext cx="15541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FEATURE MATRIX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974480" y="2066400"/>
            <a:ext cx="1554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104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974480" y="2496240"/>
            <a:ext cx="15541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Final predictors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849000" y="1627560"/>
            <a:ext cx="1874160" cy="1142640"/>
          </a:xfrm>
          <a:prstGeom prst="roundRect">
            <a:avLst>
              <a:gd fmla="val 9600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F43F5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849000" y="1627560"/>
            <a:ext cx="72720" cy="1142640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049880" y="1828800"/>
            <a:ext cx="15541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POSITIVE RATE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7049880" y="2066400"/>
            <a:ext cx="1554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16.1%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049880" y="2496240"/>
            <a:ext cx="15541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Validation/test mortality share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924400" y="1627560"/>
            <a:ext cx="1874160" cy="1142640"/>
          </a:xfrm>
          <a:prstGeom prst="roundRect">
            <a:avLst>
              <a:gd fmla="val 9600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A78BFA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924400" y="1627560"/>
            <a:ext cx="72720" cy="114264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9125640" y="1828800"/>
            <a:ext cx="15541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IMBALANCE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9125640" y="2066400"/>
            <a:ext cx="1554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5.3:1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9125640" y="2496240"/>
            <a:ext cx="15541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Survived to died ratio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58440" y="3273480"/>
            <a:ext cx="5394600" cy="2057040"/>
          </a:xfrm>
          <a:prstGeom prst="roundRect">
            <a:avLst>
              <a:gd fmla="val 3556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58440" y="3273480"/>
            <a:ext cx="19656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85800" y="3346560"/>
            <a:ext cx="19108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Feature type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624400" y="3273480"/>
            <a:ext cx="7768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651760" y="3346560"/>
            <a:ext cx="7221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401640" y="3273480"/>
            <a:ext cx="26514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429000" y="3346560"/>
            <a:ext cx="25966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Treatment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58440" y="3566160"/>
            <a:ext cx="1965600" cy="4294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85800" y="3639240"/>
            <a:ext cx="19108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Continuous clinical/lab values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624400" y="3566160"/>
            <a:ext cx="776880" cy="4294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2651760" y="3639240"/>
            <a:ext cx="7221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401640" y="3566160"/>
            <a:ext cx="2651400" cy="4294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3429000" y="3639240"/>
            <a:ext cx="25966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Median imputation + StandardScaler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58440" y="3996000"/>
            <a:ext cx="1965600" cy="4294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85800" y="4069080"/>
            <a:ext cx="19108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Ordinal variables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624400" y="3996000"/>
            <a:ext cx="776880" cy="4294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2651760" y="4069080"/>
            <a:ext cx="7221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401640" y="3996000"/>
            <a:ext cx="2651400" cy="4294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429000" y="4069080"/>
            <a:ext cx="25966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Most-frequent imputation + StandardScaler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658440" y="4425840"/>
            <a:ext cx="1965600" cy="4294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85800" y="4498920"/>
            <a:ext cx="19108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Binary flags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624400" y="4425840"/>
            <a:ext cx="776880" cy="4294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2651760" y="4498920"/>
            <a:ext cx="7221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88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401640" y="4425840"/>
            <a:ext cx="2651400" cy="4294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429000" y="4498920"/>
            <a:ext cx="25966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 imputation, no scaling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58440" y="4855320"/>
            <a:ext cx="1965600" cy="4294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85800" y="4928760"/>
            <a:ext cx="19108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Dropped leakage/targets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2624400" y="4855320"/>
            <a:ext cx="776880" cy="4294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2651760" y="4928760"/>
            <a:ext cx="7221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401640" y="4855320"/>
            <a:ext cx="2651400" cy="4294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429000" y="4928760"/>
            <a:ext cx="25966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Removed before training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446520" y="3273480"/>
            <a:ext cx="4983120" cy="1737000"/>
          </a:xfrm>
          <a:prstGeom prst="roundRect">
            <a:avLst>
              <a:gd fmla="val 4211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446520" y="3273480"/>
            <a:ext cx="155412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473880" y="3346560"/>
            <a:ext cx="149940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8001000" y="3273480"/>
            <a:ext cx="17370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8028360" y="3346560"/>
            <a:ext cx="16822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Shape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9738360" y="3273480"/>
            <a:ext cx="16912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9765720" y="3346560"/>
            <a:ext cx="1636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Positive rate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6446520" y="3566160"/>
            <a:ext cx="1554120" cy="465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473880" y="3639240"/>
            <a:ext cx="1499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001000" y="3566160"/>
            <a:ext cx="1737000" cy="465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8028360" y="3639240"/>
            <a:ext cx="16822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1190 × 104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9738360" y="3566160"/>
            <a:ext cx="1691280" cy="465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9765720" y="3639240"/>
            <a:ext cx="163656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15.9%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446520" y="4032360"/>
            <a:ext cx="1554120" cy="46584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473880" y="4105800"/>
            <a:ext cx="1499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8001000" y="4032360"/>
            <a:ext cx="1737000" cy="46584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8028360" y="4105800"/>
            <a:ext cx="16822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255 × 104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9738360" y="4032360"/>
            <a:ext cx="1691280" cy="46584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9765720" y="4105800"/>
            <a:ext cx="163656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16.1%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446520" y="4498920"/>
            <a:ext cx="1554120" cy="4658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473880" y="4572000"/>
            <a:ext cx="1499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8001000" y="4498920"/>
            <a:ext cx="1737000" cy="4658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8028360" y="4572000"/>
            <a:ext cx="16822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255 × 104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9738360" y="4498920"/>
            <a:ext cx="1691280" cy="4658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9765720" y="4572000"/>
            <a:ext cx="163656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16.1%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6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6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EDA 1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Target distribution reveals the main modeling risk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Mortality is the minority class, so accuracy alone is not enough.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58440" y="1627560"/>
            <a:ext cx="5531760" cy="3565800"/>
          </a:xfrm>
          <a:prstGeom prst="roundRect">
            <a:avLst>
              <a:gd fmla="val 3077" name="adj"/>
            </a:avLst>
          </a:prstGeom>
          <a:solidFill>
            <a:srgbClr val="FFFFFF">
              <a:alpha val="5098"/>
            </a:srgbClr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i_ml_assets/target_distribution.png" id="250" name="Google Shape;2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440" y="2244240"/>
            <a:ext cx="5531760" cy="2332080"/>
          </a:xfrm>
          <a:prstGeom prst="rect">
            <a:avLst/>
          </a:prstGeom>
          <a:noFill/>
          <a:ln>
            <a:noFill/>
          </a:ln>
          <a:effectLst>
            <a:outerShdw blurRad="25560" rotWithShape="0" algn="bl" dir="2700000" dist="50402">
              <a:srgbClr val="000000">
                <a:alpha val="25098"/>
              </a:srgbClr>
            </a:outerShdw>
          </a:effectLst>
        </p:spPr>
      </p:pic>
      <p:sp>
        <p:nvSpPr>
          <p:cNvPr id="251" name="Google Shape;251;p7"/>
          <p:cNvSpPr/>
          <p:nvPr/>
        </p:nvSpPr>
        <p:spPr>
          <a:xfrm>
            <a:off x="6537960" y="1673280"/>
            <a:ext cx="2148480" cy="1142640"/>
          </a:xfrm>
          <a:prstGeom prst="roundRect">
            <a:avLst>
              <a:gd fmla="val 9600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F43F5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537960" y="1673280"/>
            <a:ext cx="72720" cy="1142640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739200" y="1874520"/>
            <a:ext cx="18284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IMBALANCE RATIO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739200" y="2112120"/>
            <a:ext cx="182844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5.3:1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739200" y="2541960"/>
            <a:ext cx="1828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Negative to positive class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9052560" y="1673280"/>
            <a:ext cx="2148480" cy="1142640"/>
          </a:xfrm>
          <a:prstGeom prst="roundRect">
            <a:avLst>
              <a:gd fmla="val 9600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F59E0B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9052560" y="1673280"/>
            <a:ext cx="72720" cy="11426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9253800" y="1874520"/>
            <a:ext cx="18284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POSITIVE RATE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9253800" y="2112120"/>
            <a:ext cx="182844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~16%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9253800" y="2541960"/>
            <a:ext cx="1828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Mortality/minority class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6537960" y="3154680"/>
            <a:ext cx="4663080" cy="959760"/>
          </a:xfrm>
          <a:prstGeom prst="roundRect">
            <a:avLst>
              <a:gd fmla="val 11429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6702480" y="3300840"/>
            <a:ext cx="433404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6702480" y="3602880"/>
            <a:ext cx="43340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 naïve classifier could appear strong by predicting survival most of the time. The project therefore prioritizes recall and F1-score.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6537960" y="4316040"/>
            <a:ext cx="4663080" cy="959760"/>
          </a:xfrm>
          <a:prstGeom prst="roundRect">
            <a:avLst>
              <a:gd fmla="val 11429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6702480" y="4462200"/>
            <a:ext cx="433404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Clinical meaning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702480" y="4763880"/>
            <a:ext cx="43340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Every false negative is a patient who died but was predicted as low-risk. This is why threshold tuning is not a cosmetic step; it is central to deployment.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7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7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EDA 2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Data cleaning: missingness, outliers, and leakage control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datasets are valuable but noisy; preprocessing determines whether the model is trustworthy.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621720" y="1600200"/>
            <a:ext cx="5348880" cy="3200040"/>
          </a:xfrm>
          <a:prstGeom prst="roundRect">
            <a:avLst>
              <a:gd fmla="val 3429" name="adj"/>
            </a:avLst>
          </a:prstGeom>
          <a:solidFill>
            <a:srgbClr val="FFFFFF">
              <a:alpha val="5098"/>
            </a:srgbClr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i_ml_assets/missing_values.png" id="283" name="Google Shape;2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20" y="2265120"/>
            <a:ext cx="5348880" cy="1870200"/>
          </a:xfrm>
          <a:prstGeom prst="rect">
            <a:avLst/>
          </a:prstGeom>
          <a:noFill/>
          <a:ln>
            <a:noFill/>
          </a:ln>
          <a:effectLst>
            <a:outerShdw blurRad="25560" rotWithShape="0" algn="bl" dir="2700000" dist="50402">
              <a:srgbClr val="000000">
                <a:alpha val="25098"/>
              </a:srgbClr>
            </a:outerShdw>
          </a:effectLst>
        </p:spPr>
      </p:pic>
      <p:sp>
        <p:nvSpPr>
          <p:cNvPr id="284" name="Google Shape;284;p8"/>
          <p:cNvSpPr/>
          <p:nvPr/>
        </p:nvSpPr>
        <p:spPr>
          <a:xfrm>
            <a:off x="6263640" y="1627560"/>
            <a:ext cx="5166000" cy="2395440"/>
          </a:xfrm>
          <a:prstGeom prst="roundRect">
            <a:avLst>
              <a:gd fmla="val 3053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263640" y="1627560"/>
            <a:ext cx="137124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6291000" y="1700640"/>
            <a:ext cx="13165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1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Data issue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7635240" y="1627560"/>
            <a:ext cx="132552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7662600" y="1700640"/>
            <a:ext cx="127080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1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Exact result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8961120" y="1627560"/>
            <a:ext cx="246852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8988480" y="1700640"/>
            <a:ext cx="241380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1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Action taken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263640" y="1920240"/>
            <a:ext cx="1371240" cy="411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6291000" y="1993320"/>
            <a:ext cx="13165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1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Any missingness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7635240" y="1920240"/>
            <a:ext cx="1325520" cy="411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7662600" y="1993320"/>
            <a:ext cx="12708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0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103 columns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8961120" y="1920240"/>
            <a:ext cx="2468520" cy="411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8988480" y="1993320"/>
            <a:ext cx="24138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0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Type-aware imputation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263640" y="2331720"/>
            <a:ext cx="1371240" cy="4111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291000" y="2404800"/>
            <a:ext cx="13165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1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High missingness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7635240" y="2331720"/>
            <a:ext cx="1325520" cy="4111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7662600" y="2404800"/>
            <a:ext cx="12708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0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11 columns &gt;20%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8961120" y="2331720"/>
            <a:ext cx="2468520" cy="4111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8988480" y="2404800"/>
            <a:ext cx="24138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0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Tracked as quality risk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6263640" y="2743200"/>
            <a:ext cx="1371240" cy="411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6291000" y="2816280"/>
            <a:ext cx="13165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1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Overall missing rate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7635240" y="2743200"/>
            <a:ext cx="1325520" cy="411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7662600" y="2816280"/>
            <a:ext cx="12708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0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8.98%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8961120" y="2743200"/>
            <a:ext cx="2468520" cy="411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8988480" y="2816280"/>
            <a:ext cx="24138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0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Handled inside train-fit pipeline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6263640" y="3154680"/>
            <a:ext cx="1371240" cy="4111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6291000" y="3227760"/>
            <a:ext cx="13165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1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Outliers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7635240" y="3154680"/>
            <a:ext cx="1325520" cy="4111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7662600" y="3227760"/>
            <a:ext cx="12708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0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ROE 4.48%, L_BLOOD 3.56%, K_BLOOD 2.93%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8961120" y="3154680"/>
            <a:ext cx="2468520" cy="4111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8988480" y="3227760"/>
            <a:ext cx="24138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0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Robust median imputation + scaling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6263640" y="3566160"/>
            <a:ext cx="1371240" cy="411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291000" y="3639240"/>
            <a:ext cx="13165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1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Leakage risk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7635240" y="3566160"/>
            <a:ext cx="1325520" cy="411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7662600" y="3639240"/>
            <a:ext cx="12708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0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19 columns dropped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8961120" y="3566160"/>
            <a:ext cx="2468520" cy="411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8988480" y="3639240"/>
            <a:ext cx="24138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0" i="0" lang="en-US" sz="6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No post-outcome/treatment leakage</a:t>
            </a:r>
            <a:endParaRPr b="0" i="0" sz="69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932760" y="534924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132B46">
              <a:alpha val="90196"/>
            </a:srgbClr>
          </a:solidFill>
          <a:ln cap="flat" cmpd="sng" w="10150">
            <a:solidFill>
              <a:srgbClr val="132B46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1005840" y="549540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Raw data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2395800" y="551376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2505600" y="534924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F43F5E">
              <a:alpha val="90196"/>
            </a:srgbClr>
          </a:solidFill>
          <a:ln cap="flat" cmpd="sng" w="10150">
            <a:solidFill>
              <a:srgbClr val="F43F5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2578680" y="549540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Drop leakage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3968640" y="551376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4078080" y="534924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38BDF8">
              <a:alpha val="90196"/>
            </a:srgbClr>
          </a:solidFill>
          <a:ln cap="flat" cmpd="sng" w="10150">
            <a:solidFill>
              <a:srgbClr val="38BDF8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4151520" y="549540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Impute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5541120" y="551376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5650920" y="534924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14B8A6">
              <a:alpha val="90196"/>
            </a:srgbClr>
          </a:solidFill>
          <a:ln cap="flat" cmpd="sng" w="10150">
            <a:solidFill>
              <a:srgbClr val="14B8A6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5724000" y="549540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7113960" y="551376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7223760" y="534924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F59E0B">
              <a:alpha val="90196"/>
            </a:srgbClr>
          </a:solidFill>
          <a:ln cap="flat" cmpd="sng" w="10150">
            <a:solidFill>
              <a:srgbClr val="F59E0B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7296840" y="549540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SMOTE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8686800" y="551376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8796600" y="534924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22C55E">
              <a:alpha val="90196"/>
            </a:srgbClr>
          </a:solidFill>
          <a:ln cap="flat" cmpd="sng" w="10150">
            <a:solidFill>
              <a:srgbClr val="22C55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8869680" y="549540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8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8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MODELING PROTOCOL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From baseline classifiers to robust final evaluation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notebook compares simple, ensemble, tuned, thresholded, and adversarial-condition models.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777240" y="160020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132B46">
              <a:alpha val="90196"/>
            </a:srgbClr>
          </a:solidFill>
          <a:ln cap="flat" cmpd="sng" w="10150">
            <a:solidFill>
              <a:srgbClr val="132B46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850320" y="174636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2240280" y="176472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2350080" y="160020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14B8A6">
              <a:alpha val="90196"/>
            </a:srgbClr>
          </a:solidFill>
          <a:ln cap="flat" cmpd="sng" w="10150">
            <a:solidFill>
              <a:srgbClr val="14B8A6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2423160" y="174636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7 classifiers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3813120" y="176472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922920" y="160020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F59E0B">
              <a:alpha val="90196"/>
            </a:srgbClr>
          </a:solidFill>
          <a:ln cap="flat" cmpd="sng" w="10150">
            <a:solidFill>
              <a:srgbClr val="F59E0B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3996000" y="174636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CV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5385960" y="176472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495400" y="160020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A78BFA">
              <a:alpha val="90196"/>
            </a:srgbClr>
          </a:solidFill>
          <a:ln cap="flat" cmpd="sng" w="10150">
            <a:solidFill>
              <a:srgbClr val="A78BFA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5568840" y="174636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HPO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6958440" y="176472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7068240" y="160020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F43F5E">
              <a:alpha val="90196"/>
            </a:srgbClr>
          </a:solidFill>
          <a:ln cap="flat" cmpd="sng" w="10150">
            <a:solidFill>
              <a:srgbClr val="F43F5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7141320" y="174636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Thresholds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8531280" y="176472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8641080" y="160020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38BDF8">
              <a:alpha val="90196"/>
            </a:srgbClr>
          </a:solidFill>
          <a:ln cap="flat" cmpd="sng" w="10150">
            <a:solidFill>
              <a:srgbClr val="38BDF8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8714160" y="174636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Ensembles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10104120" y="1764720"/>
            <a:ext cx="109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10213920" y="1600200"/>
            <a:ext cx="1444320" cy="566640"/>
          </a:xfrm>
          <a:prstGeom prst="roundRect">
            <a:avLst>
              <a:gd fmla="val 12903" name="adj"/>
            </a:avLst>
          </a:prstGeom>
          <a:solidFill>
            <a:srgbClr val="22C55E">
              <a:alpha val="90196"/>
            </a:srgbClr>
          </a:solidFill>
          <a:ln cap="flat" cmpd="sng" w="10150">
            <a:solidFill>
              <a:srgbClr val="22C55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10287000" y="1746360"/>
            <a:ext cx="12981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Robustness</a:t>
            </a:r>
            <a:endParaRPr b="0" i="0" sz="7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777240" y="2743200"/>
            <a:ext cx="5486040" cy="2477520"/>
          </a:xfrm>
          <a:prstGeom prst="roundRect">
            <a:avLst>
              <a:gd fmla="val 2952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777240" y="2743200"/>
            <a:ext cx="182844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804600" y="2816280"/>
            <a:ext cx="17737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 family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2606040" y="2743200"/>
            <a:ext cx="365724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2633400" y="2816280"/>
            <a:ext cx="36025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Examples used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777240" y="3035880"/>
            <a:ext cx="1828440" cy="3564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804600" y="3108960"/>
            <a:ext cx="17737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Linear models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2606040" y="3035880"/>
            <a:ext cx="3657240" cy="3564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2633400" y="3108960"/>
            <a:ext cx="36025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Logistic Regression; baseline LR; tuned LR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777240" y="3392280"/>
            <a:ext cx="1828440" cy="35640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804600" y="3465720"/>
            <a:ext cx="17737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Tree models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2606040" y="3392280"/>
            <a:ext cx="3657240" cy="35640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2633400" y="3465720"/>
            <a:ext cx="36025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Decision Tree, Random Forest, XGBoost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777240" y="3749040"/>
            <a:ext cx="1828440" cy="3564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804600" y="3822120"/>
            <a:ext cx="17737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Kernel / distance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2606040" y="3749040"/>
            <a:ext cx="3657240" cy="3564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2633400" y="3822120"/>
            <a:ext cx="36025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SVM, KNN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777240" y="4105800"/>
            <a:ext cx="1828440" cy="35640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804600" y="4178880"/>
            <a:ext cx="17737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Probabilistic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2606040" y="4105800"/>
            <a:ext cx="3657240" cy="35640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2633400" y="4178880"/>
            <a:ext cx="36025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Naive Bayes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777240" y="4462200"/>
            <a:ext cx="1828440" cy="3564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804600" y="4535280"/>
            <a:ext cx="17737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Ensembles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2606040" y="4462200"/>
            <a:ext cx="3657240" cy="3564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2633400" y="4535280"/>
            <a:ext cx="36025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Soft Voting, Hard Voting, Stacking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777240" y="4818960"/>
            <a:ext cx="1828440" cy="35640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804600" y="4892040"/>
            <a:ext cx="17737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Robustness models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2606040" y="4818960"/>
            <a:ext cx="3657240" cy="35640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2633400" y="4892040"/>
            <a:ext cx="36025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Adversarial LR/RF trained on 15% noisy labels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6629400" y="2706480"/>
            <a:ext cx="4388760" cy="1005480"/>
          </a:xfrm>
          <a:prstGeom prst="roundRect">
            <a:avLst>
              <a:gd fmla="val 10909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6793920" y="2853000"/>
            <a:ext cx="40597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Linear Regression checkpoint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6793920" y="3154680"/>
            <a:ext cx="405972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notebook target is binary mortality (LET_IS). Therefore classic Linear Regression and regression metrics such as R², MAE, MSE, and RMSE are not the correct primary evaluation tools.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6629400" y="3977640"/>
            <a:ext cx="4388760" cy="1005480"/>
          </a:xfrm>
          <a:prstGeom prst="roundRect">
            <a:avLst>
              <a:gd fmla="val 10909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6793920" y="4123800"/>
            <a:ext cx="40597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Correct alternative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6793920" y="4425840"/>
            <a:ext cx="405972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Logistic Regression was used as the interpretable linear classifier, while Precision, Recall, F1-score, ROC-AUC, and confusion matrices were used for evaluation.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p9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9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PHASE 3 BENCHMARK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Initial validation results across 7 classifiers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first full benchmark shows that model quality depends on the metric chosen.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57200" y="1600200"/>
            <a:ext cx="7406280" cy="2642400"/>
          </a:xfrm>
          <a:prstGeom prst="roundRect">
            <a:avLst>
              <a:gd fmla="val 2768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457200" y="1600200"/>
            <a:ext cx="201132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484560" y="1673280"/>
            <a:ext cx="195660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2468880" y="1600200"/>
            <a:ext cx="95976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2496240" y="1673280"/>
            <a:ext cx="9050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Acc.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3429000" y="1600200"/>
            <a:ext cx="10054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3456360" y="1673280"/>
            <a:ext cx="9507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Prec.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4434840" y="1600200"/>
            <a:ext cx="10054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462200" y="1673280"/>
            <a:ext cx="9507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5440680" y="1600200"/>
            <a:ext cx="10054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5468040" y="1673280"/>
            <a:ext cx="9507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6446520" y="1600200"/>
            <a:ext cx="141696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6473880" y="1673280"/>
            <a:ext cx="13622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AUC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457200" y="1892880"/>
            <a:ext cx="2011320" cy="328680"/>
          </a:xfrm>
          <a:prstGeom prst="rect">
            <a:avLst/>
          </a:prstGeom>
          <a:solidFill>
            <a:srgbClr val="113B4A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484560" y="1965960"/>
            <a:ext cx="195660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2468880" y="1892880"/>
            <a:ext cx="959760" cy="328680"/>
          </a:xfrm>
          <a:prstGeom prst="rect">
            <a:avLst/>
          </a:prstGeom>
          <a:solidFill>
            <a:srgbClr val="113B4A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2496240" y="1965960"/>
            <a:ext cx="9050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0.8980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3429000" y="1892880"/>
            <a:ext cx="1005480" cy="328680"/>
          </a:xfrm>
          <a:prstGeom prst="rect">
            <a:avLst/>
          </a:prstGeom>
          <a:solidFill>
            <a:srgbClr val="113B4A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3456360" y="196596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0.7586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4434840" y="1892880"/>
            <a:ext cx="1005480" cy="328680"/>
          </a:xfrm>
          <a:prstGeom prst="rect">
            <a:avLst/>
          </a:prstGeom>
          <a:solidFill>
            <a:srgbClr val="113B4A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4462200" y="196596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0.5366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5440680" y="1892880"/>
            <a:ext cx="1005480" cy="328680"/>
          </a:xfrm>
          <a:prstGeom prst="rect">
            <a:avLst/>
          </a:prstGeom>
          <a:solidFill>
            <a:srgbClr val="113B4A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5468040" y="196596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0.6286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6446520" y="1892880"/>
            <a:ext cx="1416960" cy="328680"/>
          </a:xfrm>
          <a:prstGeom prst="rect">
            <a:avLst/>
          </a:prstGeom>
          <a:solidFill>
            <a:srgbClr val="113B4A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6473880" y="1965960"/>
            <a:ext cx="13622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0.9055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457200" y="2221920"/>
            <a:ext cx="2011320" cy="328680"/>
          </a:xfrm>
          <a:prstGeom prst="rect">
            <a:avLst/>
          </a:prstGeom>
          <a:solidFill>
            <a:srgbClr val="113B4A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484560" y="2295000"/>
            <a:ext cx="195660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2468880" y="2221920"/>
            <a:ext cx="959760" cy="328680"/>
          </a:xfrm>
          <a:prstGeom prst="rect">
            <a:avLst/>
          </a:prstGeom>
          <a:solidFill>
            <a:srgbClr val="113B4A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2496240" y="2295000"/>
            <a:ext cx="9050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0.8078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3429000" y="2221920"/>
            <a:ext cx="1005480" cy="328680"/>
          </a:xfrm>
          <a:prstGeom prst="rect">
            <a:avLst/>
          </a:prstGeom>
          <a:solidFill>
            <a:srgbClr val="113B4A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3456360" y="229500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0.4500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4434840" y="2221920"/>
            <a:ext cx="1005480" cy="328680"/>
          </a:xfrm>
          <a:prstGeom prst="rect">
            <a:avLst/>
          </a:prstGeom>
          <a:solidFill>
            <a:srgbClr val="113B4A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4462200" y="229500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0.8780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5440680" y="2221920"/>
            <a:ext cx="1005480" cy="328680"/>
          </a:xfrm>
          <a:prstGeom prst="rect">
            <a:avLst/>
          </a:prstGeom>
          <a:solidFill>
            <a:srgbClr val="113B4A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5468040" y="229500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0.5950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6446520" y="2221920"/>
            <a:ext cx="1416960" cy="328680"/>
          </a:xfrm>
          <a:prstGeom prst="rect">
            <a:avLst/>
          </a:prstGeom>
          <a:solidFill>
            <a:srgbClr val="113B4A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6473880" y="2295000"/>
            <a:ext cx="13622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0.9053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457200" y="2551320"/>
            <a:ext cx="201132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484560" y="2624400"/>
            <a:ext cx="195660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2468880" y="2551320"/>
            <a:ext cx="95976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2496240" y="2624400"/>
            <a:ext cx="9050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0.8824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3429000" y="2551320"/>
            <a:ext cx="100548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3456360" y="262440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0.7391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4434840" y="2551320"/>
            <a:ext cx="100548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4462200" y="262440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0.4146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5440680" y="2551320"/>
            <a:ext cx="100548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5468040" y="262440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0.5312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6446520" y="2551320"/>
            <a:ext cx="141696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6473880" y="2624400"/>
            <a:ext cx="13622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0.8786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457200" y="2880360"/>
            <a:ext cx="2011320" cy="3286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484560" y="2953440"/>
            <a:ext cx="195660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SVM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2468880" y="2880360"/>
            <a:ext cx="959760" cy="3286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2496240" y="2953440"/>
            <a:ext cx="9050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0.8196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3429000" y="2880360"/>
            <a:ext cx="1005480" cy="3286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3456360" y="295344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0.4545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4434840" y="2880360"/>
            <a:ext cx="1005480" cy="3286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4462200" y="295344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0.6098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5440680" y="2880360"/>
            <a:ext cx="1005480" cy="3286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5468040" y="295344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0.5208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6446520" y="2880360"/>
            <a:ext cx="1416960" cy="3286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6473880" y="2953440"/>
            <a:ext cx="13622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0.8464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457200" y="3209400"/>
            <a:ext cx="201132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484560" y="3282840"/>
            <a:ext cx="195660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2468880" y="3209400"/>
            <a:ext cx="95976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2496240" y="3282840"/>
            <a:ext cx="9050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0.8588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3429000" y="3209400"/>
            <a:ext cx="100548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3456360" y="328284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0.5758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4434840" y="3209400"/>
            <a:ext cx="100548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4462200" y="328284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0.4634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5440680" y="3209400"/>
            <a:ext cx="100548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5468040" y="328284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0.5135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6446520" y="3209400"/>
            <a:ext cx="141696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6473880" y="3282840"/>
            <a:ext cx="13622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0.6765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457200" y="3538800"/>
            <a:ext cx="2011320" cy="3286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484560" y="3611880"/>
            <a:ext cx="195660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KNN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2468880" y="3538800"/>
            <a:ext cx="959760" cy="3286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2496240" y="3611880"/>
            <a:ext cx="9050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0.7176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3429000" y="3538800"/>
            <a:ext cx="1005480" cy="3286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3456360" y="361188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0.3258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4434840" y="3538800"/>
            <a:ext cx="1005480" cy="3286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4462200" y="361188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0.7073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5440680" y="3538800"/>
            <a:ext cx="1005480" cy="3286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5468040" y="361188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0.4462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6446520" y="3538800"/>
            <a:ext cx="1416960" cy="32868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6473880" y="3611880"/>
            <a:ext cx="13622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0.7703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457200" y="3867840"/>
            <a:ext cx="201132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484560" y="3940920"/>
            <a:ext cx="195660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Naive Bayes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2468880" y="3867840"/>
            <a:ext cx="95976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2496240" y="3940920"/>
            <a:ext cx="9050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0.2039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3429000" y="3867840"/>
            <a:ext cx="100548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3456360" y="394092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0.1538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0"/>
          <p:cNvSpPr/>
          <p:nvPr/>
        </p:nvSpPr>
        <p:spPr>
          <a:xfrm>
            <a:off x="4434840" y="3867840"/>
            <a:ext cx="100548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4462200" y="394092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0.8780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5440680" y="3867840"/>
            <a:ext cx="100548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5468040" y="3940920"/>
            <a:ext cx="9507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0.2618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0"/>
          <p:cNvSpPr/>
          <p:nvPr/>
        </p:nvSpPr>
        <p:spPr>
          <a:xfrm>
            <a:off x="6446520" y="3867840"/>
            <a:ext cx="1416960" cy="32868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0"/>
          <p:cNvSpPr/>
          <p:nvPr/>
        </p:nvSpPr>
        <p:spPr>
          <a:xfrm>
            <a:off x="6473880" y="3940920"/>
            <a:ext cx="13622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0.4826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0"/>
          <p:cNvSpPr/>
          <p:nvPr/>
        </p:nvSpPr>
        <p:spPr>
          <a:xfrm>
            <a:off x="8138160" y="1673280"/>
            <a:ext cx="3428640" cy="1645560"/>
          </a:xfrm>
          <a:prstGeom prst="roundRect">
            <a:avLst>
              <a:gd fmla="val 6667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0"/>
          <p:cNvSpPr/>
          <p:nvPr/>
        </p:nvSpPr>
        <p:spPr>
          <a:xfrm>
            <a:off x="8302680" y="1810440"/>
            <a:ext cx="30996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Validation F1-score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0"/>
          <p:cNvSpPr/>
          <p:nvPr/>
        </p:nvSpPr>
        <p:spPr>
          <a:xfrm>
            <a:off x="8302680" y="223128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XGB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0"/>
          <p:cNvSpPr/>
          <p:nvPr/>
        </p:nvSpPr>
        <p:spPr>
          <a:xfrm>
            <a:off x="9829800" y="225864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"/>
          <p:cNvSpPr/>
          <p:nvPr/>
        </p:nvSpPr>
        <p:spPr>
          <a:xfrm>
            <a:off x="9829800" y="2258640"/>
            <a:ext cx="689400" cy="1094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11036880" y="221760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0.629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8302680" y="236448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LR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0"/>
          <p:cNvSpPr/>
          <p:nvPr/>
        </p:nvSpPr>
        <p:spPr>
          <a:xfrm>
            <a:off x="9829800" y="239184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0"/>
          <p:cNvSpPr/>
          <p:nvPr/>
        </p:nvSpPr>
        <p:spPr>
          <a:xfrm>
            <a:off x="9829800" y="2391840"/>
            <a:ext cx="652680" cy="1094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0"/>
          <p:cNvSpPr/>
          <p:nvPr/>
        </p:nvSpPr>
        <p:spPr>
          <a:xfrm>
            <a:off x="11036880" y="235080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0.595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0"/>
          <p:cNvSpPr/>
          <p:nvPr/>
        </p:nvSpPr>
        <p:spPr>
          <a:xfrm>
            <a:off x="8302680" y="249768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RF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9829800" y="252504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0"/>
          <p:cNvSpPr/>
          <p:nvPr/>
        </p:nvSpPr>
        <p:spPr>
          <a:xfrm>
            <a:off x="9829800" y="2525040"/>
            <a:ext cx="582480" cy="1094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0"/>
          <p:cNvSpPr/>
          <p:nvPr/>
        </p:nvSpPr>
        <p:spPr>
          <a:xfrm>
            <a:off x="11036880" y="248400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0.531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0"/>
          <p:cNvSpPr/>
          <p:nvPr/>
        </p:nvSpPr>
        <p:spPr>
          <a:xfrm>
            <a:off x="8302680" y="263088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SVM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0"/>
          <p:cNvSpPr/>
          <p:nvPr/>
        </p:nvSpPr>
        <p:spPr>
          <a:xfrm>
            <a:off x="9829800" y="265824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0"/>
          <p:cNvSpPr/>
          <p:nvPr/>
        </p:nvSpPr>
        <p:spPr>
          <a:xfrm>
            <a:off x="9829800" y="2658240"/>
            <a:ext cx="570960" cy="1094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0"/>
          <p:cNvSpPr/>
          <p:nvPr/>
        </p:nvSpPr>
        <p:spPr>
          <a:xfrm>
            <a:off x="11036880" y="261720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0.521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0"/>
          <p:cNvSpPr/>
          <p:nvPr/>
        </p:nvSpPr>
        <p:spPr>
          <a:xfrm>
            <a:off x="8302680" y="276408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DT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0"/>
          <p:cNvSpPr/>
          <p:nvPr/>
        </p:nvSpPr>
        <p:spPr>
          <a:xfrm>
            <a:off x="9829800" y="279144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0"/>
          <p:cNvSpPr/>
          <p:nvPr/>
        </p:nvSpPr>
        <p:spPr>
          <a:xfrm>
            <a:off x="9829800" y="2791440"/>
            <a:ext cx="563040" cy="1094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0"/>
          <p:cNvSpPr/>
          <p:nvPr/>
        </p:nvSpPr>
        <p:spPr>
          <a:xfrm>
            <a:off x="11036880" y="275040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0.513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0"/>
          <p:cNvSpPr/>
          <p:nvPr/>
        </p:nvSpPr>
        <p:spPr>
          <a:xfrm>
            <a:off x="8302680" y="289728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KNN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0"/>
          <p:cNvSpPr/>
          <p:nvPr/>
        </p:nvSpPr>
        <p:spPr>
          <a:xfrm>
            <a:off x="9829800" y="292464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0"/>
          <p:cNvSpPr/>
          <p:nvPr/>
        </p:nvSpPr>
        <p:spPr>
          <a:xfrm>
            <a:off x="9829800" y="2924640"/>
            <a:ext cx="489240" cy="1094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0"/>
          <p:cNvSpPr/>
          <p:nvPr/>
        </p:nvSpPr>
        <p:spPr>
          <a:xfrm>
            <a:off x="11036880" y="288360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0.446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0"/>
          <p:cNvSpPr/>
          <p:nvPr/>
        </p:nvSpPr>
        <p:spPr>
          <a:xfrm>
            <a:off x="8302680" y="303048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NB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0"/>
          <p:cNvSpPr/>
          <p:nvPr/>
        </p:nvSpPr>
        <p:spPr>
          <a:xfrm>
            <a:off x="9829800" y="305784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0"/>
          <p:cNvSpPr/>
          <p:nvPr/>
        </p:nvSpPr>
        <p:spPr>
          <a:xfrm>
            <a:off x="9829800" y="3057840"/>
            <a:ext cx="286920" cy="1094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0"/>
          <p:cNvSpPr/>
          <p:nvPr/>
        </p:nvSpPr>
        <p:spPr>
          <a:xfrm>
            <a:off x="11036880" y="301680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0.262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0"/>
          <p:cNvSpPr/>
          <p:nvPr/>
        </p:nvSpPr>
        <p:spPr>
          <a:xfrm>
            <a:off x="8138160" y="3675960"/>
            <a:ext cx="3428640" cy="1645560"/>
          </a:xfrm>
          <a:prstGeom prst="roundRect">
            <a:avLst>
              <a:gd fmla="val 6667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0"/>
          <p:cNvSpPr/>
          <p:nvPr/>
        </p:nvSpPr>
        <p:spPr>
          <a:xfrm>
            <a:off x="8302680" y="3813120"/>
            <a:ext cx="30996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Validation Recall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0"/>
          <p:cNvSpPr/>
          <p:nvPr/>
        </p:nvSpPr>
        <p:spPr>
          <a:xfrm>
            <a:off x="8302680" y="423360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LR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0"/>
          <p:cNvSpPr/>
          <p:nvPr/>
        </p:nvSpPr>
        <p:spPr>
          <a:xfrm>
            <a:off x="9829800" y="426096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0"/>
          <p:cNvSpPr/>
          <p:nvPr/>
        </p:nvSpPr>
        <p:spPr>
          <a:xfrm>
            <a:off x="9829800" y="4260960"/>
            <a:ext cx="963000" cy="109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0"/>
          <p:cNvSpPr/>
          <p:nvPr/>
        </p:nvSpPr>
        <p:spPr>
          <a:xfrm>
            <a:off x="11036880" y="421992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0.878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0"/>
          <p:cNvSpPr/>
          <p:nvPr/>
        </p:nvSpPr>
        <p:spPr>
          <a:xfrm>
            <a:off x="8302680" y="436680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NB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0"/>
          <p:cNvSpPr/>
          <p:nvPr/>
        </p:nvSpPr>
        <p:spPr>
          <a:xfrm>
            <a:off x="9829800" y="439452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0"/>
          <p:cNvSpPr/>
          <p:nvPr/>
        </p:nvSpPr>
        <p:spPr>
          <a:xfrm>
            <a:off x="9829800" y="4394520"/>
            <a:ext cx="963000" cy="109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0"/>
          <p:cNvSpPr/>
          <p:nvPr/>
        </p:nvSpPr>
        <p:spPr>
          <a:xfrm>
            <a:off x="11036880" y="435312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0.878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0"/>
          <p:cNvSpPr/>
          <p:nvPr/>
        </p:nvSpPr>
        <p:spPr>
          <a:xfrm>
            <a:off x="8302680" y="450000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KNN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0"/>
          <p:cNvSpPr/>
          <p:nvPr/>
        </p:nvSpPr>
        <p:spPr>
          <a:xfrm>
            <a:off x="9829800" y="452772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0"/>
          <p:cNvSpPr/>
          <p:nvPr/>
        </p:nvSpPr>
        <p:spPr>
          <a:xfrm>
            <a:off x="9829800" y="4527720"/>
            <a:ext cx="775800" cy="109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0"/>
          <p:cNvSpPr/>
          <p:nvPr/>
        </p:nvSpPr>
        <p:spPr>
          <a:xfrm>
            <a:off x="11036880" y="448632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0.707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0"/>
          <p:cNvSpPr/>
          <p:nvPr/>
        </p:nvSpPr>
        <p:spPr>
          <a:xfrm>
            <a:off x="8302680" y="463356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SVM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9829800" y="466092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0"/>
          <p:cNvSpPr/>
          <p:nvPr/>
        </p:nvSpPr>
        <p:spPr>
          <a:xfrm>
            <a:off x="9829800" y="4660920"/>
            <a:ext cx="668880" cy="109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0"/>
          <p:cNvSpPr/>
          <p:nvPr/>
        </p:nvSpPr>
        <p:spPr>
          <a:xfrm>
            <a:off x="11036880" y="461952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0.610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0"/>
          <p:cNvSpPr/>
          <p:nvPr/>
        </p:nvSpPr>
        <p:spPr>
          <a:xfrm>
            <a:off x="8302680" y="476676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XGB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0"/>
          <p:cNvSpPr/>
          <p:nvPr/>
        </p:nvSpPr>
        <p:spPr>
          <a:xfrm>
            <a:off x="9829800" y="479412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0"/>
          <p:cNvSpPr/>
          <p:nvPr/>
        </p:nvSpPr>
        <p:spPr>
          <a:xfrm>
            <a:off x="9829800" y="4794120"/>
            <a:ext cx="588600" cy="109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0"/>
          <p:cNvSpPr/>
          <p:nvPr/>
        </p:nvSpPr>
        <p:spPr>
          <a:xfrm>
            <a:off x="11036880" y="475308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0.537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0"/>
          <p:cNvSpPr/>
          <p:nvPr/>
        </p:nvSpPr>
        <p:spPr>
          <a:xfrm>
            <a:off x="8302680" y="489996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DT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0"/>
          <p:cNvSpPr/>
          <p:nvPr/>
        </p:nvSpPr>
        <p:spPr>
          <a:xfrm>
            <a:off x="9829800" y="492732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0"/>
          <p:cNvSpPr/>
          <p:nvPr/>
        </p:nvSpPr>
        <p:spPr>
          <a:xfrm>
            <a:off x="9829800" y="4927320"/>
            <a:ext cx="507960" cy="109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0"/>
          <p:cNvSpPr/>
          <p:nvPr/>
        </p:nvSpPr>
        <p:spPr>
          <a:xfrm>
            <a:off x="11036880" y="488628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0.463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0"/>
          <p:cNvSpPr/>
          <p:nvPr/>
        </p:nvSpPr>
        <p:spPr>
          <a:xfrm>
            <a:off x="8302680" y="5033160"/>
            <a:ext cx="14169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RF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0"/>
          <p:cNvSpPr/>
          <p:nvPr/>
        </p:nvSpPr>
        <p:spPr>
          <a:xfrm>
            <a:off x="9829800" y="5060520"/>
            <a:ext cx="1096920" cy="109440"/>
          </a:xfrm>
          <a:prstGeom prst="rect">
            <a:avLst/>
          </a:prstGeom>
          <a:solidFill>
            <a:srgbClr val="334155">
              <a:alpha val="80000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0"/>
          <p:cNvSpPr/>
          <p:nvPr/>
        </p:nvSpPr>
        <p:spPr>
          <a:xfrm>
            <a:off x="9829800" y="5060520"/>
            <a:ext cx="454680" cy="109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0"/>
          <p:cNvSpPr/>
          <p:nvPr/>
        </p:nvSpPr>
        <p:spPr>
          <a:xfrm>
            <a:off x="11036880" y="5019480"/>
            <a:ext cx="38376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0.415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0" name="Google Shape;580;p10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1" name="Google Shape;581;p10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0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1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1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1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MODEL SELECTION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1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0"/>
              <a:buFont typeface="Arial"/>
              <a:buNone/>
            </a:pPr>
            <a:r>
              <a:rPr b="1" i="0" lang="en-US" sz="236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Cross-validation and composite score prevent one-split overfitting</a:t>
            </a:r>
            <a:endParaRPr b="0" i="0" sz="23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1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top three selected models were Logistic Regression, XGBoost, and SVM.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1"/>
          <p:cNvSpPr/>
          <p:nvPr/>
        </p:nvSpPr>
        <p:spPr>
          <a:xfrm>
            <a:off x="567000" y="1618560"/>
            <a:ext cx="5897520" cy="2304000"/>
          </a:xfrm>
          <a:prstGeom prst="roundRect">
            <a:avLst>
              <a:gd fmla="val 3175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1"/>
          <p:cNvSpPr/>
          <p:nvPr/>
        </p:nvSpPr>
        <p:spPr>
          <a:xfrm>
            <a:off x="567000" y="1618560"/>
            <a:ext cx="182844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1"/>
          <p:cNvSpPr/>
          <p:nvPr/>
        </p:nvSpPr>
        <p:spPr>
          <a:xfrm>
            <a:off x="594360" y="1691640"/>
            <a:ext cx="17737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1"/>
          <p:cNvSpPr/>
          <p:nvPr/>
        </p:nvSpPr>
        <p:spPr>
          <a:xfrm>
            <a:off x="2395800" y="1618560"/>
            <a:ext cx="12340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1"/>
          <p:cNvSpPr/>
          <p:nvPr/>
        </p:nvSpPr>
        <p:spPr>
          <a:xfrm>
            <a:off x="2423160" y="1691640"/>
            <a:ext cx="11793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CV F1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1"/>
          <p:cNvSpPr/>
          <p:nvPr/>
        </p:nvSpPr>
        <p:spPr>
          <a:xfrm>
            <a:off x="3630240" y="1618560"/>
            <a:ext cx="12340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1"/>
          <p:cNvSpPr/>
          <p:nvPr/>
        </p:nvSpPr>
        <p:spPr>
          <a:xfrm>
            <a:off x="3657600" y="1691640"/>
            <a:ext cx="11793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CV AUC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4864680" y="1618560"/>
            <a:ext cx="8226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1"/>
          <p:cNvSpPr/>
          <p:nvPr/>
        </p:nvSpPr>
        <p:spPr>
          <a:xfrm>
            <a:off x="4892040" y="1691640"/>
            <a:ext cx="7678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Val Recall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5687640" y="1618560"/>
            <a:ext cx="7768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1"/>
          <p:cNvSpPr/>
          <p:nvPr/>
        </p:nvSpPr>
        <p:spPr>
          <a:xfrm>
            <a:off x="5715000" y="1691640"/>
            <a:ext cx="7221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Val F1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1"/>
          <p:cNvSpPr/>
          <p:nvPr/>
        </p:nvSpPr>
        <p:spPr>
          <a:xfrm>
            <a:off x="567000" y="1911240"/>
            <a:ext cx="182844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1"/>
          <p:cNvSpPr/>
          <p:nvPr/>
        </p:nvSpPr>
        <p:spPr>
          <a:xfrm>
            <a:off x="594360" y="1984320"/>
            <a:ext cx="17737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1"/>
          <p:cNvSpPr/>
          <p:nvPr/>
        </p:nvSpPr>
        <p:spPr>
          <a:xfrm>
            <a:off x="2395800" y="1911240"/>
            <a:ext cx="123408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1"/>
          <p:cNvSpPr/>
          <p:nvPr/>
        </p:nvSpPr>
        <p:spPr>
          <a:xfrm>
            <a:off x="2423160" y="1984320"/>
            <a:ext cx="11793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0.5498±0.0528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3630240" y="1911240"/>
            <a:ext cx="123408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1"/>
          <p:cNvSpPr/>
          <p:nvPr/>
        </p:nvSpPr>
        <p:spPr>
          <a:xfrm>
            <a:off x="3657600" y="1984320"/>
            <a:ext cx="11793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0.8808±0.0249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1"/>
          <p:cNvSpPr/>
          <p:nvPr/>
        </p:nvSpPr>
        <p:spPr>
          <a:xfrm>
            <a:off x="4864680" y="1911240"/>
            <a:ext cx="82260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4892040" y="1984320"/>
            <a:ext cx="76788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0.5366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1"/>
          <p:cNvSpPr/>
          <p:nvPr/>
        </p:nvSpPr>
        <p:spPr>
          <a:xfrm>
            <a:off x="5687640" y="1911240"/>
            <a:ext cx="77688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5715000" y="198432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0.6286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1"/>
          <p:cNvSpPr/>
          <p:nvPr/>
        </p:nvSpPr>
        <p:spPr>
          <a:xfrm>
            <a:off x="567000" y="2304360"/>
            <a:ext cx="182844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1"/>
          <p:cNvSpPr/>
          <p:nvPr/>
        </p:nvSpPr>
        <p:spPr>
          <a:xfrm>
            <a:off x="594360" y="2377440"/>
            <a:ext cx="17737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2395800" y="2304360"/>
            <a:ext cx="123408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1"/>
          <p:cNvSpPr/>
          <p:nvPr/>
        </p:nvSpPr>
        <p:spPr>
          <a:xfrm>
            <a:off x="2423160" y="2377440"/>
            <a:ext cx="11793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0.5419±0.0318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1"/>
          <p:cNvSpPr/>
          <p:nvPr/>
        </p:nvSpPr>
        <p:spPr>
          <a:xfrm>
            <a:off x="3630240" y="2304360"/>
            <a:ext cx="123408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1"/>
          <p:cNvSpPr/>
          <p:nvPr/>
        </p:nvSpPr>
        <p:spPr>
          <a:xfrm>
            <a:off x="3657600" y="2377440"/>
            <a:ext cx="11793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0.8550±0.0217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1"/>
          <p:cNvSpPr/>
          <p:nvPr/>
        </p:nvSpPr>
        <p:spPr>
          <a:xfrm>
            <a:off x="4864680" y="2304360"/>
            <a:ext cx="82260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1"/>
          <p:cNvSpPr/>
          <p:nvPr/>
        </p:nvSpPr>
        <p:spPr>
          <a:xfrm>
            <a:off x="4892040" y="2377440"/>
            <a:ext cx="76788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0.8780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1"/>
          <p:cNvSpPr/>
          <p:nvPr/>
        </p:nvSpPr>
        <p:spPr>
          <a:xfrm>
            <a:off x="5687640" y="2304360"/>
            <a:ext cx="77688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1"/>
          <p:cNvSpPr/>
          <p:nvPr/>
        </p:nvSpPr>
        <p:spPr>
          <a:xfrm>
            <a:off x="5715000" y="237744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0.5950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1"/>
          <p:cNvSpPr/>
          <p:nvPr/>
        </p:nvSpPr>
        <p:spPr>
          <a:xfrm>
            <a:off x="567000" y="2697480"/>
            <a:ext cx="182844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1"/>
          <p:cNvSpPr/>
          <p:nvPr/>
        </p:nvSpPr>
        <p:spPr>
          <a:xfrm>
            <a:off x="594360" y="2770560"/>
            <a:ext cx="17737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SVM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1"/>
          <p:cNvSpPr/>
          <p:nvPr/>
        </p:nvSpPr>
        <p:spPr>
          <a:xfrm>
            <a:off x="2395800" y="2697480"/>
            <a:ext cx="123408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1"/>
          <p:cNvSpPr/>
          <p:nvPr/>
        </p:nvSpPr>
        <p:spPr>
          <a:xfrm>
            <a:off x="2423160" y="2770560"/>
            <a:ext cx="11793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0.5458±0.0551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1"/>
          <p:cNvSpPr/>
          <p:nvPr/>
        </p:nvSpPr>
        <p:spPr>
          <a:xfrm>
            <a:off x="3630240" y="2697480"/>
            <a:ext cx="123408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1"/>
          <p:cNvSpPr/>
          <p:nvPr/>
        </p:nvSpPr>
        <p:spPr>
          <a:xfrm>
            <a:off x="3657600" y="2770560"/>
            <a:ext cx="11793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0.8469±0.0297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1"/>
          <p:cNvSpPr/>
          <p:nvPr/>
        </p:nvSpPr>
        <p:spPr>
          <a:xfrm>
            <a:off x="4864680" y="2697480"/>
            <a:ext cx="82260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1"/>
          <p:cNvSpPr/>
          <p:nvPr/>
        </p:nvSpPr>
        <p:spPr>
          <a:xfrm>
            <a:off x="4892040" y="2770560"/>
            <a:ext cx="76788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0.6098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1"/>
          <p:cNvSpPr/>
          <p:nvPr/>
        </p:nvSpPr>
        <p:spPr>
          <a:xfrm>
            <a:off x="5687640" y="2697480"/>
            <a:ext cx="77688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1"/>
          <p:cNvSpPr/>
          <p:nvPr/>
        </p:nvSpPr>
        <p:spPr>
          <a:xfrm>
            <a:off x="5715000" y="277056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0.5208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1"/>
          <p:cNvSpPr/>
          <p:nvPr/>
        </p:nvSpPr>
        <p:spPr>
          <a:xfrm>
            <a:off x="567000" y="3090600"/>
            <a:ext cx="182844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1"/>
          <p:cNvSpPr/>
          <p:nvPr/>
        </p:nvSpPr>
        <p:spPr>
          <a:xfrm>
            <a:off x="594360" y="3163680"/>
            <a:ext cx="17737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1"/>
          <p:cNvSpPr/>
          <p:nvPr/>
        </p:nvSpPr>
        <p:spPr>
          <a:xfrm>
            <a:off x="2395800" y="3090600"/>
            <a:ext cx="123408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1"/>
          <p:cNvSpPr/>
          <p:nvPr/>
        </p:nvSpPr>
        <p:spPr>
          <a:xfrm>
            <a:off x="2423160" y="3163680"/>
            <a:ext cx="11793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0.4160±0.0545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1"/>
          <p:cNvSpPr/>
          <p:nvPr/>
        </p:nvSpPr>
        <p:spPr>
          <a:xfrm>
            <a:off x="3630240" y="3090600"/>
            <a:ext cx="123408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1"/>
          <p:cNvSpPr/>
          <p:nvPr/>
        </p:nvSpPr>
        <p:spPr>
          <a:xfrm>
            <a:off x="3657600" y="3163680"/>
            <a:ext cx="11793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0.8696±0.0293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1"/>
          <p:cNvSpPr/>
          <p:nvPr/>
        </p:nvSpPr>
        <p:spPr>
          <a:xfrm>
            <a:off x="4864680" y="3090600"/>
            <a:ext cx="82260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1"/>
          <p:cNvSpPr/>
          <p:nvPr/>
        </p:nvSpPr>
        <p:spPr>
          <a:xfrm>
            <a:off x="4892040" y="3163680"/>
            <a:ext cx="76788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0.4146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1"/>
          <p:cNvSpPr/>
          <p:nvPr/>
        </p:nvSpPr>
        <p:spPr>
          <a:xfrm>
            <a:off x="5687640" y="3090600"/>
            <a:ext cx="77688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1"/>
          <p:cNvSpPr/>
          <p:nvPr/>
        </p:nvSpPr>
        <p:spPr>
          <a:xfrm>
            <a:off x="5715000" y="316368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0.5312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1"/>
          <p:cNvSpPr/>
          <p:nvPr/>
        </p:nvSpPr>
        <p:spPr>
          <a:xfrm>
            <a:off x="567000" y="3483720"/>
            <a:ext cx="182844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1"/>
          <p:cNvSpPr/>
          <p:nvPr/>
        </p:nvSpPr>
        <p:spPr>
          <a:xfrm>
            <a:off x="594360" y="3557160"/>
            <a:ext cx="17737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1"/>
          <p:cNvSpPr/>
          <p:nvPr/>
        </p:nvSpPr>
        <p:spPr>
          <a:xfrm>
            <a:off x="2395800" y="3483720"/>
            <a:ext cx="123408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1"/>
          <p:cNvSpPr/>
          <p:nvPr/>
        </p:nvSpPr>
        <p:spPr>
          <a:xfrm>
            <a:off x="2423160" y="3557160"/>
            <a:ext cx="11793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0.4431±0.0508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1"/>
          <p:cNvSpPr/>
          <p:nvPr/>
        </p:nvSpPr>
        <p:spPr>
          <a:xfrm>
            <a:off x="3630240" y="3483720"/>
            <a:ext cx="123408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1"/>
          <p:cNvSpPr/>
          <p:nvPr/>
        </p:nvSpPr>
        <p:spPr>
          <a:xfrm>
            <a:off x="3657600" y="3557160"/>
            <a:ext cx="11793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0.6976±0.0479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1"/>
          <p:cNvSpPr/>
          <p:nvPr/>
        </p:nvSpPr>
        <p:spPr>
          <a:xfrm>
            <a:off x="4864680" y="3483720"/>
            <a:ext cx="82260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1"/>
          <p:cNvSpPr/>
          <p:nvPr/>
        </p:nvSpPr>
        <p:spPr>
          <a:xfrm>
            <a:off x="4892040" y="3557160"/>
            <a:ext cx="76788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0.4634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1"/>
          <p:cNvSpPr/>
          <p:nvPr/>
        </p:nvSpPr>
        <p:spPr>
          <a:xfrm>
            <a:off x="5687640" y="3483720"/>
            <a:ext cx="77688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1"/>
          <p:cNvSpPr/>
          <p:nvPr/>
        </p:nvSpPr>
        <p:spPr>
          <a:xfrm>
            <a:off x="5715000" y="355716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0.5135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1"/>
          <p:cNvSpPr/>
          <p:nvPr/>
        </p:nvSpPr>
        <p:spPr>
          <a:xfrm>
            <a:off x="6903720" y="1710000"/>
            <a:ext cx="4297320" cy="868320"/>
          </a:xfrm>
          <a:prstGeom prst="roundRect">
            <a:avLst>
              <a:gd fmla="val 12632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1"/>
          <p:cNvSpPr/>
          <p:nvPr/>
        </p:nvSpPr>
        <p:spPr>
          <a:xfrm>
            <a:off x="7068240" y="1856160"/>
            <a:ext cx="39682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Composite score formula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1"/>
          <p:cNvSpPr/>
          <p:nvPr/>
        </p:nvSpPr>
        <p:spPr>
          <a:xfrm>
            <a:off x="7068240" y="2157840"/>
            <a:ext cx="39682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0.40×Recall + 0.35×F1 + 0.25×AUC − 0.10×CV_F1_Std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1"/>
          <p:cNvSpPr/>
          <p:nvPr/>
        </p:nvSpPr>
        <p:spPr>
          <a:xfrm>
            <a:off x="6903720" y="2853000"/>
            <a:ext cx="4297320" cy="2121120"/>
          </a:xfrm>
          <a:prstGeom prst="roundRect">
            <a:avLst>
              <a:gd fmla="val 3448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1"/>
          <p:cNvSpPr/>
          <p:nvPr/>
        </p:nvSpPr>
        <p:spPr>
          <a:xfrm>
            <a:off x="6903720" y="2853000"/>
            <a:ext cx="63972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1"/>
          <p:cNvSpPr/>
          <p:nvPr/>
        </p:nvSpPr>
        <p:spPr>
          <a:xfrm>
            <a:off x="6931080" y="2926080"/>
            <a:ext cx="58500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1"/>
          <p:cNvSpPr/>
          <p:nvPr/>
        </p:nvSpPr>
        <p:spPr>
          <a:xfrm>
            <a:off x="7543800" y="2853000"/>
            <a:ext cx="23770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1"/>
          <p:cNvSpPr/>
          <p:nvPr/>
        </p:nvSpPr>
        <p:spPr>
          <a:xfrm>
            <a:off x="7571160" y="2926080"/>
            <a:ext cx="23223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1"/>
          <p:cNvSpPr/>
          <p:nvPr/>
        </p:nvSpPr>
        <p:spPr>
          <a:xfrm>
            <a:off x="9921240" y="2853000"/>
            <a:ext cx="12798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1"/>
          <p:cNvSpPr/>
          <p:nvPr/>
        </p:nvSpPr>
        <p:spPr>
          <a:xfrm>
            <a:off x="9948600" y="2926080"/>
            <a:ext cx="12250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Composite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1"/>
          <p:cNvSpPr/>
          <p:nvPr/>
        </p:nvSpPr>
        <p:spPr>
          <a:xfrm>
            <a:off x="6903720" y="3145680"/>
            <a:ext cx="639720" cy="35640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1"/>
          <p:cNvSpPr/>
          <p:nvPr/>
        </p:nvSpPr>
        <p:spPr>
          <a:xfrm>
            <a:off x="6931080" y="3218760"/>
            <a:ext cx="5850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1"/>
          <p:cNvSpPr/>
          <p:nvPr/>
        </p:nvSpPr>
        <p:spPr>
          <a:xfrm>
            <a:off x="7543800" y="3145680"/>
            <a:ext cx="2377080" cy="35640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1"/>
          <p:cNvSpPr/>
          <p:nvPr/>
        </p:nvSpPr>
        <p:spPr>
          <a:xfrm>
            <a:off x="7571160" y="3218760"/>
            <a:ext cx="23223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1"/>
          <p:cNvSpPr/>
          <p:nvPr/>
        </p:nvSpPr>
        <p:spPr>
          <a:xfrm>
            <a:off x="9921240" y="3145680"/>
            <a:ext cx="1279800" cy="35640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1"/>
          <p:cNvSpPr/>
          <p:nvPr/>
        </p:nvSpPr>
        <p:spPr>
          <a:xfrm>
            <a:off x="9948600" y="3218760"/>
            <a:ext cx="122508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0.7826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1"/>
          <p:cNvSpPr/>
          <p:nvPr/>
        </p:nvSpPr>
        <p:spPr>
          <a:xfrm>
            <a:off x="6903720" y="3502080"/>
            <a:ext cx="639720" cy="35640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1"/>
          <p:cNvSpPr/>
          <p:nvPr/>
        </p:nvSpPr>
        <p:spPr>
          <a:xfrm>
            <a:off x="6931080" y="3585293"/>
            <a:ext cx="585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1"/>
          <p:cNvSpPr/>
          <p:nvPr/>
        </p:nvSpPr>
        <p:spPr>
          <a:xfrm>
            <a:off x="7543800" y="3502080"/>
            <a:ext cx="2377080" cy="35640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1"/>
          <p:cNvSpPr/>
          <p:nvPr/>
        </p:nvSpPr>
        <p:spPr>
          <a:xfrm>
            <a:off x="7571160" y="3575160"/>
            <a:ext cx="23223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1"/>
          <p:cNvSpPr/>
          <p:nvPr/>
        </p:nvSpPr>
        <p:spPr>
          <a:xfrm>
            <a:off x="9921240" y="3502080"/>
            <a:ext cx="1279800" cy="35640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1"/>
          <p:cNvSpPr/>
          <p:nvPr/>
        </p:nvSpPr>
        <p:spPr>
          <a:xfrm>
            <a:off x="9948600" y="3575160"/>
            <a:ext cx="122508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0.6557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1"/>
          <p:cNvSpPr/>
          <p:nvPr/>
        </p:nvSpPr>
        <p:spPr>
          <a:xfrm>
            <a:off x="6903720" y="3858840"/>
            <a:ext cx="639720" cy="35640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1"/>
          <p:cNvSpPr/>
          <p:nvPr/>
        </p:nvSpPr>
        <p:spPr>
          <a:xfrm>
            <a:off x="6931080" y="3931920"/>
            <a:ext cx="5850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1"/>
          <p:cNvSpPr/>
          <p:nvPr/>
        </p:nvSpPr>
        <p:spPr>
          <a:xfrm>
            <a:off x="7543800" y="3858840"/>
            <a:ext cx="2377080" cy="35640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1"/>
          <p:cNvSpPr/>
          <p:nvPr/>
        </p:nvSpPr>
        <p:spPr>
          <a:xfrm>
            <a:off x="7571160" y="3931920"/>
            <a:ext cx="23223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SVM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1"/>
          <p:cNvSpPr/>
          <p:nvPr/>
        </p:nvSpPr>
        <p:spPr>
          <a:xfrm>
            <a:off x="9921240" y="3858840"/>
            <a:ext cx="1279800" cy="35640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1"/>
          <p:cNvSpPr/>
          <p:nvPr/>
        </p:nvSpPr>
        <p:spPr>
          <a:xfrm>
            <a:off x="9948600" y="3931920"/>
            <a:ext cx="122508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0.6323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1"/>
          <p:cNvSpPr/>
          <p:nvPr/>
        </p:nvSpPr>
        <p:spPr>
          <a:xfrm>
            <a:off x="6903720" y="4215240"/>
            <a:ext cx="639720" cy="35640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1"/>
          <p:cNvSpPr/>
          <p:nvPr/>
        </p:nvSpPr>
        <p:spPr>
          <a:xfrm>
            <a:off x="6931080" y="4288680"/>
            <a:ext cx="5850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1"/>
          <p:cNvSpPr/>
          <p:nvPr/>
        </p:nvSpPr>
        <p:spPr>
          <a:xfrm>
            <a:off x="7543800" y="4215240"/>
            <a:ext cx="2377080" cy="35640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1"/>
          <p:cNvSpPr/>
          <p:nvPr/>
        </p:nvSpPr>
        <p:spPr>
          <a:xfrm>
            <a:off x="7571160" y="4288680"/>
            <a:ext cx="23223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KNN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1"/>
          <p:cNvSpPr/>
          <p:nvPr/>
        </p:nvSpPr>
        <p:spPr>
          <a:xfrm>
            <a:off x="9921240" y="4215240"/>
            <a:ext cx="1279800" cy="35640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1"/>
          <p:cNvSpPr/>
          <p:nvPr/>
        </p:nvSpPr>
        <p:spPr>
          <a:xfrm>
            <a:off x="9948600" y="4288680"/>
            <a:ext cx="122508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0.6261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1"/>
          <p:cNvSpPr/>
          <p:nvPr/>
        </p:nvSpPr>
        <p:spPr>
          <a:xfrm>
            <a:off x="6903720" y="4572000"/>
            <a:ext cx="639720" cy="3564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1"/>
          <p:cNvSpPr/>
          <p:nvPr/>
        </p:nvSpPr>
        <p:spPr>
          <a:xfrm>
            <a:off x="6931080" y="4645080"/>
            <a:ext cx="5850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1"/>
          <p:cNvSpPr/>
          <p:nvPr/>
        </p:nvSpPr>
        <p:spPr>
          <a:xfrm>
            <a:off x="7543800" y="4572000"/>
            <a:ext cx="2377080" cy="3564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1"/>
          <p:cNvSpPr/>
          <p:nvPr/>
        </p:nvSpPr>
        <p:spPr>
          <a:xfrm>
            <a:off x="7571160" y="4645080"/>
            <a:ext cx="23223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1"/>
          <p:cNvSpPr/>
          <p:nvPr/>
        </p:nvSpPr>
        <p:spPr>
          <a:xfrm>
            <a:off x="9921240" y="4572000"/>
            <a:ext cx="1279800" cy="3564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1"/>
          <p:cNvSpPr/>
          <p:nvPr/>
        </p:nvSpPr>
        <p:spPr>
          <a:xfrm>
            <a:off x="9948600" y="4645080"/>
            <a:ext cx="122508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0.5660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6" name="Google Shape;696;p11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7" name="Google Shape;697;p11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1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2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2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2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PHASE 4.1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2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Hyperparameter tuning: improvement is not guaranteed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2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Tuning exposed a key lesson: optimizing one objective can harm clinical recall.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2"/>
          <p:cNvSpPr/>
          <p:nvPr/>
        </p:nvSpPr>
        <p:spPr>
          <a:xfrm>
            <a:off x="502920" y="1600200"/>
            <a:ext cx="7497720" cy="1709640"/>
          </a:xfrm>
          <a:prstGeom prst="roundRect">
            <a:avLst>
              <a:gd fmla="val 4278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2"/>
          <p:cNvSpPr/>
          <p:nvPr/>
        </p:nvSpPr>
        <p:spPr>
          <a:xfrm>
            <a:off x="502920" y="1600200"/>
            <a:ext cx="141696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2"/>
          <p:cNvSpPr/>
          <p:nvPr/>
        </p:nvSpPr>
        <p:spPr>
          <a:xfrm>
            <a:off x="530280" y="1673280"/>
            <a:ext cx="13622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2"/>
          <p:cNvSpPr/>
          <p:nvPr/>
        </p:nvSpPr>
        <p:spPr>
          <a:xfrm>
            <a:off x="1920240" y="1600200"/>
            <a:ext cx="10054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2"/>
          <p:cNvSpPr/>
          <p:nvPr/>
        </p:nvSpPr>
        <p:spPr>
          <a:xfrm>
            <a:off x="1947600" y="1673280"/>
            <a:ext cx="9507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Recall before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2"/>
          <p:cNvSpPr/>
          <p:nvPr/>
        </p:nvSpPr>
        <p:spPr>
          <a:xfrm>
            <a:off x="2926080" y="1600200"/>
            <a:ext cx="10054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2"/>
          <p:cNvSpPr/>
          <p:nvPr/>
        </p:nvSpPr>
        <p:spPr>
          <a:xfrm>
            <a:off x="2953440" y="1673280"/>
            <a:ext cx="9507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F1 before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2"/>
          <p:cNvSpPr/>
          <p:nvPr/>
        </p:nvSpPr>
        <p:spPr>
          <a:xfrm>
            <a:off x="3931920" y="1600200"/>
            <a:ext cx="10054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2"/>
          <p:cNvSpPr/>
          <p:nvPr/>
        </p:nvSpPr>
        <p:spPr>
          <a:xfrm>
            <a:off x="3959280" y="1673280"/>
            <a:ext cx="9507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AUC before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2"/>
          <p:cNvSpPr/>
          <p:nvPr/>
        </p:nvSpPr>
        <p:spPr>
          <a:xfrm>
            <a:off x="4937760" y="1600200"/>
            <a:ext cx="10054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2"/>
          <p:cNvSpPr/>
          <p:nvPr/>
        </p:nvSpPr>
        <p:spPr>
          <a:xfrm>
            <a:off x="4965120" y="1673280"/>
            <a:ext cx="9507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Recall after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2"/>
          <p:cNvSpPr/>
          <p:nvPr/>
        </p:nvSpPr>
        <p:spPr>
          <a:xfrm>
            <a:off x="5943600" y="1600200"/>
            <a:ext cx="10054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2"/>
          <p:cNvSpPr/>
          <p:nvPr/>
        </p:nvSpPr>
        <p:spPr>
          <a:xfrm>
            <a:off x="5970960" y="1673280"/>
            <a:ext cx="9507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F1 after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2"/>
          <p:cNvSpPr/>
          <p:nvPr/>
        </p:nvSpPr>
        <p:spPr>
          <a:xfrm>
            <a:off x="6949440" y="1600200"/>
            <a:ext cx="10512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2"/>
          <p:cNvSpPr/>
          <p:nvPr/>
        </p:nvSpPr>
        <p:spPr>
          <a:xfrm>
            <a:off x="6976800" y="1673280"/>
            <a:ext cx="996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AUC after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2"/>
          <p:cNvSpPr/>
          <p:nvPr/>
        </p:nvSpPr>
        <p:spPr>
          <a:xfrm>
            <a:off x="502920" y="1892880"/>
            <a:ext cx="141696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2"/>
          <p:cNvSpPr/>
          <p:nvPr/>
        </p:nvSpPr>
        <p:spPr>
          <a:xfrm>
            <a:off x="530280" y="1965960"/>
            <a:ext cx="136224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2"/>
          <p:cNvSpPr/>
          <p:nvPr/>
        </p:nvSpPr>
        <p:spPr>
          <a:xfrm>
            <a:off x="1920240" y="1892880"/>
            <a:ext cx="100548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2"/>
          <p:cNvSpPr/>
          <p:nvPr/>
        </p:nvSpPr>
        <p:spPr>
          <a:xfrm>
            <a:off x="1947600" y="19659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0.8780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2"/>
          <p:cNvSpPr/>
          <p:nvPr/>
        </p:nvSpPr>
        <p:spPr>
          <a:xfrm>
            <a:off x="2926080" y="1892880"/>
            <a:ext cx="100548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2"/>
          <p:cNvSpPr/>
          <p:nvPr/>
        </p:nvSpPr>
        <p:spPr>
          <a:xfrm>
            <a:off x="2953440" y="19659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0.5950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2"/>
          <p:cNvSpPr/>
          <p:nvPr/>
        </p:nvSpPr>
        <p:spPr>
          <a:xfrm>
            <a:off x="3931920" y="1892880"/>
            <a:ext cx="100548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2"/>
          <p:cNvSpPr/>
          <p:nvPr/>
        </p:nvSpPr>
        <p:spPr>
          <a:xfrm>
            <a:off x="3959280" y="19659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0.9053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2"/>
          <p:cNvSpPr/>
          <p:nvPr/>
        </p:nvSpPr>
        <p:spPr>
          <a:xfrm>
            <a:off x="4937760" y="1892880"/>
            <a:ext cx="100548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2"/>
          <p:cNvSpPr/>
          <p:nvPr/>
        </p:nvSpPr>
        <p:spPr>
          <a:xfrm>
            <a:off x="4965120" y="19659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0.8780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2"/>
          <p:cNvSpPr/>
          <p:nvPr/>
        </p:nvSpPr>
        <p:spPr>
          <a:xfrm>
            <a:off x="5943600" y="1892880"/>
            <a:ext cx="100548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2"/>
          <p:cNvSpPr/>
          <p:nvPr/>
        </p:nvSpPr>
        <p:spPr>
          <a:xfrm>
            <a:off x="5970960" y="19659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0.5950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2"/>
          <p:cNvSpPr/>
          <p:nvPr/>
        </p:nvSpPr>
        <p:spPr>
          <a:xfrm>
            <a:off x="6949440" y="1892880"/>
            <a:ext cx="105120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2"/>
          <p:cNvSpPr/>
          <p:nvPr/>
        </p:nvSpPr>
        <p:spPr>
          <a:xfrm>
            <a:off x="6976800" y="1965960"/>
            <a:ext cx="99648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0.8869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12"/>
          <p:cNvSpPr/>
          <p:nvPr/>
        </p:nvSpPr>
        <p:spPr>
          <a:xfrm>
            <a:off x="502920" y="2350080"/>
            <a:ext cx="1416960" cy="45684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2"/>
          <p:cNvSpPr/>
          <p:nvPr/>
        </p:nvSpPr>
        <p:spPr>
          <a:xfrm>
            <a:off x="530280" y="2423160"/>
            <a:ext cx="136224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2"/>
          <p:cNvSpPr/>
          <p:nvPr/>
        </p:nvSpPr>
        <p:spPr>
          <a:xfrm>
            <a:off x="1920240" y="2350080"/>
            <a:ext cx="1005480" cy="45684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2"/>
          <p:cNvSpPr/>
          <p:nvPr/>
        </p:nvSpPr>
        <p:spPr>
          <a:xfrm>
            <a:off x="1947600" y="24231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0.5366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2"/>
          <p:cNvSpPr/>
          <p:nvPr/>
        </p:nvSpPr>
        <p:spPr>
          <a:xfrm>
            <a:off x="2926080" y="2350080"/>
            <a:ext cx="1005480" cy="45684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2"/>
          <p:cNvSpPr/>
          <p:nvPr/>
        </p:nvSpPr>
        <p:spPr>
          <a:xfrm>
            <a:off x="2953440" y="24231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0.6286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2"/>
          <p:cNvSpPr/>
          <p:nvPr/>
        </p:nvSpPr>
        <p:spPr>
          <a:xfrm>
            <a:off x="3931920" y="2350080"/>
            <a:ext cx="1005480" cy="45684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2"/>
          <p:cNvSpPr/>
          <p:nvPr/>
        </p:nvSpPr>
        <p:spPr>
          <a:xfrm>
            <a:off x="3959280" y="24231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0.9055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2"/>
          <p:cNvSpPr/>
          <p:nvPr/>
        </p:nvSpPr>
        <p:spPr>
          <a:xfrm>
            <a:off x="4937760" y="2350080"/>
            <a:ext cx="1005480" cy="45684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2"/>
          <p:cNvSpPr/>
          <p:nvPr/>
        </p:nvSpPr>
        <p:spPr>
          <a:xfrm>
            <a:off x="4965120" y="24231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0.5122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2"/>
          <p:cNvSpPr/>
          <p:nvPr/>
        </p:nvSpPr>
        <p:spPr>
          <a:xfrm>
            <a:off x="5943600" y="2350080"/>
            <a:ext cx="1005480" cy="45684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2"/>
          <p:cNvSpPr/>
          <p:nvPr/>
        </p:nvSpPr>
        <p:spPr>
          <a:xfrm>
            <a:off x="5970960" y="24231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0.5915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2"/>
          <p:cNvSpPr/>
          <p:nvPr/>
        </p:nvSpPr>
        <p:spPr>
          <a:xfrm>
            <a:off x="6949440" y="2350080"/>
            <a:ext cx="1051200" cy="45684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2"/>
          <p:cNvSpPr/>
          <p:nvPr/>
        </p:nvSpPr>
        <p:spPr>
          <a:xfrm>
            <a:off x="6976800" y="2423160"/>
            <a:ext cx="99648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0.9073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2"/>
          <p:cNvSpPr/>
          <p:nvPr/>
        </p:nvSpPr>
        <p:spPr>
          <a:xfrm>
            <a:off x="502920" y="2807280"/>
            <a:ext cx="141696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2"/>
          <p:cNvSpPr/>
          <p:nvPr/>
        </p:nvSpPr>
        <p:spPr>
          <a:xfrm>
            <a:off x="530280" y="2880360"/>
            <a:ext cx="136224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SVM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2"/>
          <p:cNvSpPr/>
          <p:nvPr/>
        </p:nvSpPr>
        <p:spPr>
          <a:xfrm>
            <a:off x="1920240" y="2807280"/>
            <a:ext cx="100548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2"/>
          <p:cNvSpPr/>
          <p:nvPr/>
        </p:nvSpPr>
        <p:spPr>
          <a:xfrm>
            <a:off x="1947600" y="28803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0.6098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2"/>
          <p:cNvSpPr/>
          <p:nvPr/>
        </p:nvSpPr>
        <p:spPr>
          <a:xfrm>
            <a:off x="2926080" y="2807280"/>
            <a:ext cx="100548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2"/>
          <p:cNvSpPr/>
          <p:nvPr/>
        </p:nvSpPr>
        <p:spPr>
          <a:xfrm>
            <a:off x="2953440" y="28803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0.5208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2"/>
          <p:cNvSpPr/>
          <p:nvPr/>
        </p:nvSpPr>
        <p:spPr>
          <a:xfrm>
            <a:off x="3931920" y="2807280"/>
            <a:ext cx="100548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2"/>
          <p:cNvSpPr/>
          <p:nvPr/>
        </p:nvSpPr>
        <p:spPr>
          <a:xfrm>
            <a:off x="3959280" y="28803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0.8464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2"/>
          <p:cNvSpPr/>
          <p:nvPr/>
        </p:nvSpPr>
        <p:spPr>
          <a:xfrm>
            <a:off x="4937760" y="2807280"/>
            <a:ext cx="100548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2"/>
          <p:cNvSpPr/>
          <p:nvPr/>
        </p:nvSpPr>
        <p:spPr>
          <a:xfrm>
            <a:off x="4965120" y="28803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0.1463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2"/>
          <p:cNvSpPr/>
          <p:nvPr/>
        </p:nvSpPr>
        <p:spPr>
          <a:xfrm>
            <a:off x="5943600" y="2807280"/>
            <a:ext cx="100548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2"/>
          <p:cNvSpPr/>
          <p:nvPr/>
        </p:nvSpPr>
        <p:spPr>
          <a:xfrm>
            <a:off x="5970960" y="2880360"/>
            <a:ext cx="95076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0.2264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2"/>
          <p:cNvSpPr/>
          <p:nvPr/>
        </p:nvSpPr>
        <p:spPr>
          <a:xfrm>
            <a:off x="6949440" y="2807280"/>
            <a:ext cx="1051200" cy="4568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2"/>
          <p:cNvSpPr/>
          <p:nvPr/>
        </p:nvSpPr>
        <p:spPr>
          <a:xfrm>
            <a:off x="6976800" y="2880360"/>
            <a:ext cx="996480" cy="39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0.8058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2"/>
          <p:cNvSpPr/>
          <p:nvPr/>
        </p:nvSpPr>
        <p:spPr>
          <a:xfrm>
            <a:off x="8412480" y="1755720"/>
            <a:ext cx="2742840" cy="959760"/>
          </a:xfrm>
          <a:prstGeom prst="roundRect">
            <a:avLst>
              <a:gd fmla="val 11429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2"/>
          <p:cNvSpPr/>
          <p:nvPr/>
        </p:nvSpPr>
        <p:spPr>
          <a:xfrm>
            <a:off x="8577000" y="1901880"/>
            <a:ext cx="24138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2"/>
          <p:cNvSpPr/>
          <p:nvPr/>
        </p:nvSpPr>
        <p:spPr>
          <a:xfrm>
            <a:off x="8577000" y="2203560"/>
            <a:ext cx="24138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AUC slightly increased from 0.9055 to 0.9073, but F1 decreased from 0.6286 to 0.5915.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2"/>
          <p:cNvSpPr/>
          <p:nvPr/>
        </p:nvSpPr>
        <p:spPr>
          <a:xfrm>
            <a:off x="8412480" y="2971800"/>
            <a:ext cx="2742840" cy="959760"/>
          </a:xfrm>
          <a:prstGeom prst="roundRect">
            <a:avLst>
              <a:gd fmla="val 11429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2"/>
          <p:cNvSpPr/>
          <p:nvPr/>
        </p:nvSpPr>
        <p:spPr>
          <a:xfrm>
            <a:off x="8577000" y="3117960"/>
            <a:ext cx="24138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SVM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2"/>
          <p:cNvSpPr/>
          <p:nvPr/>
        </p:nvSpPr>
        <p:spPr>
          <a:xfrm>
            <a:off x="8577000" y="3420000"/>
            <a:ext cx="24138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n-US" sz="822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Recall collapsed from 0.6098 to 0.1463 after tuning, proving that HPO must match the clinical objective.</a:t>
            </a:r>
            <a:endParaRPr b="0" i="0" sz="82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12"/>
          <p:cNvSpPr/>
          <p:nvPr/>
        </p:nvSpPr>
        <p:spPr>
          <a:xfrm>
            <a:off x="8412480" y="4187880"/>
            <a:ext cx="2742840" cy="959760"/>
          </a:xfrm>
          <a:prstGeom prst="roundRect">
            <a:avLst>
              <a:gd fmla="val 11429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2"/>
          <p:cNvSpPr/>
          <p:nvPr/>
        </p:nvSpPr>
        <p:spPr>
          <a:xfrm>
            <a:off x="8577000" y="4334400"/>
            <a:ext cx="24138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2"/>
          <p:cNvSpPr/>
          <p:nvPr/>
        </p:nvSpPr>
        <p:spPr>
          <a:xfrm>
            <a:off x="8577000" y="4636080"/>
            <a:ext cx="24138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n-US" sz="822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project needs threshold tuning and recall-aware model selection, not only black-box hyperparameter search.</a:t>
            </a:r>
            <a:endParaRPr b="0" i="0" sz="82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7" name="Google Shape;777;p12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8" name="Google Shape;778;p12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2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1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3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3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3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PHASE 4.2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3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Class imbalance strategy and threshold tuning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3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largest clinical gain came from changing the decision threshold, not just changing the algorithm.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3"/>
          <p:cNvSpPr/>
          <p:nvPr/>
        </p:nvSpPr>
        <p:spPr>
          <a:xfrm>
            <a:off x="594360" y="1600200"/>
            <a:ext cx="5166000" cy="1362240"/>
          </a:xfrm>
          <a:prstGeom prst="roundRect">
            <a:avLst>
              <a:gd fmla="val 5369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13"/>
          <p:cNvSpPr/>
          <p:nvPr/>
        </p:nvSpPr>
        <p:spPr>
          <a:xfrm>
            <a:off x="594360" y="1600200"/>
            <a:ext cx="19656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3"/>
          <p:cNvSpPr/>
          <p:nvPr/>
        </p:nvSpPr>
        <p:spPr>
          <a:xfrm>
            <a:off x="621720" y="1673280"/>
            <a:ext cx="19108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XGBoost strategy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3"/>
          <p:cNvSpPr/>
          <p:nvPr/>
        </p:nvSpPr>
        <p:spPr>
          <a:xfrm>
            <a:off x="2560320" y="1600200"/>
            <a:ext cx="8226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3"/>
          <p:cNvSpPr/>
          <p:nvPr/>
        </p:nvSpPr>
        <p:spPr>
          <a:xfrm>
            <a:off x="2587680" y="1673280"/>
            <a:ext cx="7678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3"/>
          <p:cNvSpPr/>
          <p:nvPr/>
        </p:nvSpPr>
        <p:spPr>
          <a:xfrm>
            <a:off x="3383280" y="1600200"/>
            <a:ext cx="8226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3"/>
          <p:cNvSpPr/>
          <p:nvPr/>
        </p:nvSpPr>
        <p:spPr>
          <a:xfrm>
            <a:off x="3410640" y="1673280"/>
            <a:ext cx="7678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3"/>
          <p:cNvSpPr/>
          <p:nvPr/>
        </p:nvSpPr>
        <p:spPr>
          <a:xfrm>
            <a:off x="4206240" y="1600200"/>
            <a:ext cx="73116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3"/>
          <p:cNvSpPr/>
          <p:nvPr/>
        </p:nvSpPr>
        <p:spPr>
          <a:xfrm>
            <a:off x="4233600" y="1673280"/>
            <a:ext cx="6764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13"/>
          <p:cNvSpPr/>
          <p:nvPr/>
        </p:nvSpPr>
        <p:spPr>
          <a:xfrm>
            <a:off x="4937760" y="1600200"/>
            <a:ext cx="8226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13"/>
          <p:cNvSpPr/>
          <p:nvPr/>
        </p:nvSpPr>
        <p:spPr>
          <a:xfrm>
            <a:off x="4965120" y="1673280"/>
            <a:ext cx="7678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AUC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13"/>
          <p:cNvSpPr/>
          <p:nvPr/>
        </p:nvSpPr>
        <p:spPr>
          <a:xfrm>
            <a:off x="594360" y="1892880"/>
            <a:ext cx="1965600" cy="511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3"/>
          <p:cNvSpPr/>
          <p:nvPr/>
        </p:nvSpPr>
        <p:spPr>
          <a:xfrm>
            <a:off x="621720" y="1965960"/>
            <a:ext cx="1910880" cy="44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SMOTE tuned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13"/>
          <p:cNvSpPr/>
          <p:nvPr/>
        </p:nvSpPr>
        <p:spPr>
          <a:xfrm>
            <a:off x="2560320" y="1892880"/>
            <a:ext cx="822600" cy="511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13"/>
          <p:cNvSpPr/>
          <p:nvPr/>
        </p:nvSpPr>
        <p:spPr>
          <a:xfrm>
            <a:off x="2587680" y="1965960"/>
            <a:ext cx="767880" cy="44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0.5122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13"/>
          <p:cNvSpPr/>
          <p:nvPr/>
        </p:nvSpPr>
        <p:spPr>
          <a:xfrm>
            <a:off x="3383280" y="1892880"/>
            <a:ext cx="822600" cy="511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3"/>
          <p:cNvSpPr/>
          <p:nvPr/>
        </p:nvSpPr>
        <p:spPr>
          <a:xfrm>
            <a:off x="3410640" y="1965960"/>
            <a:ext cx="767880" cy="44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0.7000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13"/>
          <p:cNvSpPr/>
          <p:nvPr/>
        </p:nvSpPr>
        <p:spPr>
          <a:xfrm>
            <a:off x="4206240" y="1892880"/>
            <a:ext cx="731160" cy="511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3"/>
          <p:cNvSpPr/>
          <p:nvPr/>
        </p:nvSpPr>
        <p:spPr>
          <a:xfrm>
            <a:off x="4233600" y="1965960"/>
            <a:ext cx="676440" cy="44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0.5915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13"/>
          <p:cNvSpPr/>
          <p:nvPr/>
        </p:nvSpPr>
        <p:spPr>
          <a:xfrm>
            <a:off x="4937760" y="1892880"/>
            <a:ext cx="822600" cy="511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3"/>
          <p:cNvSpPr/>
          <p:nvPr/>
        </p:nvSpPr>
        <p:spPr>
          <a:xfrm>
            <a:off x="4965120" y="1965960"/>
            <a:ext cx="767880" cy="44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0.9073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13"/>
          <p:cNvSpPr/>
          <p:nvPr/>
        </p:nvSpPr>
        <p:spPr>
          <a:xfrm>
            <a:off x="594360" y="2404800"/>
            <a:ext cx="1965600" cy="511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13"/>
          <p:cNvSpPr/>
          <p:nvPr/>
        </p:nvSpPr>
        <p:spPr>
          <a:xfrm>
            <a:off x="621720" y="2477880"/>
            <a:ext cx="1910880" cy="44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scale_pos_weight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13"/>
          <p:cNvSpPr/>
          <p:nvPr/>
        </p:nvSpPr>
        <p:spPr>
          <a:xfrm>
            <a:off x="2560320" y="2404800"/>
            <a:ext cx="822600" cy="511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3"/>
          <p:cNvSpPr/>
          <p:nvPr/>
        </p:nvSpPr>
        <p:spPr>
          <a:xfrm>
            <a:off x="2587680" y="2477880"/>
            <a:ext cx="767880" cy="44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0.6829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13"/>
          <p:cNvSpPr/>
          <p:nvPr/>
        </p:nvSpPr>
        <p:spPr>
          <a:xfrm>
            <a:off x="3383280" y="2404800"/>
            <a:ext cx="822600" cy="511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13"/>
          <p:cNvSpPr/>
          <p:nvPr/>
        </p:nvSpPr>
        <p:spPr>
          <a:xfrm>
            <a:off x="3410640" y="2477880"/>
            <a:ext cx="767880" cy="44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0.6667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13"/>
          <p:cNvSpPr/>
          <p:nvPr/>
        </p:nvSpPr>
        <p:spPr>
          <a:xfrm>
            <a:off x="4206240" y="2404800"/>
            <a:ext cx="731160" cy="511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13"/>
          <p:cNvSpPr/>
          <p:nvPr/>
        </p:nvSpPr>
        <p:spPr>
          <a:xfrm>
            <a:off x="4233600" y="2477880"/>
            <a:ext cx="676440" cy="44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0.6747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3"/>
          <p:cNvSpPr/>
          <p:nvPr/>
        </p:nvSpPr>
        <p:spPr>
          <a:xfrm>
            <a:off x="4937760" y="2404800"/>
            <a:ext cx="822600" cy="511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13"/>
          <p:cNvSpPr/>
          <p:nvPr/>
        </p:nvSpPr>
        <p:spPr>
          <a:xfrm>
            <a:off x="4965120" y="2477880"/>
            <a:ext cx="767880" cy="44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0.9070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13"/>
          <p:cNvSpPr/>
          <p:nvPr/>
        </p:nvSpPr>
        <p:spPr>
          <a:xfrm>
            <a:off x="594360" y="3337560"/>
            <a:ext cx="5166000" cy="1599840"/>
          </a:xfrm>
          <a:prstGeom prst="roundRect">
            <a:avLst>
              <a:gd fmla="val 4571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13"/>
          <p:cNvSpPr/>
          <p:nvPr/>
        </p:nvSpPr>
        <p:spPr>
          <a:xfrm>
            <a:off x="594360" y="3337560"/>
            <a:ext cx="19656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13"/>
          <p:cNvSpPr/>
          <p:nvPr/>
        </p:nvSpPr>
        <p:spPr>
          <a:xfrm>
            <a:off x="621720" y="3410640"/>
            <a:ext cx="19108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Threshold strategy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13"/>
          <p:cNvSpPr/>
          <p:nvPr/>
        </p:nvSpPr>
        <p:spPr>
          <a:xfrm>
            <a:off x="2560320" y="3337560"/>
            <a:ext cx="8226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13"/>
          <p:cNvSpPr/>
          <p:nvPr/>
        </p:nvSpPr>
        <p:spPr>
          <a:xfrm>
            <a:off x="2587680" y="3410640"/>
            <a:ext cx="7678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13"/>
          <p:cNvSpPr/>
          <p:nvPr/>
        </p:nvSpPr>
        <p:spPr>
          <a:xfrm>
            <a:off x="3383280" y="3337560"/>
            <a:ext cx="8226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3"/>
          <p:cNvSpPr/>
          <p:nvPr/>
        </p:nvSpPr>
        <p:spPr>
          <a:xfrm>
            <a:off x="3410640" y="3410640"/>
            <a:ext cx="7678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3"/>
          <p:cNvSpPr/>
          <p:nvPr/>
        </p:nvSpPr>
        <p:spPr>
          <a:xfrm>
            <a:off x="4206240" y="3337560"/>
            <a:ext cx="73116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3"/>
          <p:cNvSpPr/>
          <p:nvPr/>
        </p:nvSpPr>
        <p:spPr>
          <a:xfrm>
            <a:off x="4233600" y="3410640"/>
            <a:ext cx="6764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3"/>
          <p:cNvSpPr/>
          <p:nvPr/>
        </p:nvSpPr>
        <p:spPr>
          <a:xfrm>
            <a:off x="4937760" y="3337560"/>
            <a:ext cx="8226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3"/>
          <p:cNvSpPr/>
          <p:nvPr/>
        </p:nvSpPr>
        <p:spPr>
          <a:xfrm>
            <a:off x="4965120" y="3410640"/>
            <a:ext cx="7678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AUC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3"/>
          <p:cNvSpPr/>
          <p:nvPr/>
        </p:nvSpPr>
        <p:spPr>
          <a:xfrm>
            <a:off x="594360" y="3630240"/>
            <a:ext cx="1965600" cy="420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3"/>
          <p:cNvSpPr/>
          <p:nvPr/>
        </p:nvSpPr>
        <p:spPr>
          <a:xfrm>
            <a:off x="621720" y="3703320"/>
            <a:ext cx="19108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Default 0.50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3"/>
          <p:cNvSpPr/>
          <p:nvPr/>
        </p:nvSpPr>
        <p:spPr>
          <a:xfrm>
            <a:off x="2560320" y="3630240"/>
            <a:ext cx="822600" cy="420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13"/>
          <p:cNvSpPr/>
          <p:nvPr/>
        </p:nvSpPr>
        <p:spPr>
          <a:xfrm>
            <a:off x="2587680" y="3703320"/>
            <a:ext cx="7678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0.3659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13"/>
          <p:cNvSpPr/>
          <p:nvPr/>
        </p:nvSpPr>
        <p:spPr>
          <a:xfrm>
            <a:off x="3383280" y="3630240"/>
            <a:ext cx="822600" cy="420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13"/>
          <p:cNvSpPr/>
          <p:nvPr/>
        </p:nvSpPr>
        <p:spPr>
          <a:xfrm>
            <a:off x="3410640" y="3703320"/>
            <a:ext cx="7678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0.6818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3"/>
          <p:cNvSpPr/>
          <p:nvPr/>
        </p:nvSpPr>
        <p:spPr>
          <a:xfrm>
            <a:off x="4206240" y="3630240"/>
            <a:ext cx="731160" cy="420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3"/>
          <p:cNvSpPr/>
          <p:nvPr/>
        </p:nvSpPr>
        <p:spPr>
          <a:xfrm>
            <a:off x="4233600" y="3703320"/>
            <a:ext cx="67644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0.4762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3"/>
          <p:cNvSpPr/>
          <p:nvPr/>
        </p:nvSpPr>
        <p:spPr>
          <a:xfrm>
            <a:off x="4937760" y="3630240"/>
            <a:ext cx="822600" cy="420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3"/>
          <p:cNvSpPr/>
          <p:nvPr/>
        </p:nvSpPr>
        <p:spPr>
          <a:xfrm>
            <a:off x="4965120" y="3703320"/>
            <a:ext cx="7678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0.8668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13"/>
          <p:cNvSpPr/>
          <p:nvPr/>
        </p:nvSpPr>
        <p:spPr>
          <a:xfrm>
            <a:off x="594360" y="4050720"/>
            <a:ext cx="1965600" cy="42012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3"/>
          <p:cNvSpPr/>
          <p:nvPr/>
        </p:nvSpPr>
        <p:spPr>
          <a:xfrm>
            <a:off x="621720" y="4123800"/>
            <a:ext cx="19108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Best F1 0.325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3"/>
          <p:cNvSpPr/>
          <p:nvPr/>
        </p:nvSpPr>
        <p:spPr>
          <a:xfrm>
            <a:off x="2560320" y="4050720"/>
            <a:ext cx="822600" cy="42012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3"/>
          <p:cNvSpPr/>
          <p:nvPr/>
        </p:nvSpPr>
        <p:spPr>
          <a:xfrm>
            <a:off x="2587680" y="4123800"/>
            <a:ext cx="7678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0.5610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13"/>
          <p:cNvSpPr/>
          <p:nvPr/>
        </p:nvSpPr>
        <p:spPr>
          <a:xfrm>
            <a:off x="3383280" y="4050720"/>
            <a:ext cx="822600" cy="42012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3"/>
          <p:cNvSpPr/>
          <p:nvPr/>
        </p:nvSpPr>
        <p:spPr>
          <a:xfrm>
            <a:off x="3410640" y="4123800"/>
            <a:ext cx="7678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0.5750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3"/>
          <p:cNvSpPr/>
          <p:nvPr/>
        </p:nvSpPr>
        <p:spPr>
          <a:xfrm>
            <a:off x="4206240" y="4050720"/>
            <a:ext cx="731160" cy="42012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3"/>
          <p:cNvSpPr/>
          <p:nvPr/>
        </p:nvSpPr>
        <p:spPr>
          <a:xfrm>
            <a:off x="4233600" y="4123800"/>
            <a:ext cx="67644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0.5679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3"/>
          <p:cNvSpPr/>
          <p:nvPr/>
        </p:nvSpPr>
        <p:spPr>
          <a:xfrm>
            <a:off x="4937760" y="4050720"/>
            <a:ext cx="822600" cy="42012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3"/>
          <p:cNvSpPr/>
          <p:nvPr/>
        </p:nvSpPr>
        <p:spPr>
          <a:xfrm>
            <a:off x="4965120" y="4123800"/>
            <a:ext cx="7678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0.8668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3"/>
          <p:cNvSpPr/>
          <p:nvPr/>
        </p:nvSpPr>
        <p:spPr>
          <a:xfrm>
            <a:off x="594360" y="4471560"/>
            <a:ext cx="1965600" cy="42012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13"/>
          <p:cNvSpPr/>
          <p:nvPr/>
        </p:nvSpPr>
        <p:spPr>
          <a:xfrm>
            <a:off x="621720" y="4544640"/>
            <a:ext cx="19108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Clinical 0.164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13"/>
          <p:cNvSpPr/>
          <p:nvPr/>
        </p:nvSpPr>
        <p:spPr>
          <a:xfrm>
            <a:off x="2560320" y="4471560"/>
            <a:ext cx="822600" cy="42012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3"/>
          <p:cNvSpPr/>
          <p:nvPr/>
        </p:nvSpPr>
        <p:spPr>
          <a:xfrm>
            <a:off x="2587680" y="4544640"/>
            <a:ext cx="7678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0.7805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3"/>
          <p:cNvSpPr/>
          <p:nvPr/>
        </p:nvSpPr>
        <p:spPr>
          <a:xfrm>
            <a:off x="3383280" y="4471560"/>
            <a:ext cx="822600" cy="42012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13"/>
          <p:cNvSpPr/>
          <p:nvPr/>
        </p:nvSpPr>
        <p:spPr>
          <a:xfrm>
            <a:off x="3410640" y="4544640"/>
            <a:ext cx="7678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0.4267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13"/>
          <p:cNvSpPr/>
          <p:nvPr/>
        </p:nvSpPr>
        <p:spPr>
          <a:xfrm>
            <a:off x="4206240" y="4471560"/>
            <a:ext cx="731160" cy="42012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13"/>
          <p:cNvSpPr/>
          <p:nvPr/>
        </p:nvSpPr>
        <p:spPr>
          <a:xfrm>
            <a:off x="4233600" y="4544640"/>
            <a:ext cx="67644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0.5517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3"/>
          <p:cNvSpPr/>
          <p:nvPr/>
        </p:nvSpPr>
        <p:spPr>
          <a:xfrm>
            <a:off x="4937760" y="4471560"/>
            <a:ext cx="822600" cy="42012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13"/>
          <p:cNvSpPr/>
          <p:nvPr/>
        </p:nvSpPr>
        <p:spPr>
          <a:xfrm>
            <a:off x="4965120" y="4544640"/>
            <a:ext cx="7678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0.8668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13"/>
          <p:cNvSpPr/>
          <p:nvPr/>
        </p:nvSpPr>
        <p:spPr>
          <a:xfrm>
            <a:off x="6126480" y="1600200"/>
            <a:ext cx="5348880" cy="4205880"/>
          </a:xfrm>
          <a:prstGeom prst="roundRect">
            <a:avLst>
              <a:gd fmla="val 2609" name="adj"/>
            </a:avLst>
          </a:prstGeom>
          <a:solidFill>
            <a:srgbClr val="FFFFFF">
              <a:alpha val="5098"/>
            </a:srgbClr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i_ml_assets/threshold_precision_recall.png" id="865" name="Google Shape;8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0" y="2639880"/>
            <a:ext cx="5348880" cy="2126520"/>
          </a:xfrm>
          <a:prstGeom prst="rect">
            <a:avLst/>
          </a:prstGeom>
          <a:noFill/>
          <a:ln>
            <a:noFill/>
          </a:ln>
          <a:effectLst>
            <a:outerShdw blurRad="25560" rotWithShape="0" algn="bl" dir="2700000" dist="50402">
              <a:srgbClr val="000000">
                <a:alpha val="25098"/>
              </a:srgbClr>
            </a:outerShdw>
          </a:effectLst>
        </p:spPr>
      </p:pic>
      <p:cxnSp>
        <p:nvCxnSpPr>
          <p:cNvPr id="866" name="Google Shape;866;p13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7" name="Google Shape;867;p13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13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1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14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14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4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PHASE 4.3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14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Feature importance and dimensionality reduction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14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project compared full features, SelectKBest, consensus features, and PCA.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14"/>
          <p:cNvSpPr/>
          <p:nvPr/>
        </p:nvSpPr>
        <p:spPr>
          <a:xfrm>
            <a:off x="502920" y="1572840"/>
            <a:ext cx="5440320" cy="1910880"/>
          </a:xfrm>
          <a:prstGeom prst="roundRect">
            <a:avLst>
              <a:gd fmla="val 3828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14"/>
          <p:cNvSpPr/>
          <p:nvPr/>
        </p:nvSpPr>
        <p:spPr>
          <a:xfrm>
            <a:off x="502920" y="1572840"/>
            <a:ext cx="159984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14"/>
          <p:cNvSpPr/>
          <p:nvPr/>
        </p:nvSpPr>
        <p:spPr>
          <a:xfrm>
            <a:off x="530280" y="1645920"/>
            <a:ext cx="1545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Feature set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14"/>
          <p:cNvSpPr/>
          <p:nvPr/>
        </p:nvSpPr>
        <p:spPr>
          <a:xfrm>
            <a:off x="2103120" y="1572840"/>
            <a:ext cx="41112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14"/>
          <p:cNvSpPr/>
          <p:nvPr/>
        </p:nvSpPr>
        <p:spPr>
          <a:xfrm>
            <a:off x="2130480" y="1645920"/>
            <a:ext cx="35640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14"/>
          <p:cNvSpPr/>
          <p:nvPr/>
        </p:nvSpPr>
        <p:spPr>
          <a:xfrm>
            <a:off x="2514600" y="1572840"/>
            <a:ext cx="7768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4"/>
          <p:cNvSpPr/>
          <p:nvPr/>
        </p:nvSpPr>
        <p:spPr>
          <a:xfrm>
            <a:off x="2541960" y="1645920"/>
            <a:ext cx="7221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4"/>
          <p:cNvSpPr/>
          <p:nvPr/>
        </p:nvSpPr>
        <p:spPr>
          <a:xfrm>
            <a:off x="3291840" y="1572840"/>
            <a:ext cx="7768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4"/>
          <p:cNvSpPr/>
          <p:nvPr/>
        </p:nvSpPr>
        <p:spPr>
          <a:xfrm>
            <a:off x="3319200" y="1645920"/>
            <a:ext cx="7221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14"/>
          <p:cNvSpPr/>
          <p:nvPr/>
        </p:nvSpPr>
        <p:spPr>
          <a:xfrm>
            <a:off x="4069080" y="1572840"/>
            <a:ext cx="7768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4"/>
          <p:cNvSpPr/>
          <p:nvPr/>
        </p:nvSpPr>
        <p:spPr>
          <a:xfrm>
            <a:off x="4096440" y="1645920"/>
            <a:ext cx="7221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AUC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4"/>
          <p:cNvSpPr/>
          <p:nvPr/>
        </p:nvSpPr>
        <p:spPr>
          <a:xfrm>
            <a:off x="4846320" y="1572840"/>
            <a:ext cx="109692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4"/>
          <p:cNvSpPr/>
          <p:nvPr/>
        </p:nvSpPr>
        <p:spPr>
          <a:xfrm>
            <a:off x="4873680" y="1645920"/>
            <a:ext cx="104220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14"/>
          <p:cNvSpPr/>
          <p:nvPr/>
        </p:nvSpPr>
        <p:spPr>
          <a:xfrm>
            <a:off x="502920" y="1865520"/>
            <a:ext cx="159984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4"/>
          <p:cNvSpPr/>
          <p:nvPr/>
        </p:nvSpPr>
        <p:spPr>
          <a:xfrm>
            <a:off x="530280" y="1938600"/>
            <a:ext cx="1545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Full Features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14"/>
          <p:cNvSpPr/>
          <p:nvPr/>
        </p:nvSpPr>
        <p:spPr>
          <a:xfrm>
            <a:off x="2103120" y="1865520"/>
            <a:ext cx="41112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4"/>
          <p:cNvSpPr/>
          <p:nvPr/>
        </p:nvSpPr>
        <p:spPr>
          <a:xfrm>
            <a:off x="2130480" y="1938600"/>
            <a:ext cx="35640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104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4"/>
          <p:cNvSpPr/>
          <p:nvPr/>
        </p:nvSpPr>
        <p:spPr>
          <a:xfrm>
            <a:off x="2514600" y="1865520"/>
            <a:ext cx="77688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14"/>
          <p:cNvSpPr/>
          <p:nvPr/>
        </p:nvSpPr>
        <p:spPr>
          <a:xfrm>
            <a:off x="2541960" y="193860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0.5122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4"/>
          <p:cNvSpPr/>
          <p:nvPr/>
        </p:nvSpPr>
        <p:spPr>
          <a:xfrm>
            <a:off x="3291840" y="1865520"/>
            <a:ext cx="77688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4"/>
          <p:cNvSpPr/>
          <p:nvPr/>
        </p:nvSpPr>
        <p:spPr>
          <a:xfrm>
            <a:off x="3319200" y="193860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0.5915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14"/>
          <p:cNvSpPr/>
          <p:nvPr/>
        </p:nvSpPr>
        <p:spPr>
          <a:xfrm>
            <a:off x="4069080" y="1865520"/>
            <a:ext cx="77688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14"/>
          <p:cNvSpPr/>
          <p:nvPr/>
        </p:nvSpPr>
        <p:spPr>
          <a:xfrm>
            <a:off x="4096440" y="193860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0.9073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14"/>
          <p:cNvSpPr/>
          <p:nvPr/>
        </p:nvSpPr>
        <p:spPr>
          <a:xfrm>
            <a:off x="4846320" y="1865520"/>
            <a:ext cx="109692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4"/>
          <p:cNvSpPr/>
          <p:nvPr/>
        </p:nvSpPr>
        <p:spPr>
          <a:xfrm>
            <a:off x="4873680" y="1938600"/>
            <a:ext cx="104220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0.7000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4"/>
          <p:cNvSpPr/>
          <p:nvPr/>
        </p:nvSpPr>
        <p:spPr>
          <a:xfrm>
            <a:off x="502920" y="2258640"/>
            <a:ext cx="159984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4"/>
          <p:cNvSpPr/>
          <p:nvPr/>
        </p:nvSpPr>
        <p:spPr>
          <a:xfrm>
            <a:off x="530280" y="2331720"/>
            <a:ext cx="1545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Top-30 SelectKBest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4"/>
          <p:cNvSpPr/>
          <p:nvPr/>
        </p:nvSpPr>
        <p:spPr>
          <a:xfrm>
            <a:off x="2103120" y="2258640"/>
            <a:ext cx="41112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4"/>
          <p:cNvSpPr/>
          <p:nvPr/>
        </p:nvSpPr>
        <p:spPr>
          <a:xfrm>
            <a:off x="2130480" y="2331720"/>
            <a:ext cx="35640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14"/>
          <p:cNvSpPr/>
          <p:nvPr/>
        </p:nvSpPr>
        <p:spPr>
          <a:xfrm>
            <a:off x="2514600" y="2258640"/>
            <a:ext cx="77688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14"/>
          <p:cNvSpPr/>
          <p:nvPr/>
        </p:nvSpPr>
        <p:spPr>
          <a:xfrm>
            <a:off x="2541960" y="233172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0.5610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14"/>
          <p:cNvSpPr/>
          <p:nvPr/>
        </p:nvSpPr>
        <p:spPr>
          <a:xfrm>
            <a:off x="3291840" y="2258640"/>
            <a:ext cx="77688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14"/>
          <p:cNvSpPr/>
          <p:nvPr/>
        </p:nvSpPr>
        <p:spPr>
          <a:xfrm>
            <a:off x="3319200" y="233172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0.6389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14"/>
          <p:cNvSpPr/>
          <p:nvPr/>
        </p:nvSpPr>
        <p:spPr>
          <a:xfrm>
            <a:off x="4069080" y="2258640"/>
            <a:ext cx="77688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4"/>
          <p:cNvSpPr/>
          <p:nvPr/>
        </p:nvSpPr>
        <p:spPr>
          <a:xfrm>
            <a:off x="4096440" y="233172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0.8999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14"/>
          <p:cNvSpPr/>
          <p:nvPr/>
        </p:nvSpPr>
        <p:spPr>
          <a:xfrm>
            <a:off x="4846320" y="2258640"/>
            <a:ext cx="1096920" cy="3927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14"/>
          <p:cNvSpPr/>
          <p:nvPr/>
        </p:nvSpPr>
        <p:spPr>
          <a:xfrm>
            <a:off x="4873680" y="2331720"/>
            <a:ext cx="104220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0.7419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4"/>
          <p:cNvSpPr/>
          <p:nvPr/>
        </p:nvSpPr>
        <p:spPr>
          <a:xfrm>
            <a:off x="502920" y="2651760"/>
            <a:ext cx="159984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14"/>
          <p:cNvSpPr/>
          <p:nvPr/>
        </p:nvSpPr>
        <p:spPr>
          <a:xfrm>
            <a:off x="530280" y="2724840"/>
            <a:ext cx="1545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Consensus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14"/>
          <p:cNvSpPr/>
          <p:nvPr/>
        </p:nvSpPr>
        <p:spPr>
          <a:xfrm>
            <a:off x="2103120" y="2651760"/>
            <a:ext cx="41112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14"/>
          <p:cNvSpPr/>
          <p:nvPr/>
        </p:nvSpPr>
        <p:spPr>
          <a:xfrm>
            <a:off x="2130480" y="2724840"/>
            <a:ext cx="35640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14"/>
          <p:cNvSpPr/>
          <p:nvPr/>
        </p:nvSpPr>
        <p:spPr>
          <a:xfrm>
            <a:off x="2514600" y="2651760"/>
            <a:ext cx="77688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14"/>
          <p:cNvSpPr/>
          <p:nvPr/>
        </p:nvSpPr>
        <p:spPr>
          <a:xfrm>
            <a:off x="2541960" y="272484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0.5610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14"/>
          <p:cNvSpPr/>
          <p:nvPr/>
        </p:nvSpPr>
        <p:spPr>
          <a:xfrm>
            <a:off x="3291840" y="2651760"/>
            <a:ext cx="77688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14"/>
          <p:cNvSpPr/>
          <p:nvPr/>
        </p:nvSpPr>
        <p:spPr>
          <a:xfrm>
            <a:off x="3319200" y="272484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0.6216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14"/>
          <p:cNvSpPr/>
          <p:nvPr/>
        </p:nvSpPr>
        <p:spPr>
          <a:xfrm>
            <a:off x="4069080" y="2651760"/>
            <a:ext cx="77688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14"/>
          <p:cNvSpPr/>
          <p:nvPr/>
        </p:nvSpPr>
        <p:spPr>
          <a:xfrm>
            <a:off x="4096440" y="272484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0.8898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14"/>
          <p:cNvSpPr/>
          <p:nvPr/>
        </p:nvSpPr>
        <p:spPr>
          <a:xfrm>
            <a:off x="4846320" y="2651760"/>
            <a:ext cx="1096920" cy="3927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14"/>
          <p:cNvSpPr/>
          <p:nvPr/>
        </p:nvSpPr>
        <p:spPr>
          <a:xfrm>
            <a:off x="4873680" y="2724840"/>
            <a:ext cx="104220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0.6970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14"/>
          <p:cNvSpPr/>
          <p:nvPr/>
        </p:nvSpPr>
        <p:spPr>
          <a:xfrm>
            <a:off x="502920" y="3044880"/>
            <a:ext cx="159984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14"/>
          <p:cNvSpPr/>
          <p:nvPr/>
        </p:nvSpPr>
        <p:spPr>
          <a:xfrm>
            <a:off x="530280" y="3117960"/>
            <a:ext cx="1545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PCA-32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14"/>
          <p:cNvSpPr/>
          <p:nvPr/>
        </p:nvSpPr>
        <p:spPr>
          <a:xfrm>
            <a:off x="2103120" y="3044880"/>
            <a:ext cx="41112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14"/>
          <p:cNvSpPr/>
          <p:nvPr/>
        </p:nvSpPr>
        <p:spPr>
          <a:xfrm>
            <a:off x="2130480" y="3117960"/>
            <a:ext cx="35640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14"/>
          <p:cNvSpPr/>
          <p:nvPr/>
        </p:nvSpPr>
        <p:spPr>
          <a:xfrm>
            <a:off x="2514600" y="3044880"/>
            <a:ext cx="77688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14"/>
          <p:cNvSpPr/>
          <p:nvPr/>
        </p:nvSpPr>
        <p:spPr>
          <a:xfrm>
            <a:off x="2541960" y="311796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0.5610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14"/>
          <p:cNvSpPr/>
          <p:nvPr/>
        </p:nvSpPr>
        <p:spPr>
          <a:xfrm>
            <a:off x="3291840" y="3044880"/>
            <a:ext cx="77688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14"/>
          <p:cNvSpPr/>
          <p:nvPr/>
        </p:nvSpPr>
        <p:spPr>
          <a:xfrm>
            <a:off x="3319200" y="311796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0.5476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14"/>
          <p:cNvSpPr/>
          <p:nvPr/>
        </p:nvSpPr>
        <p:spPr>
          <a:xfrm>
            <a:off x="4069080" y="3044880"/>
            <a:ext cx="77688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14"/>
          <p:cNvSpPr/>
          <p:nvPr/>
        </p:nvSpPr>
        <p:spPr>
          <a:xfrm>
            <a:off x="4096440" y="3117960"/>
            <a:ext cx="722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0.8319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14"/>
          <p:cNvSpPr/>
          <p:nvPr/>
        </p:nvSpPr>
        <p:spPr>
          <a:xfrm>
            <a:off x="4846320" y="3044880"/>
            <a:ext cx="1096920" cy="3927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14"/>
          <p:cNvSpPr/>
          <p:nvPr/>
        </p:nvSpPr>
        <p:spPr>
          <a:xfrm>
            <a:off x="4873680" y="3117960"/>
            <a:ext cx="104220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0.5349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14"/>
          <p:cNvSpPr/>
          <p:nvPr/>
        </p:nvSpPr>
        <p:spPr>
          <a:xfrm>
            <a:off x="502920" y="3840480"/>
            <a:ext cx="5440320" cy="1983960"/>
          </a:xfrm>
          <a:prstGeom prst="roundRect">
            <a:avLst>
              <a:gd fmla="val 3687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14"/>
          <p:cNvSpPr/>
          <p:nvPr/>
        </p:nvSpPr>
        <p:spPr>
          <a:xfrm>
            <a:off x="502920" y="3840480"/>
            <a:ext cx="384012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4"/>
          <p:cNvSpPr/>
          <p:nvPr/>
        </p:nvSpPr>
        <p:spPr>
          <a:xfrm>
            <a:off x="530280" y="3913560"/>
            <a:ext cx="378540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Top predictors by F-score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4"/>
          <p:cNvSpPr/>
          <p:nvPr/>
        </p:nvSpPr>
        <p:spPr>
          <a:xfrm>
            <a:off x="4343400" y="3840480"/>
            <a:ext cx="159984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4"/>
          <p:cNvSpPr/>
          <p:nvPr/>
        </p:nvSpPr>
        <p:spPr>
          <a:xfrm>
            <a:off x="4370760" y="3913560"/>
            <a:ext cx="1545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14"/>
          <p:cNvSpPr/>
          <p:nvPr/>
        </p:nvSpPr>
        <p:spPr>
          <a:xfrm>
            <a:off x="502920" y="4133160"/>
            <a:ext cx="384012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4"/>
          <p:cNvSpPr/>
          <p:nvPr/>
        </p:nvSpPr>
        <p:spPr>
          <a:xfrm>
            <a:off x="530280" y="4206240"/>
            <a:ext cx="37854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K_SH_POST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14"/>
          <p:cNvSpPr/>
          <p:nvPr/>
        </p:nvSpPr>
        <p:spPr>
          <a:xfrm>
            <a:off x="4343400" y="4133160"/>
            <a:ext cx="159984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14"/>
          <p:cNvSpPr/>
          <p:nvPr/>
        </p:nvSpPr>
        <p:spPr>
          <a:xfrm>
            <a:off x="4370760" y="4206240"/>
            <a:ext cx="15451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182.33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4"/>
          <p:cNvSpPr/>
          <p:nvPr/>
        </p:nvSpPr>
        <p:spPr>
          <a:xfrm>
            <a:off x="502920" y="4407480"/>
            <a:ext cx="384012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14"/>
          <p:cNvSpPr/>
          <p:nvPr/>
        </p:nvSpPr>
        <p:spPr>
          <a:xfrm>
            <a:off x="530280" y="4480560"/>
            <a:ext cx="37854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ritm_ecg_p_01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14"/>
          <p:cNvSpPr/>
          <p:nvPr/>
        </p:nvSpPr>
        <p:spPr>
          <a:xfrm>
            <a:off x="4343400" y="4407480"/>
            <a:ext cx="159984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4"/>
          <p:cNvSpPr/>
          <p:nvPr/>
        </p:nvSpPr>
        <p:spPr>
          <a:xfrm>
            <a:off x="4370760" y="4480560"/>
            <a:ext cx="15451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182.03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14"/>
          <p:cNvSpPr/>
          <p:nvPr/>
        </p:nvSpPr>
        <p:spPr>
          <a:xfrm>
            <a:off x="502920" y="4681800"/>
            <a:ext cx="384012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14"/>
          <p:cNvSpPr/>
          <p:nvPr/>
        </p:nvSpPr>
        <p:spPr>
          <a:xfrm>
            <a:off x="530280" y="4754880"/>
            <a:ext cx="37854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14"/>
          <p:cNvSpPr/>
          <p:nvPr/>
        </p:nvSpPr>
        <p:spPr>
          <a:xfrm>
            <a:off x="4343400" y="4681800"/>
            <a:ext cx="159984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14"/>
          <p:cNvSpPr/>
          <p:nvPr/>
        </p:nvSpPr>
        <p:spPr>
          <a:xfrm>
            <a:off x="4370760" y="4754880"/>
            <a:ext cx="15451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181.35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14"/>
          <p:cNvSpPr/>
          <p:nvPr/>
        </p:nvSpPr>
        <p:spPr>
          <a:xfrm>
            <a:off x="502920" y="4956120"/>
            <a:ext cx="384012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14"/>
          <p:cNvSpPr/>
          <p:nvPr/>
        </p:nvSpPr>
        <p:spPr>
          <a:xfrm>
            <a:off x="530280" y="5029200"/>
            <a:ext cx="37854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D_AD_ORIT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14"/>
          <p:cNvSpPr/>
          <p:nvPr/>
        </p:nvSpPr>
        <p:spPr>
          <a:xfrm>
            <a:off x="4343400" y="4956120"/>
            <a:ext cx="159984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14"/>
          <p:cNvSpPr/>
          <p:nvPr/>
        </p:nvSpPr>
        <p:spPr>
          <a:xfrm>
            <a:off x="4370760" y="5029200"/>
            <a:ext cx="15451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174.07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14"/>
          <p:cNvSpPr/>
          <p:nvPr/>
        </p:nvSpPr>
        <p:spPr>
          <a:xfrm>
            <a:off x="502920" y="5230440"/>
            <a:ext cx="384012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14"/>
          <p:cNvSpPr/>
          <p:nvPr/>
        </p:nvSpPr>
        <p:spPr>
          <a:xfrm>
            <a:off x="530280" y="5303520"/>
            <a:ext cx="37854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S_AD_ORIT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14"/>
          <p:cNvSpPr/>
          <p:nvPr/>
        </p:nvSpPr>
        <p:spPr>
          <a:xfrm>
            <a:off x="4343400" y="5230440"/>
            <a:ext cx="159984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4"/>
          <p:cNvSpPr/>
          <p:nvPr/>
        </p:nvSpPr>
        <p:spPr>
          <a:xfrm>
            <a:off x="4370760" y="5303520"/>
            <a:ext cx="15451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167.17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14"/>
          <p:cNvSpPr/>
          <p:nvPr/>
        </p:nvSpPr>
        <p:spPr>
          <a:xfrm>
            <a:off x="502920" y="5504760"/>
            <a:ext cx="384012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14"/>
          <p:cNvSpPr/>
          <p:nvPr/>
        </p:nvSpPr>
        <p:spPr>
          <a:xfrm>
            <a:off x="530280" y="5577840"/>
            <a:ext cx="37854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TIME_B_S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14"/>
          <p:cNvSpPr/>
          <p:nvPr/>
        </p:nvSpPr>
        <p:spPr>
          <a:xfrm>
            <a:off x="4343400" y="5504760"/>
            <a:ext cx="159984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14"/>
          <p:cNvSpPr/>
          <p:nvPr/>
        </p:nvSpPr>
        <p:spPr>
          <a:xfrm>
            <a:off x="4370760" y="5577840"/>
            <a:ext cx="15451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162.01</a:t>
            </a:r>
            <a:endParaRPr b="0" i="0" sz="6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14"/>
          <p:cNvSpPr/>
          <p:nvPr/>
        </p:nvSpPr>
        <p:spPr>
          <a:xfrm>
            <a:off x="6263640" y="1572840"/>
            <a:ext cx="5166000" cy="4480200"/>
          </a:xfrm>
          <a:prstGeom prst="roundRect">
            <a:avLst>
              <a:gd fmla="val 2449" name="adj"/>
            </a:avLst>
          </a:prstGeom>
          <a:solidFill>
            <a:srgbClr val="FFFFFF">
              <a:alpha val="5098"/>
            </a:srgbClr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i_ml_assets/selectkbest_features.png" id="972" name="Google Shape;9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2534760"/>
            <a:ext cx="5166000" cy="2556720"/>
          </a:xfrm>
          <a:prstGeom prst="rect">
            <a:avLst/>
          </a:prstGeom>
          <a:noFill/>
          <a:ln>
            <a:noFill/>
          </a:ln>
          <a:effectLst>
            <a:outerShdw blurRad="25560" rotWithShape="0" algn="bl" dir="2700000" dist="50402">
              <a:srgbClr val="000000">
                <a:alpha val="25098"/>
              </a:srgbClr>
            </a:outerShdw>
          </a:effectLst>
        </p:spPr>
      </p:pic>
      <p:cxnSp>
        <p:nvCxnSpPr>
          <p:cNvPr id="973" name="Google Shape;973;p14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4" name="Google Shape;974;p14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4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15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15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15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PHASE 5.1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15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Final held-out test set results: standard condition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15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test set was locked until final reporting to avoid optimistic bias.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15"/>
          <p:cNvSpPr/>
          <p:nvPr/>
        </p:nvSpPr>
        <p:spPr>
          <a:xfrm>
            <a:off x="347400" y="1417320"/>
            <a:ext cx="7634880" cy="3081240"/>
          </a:xfrm>
          <a:prstGeom prst="roundRect">
            <a:avLst>
              <a:gd fmla="val 2374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15"/>
          <p:cNvSpPr/>
          <p:nvPr/>
        </p:nvSpPr>
        <p:spPr>
          <a:xfrm>
            <a:off x="347400" y="1417320"/>
            <a:ext cx="19656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15"/>
          <p:cNvSpPr/>
          <p:nvPr/>
        </p:nvSpPr>
        <p:spPr>
          <a:xfrm>
            <a:off x="374760" y="1490400"/>
            <a:ext cx="19108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15"/>
          <p:cNvSpPr/>
          <p:nvPr/>
        </p:nvSpPr>
        <p:spPr>
          <a:xfrm>
            <a:off x="2313360" y="1417320"/>
            <a:ext cx="95976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15"/>
          <p:cNvSpPr/>
          <p:nvPr/>
        </p:nvSpPr>
        <p:spPr>
          <a:xfrm>
            <a:off x="2340720" y="1490400"/>
            <a:ext cx="9050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15"/>
          <p:cNvSpPr/>
          <p:nvPr/>
        </p:nvSpPr>
        <p:spPr>
          <a:xfrm>
            <a:off x="3273480" y="1417320"/>
            <a:ext cx="100548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15"/>
          <p:cNvSpPr/>
          <p:nvPr/>
        </p:nvSpPr>
        <p:spPr>
          <a:xfrm>
            <a:off x="3300840" y="1490400"/>
            <a:ext cx="9507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15"/>
          <p:cNvSpPr/>
          <p:nvPr/>
        </p:nvSpPr>
        <p:spPr>
          <a:xfrm>
            <a:off x="4279320" y="1417320"/>
            <a:ext cx="91404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15"/>
          <p:cNvSpPr/>
          <p:nvPr/>
        </p:nvSpPr>
        <p:spPr>
          <a:xfrm>
            <a:off x="4306680" y="1490400"/>
            <a:ext cx="8593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15"/>
          <p:cNvSpPr/>
          <p:nvPr/>
        </p:nvSpPr>
        <p:spPr>
          <a:xfrm>
            <a:off x="5193720" y="1417320"/>
            <a:ext cx="8226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15"/>
          <p:cNvSpPr/>
          <p:nvPr/>
        </p:nvSpPr>
        <p:spPr>
          <a:xfrm>
            <a:off x="5221080" y="1490400"/>
            <a:ext cx="7678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15"/>
          <p:cNvSpPr/>
          <p:nvPr/>
        </p:nvSpPr>
        <p:spPr>
          <a:xfrm>
            <a:off x="6016680" y="1417320"/>
            <a:ext cx="10512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15"/>
          <p:cNvSpPr/>
          <p:nvPr/>
        </p:nvSpPr>
        <p:spPr>
          <a:xfrm>
            <a:off x="6044040" y="1490400"/>
            <a:ext cx="996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ROC-AUC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15"/>
          <p:cNvSpPr/>
          <p:nvPr/>
        </p:nvSpPr>
        <p:spPr>
          <a:xfrm>
            <a:off x="347400" y="1710000"/>
            <a:ext cx="196560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5"/>
          <p:cNvSpPr/>
          <p:nvPr/>
        </p:nvSpPr>
        <p:spPr>
          <a:xfrm>
            <a:off x="374760" y="1783080"/>
            <a:ext cx="1910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Baseline LR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15"/>
          <p:cNvSpPr/>
          <p:nvPr/>
        </p:nvSpPr>
        <p:spPr>
          <a:xfrm>
            <a:off x="2313360" y="1710000"/>
            <a:ext cx="95976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15"/>
          <p:cNvSpPr/>
          <p:nvPr/>
        </p:nvSpPr>
        <p:spPr>
          <a:xfrm>
            <a:off x="2340720" y="1783080"/>
            <a:ext cx="90504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0.8314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15"/>
          <p:cNvSpPr/>
          <p:nvPr/>
        </p:nvSpPr>
        <p:spPr>
          <a:xfrm>
            <a:off x="3273480" y="1710000"/>
            <a:ext cx="100548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15"/>
          <p:cNvSpPr/>
          <p:nvPr/>
        </p:nvSpPr>
        <p:spPr>
          <a:xfrm>
            <a:off x="3300840" y="1783080"/>
            <a:ext cx="95076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0.4643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15"/>
          <p:cNvSpPr/>
          <p:nvPr/>
        </p:nvSpPr>
        <p:spPr>
          <a:xfrm>
            <a:off x="4279320" y="1710000"/>
            <a:ext cx="91404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15"/>
          <p:cNvSpPr/>
          <p:nvPr/>
        </p:nvSpPr>
        <p:spPr>
          <a:xfrm>
            <a:off x="4306680" y="1783080"/>
            <a:ext cx="8593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0.3171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15"/>
          <p:cNvSpPr/>
          <p:nvPr/>
        </p:nvSpPr>
        <p:spPr>
          <a:xfrm>
            <a:off x="5193720" y="1710000"/>
            <a:ext cx="82260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15"/>
          <p:cNvSpPr/>
          <p:nvPr/>
        </p:nvSpPr>
        <p:spPr>
          <a:xfrm>
            <a:off x="5221080" y="1783080"/>
            <a:ext cx="767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0.3768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15"/>
          <p:cNvSpPr/>
          <p:nvPr/>
        </p:nvSpPr>
        <p:spPr>
          <a:xfrm>
            <a:off x="6016680" y="1710000"/>
            <a:ext cx="105120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15"/>
          <p:cNvSpPr/>
          <p:nvPr/>
        </p:nvSpPr>
        <p:spPr>
          <a:xfrm>
            <a:off x="6044040" y="1783080"/>
            <a:ext cx="9964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0.8043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15"/>
          <p:cNvSpPr/>
          <p:nvPr/>
        </p:nvSpPr>
        <p:spPr>
          <a:xfrm>
            <a:off x="347400" y="1984320"/>
            <a:ext cx="196560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5"/>
          <p:cNvSpPr/>
          <p:nvPr/>
        </p:nvSpPr>
        <p:spPr>
          <a:xfrm>
            <a:off x="374760" y="2057400"/>
            <a:ext cx="1910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Baseline RF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15"/>
          <p:cNvSpPr/>
          <p:nvPr/>
        </p:nvSpPr>
        <p:spPr>
          <a:xfrm>
            <a:off x="2313360" y="1984320"/>
            <a:ext cx="95976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5"/>
          <p:cNvSpPr/>
          <p:nvPr/>
        </p:nvSpPr>
        <p:spPr>
          <a:xfrm>
            <a:off x="2340720" y="2057400"/>
            <a:ext cx="90504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0.8627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5"/>
          <p:cNvSpPr/>
          <p:nvPr/>
        </p:nvSpPr>
        <p:spPr>
          <a:xfrm>
            <a:off x="3273480" y="1984320"/>
            <a:ext cx="100548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15"/>
          <p:cNvSpPr/>
          <p:nvPr/>
        </p:nvSpPr>
        <p:spPr>
          <a:xfrm>
            <a:off x="3300840" y="2057400"/>
            <a:ext cx="95076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0.8000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5"/>
          <p:cNvSpPr/>
          <p:nvPr/>
        </p:nvSpPr>
        <p:spPr>
          <a:xfrm>
            <a:off x="4279320" y="1984320"/>
            <a:ext cx="91404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15"/>
          <p:cNvSpPr/>
          <p:nvPr/>
        </p:nvSpPr>
        <p:spPr>
          <a:xfrm>
            <a:off x="4306680" y="2057400"/>
            <a:ext cx="8593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0.1951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15"/>
          <p:cNvSpPr/>
          <p:nvPr/>
        </p:nvSpPr>
        <p:spPr>
          <a:xfrm>
            <a:off x="5193720" y="1984320"/>
            <a:ext cx="82260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15"/>
          <p:cNvSpPr/>
          <p:nvPr/>
        </p:nvSpPr>
        <p:spPr>
          <a:xfrm>
            <a:off x="5221080" y="2057400"/>
            <a:ext cx="767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0.3137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15"/>
          <p:cNvSpPr/>
          <p:nvPr/>
        </p:nvSpPr>
        <p:spPr>
          <a:xfrm>
            <a:off x="6016680" y="1984320"/>
            <a:ext cx="105120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15"/>
          <p:cNvSpPr/>
          <p:nvPr/>
        </p:nvSpPr>
        <p:spPr>
          <a:xfrm>
            <a:off x="6044040" y="2057400"/>
            <a:ext cx="9964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0.8576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15"/>
          <p:cNvSpPr/>
          <p:nvPr/>
        </p:nvSpPr>
        <p:spPr>
          <a:xfrm>
            <a:off x="347400" y="2258640"/>
            <a:ext cx="196560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15"/>
          <p:cNvSpPr/>
          <p:nvPr/>
        </p:nvSpPr>
        <p:spPr>
          <a:xfrm>
            <a:off x="374760" y="2331720"/>
            <a:ext cx="1910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Tuned LR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15"/>
          <p:cNvSpPr/>
          <p:nvPr/>
        </p:nvSpPr>
        <p:spPr>
          <a:xfrm>
            <a:off x="2313360" y="2258640"/>
            <a:ext cx="95976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15"/>
          <p:cNvSpPr/>
          <p:nvPr/>
        </p:nvSpPr>
        <p:spPr>
          <a:xfrm>
            <a:off x="2340720" y="2331720"/>
            <a:ext cx="90504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0.7608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15"/>
          <p:cNvSpPr/>
          <p:nvPr/>
        </p:nvSpPr>
        <p:spPr>
          <a:xfrm>
            <a:off x="3273480" y="2258640"/>
            <a:ext cx="100548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15"/>
          <p:cNvSpPr/>
          <p:nvPr/>
        </p:nvSpPr>
        <p:spPr>
          <a:xfrm>
            <a:off x="3300840" y="2331720"/>
            <a:ext cx="95076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0.3611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15"/>
          <p:cNvSpPr/>
          <p:nvPr/>
        </p:nvSpPr>
        <p:spPr>
          <a:xfrm>
            <a:off x="4279320" y="2258640"/>
            <a:ext cx="91404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15"/>
          <p:cNvSpPr/>
          <p:nvPr/>
        </p:nvSpPr>
        <p:spPr>
          <a:xfrm>
            <a:off x="4306680" y="2331720"/>
            <a:ext cx="8593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0.6341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5"/>
          <p:cNvSpPr/>
          <p:nvPr/>
        </p:nvSpPr>
        <p:spPr>
          <a:xfrm>
            <a:off x="5193720" y="2258640"/>
            <a:ext cx="82260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5"/>
          <p:cNvSpPr/>
          <p:nvPr/>
        </p:nvSpPr>
        <p:spPr>
          <a:xfrm>
            <a:off x="5221080" y="2331720"/>
            <a:ext cx="767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0.4602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5"/>
          <p:cNvSpPr/>
          <p:nvPr/>
        </p:nvSpPr>
        <p:spPr>
          <a:xfrm>
            <a:off x="6016680" y="2258640"/>
            <a:ext cx="105120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5"/>
          <p:cNvSpPr/>
          <p:nvPr/>
        </p:nvSpPr>
        <p:spPr>
          <a:xfrm>
            <a:off x="6044040" y="2331720"/>
            <a:ext cx="9964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0.7960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5"/>
          <p:cNvSpPr/>
          <p:nvPr/>
        </p:nvSpPr>
        <p:spPr>
          <a:xfrm>
            <a:off x="347400" y="2532960"/>
            <a:ext cx="196560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5"/>
          <p:cNvSpPr/>
          <p:nvPr/>
        </p:nvSpPr>
        <p:spPr>
          <a:xfrm>
            <a:off x="374760" y="2606040"/>
            <a:ext cx="1910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Tuned XGB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5"/>
          <p:cNvSpPr/>
          <p:nvPr/>
        </p:nvSpPr>
        <p:spPr>
          <a:xfrm>
            <a:off x="2313360" y="2532960"/>
            <a:ext cx="95976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15"/>
          <p:cNvSpPr/>
          <p:nvPr/>
        </p:nvSpPr>
        <p:spPr>
          <a:xfrm>
            <a:off x="2340720" y="2606040"/>
            <a:ext cx="90504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0.8706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5"/>
          <p:cNvSpPr/>
          <p:nvPr/>
        </p:nvSpPr>
        <p:spPr>
          <a:xfrm>
            <a:off x="3273480" y="2532960"/>
            <a:ext cx="100548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5"/>
          <p:cNvSpPr/>
          <p:nvPr/>
        </p:nvSpPr>
        <p:spPr>
          <a:xfrm>
            <a:off x="3300840" y="2606040"/>
            <a:ext cx="95076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0.6818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15"/>
          <p:cNvSpPr/>
          <p:nvPr/>
        </p:nvSpPr>
        <p:spPr>
          <a:xfrm>
            <a:off x="4279320" y="2532960"/>
            <a:ext cx="91404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5"/>
          <p:cNvSpPr/>
          <p:nvPr/>
        </p:nvSpPr>
        <p:spPr>
          <a:xfrm>
            <a:off x="4306680" y="2606040"/>
            <a:ext cx="8593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0.3659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5"/>
          <p:cNvSpPr/>
          <p:nvPr/>
        </p:nvSpPr>
        <p:spPr>
          <a:xfrm>
            <a:off x="5193720" y="2532960"/>
            <a:ext cx="82260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5"/>
          <p:cNvSpPr/>
          <p:nvPr/>
        </p:nvSpPr>
        <p:spPr>
          <a:xfrm>
            <a:off x="5221080" y="2606040"/>
            <a:ext cx="767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0.4762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15"/>
          <p:cNvSpPr/>
          <p:nvPr/>
        </p:nvSpPr>
        <p:spPr>
          <a:xfrm>
            <a:off x="6016680" y="2532960"/>
            <a:ext cx="105120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5"/>
          <p:cNvSpPr/>
          <p:nvPr/>
        </p:nvSpPr>
        <p:spPr>
          <a:xfrm>
            <a:off x="6044040" y="2606040"/>
            <a:ext cx="9964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0.8668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15"/>
          <p:cNvSpPr/>
          <p:nvPr/>
        </p:nvSpPr>
        <p:spPr>
          <a:xfrm>
            <a:off x="347400" y="2807280"/>
            <a:ext cx="196560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5"/>
          <p:cNvSpPr/>
          <p:nvPr/>
        </p:nvSpPr>
        <p:spPr>
          <a:xfrm>
            <a:off x="374760" y="2880360"/>
            <a:ext cx="1910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Tuned SVM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5"/>
          <p:cNvSpPr/>
          <p:nvPr/>
        </p:nvSpPr>
        <p:spPr>
          <a:xfrm>
            <a:off x="2313360" y="2807280"/>
            <a:ext cx="95976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5"/>
          <p:cNvSpPr/>
          <p:nvPr/>
        </p:nvSpPr>
        <p:spPr>
          <a:xfrm>
            <a:off x="2340720" y="2880360"/>
            <a:ext cx="90504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0.8667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15"/>
          <p:cNvSpPr/>
          <p:nvPr/>
        </p:nvSpPr>
        <p:spPr>
          <a:xfrm>
            <a:off x="3273480" y="2807280"/>
            <a:ext cx="100548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15"/>
          <p:cNvSpPr/>
          <p:nvPr/>
        </p:nvSpPr>
        <p:spPr>
          <a:xfrm>
            <a:off x="3300840" y="2880360"/>
            <a:ext cx="95076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1.0000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15"/>
          <p:cNvSpPr/>
          <p:nvPr/>
        </p:nvSpPr>
        <p:spPr>
          <a:xfrm>
            <a:off x="4279320" y="2807280"/>
            <a:ext cx="91404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5"/>
          <p:cNvSpPr/>
          <p:nvPr/>
        </p:nvSpPr>
        <p:spPr>
          <a:xfrm>
            <a:off x="4306680" y="2880360"/>
            <a:ext cx="8593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0.1707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15"/>
          <p:cNvSpPr/>
          <p:nvPr/>
        </p:nvSpPr>
        <p:spPr>
          <a:xfrm>
            <a:off x="5193720" y="2807280"/>
            <a:ext cx="82260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5"/>
          <p:cNvSpPr/>
          <p:nvPr/>
        </p:nvSpPr>
        <p:spPr>
          <a:xfrm>
            <a:off x="5221080" y="2880360"/>
            <a:ext cx="767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0.2917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5"/>
          <p:cNvSpPr/>
          <p:nvPr/>
        </p:nvSpPr>
        <p:spPr>
          <a:xfrm>
            <a:off x="6016680" y="2807280"/>
            <a:ext cx="105120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5"/>
          <p:cNvSpPr/>
          <p:nvPr/>
        </p:nvSpPr>
        <p:spPr>
          <a:xfrm>
            <a:off x="6044040" y="2880360"/>
            <a:ext cx="9964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0.8132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15"/>
          <p:cNvSpPr/>
          <p:nvPr/>
        </p:nvSpPr>
        <p:spPr>
          <a:xfrm>
            <a:off x="347400" y="3081600"/>
            <a:ext cx="196560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5"/>
          <p:cNvSpPr/>
          <p:nvPr/>
        </p:nvSpPr>
        <p:spPr>
          <a:xfrm>
            <a:off x="374760" y="3154680"/>
            <a:ext cx="1910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Voting Soft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15"/>
          <p:cNvSpPr/>
          <p:nvPr/>
        </p:nvSpPr>
        <p:spPr>
          <a:xfrm>
            <a:off x="2313360" y="3081600"/>
            <a:ext cx="95976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15"/>
          <p:cNvSpPr/>
          <p:nvPr/>
        </p:nvSpPr>
        <p:spPr>
          <a:xfrm>
            <a:off x="2340720" y="3154680"/>
            <a:ext cx="90504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0.8667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15"/>
          <p:cNvSpPr/>
          <p:nvPr/>
        </p:nvSpPr>
        <p:spPr>
          <a:xfrm>
            <a:off x="3273480" y="3081600"/>
            <a:ext cx="100548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15"/>
          <p:cNvSpPr/>
          <p:nvPr/>
        </p:nvSpPr>
        <p:spPr>
          <a:xfrm>
            <a:off x="3300840" y="3154680"/>
            <a:ext cx="95076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0.7059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15"/>
          <p:cNvSpPr/>
          <p:nvPr/>
        </p:nvSpPr>
        <p:spPr>
          <a:xfrm>
            <a:off x="4279320" y="3081600"/>
            <a:ext cx="91404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5"/>
          <p:cNvSpPr/>
          <p:nvPr/>
        </p:nvSpPr>
        <p:spPr>
          <a:xfrm>
            <a:off x="4306680" y="3154680"/>
            <a:ext cx="8593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0.2927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15"/>
          <p:cNvSpPr/>
          <p:nvPr/>
        </p:nvSpPr>
        <p:spPr>
          <a:xfrm>
            <a:off x="5193720" y="3081600"/>
            <a:ext cx="82260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15"/>
          <p:cNvSpPr/>
          <p:nvPr/>
        </p:nvSpPr>
        <p:spPr>
          <a:xfrm>
            <a:off x="5221080" y="3154680"/>
            <a:ext cx="767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0.4138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15"/>
          <p:cNvSpPr/>
          <p:nvPr/>
        </p:nvSpPr>
        <p:spPr>
          <a:xfrm>
            <a:off x="6016680" y="3081600"/>
            <a:ext cx="105120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15"/>
          <p:cNvSpPr/>
          <p:nvPr/>
        </p:nvSpPr>
        <p:spPr>
          <a:xfrm>
            <a:off x="6044040" y="3154680"/>
            <a:ext cx="9964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0.8525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5"/>
          <p:cNvSpPr/>
          <p:nvPr/>
        </p:nvSpPr>
        <p:spPr>
          <a:xfrm>
            <a:off x="347400" y="3355920"/>
            <a:ext cx="196560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5"/>
          <p:cNvSpPr/>
          <p:nvPr/>
        </p:nvSpPr>
        <p:spPr>
          <a:xfrm>
            <a:off x="374760" y="3429000"/>
            <a:ext cx="1910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Voting Hard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5"/>
          <p:cNvSpPr/>
          <p:nvPr/>
        </p:nvSpPr>
        <p:spPr>
          <a:xfrm>
            <a:off x="2313360" y="3355920"/>
            <a:ext cx="95976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15"/>
          <p:cNvSpPr/>
          <p:nvPr/>
        </p:nvSpPr>
        <p:spPr>
          <a:xfrm>
            <a:off x="2340720" y="3429000"/>
            <a:ext cx="90504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0.8863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15"/>
          <p:cNvSpPr/>
          <p:nvPr/>
        </p:nvSpPr>
        <p:spPr>
          <a:xfrm>
            <a:off x="3273480" y="3355920"/>
            <a:ext cx="100548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5"/>
          <p:cNvSpPr/>
          <p:nvPr/>
        </p:nvSpPr>
        <p:spPr>
          <a:xfrm>
            <a:off x="3300840" y="3429000"/>
            <a:ext cx="95076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0.7727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5"/>
          <p:cNvSpPr/>
          <p:nvPr/>
        </p:nvSpPr>
        <p:spPr>
          <a:xfrm>
            <a:off x="4279320" y="3355920"/>
            <a:ext cx="91404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5"/>
          <p:cNvSpPr/>
          <p:nvPr/>
        </p:nvSpPr>
        <p:spPr>
          <a:xfrm>
            <a:off x="4306680" y="3429000"/>
            <a:ext cx="8593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0.4146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15"/>
          <p:cNvSpPr/>
          <p:nvPr/>
        </p:nvSpPr>
        <p:spPr>
          <a:xfrm>
            <a:off x="5193720" y="3355920"/>
            <a:ext cx="82260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15"/>
          <p:cNvSpPr/>
          <p:nvPr/>
        </p:nvSpPr>
        <p:spPr>
          <a:xfrm>
            <a:off x="5221080" y="3429000"/>
            <a:ext cx="767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0.5397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15"/>
          <p:cNvSpPr/>
          <p:nvPr/>
        </p:nvSpPr>
        <p:spPr>
          <a:xfrm>
            <a:off x="6016680" y="3355920"/>
            <a:ext cx="1051200" cy="2739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15"/>
          <p:cNvSpPr/>
          <p:nvPr/>
        </p:nvSpPr>
        <p:spPr>
          <a:xfrm>
            <a:off x="6044040" y="3429000"/>
            <a:ext cx="9964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5"/>
          <p:cNvSpPr/>
          <p:nvPr/>
        </p:nvSpPr>
        <p:spPr>
          <a:xfrm>
            <a:off x="347400" y="3630240"/>
            <a:ext cx="196560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5"/>
          <p:cNvSpPr/>
          <p:nvPr/>
        </p:nvSpPr>
        <p:spPr>
          <a:xfrm>
            <a:off x="374760" y="3703320"/>
            <a:ext cx="1910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Stacking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15"/>
          <p:cNvSpPr/>
          <p:nvPr/>
        </p:nvSpPr>
        <p:spPr>
          <a:xfrm>
            <a:off x="2313360" y="3630240"/>
            <a:ext cx="95976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15"/>
          <p:cNvSpPr/>
          <p:nvPr/>
        </p:nvSpPr>
        <p:spPr>
          <a:xfrm>
            <a:off x="2340720" y="3703320"/>
            <a:ext cx="90504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0.8471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15"/>
          <p:cNvSpPr/>
          <p:nvPr/>
        </p:nvSpPr>
        <p:spPr>
          <a:xfrm>
            <a:off x="3273480" y="3630240"/>
            <a:ext cx="100548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15"/>
          <p:cNvSpPr/>
          <p:nvPr/>
        </p:nvSpPr>
        <p:spPr>
          <a:xfrm>
            <a:off x="3300840" y="3703320"/>
            <a:ext cx="95076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1.0000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15"/>
          <p:cNvSpPr/>
          <p:nvPr/>
        </p:nvSpPr>
        <p:spPr>
          <a:xfrm>
            <a:off x="4279320" y="3630240"/>
            <a:ext cx="91404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5"/>
          <p:cNvSpPr/>
          <p:nvPr/>
        </p:nvSpPr>
        <p:spPr>
          <a:xfrm>
            <a:off x="4306680" y="3703320"/>
            <a:ext cx="8593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0.0488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5"/>
          <p:cNvSpPr/>
          <p:nvPr/>
        </p:nvSpPr>
        <p:spPr>
          <a:xfrm>
            <a:off x="5193720" y="3630240"/>
            <a:ext cx="82260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15"/>
          <p:cNvSpPr/>
          <p:nvPr/>
        </p:nvSpPr>
        <p:spPr>
          <a:xfrm>
            <a:off x="5221080" y="3703320"/>
            <a:ext cx="767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0.0930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5"/>
          <p:cNvSpPr/>
          <p:nvPr/>
        </p:nvSpPr>
        <p:spPr>
          <a:xfrm>
            <a:off x="6016680" y="3630240"/>
            <a:ext cx="105120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5"/>
          <p:cNvSpPr/>
          <p:nvPr/>
        </p:nvSpPr>
        <p:spPr>
          <a:xfrm>
            <a:off x="6044040" y="3703320"/>
            <a:ext cx="9964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0.8693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15"/>
          <p:cNvSpPr/>
          <p:nvPr/>
        </p:nvSpPr>
        <p:spPr>
          <a:xfrm>
            <a:off x="347400" y="3904560"/>
            <a:ext cx="196560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15"/>
          <p:cNvSpPr/>
          <p:nvPr/>
        </p:nvSpPr>
        <p:spPr>
          <a:xfrm>
            <a:off x="374760" y="3977640"/>
            <a:ext cx="1910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Adversarial LR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15"/>
          <p:cNvSpPr/>
          <p:nvPr/>
        </p:nvSpPr>
        <p:spPr>
          <a:xfrm>
            <a:off x="2313360" y="3904560"/>
            <a:ext cx="95976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15"/>
          <p:cNvSpPr/>
          <p:nvPr/>
        </p:nvSpPr>
        <p:spPr>
          <a:xfrm>
            <a:off x="2340720" y="3977640"/>
            <a:ext cx="90504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0.6157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5"/>
          <p:cNvSpPr/>
          <p:nvPr/>
        </p:nvSpPr>
        <p:spPr>
          <a:xfrm>
            <a:off x="3273480" y="3904560"/>
            <a:ext cx="100548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5"/>
          <p:cNvSpPr/>
          <p:nvPr/>
        </p:nvSpPr>
        <p:spPr>
          <a:xfrm>
            <a:off x="3300840" y="3977640"/>
            <a:ext cx="95076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0.2336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15"/>
          <p:cNvSpPr/>
          <p:nvPr/>
        </p:nvSpPr>
        <p:spPr>
          <a:xfrm>
            <a:off x="4279320" y="3904560"/>
            <a:ext cx="91404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15"/>
          <p:cNvSpPr/>
          <p:nvPr/>
        </p:nvSpPr>
        <p:spPr>
          <a:xfrm>
            <a:off x="4306680" y="3977640"/>
            <a:ext cx="8593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0.6098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15"/>
          <p:cNvSpPr/>
          <p:nvPr/>
        </p:nvSpPr>
        <p:spPr>
          <a:xfrm>
            <a:off x="5193720" y="3904560"/>
            <a:ext cx="82260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15"/>
          <p:cNvSpPr/>
          <p:nvPr/>
        </p:nvSpPr>
        <p:spPr>
          <a:xfrm>
            <a:off x="5221080" y="3977640"/>
            <a:ext cx="767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0.3378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15"/>
          <p:cNvSpPr/>
          <p:nvPr/>
        </p:nvSpPr>
        <p:spPr>
          <a:xfrm>
            <a:off x="6016680" y="3904560"/>
            <a:ext cx="1051200" cy="2739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15"/>
          <p:cNvSpPr/>
          <p:nvPr/>
        </p:nvSpPr>
        <p:spPr>
          <a:xfrm>
            <a:off x="6044040" y="3977640"/>
            <a:ext cx="9964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0.6801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5"/>
          <p:cNvSpPr/>
          <p:nvPr/>
        </p:nvSpPr>
        <p:spPr>
          <a:xfrm>
            <a:off x="347400" y="4178880"/>
            <a:ext cx="196560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15"/>
          <p:cNvSpPr/>
          <p:nvPr/>
        </p:nvSpPr>
        <p:spPr>
          <a:xfrm>
            <a:off x="374760" y="4251960"/>
            <a:ext cx="1910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Adversarial RF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15"/>
          <p:cNvSpPr/>
          <p:nvPr/>
        </p:nvSpPr>
        <p:spPr>
          <a:xfrm>
            <a:off x="2313360" y="4178880"/>
            <a:ext cx="95976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15"/>
          <p:cNvSpPr/>
          <p:nvPr/>
        </p:nvSpPr>
        <p:spPr>
          <a:xfrm>
            <a:off x="2340720" y="4251960"/>
            <a:ext cx="90504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0.8510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15"/>
          <p:cNvSpPr/>
          <p:nvPr/>
        </p:nvSpPr>
        <p:spPr>
          <a:xfrm>
            <a:off x="3273480" y="4178880"/>
            <a:ext cx="100548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15"/>
          <p:cNvSpPr/>
          <p:nvPr/>
        </p:nvSpPr>
        <p:spPr>
          <a:xfrm>
            <a:off x="3300840" y="4251960"/>
            <a:ext cx="95076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0.5600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15"/>
          <p:cNvSpPr/>
          <p:nvPr/>
        </p:nvSpPr>
        <p:spPr>
          <a:xfrm>
            <a:off x="4279320" y="4178880"/>
            <a:ext cx="91404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15"/>
          <p:cNvSpPr/>
          <p:nvPr/>
        </p:nvSpPr>
        <p:spPr>
          <a:xfrm>
            <a:off x="4306680" y="4251960"/>
            <a:ext cx="85932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0.3415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5"/>
          <p:cNvSpPr/>
          <p:nvPr/>
        </p:nvSpPr>
        <p:spPr>
          <a:xfrm>
            <a:off x="5193720" y="4178880"/>
            <a:ext cx="82260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15"/>
          <p:cNvSpPr/>
          <p:nvPr/>
        </p:nvSpPr>
        <p:spPr>
          <a:xfrm>
            <a:off x="5221080" y="4251960"/>
            <a:ext cx="767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0.4242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15"/>
          <p:cNvSpPr/>
          <p:nvPr/>
        </p:nvSpPr>
        <p:spPr>
          <a:xfrm>
            <a:off x="6016680" y="4178880"/>
            <a:ext cx="1051200" cy="2739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15"/>
          <p:cNvSpPr/>
          <p:nvPr/>
        </p:nvSpPr>
        <p:spPr>
          <a:xfrm>
            <a:off x="6044040" y="4251960"/>
            <a:ext cx="9964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0" i="0" lang="en-US" sz="6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0.8132</a:t>
            </a:r>
            <a:endParaRPr b="0" i="0" sz="6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15"/>
          <p:cNvSpPr/>
          <p:nvPr/>
        </p:nvSpPr>
        <p:spPr>
          <a:xfrm>
            <a:off x="8321040" y="1572840"/>
            <a:ext cx="2514240" cy="959760"/>
          </a:xfrm>
          <a:prstGeom prst="roundRect">
            <a:avLst>
              <a:gd fmla="val 11429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22C55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15"/>
          <p:cNvSpPr/>
          <p:nvPr/>
        </p:nvSpPr>
        <p:spPr>
          <a:xfrm>
            <a:off x="8321040" y="1572840"/>
            <a:ext cx="72720" cy="95976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15"/>
          <p:cNvSpPr/>
          <p:nvPr/>
        </p:nvSpPr>
        <p:spPr>
          <a:xfrm>
            <a:off x="8522280" y="1774080"/>
            <a:ext cx="219420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BEST F1 IN FINAL MODEL TABLE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15"/>
          <p:cNvSpPr/>
          <p:nvPr/>
        </p:nvSpPr>
        <p:spPr>
          <a:xfrm>
            <a:off x="8522280" y="2011680"/>
            <a:ext cx="219420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0.5397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15"/>
          <p:cNvSpPr/>
          <p:nvPr/>
        </p:nvSpPr>
        <p:spPr>
          <a:xfrm>
            <a:off x="8522280" y="2441520"/>
            <a:ext cx="2194200" cy="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"/>
              <a:buFont typeface="Arial"/>
              <a:buNone/>
            </a:pPr>
            <a:r>
              <a:rPr b="0" i="0" lang="en-US" sz="213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Voting Hard; Acc. 0.8863, Prec. 0.7727</a:t>
            </a:r>
            <a:endParaRPr b="0" i="0" sz="21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15"/>
          <p:cNvSpPr/>
          <p:nvPr/>
        </p:nvSpPr>
        <p:spPr>
          <a:xfrm>
            <a:off x="8321040" y="2770560"/>
            <a:ext cx="2514240" cy="959760"/>
          </a:xfrm>
          <a:prstGeom prst="roundRect">
            <a:avLst>
              <a:gd fmla="val 11429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A78BFA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15"/>
          <p:cNvSpPr/>
          <p:nvPr/>
        </p:nvSpPr>
        <p:spPr>
          <a:xfrm>
            <a:off x="8321040" y="2770560"/>
            <a:ext cx="72720" cy="95976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15"/>
          <p:cNvSpPr/>
          <p:nvPr/>
        </p:nvSpPr>
        <p:spPr>
          <a:xfrm>
            <a:off x="8522280" y="2971800"/>
            <a:ext cx="219420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BEST AUC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5"/>
          <p:cNvSpPr/>
          <p:nvPr/>
        </p:nvSpPr>
        <p:spPr>
          <a:xfrm>
            <a:off x="8522280" y="3209400"/>
            <a:ext cx="219420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0.8693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5"/>
          <p:cNvSpPr/>
          <p:nvPr/>
        </p:nvSpPr>
        <p:spPr>
          <a:xfrm>
            <a:off x="8522280" y="3639240"/>
            <a:ext cx="2194200" cy="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"/>
              <a:buFont typeface="Arial"/>
              <a:buNone/>
            </a:pPr>
            <a:r>
              <a:rPr b="0" i="0" lang="en-US" sz="213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Stacking; but F1 only 0.0930</a:t>
            </a:r>
            <a:endParaRPr b="0" i="0" sz="21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15"/>
          <p:cNvSpPr/>
          <p:nvPr/>
        </p:nvSpPr>
        <p:spPr>
          <a:xfrm>
            <a:off x="8321040" y="3968640"/>
            <a:ext cx="2514240" cy="959760"/>
          </a:xfrm>
          <a:prstGeom prst="roundRect">
            <a:avLst>
              <a:gd fmla="val 11429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F59E0B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15"/>
          <p:cNvSpPr/>
          <p:nvPr/>
        </p:nvSpPr>
        <p:spPr>
          <a:xfrm>
            <a:off x="8321040" y="3968640"/>
            <a:ext cx="72720" cy="9597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15"/>
          <p:cNvSpPr/>
          <p:nvPr/>
        </p:nvSpPr>
        <p:spPr>
          <a:xfrm>
            <a:off x="8522280" y="4169520"/>
            <a:ext cx="219420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BEST RECALL IN TABLE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5"/>
          <p:cNvSpPr/>
          <p:nvPr/>
        </p:nvSpPr>
        <p:spPr>
          <a:xfrm>
            <a:off x="8522280" y="4407480"/>
            <a:ext cx="219420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0.6341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5"/>
          <p:cNvSpPr/>
          <p:nvPr/>
        </p:nvSpPr>
        <p:spPr>
          <a:xfrm>
            <a:off x="8522280" y="4837320"/>
            <a:ext cx="2194200" cy="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"/>
              <a:buFont typeface="Arial"/>
              <a:buNone/>
            </a:pPr>
            <a:r>
              <a:rPr b="0" i="0" lang="en-US" sz="213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Tuned LR; misses 36.6% of deaths</a:t>
            </a:r>
            <a:endParaRPr b="0" i="0" sz="21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5"/>
          <p:cNvSpPr/>
          <p:nvPr/>
        </p:nvSpPr>
        <p:spPr>
          <a:xfrm>
            <a:off x="8321040" y="5285160"/>
            <a:ext cx="274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1" i="0" lang="en-US" sz="8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Threshold-tuned XGBoost is even stronger for decision policy: Best-F1 threshold = 0.5679 F1; Clinical threshold = 0.7805 recall.</a:t>
            </a:r>
            <a:endParaRPr b="0" i="0" sz="8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7" name="Google Shape;1137;p15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8" name="Google Shape;1138;p15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5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6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16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16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CONFUSION MATRIX INTERPRETATION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16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The model choice changes the clinical errors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6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Support on test set: 214 survived, 41 died. False negatives are missed mortalities.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6"/>
          <p:cNvSpPr/>
          <p:nvPr/>
        </p:nvSpPr>
        <p:spPr>
          <a:xfrm>
            <a:off x="658440" y="1508760"/>
            <a:ext cx="10972440" cy="2349720"/>
          </a:xfrm>
          <a:prstGeom prst="roundRect">
            <a:avLst>
              <a:gd fmla="val 3113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6"/>
          <p:cNvSpPr/>
          <p:nvPr/>
        </p:nvSpPr>
        <p:spPr>
          <a:xfrm>
            <a:off x="658440" y="1508760"/>
            <a:ext cx="19656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16"/>
          <p:cNvSpPr/>
          <p:nvPr/>
        </p:nvSpPr>
        <p:spPr>
          <a:xfrm>
            <a:off x="685800" y="1581840"/>
            <a:ext cx="19108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 / policy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16"/>
          <p:cNvSpPr/>
          <p:nvPr/>
        </p:nvSpPr>
        <p:spPr>
          <a:xfrm>
            <a:off x="2624400" y="1508760"/>
            <a:ext cx="5940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16"/>
          <p:cNvSpPr/>
          <p:nvPr/>
        </p:nvSpPr>
        <p:spPr>
          <a:xfrm>
            <a:off x="2651760" y="1581840"/>
            <a:ext cx="5392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TN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16"/>
          <p:cNvSpPr/>
          <p:nvPr/>
        </p:nvSpPr>
        <p:spPr>
          <a:xfrm>
            <a:off x="3218760" y="1508760"/>
            <a:ext cx="5940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16"/>
          <p:cNvSpPr/>
          <p:nvPr/>
        </p:nvSpPr>
        <p:spPr>
          <a:xfrm>
            <a:off x="3246120" y="1581840"/>
            <a:ext cx="5392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16"/>
          <p:cNvSpPr/>
          <p:nvPr/>
        </p:nvSpPr>
        <p:spPr>
          <a:xfrm>
            <a:off x="3813120" y="1508760"/>
            <a:ext cx="5940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16"/>
          <p:cNvSpPr/>
          <p:nvPr/>
        </p:nvSpPr>
        <p:spPr>
          <a:xfrm>
            <a:off x="3840480" y="1581840"/>
            <a:ext cx="5392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16"/>
          <p:cNvSpPr/>
          <p:nvPr/>
        </p:nvSpPr>
        <p:spPr>
          <a:xfrm>
            <a:off x="4407480" y="1508760"/>
            <a:ext cx="5940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16"/>
          <p:cNvSpPr/>
          <p:nvPr/>
        </p:nvSpPr>
        <p:spPr>
          <a:xfrm>
            <a:off x="4434840" y="1581840"/>
            <a:ext cx="5392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16"/>
          <p:cNvSpPr/>
          <p:nvPr/>
        </p:nvSpPr>
        <p:spPr>
          <a:xfrm>
            <a:off x="5001840" y="1508760"/>
            <a:ext cx="114264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16"/>
          <p:cNvSpPr/>
          <p:nvPr/>
        </p:nvSpPr>
        <p:spPr>
          <a:xfrm>
            <a:off x="5029200" y="1581840"/>
            <a:ext cx="10879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Missed deaths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16"/>
          <p:cNvSpPr/>
          <p:nvPr/>
        </p:nvSpPr>
        <p:spPr>
          <a:xfrm>
            <a:off x="6144840" y="1508760"/>
            <a:ext cx="457164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16"/>
          <p:cNvSpPr/>
          <p:nvPr/>
        </p:nvSpPr>
        <p:spPr>
          <a:xfrm>
            <a:off x="6172200" y="1581840"/>
            <a:ext cx="45169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16"/>
          <p:cNvSpPr/>
          <p:nvPr/>
        </p:nvSpPr>
        <p:spPr>
          <a:xfrm>
            <a:off x="658440" y="1801440"/>
            <a:ext cx="196560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16"/>
          <p:cNvSpPr/>
          <p:nvPr/>
        </p:nvSpPr>
        <p:spPr>
          <a:xfrm>
            <a:off x="685800" y="1874520"/>
            <a:ext cx="19108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Tuned LR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16"/>
          <p:cNvSpPr/>
          <p:nvPr/>
        </p:nvSpPr>
        <p:spPr>
          <a:xfrm>
            <a:off x="2624400" y="1801440"/>
            <a:ext cx="59400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16"/>
          <p:cNvSpPr/>
          <p:nvPr/>
        </p:nvSpPr>
        <p:spPr>
          <a:xfrm>
            <a:off x="2651760" y="187452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168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16"/>
          <p:cNvSpPr/>
          <p:nvPr/>
        </p:nvSpPr>
        <p:spPr>
          <a:xfrm>
            <a:off x="3218760" y="1801440"/>
            <a:ext cx="59400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6"/>
          <p:cNvSpPr/>
          <p:nvPr/>
        </p:nvSpPr>
        <p:spPr>
          <a:xfrm>
            <a:off x="3246120" y="187452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6"/>
          <p:cNvSpPr/>
          <p:nvPr/>
        </p:nvSpPr>
        <p:spPr>
          <a:xfrm>
            <a:off x="3813120" y="1801440"/>
            <a:ext cx="59400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16"/>
          <p:cNvSpPr/>
          <p:nvPr/>
        </p:nvSpPr>
        <p:spPr>
          <a:xfrm>
            <a:off x="3840480" y="187452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16"/>
          <p:cNvSpPr/>
          <p:nvPr/>
        </p:nvSpPr>
        <p:spPr>
          <a:xfrm>
            <a:off x="4407480" y="1801440"/>
            <a:ext cx="59400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16"/>
          <p:cNvSpPr/>
          <p:nvPr/>
        </p:nvSpPr>
        <p:spPr>
          <a:xfrm>
            <a:off x="4434840" y="187452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6"/>
          <p:cNvSpPr/>
          <p:nvPr/>
        </p:nvSpPr>
        <p:spPr>
          <a:xfrm>
            <a:off x="5001840" y="1801440"/>
            <a:ext cx="114264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16"/>
          <p:cNvSpPr/>
          <p:nvPr/>
        </p:nvSpPr>
        <p:spPr>
          <a:xfrm>
            <a:off x="5029200" y="1874520"/>
            <a:ext cx="10879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36.6%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16"/>
          <p:cNvSpPr/>
          <p:nvPr/>
        </p:nvSpPr>
        <p:spPr>
          <a:xfrm>
            <a:off x="6144840" y="1801440"/>
            <a:ext cx="457164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6"/>
          <p:cNvSpPr/>
          <p:nvPr/>
        </p:nvSpPr>
        <p:spPr>
          <a:xfrm>
            <a:off x="6172200" y="1874520"/>
            <a:ext cx="45169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Highest recall among default models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16"/>
          <p:cNvSpPr/>
          <p:nvPr/>
        </p:nvSpPr>
        <p:spPr>
          <a:xfrm>
            <a:off x="658440" y="2304360"/>
            <a:ext cx="1965600" cy="5025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16"/>
          <p:cNvSpPr/>
          <p:nvPr/>
        </p:nvSpPr>
        <p:spPr>
          <a:xfrm>
            <a:off x="685800" y="2377440"/>
            <a:ext cx="19108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Tuned XGB default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16"/>
          <p:cNvSpPr/>
          <p:nvPr/>
        </p:nvSpPr>
        <p:spPr>
          <a:xfrm>
            <a:off x="2624400" y="2304360"/>
            <a:ext cx="594000" cy="5025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16"/>
          <p:cNvSpPr/>
          <p:nvPr/>
        </p:nvSpPr>
        <p:spPr>
          <a:xfrm>
            <a:off x="2651760" y="237744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207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16"/>
          <p:cNvSpPr/>
          <p:nvPr/>
        </p:nvSpPr>
        <p:spPr>
          <a:xfrm>
            <a:off x="3218760" y="2304360"/>
            <a:ext cx="594000" cy="5025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16"/>
          <p:cNvSpPr/>
          <p:nvPr/>
        </p:nvSpPr>
        <p:spPr>
          <a:xfrm>
            <a:off x="3246120" y="237744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16"/>
          <p:cNvSpPr/>
          <p:nvPr/>
        </p:nvSpPr>
        <p:spPr>
          <a:xfrm>
            <a:off x="3813120" y="2304360"/>
            <a:ext cx="594000" cy="5025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16"/>
          <p:cNvSpPr/>
          <p:nvPr/>
        </p:nvSpPr>
        <p:spPr>
          <a:xfrm>
            <a:off x="3840480" y="237744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16"/>
          <p:cNvSpPr/>
          <p:nvPr/>
        </p:nvSpPr>
        <p:spPr>
          <a:xfrm>
            <a:off x="4407480" y="2304360"/>
            <a:ext cx="594000" cy="5025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16"/>
          <p:cNvSpPr/>
          <p:nvPr/>
        </p:nvSpPr>
        <p:spPr>
          <a:xfrm>
            <a:off x="4434840" y="237744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6"/>
          <p:cNvSpPr/>
          <p:nvPr/>
        </p:nvSpPr>
        <p:spPr>
          <a:xfrm>
            <a:off x="5001840" y="2304360"/>
            <a:ext cx="1142640" cy="5025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6"/>
          <p:cNvSpPr/>
          <p:nvPr/>
        </p:nvSpPr>
        <p:spPr>
          <a:xfrm>
            <a:off x="5029200" y="2377440"/>
            <a:ext cx="10879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63.4%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16"/>
          <p:cNvSpPr/>
          <p:nvPr/>
        </p:nvSpPr>
        <p:spPr>
          <a:xfrm>
            <a:off x="6144840" y="2304360"/>
            <a:ext cx="4571640" cy="5025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16"/>
          <p:cNvSpPr/>
          <p:nvPr/>
        </p:nvSpPr>
        <p:spPr>
          <a:xfrm>
            <a:off x="6172200" y="2377440"/>
            <a:ext cx="45169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High precision and AUC, weak default recall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16"/>
          <p:cNvSpPr/>
          <p:nvPr/>
        </p:nvSpPr>
        <p:spPr>
          <a:xfrm>
            <a:off x="658440" y="2807280"/>
            <a:ext cx="196560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16"/>
          <p:cNvSpPr/>
          <p:nvPr/>
        </p:nvSpPr>
        <p:spPr>
          <a:xfrm>
            <a:off x="685800" y="2880360"/>
            <a:ext cx="19108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Voting Hard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16"/>
          <p:cNvSpPr/>
          <p:nvPr/>
        </p:nvSpPr>
        <p:spPr>
          <a:xfrm>
            <a:off x="2624400" y="2807280"/>
            <a:ext cx="59400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16"/>
          <p:cNvSpPr/>
          <p:nvPr/>
        </p:nvSpPr>
        <p:spPr>
          <a:xfrm>
            <a:off x="2651760" y="288036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209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16"/>
          <p:cNvSpPr/>
          <p:nvPr/>
        </p:nvSpPr>
        <p:spPr>
          <a:xfrm>
            <a:off x="3218760" y="2807280"/>
            <a:ext cx="59400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6"/>
          <p:cNvSpPr/>
          <p:nvPr/>
        </p:nvSpPr>
        <p:spPr>
          <a:xfrm>
            <a:off x="3246120" y="288036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16"/>
          <p:cNvSpPr/>
          <p:nvPr/>
        </p:nvSpPr>
        <p:spPr>
          <a:xfrm>
            <a:off x="3813120" y="2807280"/>
            <a:ext cx="59400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16"/>
          <p:cNvSpPr/>
          <p:nvPr/>
        </p:nvSpPr>
        <p:spPr>
          <a:xfrm>
            <a:off x="3840480" y="288036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16"/>
          <p:cNvSpPr/>
          <p:nvPr/>
        </p:nvSpPr>
        <p:spPr>
          <a:xfrm>
            <a:off x="4407480" y="2807280"/>
            <a:ext cx="59400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16"/>
          <p:cNvSpPr/>
          <p:nvPr/>
        </p:nvSpPr>
        <p:spPr>
          <a:xfrm>
            <a:off x="4434840" y="288036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16"/>
          <p:cNvSpPr/>
          <p:nvPr/>
        </p:nvSpPr>
        <p:spPr>
          <a:xfrm>
            <a:off x="5001840" y="2807280"/>
            <a:ext cx="114264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16"/>
          <p:cNvSpPr/>
          <p:nvPr/>
        </p:nvSpPr>
        <p:spPr>
          <a:xfrm>
            <a:off x="5029200" y="2880360"/>
            <a:ext cx="10879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58.5%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16"/>
          <p:cNvSpPr/>
          <p:nvPr/>
        </p:nvSpPr>
        <p:spPr>
          <a:xfrm>
            <a:off x="6144840" y="2807280"/>
            <a:ext cx="457164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16"/>
          <p:cNvSpPr/>
          <p:nvPr/>
        </p:nvSpPr>
        <p:spPr>
          <a:xfrm>
            <a:off x="6172200" y="2880360"/>
            <a:ext cx="45169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Best F1 in final default-model table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16"/>
          <p:cNvSpPr/>
          <p:nvPr/>
        </p:nvSpPr>
        <p:spPr>
          <a:xfrm>
            <a:off x="658440" y="3310200"/>
            <a:ext cx="1965600" cy="50256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16"/>
          <p:cNvSpPr/>
          <p:nvPr/>
        </p:nvSpPr>
        <p:spPr>
          <a:xfrm>
            <a:off x="685800" y="3383280"/>
            <a:ext cx="19108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XGB clinical threshold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16"/>
          <p:cNvSpPr/>
          <p:nvPr/>
        </p:nvSpPr>
        <p:spPr>
          <a:xfrm>
            <a:off x="2624400" y="3310200"/>
            <a:ext cx="594000" cy="50256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16"/>
          <p:cNvSpPr/>
          <p:nvPr/>
        </p:nvSpPr>
        <p:spPr>
          <a:xfrm>
            <a:off x="2651760" y="338328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170*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16"/>
          <p:cNvSpPr/>
          <p:nvPr/>
        </p:nvSpPr>
        <p:spPr>
          <a:xfrm>
            <a:off x="3218760" y="3310200"/>
            <a:ext cx="594000" cy="50256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16"/>
          <p:cNvSpPr/>
          <p:nvPr/>
        </p:nvSpPr>
        <p:spPr>
          <a:xfrm>
            <a:off x="3246120" y="338328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44*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16"/>
          <p:cNvSpPr/>
          <p:nvPr/>
        </p:nvSpPr>
        <p:spPr>
          <a:xfrm>
            <a:off x="3813120" y="3310200"/>
            <a:ext cx="594000" cy="50256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16"/>
          <p:cNvSpPr/>
          <p:nvPr/>
        </p:nvSpPr>
        <p:spPr>
          <a:xfrm>
            <a:off x="3840480" y="338328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9*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16"/>
          <p:cNvSpPr/>
          <p:nvPr/>
        </p:nvSpPr>
        <p:spPr>
          <a:xfrm>
            <a:off x="4407480" y="3310200"/>
            <a:ext cx="594000" cy="50256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16"/>
          <p:cNvSpPr/>
          <p:nvPr/>
        </p:nvSpPr>
        <p:spPr>
          <a:xfrm>
            <a:off x="4434840" y="3383280"/>
            <a:ext cx="539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32*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16"/>
          <p:cNvSpPr/>
          <p:nvPr/>
        </p:nvSpPr>
        <p:spPr>
          <a:xfrm>
            <a:off x="5001840" y="3310200"/>
            <a:ext cx="1142640" cy="50256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16"/>
          <p:cNvSpPr/>
          <p:nvPr/>
        </p:nvSpPr>
        <p:spPr>
          <a:xfrm>
            <a:off x="5029200" y="3383280"/>
            <a:ext cx="10879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22.0%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16"/>
          <p:cNvSpPr/>
          <p:nvPr/>
        </p:nvSpPr>
        <p:spPr>
          <a:xfrm>
            <a:off x="6144840" y="3310200"/>
            <a:ext cx="4571640" cy="502560"/>
          </a:xfrm>
          <a:prstGeom prst="rect">
            <a:avLst/>
          </a:prstGeom>
          <a:solidFill>
            <a:srgbClr val="3C2A12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16"/>
          <p:cNvSpPr/>
          <p:nvPr/>
        </p:nvSpPr>
        <p:spPr>
          <a:xfrm>
            <a:off x="6172200" y="3383280"/>
            <a:ext cx="45169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Best clinical recall policy; approximate counts from metrics</a:t>
            </a:r>
            <a:endParaRPr b="0" i="0" sz="7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16"/>
          <p:cNvSpPr/>
          <p:nvPr/>
        </p:nvSpPr>
        <p:spPr>
          <a:xfrm>
            <a:off x="914400" y="4526280"/>
            <a:ext cx="3200040" cy="959760"/>
          </a:xfrm>
          <a:prstGeom prst="roundRect">
            <a:avLst>
              <a:gd fmla="val 11429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16"/>
          <p:cNvSpPr/>
          <p:nvPr/>
        </p:nvSpPr>
        <p:spPr>
          <a:xfrm>
            <a:off x="1078920" y="4672440"/>
            <a:ext cx="28710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High recall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16"/>
          <p:cNvSpPr/>
          <p:nvPr/>
        </p:nvSpPr>
        <p:spPr>
          <a:xfrm>
            <a:off x="1078920" y="4974480"/>
            <a:ext cx="28710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Tuned LR catches 26/41 deaths at default threshold; XGB clinical threshold catches about 32/41.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16"/>
          <p:cNvSpPr/>
          <p:nvPr/>
        </p:nvSpPr>
        <p:spPr>
          <a:xfrm>
            <a:off x="4480560" y="4526280"/>
            <a:ext cx="3200040" cy="959760"/>
          </a:xfrm>
          <a:prstGeom prst="roundRect">
            <a:avLst>
              <a:gd fmla="val 11429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16"/>
          <p:cNvSpPr/>
          <p:nvPr/>
        </p:nvSpPr>
        <p:spPr>
          <a:xfrm>
            <a:off x="4645080" y="4672440"/>
            <a:ext cx="28710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High precision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16"/>
          <p:cNvSpPr/>
          <p:nvPr/>
        </p:nvSpPr>
        <p:spPr>
          <a:xfrm>
            <a:off x="4645080" y="4974480"/>
            <a:ext cx="28710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Voting Hard and Tuned XGB reduce false alarms, but they miss more deaths.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16"/>
          <p:cNvSpPr/>
          <p:nvPr/>
        </p:nvSpPr>
        <p:spPr>
          <a:xfrm>
            <a:off x="8046720" y="4526280"/>
            <a:ext cx="3200040" cy="959760"/>
          </a:xfrm>
          <a:prstGeom prst="roundRect">
            <a:avLst>
              <a:gd fmla="val 11429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16"/>
          <p:cNvSpPr/>
          <p:nvPr/>
        </p:nvSpPr>
        <p:spPr>
          <a:xfrm>
            <a:off x="8211240" y="4672440"/>
            <a:ext cx="28710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Clinical decision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16"/>
          <p:cNvSpPr/>
          <p:nvPr/>
        </p:nvSpPr>
        <p:spPr>
          <a:xfrm>
            <a:off x="8211240" y="4974480"/>
            <a:ext cx="28710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For screening, accept lower precision to reduce missed mortalities. For reporting, show balanced F1/AUC.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2" name="Google Shape;1232;p16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3" name="Google Shape;1233;p16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16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1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17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17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17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ROBUSTNESS ANALYSIS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17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Noisy labels and concept drift expose deployment risk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17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final phase tests what happens when the world is messier than the training data.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17"/>
          <p:cNvSpPr/>
          <p:nvPr/>
        </p:nvSpPr>
        <p:spPr>
          <a:xfrm>
            <a:off x="475560" y="1481400"/>
            <a:ext cx="5531760" cy="2770200"/>
          </a:xfrm>
          <a:prstGeom prst="roundRect">
            <a:avLst>
              <a:gd fmla="val 2640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17"/>
          <p:cNvSpPr/>
          <p:nvPr/>
        </p:nvSpPr>
        <p:spPr>
          <a:xfrm>
            <a:off x="475560" y="1481400"/>
            <a:ext cx="17370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17"/>
          <p:cNvSpPr/>
          <p:nvPr/>
        </p:nvSpPr>
        <p:spPr>
          <a:xfrm>
            <a:off x="502920" y="1554480"/>
            <a:ext cx="16822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17"/>
          <p:cNvSpPr/>
          <p:nvPr/>
        </p:nvSpPr>
        <p:spPr>
          <a:xfrm>
            <a:off x="2212920" y="1481400"/>
            <a:ext cx="73116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17"/>
          <p:cNvSpPr/>
          <p:nvPr/>
        </p:nvSpPr>
        <p:spPr>
          <a:xfrm>
            <a:off x="2240280" y="1554480"/>
            <a:ext cx="6764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Acc.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17"/>
          <p:cNvSpPr/>
          <p:nvPr/>
        </p:nvSpPr>
        <p:spPr>
          <a:xfrm>
            <a:off x="2944440" y="1481400"/>
            <a:ext cx="73116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17"/>
          <p:cNvSpPr/>
          <p:nvPr/>
        </p:nvSpPr>
        <p:spPr>
          <a:xfrm>
            <a:off x="2971800" y="1554480"/>
            <a:ext cx="6764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Prec.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17"/>
          <p:cNvSpPr/>
          <p:nvPr/>
        </p:nvSpPr>
        <p:spPr>
          <a:xfrm>
            <a:off x="3675960" y="1481400"/>
            <a:ext cx="73116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17"/>
          <p:cNvSpPr/>
          <p:nvPr/>
        </p:nvSpPr>
        <p:spPr>
          <a:xfrm>
            <a:off x="3703320" y="1554480"/>
            <a:ext cx="6764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17"/>
          <p:cNvSpPr/>
          <p:nvPr/>
        </p:nvSpPr>
        <p:spPr>
          <a:xfrm>
            <a:off x="4407480" y="1481400"/>
            <a:ext cx="68544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17"/>
          <p:cNvSpPr/>
          <p:nvPr/>
        </p:nvSpPr>
        <p:spPr>
          <a:xfrm>
            <a:off x="4434840" y="1554480"/>
            <a:ext cx="6307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17"/>
          <p:cNvSpPr/>
          <p:nvPr/>
        </p:nvSpPr>
        <p:spPr>
          <a:xfrm>
            <a:off x="5093280" y="1481400"/>
            <a:ext cx="91404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7"/>
          <p:cNvSpPr/>
          <p:nvPr/>
        </p:nvSpPr>
        <p:spPr>
          <a:xfrm>
            <a:off x="5120640" y="1554480"/>
            <a:ext cx="8593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AUC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17"/>
          <p:cNvSpPr/>
          <p:nvPr/>
        </p:nvSpPr>
        <p:spPr>
          <a:xfrm>
            <a:off x="475560" y="1774080"/>
            <a:ext cx="173700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17"/>
          <p:cNvSpPr/>
          <p:nvPr/>
        </p:nvSpPr>
        <p:spPr>
          <a:xfrm>
            <a:off x="502920" y="1847160"/>
            <a:ext cx="168228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Baseline LR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17"/>
          <p:cNvSpPr/>
          <p:nvPr/>
        </p:nvSpPr>
        <p:spPr>
          <a:xfrm>
            <a:off x="2212920" y="1774080"/>
            <a:ext cx="73116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7"/>
          <p:cNvSpPr/>
          <p:nvPr/>
        </p:nvSpPr>
        <p:spPr>
          <a:xfrm>
            <a:off x="2240280" y="184716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0.8549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7"/>
          <p:cNvSpPr/>
          <p:nvPr/>
        </p:nvSpPr>
        <p:spPr>
          <a:xfrm>
            <a:off x="2944440" y="1774080"/>
            <a:ext cx="73116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17"/>
          <p:cNvSpPr/>
          <p:nvPr/>
        </p:nvSpPr>
        <p:spPr>
          <a:xfrm>
            <a:off x="2971800" y="184716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0.5769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17"/>
          <p:cNvSpPr/>
          <p:nvPr/>
        </p:nvSpPr>
        <p:spPr>
          <a:xfrm>
            <a:off x="3675960" y="1774080"/>
            <a:ext cx="73116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17"/>
          <p:cNvSpPr/>
          <p:nvPr/>
        </p:nvSpPr>
        <p:spPr>
          <a:xfrm>
            <a:off x="3703320" y="184716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0.3659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17"/>
          <p:cNvSpPr/>
          <p:nvPr/>
        </p:nvSpPr>
        <p:spPr>
          <a:xfrm>
            <a:off x="4407480" y="1774080"/>
            <a:ext cx="68544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17"/>
          <p:cNvSpPr/>
          <p:nvPr/>
        </p:nvSpPr>
        <p:spPr>
          <a:xfrm>
            <a:off x="4434840" y="1847160"/>
            <a:ext cx="6307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0.4478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17"/>
          <p:cNvSpPr/>
          <p:nvPr/>
        </p:nvSpPr>
        <p:spPr>
          <a:xfrm>
            <a:off x="5093280" y="1774080"/>
            <a:ext cx="91404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17"/>
          <p:cNvSpPr/>
          <p:nvPr/>
        </p:nvSpPr>
        <p:spPr>
          <a:xfrm>
            <a:off x="5120640" y="1847160"/>
            <a:ext cx="8593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0.8082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17"/>
          <p:cNvSpPr/>
          <p:nvPr/>
        </p:nvSpPr>
        <p:spPr>
          <a:xfrm>
            <a:off x="475560" y="2121480"/>
            <a:ext cx="1737000" cy="34704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17"/>
          <p:cNvSpPr/>
          <p:nvPr/>
        </p:nvSpPr>
        <p:spPr>
          <a:xfrm>
            <a:off x="502920" y="2194560"/>
            <a:ext cx="168228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Baseline RF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17"/>
          <p:cNvSpPr/>
          <p:nvPr/>
        </p:nvSpPr>
        <p:spPr>
          <a:xfrm>
            <a:off x="2212920" y="2121480"/>
            <a:ext cx="731160" cy="34704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17"/>
          <p:cNvSpPr/>
          <p:nvPr/>
        </p:nvSpPr>
        <p:spPr>
          <a:xfrm>
            <a:off x="2240280" y="219456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0.8627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17"/>
          <p:cNvSpPr/>
          <p:nvPr/>
        </p:nvSpPr>
        <p:spPr>
          <a:xfrm>
            <a:off x="2944440" y="2121480"/>
            <a:ext cx="731160" cy="34704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17"/>
          <p:cNvSpPr/>
          <p:nvPr/>
        </p:nvSpPr>
        <p:spPr>
          <a:xfrm>
            <a:off x="2971800" y="219456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0.8750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7"/>
          <p:cNvSpPr/>
          <p:nvPr/>
        </p:nvSpPr>
        <p:spPr>
          <a:xfrm>
            <a:off x="3675960" y="2121480"/>
            <a:ext cx="731160" cy="34704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17"/>
          <p:cNvSpPr/>
          <p:nvPr/>
        </p:nvSpPr>
        <p:spPr>
          <a:xfrm>
            <a:off x="3703320" y="219456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0.1707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17"/>
          <p:cNvSpPr/>
          <p:nvPr/>
        </p:nvSpPr>
        <p:spPr>
          <a:xfrm>
            <a:off x="4407480" y="2121480"/>
            <a:ext cx="685440" cy="34704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17"/>
          <p:cNvSpPr/>
          <p:nvPr/>
        </p:nvSpPr>
        <p:spPr>
          <a:xfrm>
            <a:off x="4434840" y="2194560"/>
            <a:ext cx="6307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0.2857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17"/>
          <p:cNvSpPr/>
          <p:nvPr/>
        </p:nvSpPr>
        <p:spPr>
          <a:xfrm>
            <a:off x="5093280" y="2121480"/>
            <a:ext cx="914040" cy="34704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17"/>
          <p:cNvSpPr/>
          <p:nvPr/>
        </p:nvSpPr>
        <p:spPr>
          <a:xfrm>
            <a:off x="5120640" y="2194560"/>
            <a:ext cx="8593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0.8607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17"/>
          <p:cNvSpPr/>
          <p:nvPr/>
        </p:nvSpPr>
        <p:spPr>
          <a:xfrm>
            <a:off x="475560" y="2468880"/>
            <a:ext cx="173700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17"/>
          <p:cNvSpPr/>
          <p:nvPr/>
        </p:nvSpPr>
        <p:spPr>
          <a:xfrm>
            <a:off x="502920" y="2541960"/>
            <a:ext cx="168228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Tuned LR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17"/>
          <p:cNvSpPr/>
          <p:nvPr/>
        </p:nvSpPr>
        <p:spPr>
          <a:xfrm>
            <a:off x="2212920" y="2468880"/>
            <a:ext cx="73116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17"/>
          <p:cNvSpPr/>
          <p:nvPr/>
        </p:nvSpPr>
        <p:spPr>
          <a:xfrm>
            <a:off x="2240280" y="254196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0.7804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17"/>
          <p:cNvSpPr/>
          <p:nvPr/>
        </p:nvSpPr>
        <p:spPr>
          <a:xfrm>
            <a:off x="2944440" y="2468880"/>
            <a:ext cx="73116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17"/>
          <p:cNvSpPr/>
          <p:nvPr/>
        </p:nvSpPr>
        <p:spPr>
          <a:xfrm>
            <a:off x="2971800" y="254196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0.3913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17"/>
          <p:cNvSpPr/>
          <p:nvPr/>
        </p:nvSpPr>
        <p:spPr>
          <a:xfrm>
            <a:off x="3675960" y="2468880"/>
            <a:ext cx="73116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17"/>
          <p:cNvSpPr/>
          <p:nvPr/>
        </p:nvSpPr>
        <p:spPr>
          <a:xfrm>
            <a:off x="3703320" y="254196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0.6585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17"/>
          <p:cNvSpPr/>
          <p:nvPr/>
        </p:nvSpPr>
        <p:spPr>
          <a:xfrm>
            <a:off x="4407480" y="2468880"/>
            <a:ext cx="68544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17"/>
          <p:cNvSpPr/>
          <p:nvPr/>
        </p:nvSpPr>
        <p:spPr>
          <a:xfrm>
            <a:off x="4434840" y="2541960"/>
            <a:ext cx="6307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0.4909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17"/>
          <p:cNvSpPr/>
          <p:nvPr/>
        </p:nvSpPr>
        <p:spPr>
          <a:xfrm>
            <a:off x="5093280" y="2468880"/>
            <a:ext cx="91404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17"/>
          <p:cNvSpPr/>
          <p:nvPr/>
        </p:nvSpPr>
        <p:spPr>
          <a:xfrm>
            <a:off x="5120640" y="2541960"/>
            <a:ext cx="8593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0.7990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17"/>
          <p:cNvSpPr/>
          <p:nvPr/>
        </p:nvSpPr>
        <p:spPr>
          <a:xfrm>
            <a:off x="475560" y="2816280"/>
            <a:ext cx="173700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17"/>
          <p:cNvSpPr/>
          <p:nvPr/>
        </p:nvSpPr>
        <p:spPr>
          <a:xfrm>
            <a:off x="502920" y="2889360"/>
            <a:ext cx="168228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Tuned XGB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17"/>
          <p:cNvSpPr/>
          <p:nvPr/>
        </p:nvSpPr>
        <p:spPr>
          <a:xfrm>
            <a:off x="2212920" y="2816280"/>
            <a:ext cx="73116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17"/>
          <p:cNvSpPr/>
          <p:nvPr/>
        </p:nvSpPr>
        <p:spPr>
          <a:xfrm>
            <a:off x="2240280" y="288936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0.8510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17"/>
          <p:cNvSpPr/>
          <p:nvPr/>
        </p:nvSpPr>
        <p:spPr>
          <a:xfrm>
            <a:off x="2944440" y="2816280"/>
            <a:ext cx="73116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17"/>
          <p:cNvSpPr/>
          <p:nvPr/>
        </p:nvSpPr>
        <p:spPr>
          <a:xfrm>
            <a:off x="2971800" y="288936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0.5366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17"/>
          <p:cNvSpPr/>
          <p:nvPr/>
        </p:nvSpPr>
        <p:spPr>
          <a:xfrm>
            <a:off x="3675960" y="2816280"/>
            <a:ext cx="73116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17"/>
          <p:cNvSpPr/>
          <p:nvPr/>
        </p:nvSpPr>
        <p:spPr>
          <a:xfrm>
            <a:off x="3703320" y="288936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0.5366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17"/>
          <p:cNvSpPr/>
          <p:nvPr/>
        </p:nvSpPr>
        <p:spPr>
          <a:xfrm>
            <a:off x="4407480" y="2816280"/>
            <a:ext cx="68544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17"/>
          <p:cNvSpPr/>
          <p:nvPr/>
        </p:nvSpPr>
        <p:spPr>
          <a:xfrm>
            <a:off x="4434840" y="2889360"/>
            <a:ext cx="6307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0.5366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17"/>
          <p:cNvSpPr/>
          <p:nvPr/>
        </p:nvSpPr>
        <p:spPr>
          <a:xfrm>
            <a:off x="5093280" y="2816280"/>
            <a:ext cx="91404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17"/>
          <p:cNvSpPr/>
          <p:nvPr/>
        </p:nvSpPr>
        <p:spPr>
          <a:xfrm>
            <a:off x="5120640" y="2889360"/>
            <a:ext cx="8593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0.8459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17"/>
          <p:cNvSpPr/>
          <p:nvPr/>
        </p:nvSpPr>
        <p:spPr>
          <a:xfrm>
            <a:off x="475560" y="3163680"/>
            <a:ext cx="173700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17"/>
          <p:cNvSpPr/>
          <p:nvPr/>
        </p:nvSpPr>
        <p:spPr>
          <a:xfrm>
            <a:off x="502920" y="3237120"/>
            <a:ext cx="168228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Voting Hard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17"/>
          <p:cNvSpPr/>
          <p:nvPr/>
        </p:nvSpPr>
        <p:spPr>
          <a:xfrm>
            <a:off x="2212920" y="3163680"/>
            <a:ext cx="73116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17"/>
          <p:cNvSpPr/>
          <p:nvPr/>
        </p:nvSpPr>
        <p:spPr>
          <a:xfrm>
            <a:off x="2240280" y="323712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0.8627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17"/>
          <p:cNvSpPr/>
          <p:nvPr/>
        </p:nvSpPr>
        <p:spPr>
          <a:xfrm>
            <a:off x="2944440" y="3163680"/>
            <a:ext cx="73116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17"/>
          <p:cNvSpPr/>
          <p:nvPr/>
        </p:nvSpPr>
        <p:spPr>
          <a:xfrm>
            <a:off x="2971800" y="323712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0.5938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17"/>
          <p:cNvSpPr/>
          <p:nvPr/>
        </p:nvSpPr>
        <p:spPr>
          <a:xfrm>
            <a:off x="3675960" y="3163680"/>
            <a:ext cx="73116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17"/>
          <p:cNvSpPr/>
          <p:nvPr/>
        </p:nvSpPr>
        <p:spPr>
          <a:xfrm>
            <a:off x="3703320" y="323712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0.4634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17"/>
          <p:cNvSpPr/>
          <p:nvPr/>
        </p:nvSpPr>
        <p:spPr>
          <a:xfrm>
            <a:off x="4407480" y="3163680"/>
            <a:ext cx="68544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17"/>
          <p:cNvSpPr/>
          <p:nvPr/>
        </p:nvSpPr>
        <p:spPr>
          <a:xfrm>
            <a:off x="4434840" y="3237120"/>
            <a:ext cx="6307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0.5205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17"/>
          <p:cNvSpPr/>
          <p:nvPr/>
        </p:nvSpPr>
        <p:spPr>
          <a:xfrm>
            <a:off x="5093280" y="3163680"/>
            <a:ext cx="91404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17"/>
          <p:cNvSpPr/>
          <p:nvPr/>
        </p:nvSpPr>
        <p:spPr>
          <a:xfrm>
            <a:off x="5120640" y="3237120"/>
            <a:ext cx="8593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17"/>
          <p:cNvSpPr/>
          <p:nvPr/>
        </p:nvSpPr>
        <p:spPr>
          <a:xfrm>
            <a:off x="475560" y="3511440"/>
            <a:ext cx="173700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17"/>
          <p:cNvSpPr/>
          <p:nvPr/>
        </p:nvSpPr>
        <p:spPr>
          <a:xfrm>
            <a:off x="502920" y="3584520"/>
            <a:ext cx="168228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Adversarial LR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17"/>
          <p:cNvSpPr/>
          <p:nvPr/>
        </p:nvSpPr>
        <p:spPr>
          <a:xfrm>
            <a:off x="2212920" y="3511440"/>
            <a:ext cx="73116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17"/>
          <p:cNvSpPr/>
          <p:nvPr/>
        </p:nvSpPr>
        <p:spPr>
          <a:xfrm>
            <a:off x="2240280" y="358452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0.6235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17"/>
          <p:cNvSpPr/>
          <p:nvPr/>
        </p:nvSpPr>
        <p:spPr>
          <a:xfrm>
            <a:off x="2944440" y="3511440"/>
            <a:ext cx="73116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17"/>
          <p:cNvSpPr/>
          <p:nvPr/>
        </p:nvSpPr>
        <p:spPr>
          <a:xfrm>
            <a:off x="2971800" y="358452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0.2523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17"/>
          <p:cNvSpPr/>
          <p:nvPr/>
        </p:nvSpPr>
        <p:spPr>
          <a:xfrm>
            <a:off x="3675960" y="3511440"/>
            <a:ext cx="73116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17"/>
          <p:cNvSpPr/>
          <p:nvPr/>
        </p:nvSpPr>
        <p:spPr>
          <a:xfrm>
            <a:off x="3703320" y="358452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0.6829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17"/>
          <p:cNvSpPr/>
          <p:nvPr/>
        </p:nvSpPr>
        <p:spPr>
          <a:xfrm>
            <a:off x="4407480" y="3511440"/>
            <a:ext cx="68544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17"/>
          <p:cNvSpPr/>
          <p:nvPr/>
        </p:nvSpPr>
        <p:spPr>
          <a:xfrm>
            <a:off x="4434840" y="3584520"/>
            <a:ext cx="6307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0.3684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17"/>
          <p:cNvSpPr/>
          <p:nvPr/>
        </p:nvSpPr>
        <p:spPr>
          <a:xfrm>
            <a:off x="5093280" y="3511440"/>
            <a:ext cx="914040" cy="34704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17"/>
          <p:cNvSpPr/>
          <p:nvPr/>
        </p:nvSpPr>
        <p:spPr>
          <a:xfrm>
            <a:off x="5120640" y="3584520"/>
            <a:ext cx="8593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0.6953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17"/>
          <p:cNvSpPr/>
          <p:nvPr/>
        </p:nvSpPr>
        <p:spPr>
          <a:xfrm>
            <a:off x="475560" y="3858840"/>
            <a:ext cx="173700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17"/>
          <p:cNvSpPr/>
          <p:nvPr/>
        </p:nvSpPr>
        <p:spPr>
          <a:xfrm>
            <a:off x="502920" y="3931920"/>
            <a:ext cx="168228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Adversarial RF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17"/>
          <p:cNvSpPr/>
          <p:nvPr/>
        </p:nvSpPr>
        <p:spPr>
          <a:xfrm>
            <a:off x="2212920" y="3858840"/>
            <a:ext cx="73116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17"/>
          <p:cNvSpPr/>
          <p:nvPr/>
        </p:nvSpPr>
        <p:spPr>
          <a:xfrm>
            <a:off x="2240280" y="393192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0.8275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17"/>
          <p:cNvSpPr/>
          <p:nvPr/>
        </p:nvSpPr>
        <p:spPr>
          <a:xfrm>
            <a:off x="2944440" y="3858840"/>
            <a:ext cx="73116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17"/>
          <p:cNvSpPr/>
          <p:nvPr/>
        </p:nvSpPr>
        <p:spPr>
          <a:xfrm>
            <a:off x="2971800" y="393192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0.4595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17"/>
          <p:cNvSpPr/>
          <p:nvPr/>
        </p:nvSpPr>
        <p:spPr>
          <a:xfrm>
            <a:off x="3675960" y="3858840"/>
            <a:ext cx="73116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17"/>
          <p:cNvSpPr/>
          <p:nvPr/>
        </p:nvSpPr>
        <p:spPr>
          <a:xfrm>
            <a:off x="3703320" y="3931920"/>
            <a:ext cx="6764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0.4146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17"/>
          <p:cNvSpPr/>
          <p:nvPr/>
        </p:nvSpPr>
        <p:spPr>
          <a:xfrm>
            <a:off x="4407480" y="3858840"/>
            <a:ext cx="68544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17"/>
          <p:cNvSpPr/>
          <p:nvPr/>
        </p:nvSpPr>
        <p:spPr>
          <a:xfrm>
            <a:off x="4434840" y="3931920"/>
            <a:ext cx="6307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0.4359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17"/>
          <p:cNvSpPr/>
          <p:nvPr/>
        </p:nvSpPr>
        <p:spPr>
          <a:xfrm>
            <a:off x="5093280" y="3858840"/>
            <a:ext cx="914040" cy="34704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17"/>
          <p:cNvSpPr/>
          <p:nvPr/>
        </p:nvSpPr>
        <p:spPr>
          <a:xfrm>
            <a:off x="5120640" y="3931920"/>
            <a:ext cx="85932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"/>
              <a:buFont typeface="Arial"/>
              <a:buNone/>
            </a:pPr>
            <a:r>
              <a:rPr b="0" i="0" lang="en-US" sz="6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0.8165</a:t>
            </a:r>
            <a:endParaRPr b="0" i="0" sz="67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17"/>
          <p:cNvSpPr/>
          <p:nvPr/>
        </p:nvSpPr>
        <p:spPr>
          <a:xfrm>
            <a:off x="6263640" y="1481400"/>
            <a:ext cx="5211720" cy="3154320"/>
          </a:xfrm>
          <a:prstGeom prst="roundRect">
            <a:avLst>
              <a:gd fmla="val 3478" name="adj"/>
            </a:avLst>
          </a:prstGeom>
          <a:solidFill>
            <a:srgbClr val="FFFFFF">
              <a:alpha val="5098"/>
            </a:srgbClr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i_ml_assets/phase5_standard_vs_drift_metrics.png" id="1345" name="Google Shape;13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2090520"/>
            <a:ext cx="5211720" cy="1935720"/>
          </a:xfrm>
          <a:prstGeom prst="rect">
            <a:avLst/>
          </a:prstGeom>
          <a:noFill/>
          <a:ln>
            <a:noFill/>
          </a:ln>
          <a:effectLst>
            <a:outerShdw blurRad="25560" rotWithShape="0" algn="bl" dir="2700000" dist="50402">
              <a:srgbClr val="000000">
                <a:alpha val="25098"/>
              </a:srgbClr>
            </a:outerShdw>
          </a:effectLst>
        </p:spPr>
      </p:pic>
      <p:sp>
        <p:nvSpPr>
          <p:cNvPr id="1346" name="Google Shape;1346;p17"/>
          <p:cNvSpPr/>
          <p:nvPr/>
        </p:nvSpPr>
        <p:spPr>
          <a:xfrm>
            <a:off x="6263640" y="4892040"/>
            <a:ext cx="5211720" cy="1545120"/>
          </a:xfrm>
          <a:prstGeom prst="roundRect">
            <a:avLst>
              <a:gd fmla="val 4734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17"/>
          <p:cNvSpPr/>
          <p:nvPr/>
        </p:nvSpPr>
        <p:spPr>
          <a:xfrm>
            <a:off x="6263640" y="4892040"/>
            <a:ext cx="3474360" cy="26496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17"/>
          <p:cNvSpPr/>
          <p:nvPr/>
        </p:nvSpPr>
        <p:spPr>
          <a:xfrm>
            <a:off x="6291000" y="4965120"/>
            <a:ext cx="3419640" cy="17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1" i="0" lang="en-US" sz="6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Failure mode</a:t>
            </a:r>
            <a:endParaRPr b="0" i="0" sz="6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17"/>
          <p:cNvSpPr/>
          <p:nvPr/>
        </p:nvSpPr>
        <p:spPr>
          <a:xfrm>
            <a:off x="9738360" y="4892040"/>
            <a:ext cx="1737000" cy="26496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17"/>
          <p:cNvSpPr/>
          <p:nvPr/>
        </p:nvSpPr>
        <p:spPr>
          <a:xfrm>
            <a:off x="9765720" y="4965120"/>
            <a:ext cx="1682280" cy="17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1" i="0" lang="en-US" sz="6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Measured result</a:t>
            </a:r>
            <a:endParaRPr b="0" i="0" sz="6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17"/>
          <p:cNvSpPr/>
          <p:nvPr/>
        </p:nvSpPr>
        <p:spPr>
          <a:xfrm>
            <a:off x="6263640" y="5157360"/>
            <a:ext cx="3474360" cy="2466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17"/>
          <p:cNvSpPr/>
          <p:nvPr/>
        </p:nvSpPr>
        <p:spPr>
          <a:xfrm>
            <a:off x="6291000" y="5230440"/>
            <a:ext cx="3419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1" i="0" lang="en-US" sz="6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Best recall standard</a:t>
            </a:r>
            <a:endParaRPr b="0" i="0" sz="6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17"/>
          <p:cNvSpPr/>
          <p:nvPr/>
        </p:nvSpPr>
        <p:spPr>
          <a:xfrm>
            <a:off x="9738360" y="5157360"/>
            <a:ext cx="1737000" cy="2466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17"/>
          <p:cNvSpPr/>
          <p:nvPr/>
        </p:nvSpPr>
        <p:spPr>
          <a:xfrm>
            <a:off x="9765720" y="5230440"/>
            <a:ext cx="1682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0.6341</a:t>
            </a:r>
            <a:endParaRPr b="0" i="0" sz="6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17"/>
          <p:cNvSpPr/>
          <p:nvPr/>
        </p:nvSpPr>
        <p:spPr>
          <a:xfrm>
            <a:off x="6263640" y="5403960"/>
            <a:ext cx="3474360" cy="24660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17"/>
          <p:cNvSpPr/>
          <p:nvPr/>
        </p:nvSpPr>
        <p:spPr>
          <a:xfrm>
            <a:off x="6291000" y="5477400"/>
            <a:ext cx="3419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1" i="0" lang="en-US" sz="6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Best recall drifted</a:t>
            </a:r>
            <a:endParaRPr b="0" i="0" sz="6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17"/>
          <p:cNvSpPr/>
          <p:nvPr/>
        </p:nvSpPr>
        <p:spPr>
          <a:xfrm>
            <a:off x="9738360" y="5403960"/>
            <a:ext cx="1737000" cy="24660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17"/>
          <p:cNvSpPr/>
          <p:nvPr/>
        </p:nvSpPr>
        <p:spPr>
          <a:xfrm>
            <a:off x="9765720" y="5477400"/>
            <a:ext cx="1682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0.6829</a:t>
            </a:r>
            <a:endParaRPr b="0" i="0" sz="6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17"/>
          <p:cNvSpPr/>
          <p:nvPr/>
        </p:nvSpPr>
        <p:spPr>
          <a:xfrm>
            <a:off x="6263640" y="5650920"/>
            <a:ext cx="3474360" cy="2466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17"/>
          <p:cNvSpPr/>
          <p:nvPr/>
        </p:nvSpPr>
        <p:spPr>
          <a:xfrm>
            <a:off x="6291000" y="5724000"/>
            <a:ext cx="3419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1" i="0" lang="en-US" sz="6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Tuned LR F1 → noisy LR F1</a:t>
            </a:r>
            <a:endParaRPr b="0" i="0" sz="6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7"/>
          <p:cNvSpPr/>
          <p:nvPr/>
        </p:nvSpPr>
        <p:spPr>
          <a:xfrm>
            <a:off x="9738360" y="5650920"/>
            <a:ext cx="1737000" cy="2466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17"/>
          <p:cNvSpPr/>
          <p:nvPr/>
        </p:nvSpPr>
        <p:spPr>
          <a:xfrm>
            <a:off x="9765720" y="5724000"/>
            <a:ext cx="1682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0.4602 → 0.3378</a:t>
            </a:r>
            <a:endParaRPr b="0" i="0" sz="6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17"/>
          <p:cNvSpPr/>
          <p:nvPr/>
        </p:nvSpPr>
        <p:spPr>
          <a:xfrm>
            <a:off x="6263640" y="5897880"/>
            <a:ext cx="3474360" cy="24660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17"/>
          <p:cNvSpPr/>
          <p:nvPr/>
        </p:nvSpPr>
        <p:spPr>
          <a:xfrm>
            <a:off x="6291000" y="5970960"/>
            <a:ext cx="3419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1" i="0" lang="en-US" sz="6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Label-noise F1 drop</a:t>
            </a:r>
            <a:endParaRPr b="0" i="0" sz="6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17"/>
          <p:cNvSpPr/>
          <p:nvPr/>
        </p:nvSpPr>
        <p:spPr>
          <a:xfrm>
            <a:off x="9738360" y="5897880"/>
            <a:ext cx="1737000" cy="24660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17"/>
          <p:cNvSpPr/>
          <p:nvPr/>
        </p:nvSpPr>
        <p:spPr>
          <a:xfrm>
            <a:off x="9765720" y="5970960"/>
            <a:ext cx="1682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0.1224</a:t>
            </a:r>
            <a:endParaRPr b="0" i="0" sz="6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17"/>
          <p:cNvSpPr/>
          <p:nvPr/>
        </p:nvSpPr>
        <p:spPr>
          <a:xfrm>
            <a:off x="6263640" y="6144840"/>
            <a:ext cx="3474360" cy="2466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17"/>
          <p:cNvSpPr/>
          <p:nvPr/>
        </p:nvSpPr>
        <p:spPr>
          <a:xfrm>
            <a:off x="6291000" y="6217920"/>
            <a:ext cx="3419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1" i="0" lang="en-US" sz="6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Avg tuned-model F1 drop under drift</a:t>
            </a:r>
            <a:endParaRPr b="0" i="0" sz="6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17"/>
          <p:cNvSpPr/>
          <p:nvPr/>
        </p:nvSpPr>
        <p:spPr>
          <a:xfrm>
            <a:off x="9738360" y="6144840"/>
            <a:ext cx="1737000" cy="24660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17"/>
          <p:cNvSpPr/>
          <p:nvPr/>
        </p:nvSpPr>
        <p:spPr>
          <a:xfrm>
            <a:off x="9765720" y="6217920"/>
            <a:ext cx="1682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0.0093</a:t>
            </a:r>
            <a:endParaRPr b="0" i="0" sz="6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1" name="Google Shape;1371;p17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2" name="Google Shape;1372;p17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17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8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18"/>
          <p:cNvSpPr/>
          <p:nvPr/>
        </p:nvSpPr>
        <p:spPr>
          <a:xfrm>
            <a:off x="0" y="0"/>
            <a:ext cx="12191400" cy="685770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18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18"/>
          <p:cNvSpPr/>
          <p:nvPr/>
        </p:nvSpPr>
        <p:spPr>
          <a:xfrm>
            <a:off x="7680960" y="3840480"/>
            <a:ext cx="5486100" cy="5486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18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BEST MODEL SELECTION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18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Recommended model depends on the decision objective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18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For clinical use, the best model is not simply the highest accuracy model.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8"/>
          <p:cNvSpPr/>
          <p:nvPr/>
        </p:nvSpPr>
        <p:spPr>
          <a:xfrm>
            <a:off x="658440" y="1572840"/>
            <a:ext cx="3382920" cy="1325520"/>
          </a:xfrm>
          <a:prstGeom prst="roundRect">
            <a:avLst>
              <a:gd fmla="val 8276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22C55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18"/>
          <p:cNvSpPr/>
          <p:nvPr/>
        </p:nvSpPr>
        <p:spPr>
          <a:xfrm>
            <a:off x="658440" y="1572840"/>
            <a:ext cx="72720" cy="132552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18"/>
          <p:cNvSpPr/>
          <p:nvPr/>
        </p:nvSpPr>
        <p:spPr>
          <a:xfrm>
            <a:off x="859680" y="1774080"/>
            <a:ext cx="30628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BALANCED ACADEMIC WINNER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18"/>
          <p:cNvSpPr/>
          <p:nvPr/>
        </p:nvSpPr>
        <p:spPr>
          <a:xfrm>
            <a:off x="859680" y="2011680"/>
            <a:ext cx="306288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XGB @ 0.325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18"/>
          <p:cNvSpPr/>
          <p:nvPr/>
        </p:nvSpPr>
        <p:spPr>
          <a:xfrm>
            <a:off x="859680" y="2441520"/>
            <a:ext cx="30628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F1 = 0.5679, Recall = 0.5610, Precision = 0.5750, AUC = 0.8668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18"/>
          <p:cNvSpPr/>
          <p:nvPr/>
        </p:nvSpPr>
        <p:spPr>
          <a:xfrm>
            <a:off x="4407480" y="1572840"/>
            <a:ext cx="3382920" cy="1325520"/>
          </a:xfrm>
          <a:prstGeom prst="roundRect">
            <a:avLst>
              <a:gd fmla="val 8276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F59E0B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18"/>
          <p:cNvSpPr/>
          <p:nvPr/>
        </p:nvSpPr>
        <p:spPr>
          <a:xfrm>
            <a:off x="4407480" y="1572840"/>
            <a:ext cx="72720" cy="13255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18"/>
          <p:cNvSpPr/>
          <p:nvPr/>
        </p:nvSpPr>
        <p:spPr>
          <a:xfrm>
            <a:off x="4608720" y="1774080"/>
            <a:ext cx="30628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SCREENING WINNER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18"/>
          <p:cNvSpPr/>
          <p:nvPr/>
        </p:nvSpPr>
        <p:spPr>
          <a:xfrm>
            <a:off x="4608720" y="2011680"/>
            <a:ext cx="306288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XGB @ 0.164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18"/>
          <p:cNvSpPr/>
          <p:nvPr/>
        </p:nvSpPr>
        <p:spPr>
          <a:xfrm>
            <a:off x="4608720" y="2441520"/>
            <a:ext cx="30628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Recall = 0.7805, F1 = 0.5517, Precision = 0.4267, AUC = 0.8668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18"/>
          <p:cNvSpPr/>
          <p:nvPr/>
        </p:nvSpPr>
        <p:spPr>
          <a:xfrm>
            <a:off x="8156520" y="1572840"/>
            <a:ext cx="3382920" cy="1325520"/>
          </a:xfrm>
          <a:prstGeom prst="roundRect">
            <a:avLst>
              <a:gd fmla="val 8276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14B8A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18"/>
          <p:cNvSpPr/>
          <p:nvPr/>
        </p:nvSpPr>
        <p:spPr>
          <a:xfrm>
            <a:off x="8156520" y="1572840"/>
            <a:ext cx="72720" cy="13255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18"/>
          <p:cNvSpPr/>
          <p:nvPr/>
        </p:nvSpPr>
        <p:spPr>
          <a:xfrm>
            <a:off x="8357760" y="1774080"/>
            <a:ext cx="30628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DEFAULT-TABLE WINNER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18"/>
          <p:cNvSpPr/>
          <p:nvPr/>
        </p:nvSpPr>
        <p:spPr>
          <a:xfrm>
            <a:off x="8357760" y="2011680"/>
            <a:ext cx="306288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Voting Hard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18"/>
          <p:cNvSpPr/>
          <p:nvPr/>
        </p:nvSpPr>
        <p:spPr>
          <a:xfrm>
            <a:off x="8357760" y="2441520"/>
            <a:ext cx="30628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F1 = 0.5397, Accuracy = 0.8863, Precision = 0.7727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18"/>
          <p:cNvSpPr/>
          <p:nvPr/>
        </p:nvSpPr>
        <p:spPr>
          <a:xfrm>
            <a:off x="914400" y="3611880"/>
            <a:ext cx="10149480" cy="2020320"/>
          </a:xfrm>
          <a:prstGeom prst="roundRect">
            <a:avLst>
              <a:gd fmla="val 3620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8"/>
          <p:cNvSpPr/>
          <p:nvPr/>
        </p:nvSpPr>
        <p:spPr>
          <a:xfrm>
            <a:off x="914400" y="3611880"/>
            <a:ext cx="384012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18"/>
          <p:cNvSpPr/>
          <p:nvPr/>
        </p:nvSpPr>
        <p:spPr>
          <a:xfrm>
            <a:off x="941760" y="3684960"/>
            <a:ext cx="378540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Why final recommendation is threshold-tuned XGBoost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18"/>
          <p:cNvSpPr/>
          <p:nvPr/>
        </p:nvSpPr>
        <p:spPr>
          <a:xfrm>
            <a:off x="4754880" y="3611880"/>
            <a:ext cx="630900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18"/>
          <p:cNvSpPr/>
          <p:nvPr/>
        </p:nvSpPr>
        <p:spPr>
          <a:xfrm>
            <a:off x="4782240" y="3684960"/>
            <a:ext cx="62542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8"/>
          <p:cNvSpPr/>
          <p:nvPr/>
        </p:nvSpPr>
        <p:spPr>
          <a:xfrm>
            <a:off x="914400" y="3904560"/>
            <a:ext cx="3840120" cy="420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18"/>
          <p:cNvSpPr/>
          <p:nvPr/>
        </p:nvSpPr>
        <p:spPr>
          <a:xfrm>
            <a:off x="941760" y="3977640"/>
            <a:ext cx="37854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Best tunable clinical trade-off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8"/>
          <p:cNvSpPr/>
          <p:nvPr/>
        </p:nvSpPr>
        <p:spPr>
          <a:xfrm>
            <a:off x="4754880" y="3904560"/>
            <a:ext cx="6309000" cy="4201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18"/>
          <p:cNvSpPr/>
          <p:nvPr/>
        </p:nvSpPr>
        <p:spPr>
          <a:xfrm>
            <a:off x="4782240" y="3977640"/>
            <a:ext cx="62544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Same AUC = 0.8668 while threshold controls recall vs precision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18"/>
          <p:cNvSpPr/>
          <p:nvPr/>
        </p:nvSpPr>
        <p:spPr>
          <a:xfrm>
            <a:off x="914400" y="4325040"/>
            <a:ext cx="3840120" cy="42012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18"/>
          <p:cNvSpPr/>
          <p:nvPr/>
        </p:nvSpPr>
        <p:spPr>
          <a:xfrm>
            <a:off x="941760" y="4398120"/>
            <a:ext cx="37854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Best F1 policy observed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18"/>
          <p:cNvSpPr/>
          <p:nvPr/>
        </p:nvSpPr>
        <p:spPr>
          <a:xfrm>
            <a:off x="4754880" y="4325040"/>
            <a:ext cx="6309000" cy="42012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18"/>
          <p:cNvSpPr/>
          <p:nvPr/>
        </p:nvSpPr>
        <p:spPr>
          <a:xfrm>
            <a:off x="4782240" y="4398120"/>
            <a:ext cx="62542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Best-F1 threshold improves F1 from 0.4762 to 0.5679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18"/>
          <p:cNvSpPr/>
          <p:nvPr/>
        </p:nvSpPr>
        <p:spPr>
          <a:xfrm>
            <a:off x="914400" y="4745880"/>
            <a:ext cx="3840120" cy="42012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18"/>
          <p:cNvSpPr/>
          <p:nvPr/>
        </p:nvSpPr>
        <p:spPr>
          <a:xfrm>
            <a:off x="941760" y="4818960"/>
            <a:ext cx="37854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Clinically safest policy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18"/>
          <p:cNvSpPr/>
          <p:nvPr/>
        </p:nvSpPr>
        <p:spPr>
          <a:xfrm>
            <a:off x="4754880" y="4745880"/>
            <a:ext cx="6309000" cy="42012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18"/>
          <p:cNvSpPr/>
          <p:nvPr/>
        </p:nvSpPr>
        <p:spPr>
          <a:xfrm>
            <a:off x="4782240" y="4818960"/>
            <a:ext cx="62542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Clinical threshold detects 78.05% of mortalities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18"/>
          <p:cNvSpPr/>
          <p:nvPr/>
        </p:nvSpPr>
        <p:spPr>
          <a:xfrm>
            <a:off x="914400" y="5166360"/>
            <a:ext cx="3840120" cy="4201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18"/>
          <p:cNvSpPr/>
          <p:nvPr/>
        </p:nvSpPr>
        <p:spPr>
          <a:xfrm>
            <a:off x="941760" y="5239440"/>
            <a:ext cx="37854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More deployable than hard voting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18"/>
          <p:cNvSpPr/>
          <p:nvPr/>
        </p:nvSpPr>
        <p:spPr>
          <a:xfrm>
            <a:off x="4754880" y="5166360"/>
            <a:ext cx="6309000" cy="4201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18"/>
          <p:cNvSpPr/>
          <p:nvPr/>
        </p:nvSpPr>
        <p:spPr>
          <a:xfrm>
            <a:off x="4782240" y="5239440"/>
            <a:ext cx="625428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Outputs probabilities, enabling calibrated risk thresholds</a:t>
            </a:r>
            <a:endParaRPr b="0" i="0" sz="7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2" name="Google Shape;1422;p18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3" name="Google Shape;1423;p18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18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1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1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19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19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19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LITERATURE GROUNDING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19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How the project aligns with medical ML research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19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literature review supports the notebook’s emphasis on tree ensembles, imbalance handling, and interpretability.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19"/>
          <p:cNvSpPr/>
          <p:nvPr/>
        </p:nvSpPr>
        <p:spPr>
          <a:xfrm>
            <a:off x="530280" y="1490400"/>
            <a:ext cx="11109600" cy="2953080"/>
          </a:xfrm>
          <a:prstGeom prst="roundRect">
            <a:avLst>
              <a:gd fmla="val 2477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19"/>
          <p:cNvSpPr/>
          <p:nvPr/>
        </p:nvSpPr>
        <p:spPr>
          <a:xfrm>
            <a:off x="530280" y="1490400"/>
            <a:ext cx="2194200" cy="301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19"/>
          <p:cNvSpPr/>
          <p:nvPr/>
        </p:nvSpPr>
        <p:spPr>
          <a:xfrm>
            <a:off x="557640" y="1563480"/>
            <a:ext cx="21394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Study theme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19"/>
          <p:cNvSpPr/>
          <p:nvPr/>
        </p:nvSpPr>
        <p:spPr>
          <a:xfrm>
            <a:off x="2724840" y="1490400"/>
            <a:ext cx="3977280" cy="301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19"/>
          <p:cNvSpPr/>
          <p:nvPr/>
        </p:nvSpPr>
        <p:spPr>
          <a:xfrm>
            <a:off x="2752200" y="1563480"/>
            <a:ext cx="392256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Reported benchmark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19"/>
          <p:cNvSpPr/>
          <p:nvPr/>
        </p:nvSpPr>
        <p:spPr>
          <a:xfrm>
            <a:off x="6702480" y="1490400"/>
            <a:ext cx="4937400" cy="301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19"/>
          <p:cNvSpPr/>
          <p:nvPr/>
        </p:nvSpPr>
        <p:spPr>
          <a:xfrm>
            <a:off x="6729840" y="1563480"/>
            <a:ext cx="48826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Relation to our project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19"/>
          <p:cNvSpPr/>
          <p:nvPr/>
        </p:nvSpPr>
        <p:spPr>
          <a:xfrm>
            <a:off x="530280" y="1792080"/>
            <a:ext cx="2194200" cy="52092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19"/>
          <p:cNvSpPr/>
          <p:nvPr/>
        </p:nvSpPr>
        <p:spPr>
          <a:xfrm>
            <a:off x="557640" y="1865520"/>
            <a:ext cx="21394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Golovenkin et al. 2020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19"/>
          <p:cNvSpPr/>
          <p:nvPr/>
        </p:nvSpPr>
        <p:spPr>
          <a:xfrm>
            <a:off x="2724840" y="1792080"/>
            <a:ext cx="3977280" cy="52092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19"/>
          <p:cNvSpPr/>
          <p:nvPr/>
        </p:nvSpPr>
        <p:spPr>
          <a:xfrm>
            <a:off x="2752200" y="1865520"/>
            <a:ext cx="39225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MI complications: F1 roughly 0.45–0.78 depending on outcome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19"/>
          <p:cNvSpPr/>
          <p:nvPr/>
        </p:nvSpPr>
        <p:spPr>
          <a:xfrm>
            <a:off x="6702480" y="1792080"/>
            <a:ext cx="4937400" cy="52092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19"/>
          <p:cNvSpPr/>
          <p:nvPr/>
        </p:nvSpPr>
        <p:spPr>
          <a:xfrm>
            <a:off x="6729840" y="1865520"/>
            <a:ext cx="48826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Same high-dimensional MI complication domain; our XGB threshold F1 0.568 fits the realistic range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19"/>
          <p:cNvSpPr/>
          <p:nvPr/>
        </p:nvSpPr>
        <p:spPr>
          <a:xfrm>
            <a:off x="530280" y="2313360"/>
            <a:ext cx="2194200" cy="5209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19"/>
          <p:cNvSpPr/>
          <p:nvPr/>
        </p:nvSpPr>
        <p:spPr>
          <a:xfrm>
            <a:off x="557640" y="2386440"/>
            <a:ext cx="21394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Soleimani et al. 2025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9"/>
          <p:cNvSpPr/>
          <p:nvPr/>
        </p:nvSpPr>
        <p:spPr>
          <a:xfrm>
            <a:off x="2724840" y="2313360"/>
            <a:ext cx="3977280" cy="5209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19"/>
          <p:cNvSpPr/>
          <p:nvPr/>
        </p:nvSpPr>
        <p:spPr>
          <a:xfrm>
            <a:off x="2752200" y="2386440"/>
            <a:ext cx="39225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RF AUC = 0.924; XGBoost AUC = 0.905; LR-LASSO AUC = 0.893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19"/>
          <p:cNvSpPr/>
          <p:nvPr/>
        </p:nvSpPr>
        <p:spPr>
          <a:xfrm>
            <a:off x="6702480" y="2313360"/>
            <a:ext cx="4937400" cy="5209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19"/>
          <p:cNvSpPr/>
          <p:nvPr/>
        </p:nvSpPr>
        <p:spPr>
          <a:xfrm>
            <a:off x="6729840" y="2386440"/>
            <a:ext cx="48826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Confirms tree ensembles are strong on tabular AMI data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19"/>
          <p:cNvSpPr/>
          <p:nvPr/>
        </p:nvSpPr>
        <p:spPr>
          <a:xfrm>
            <a:off x="530280" y="2834640"/>
            <a:ext cx="2194200" cy="52092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19"/>
          <p:cNvSpPr/>
          <p:nvPr/>
        </p:nvSpPr>
        <p:spPr>
          <a:xfrm>
            <a:off x="557640" y="2907720"/>
            <a:ext cx="21394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Diakou et al. 2022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19"/>
          <p:cNvSpPr/>
          <p:nvPr/>
        </p:nvSpPr>
        <p:spPr>
          <a:xfrm>
            <a:off x="2724840" y="2834640"/>
            <a:ext cx="3977280" cy="52092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19"/>
          <p:cNvSpPr/>
          <p:nvPr/>
        </p:nvSpPr>
        <p:spPr>
          <a:xfrm>
            <a:off x="2752200" y="2907720"/>
            <a:ext cx="39225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Same database; F1 around 0.54 and AUC &lt;0.77 under standard preprocessing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19"/>
          <p:cNvSpPr/>
          <p:nvPr/>
        </p:nvSpPr>
        <p:spPr>
          <a:xfrm>
            <a:off x="6702480" y="2834640"/>
            <a:ext cx="4937400" cy="52092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19"/>
          <p:cNvSpPr/>
          <p:nvPr/>
        </p:nvSpPr>
        <p:spPr>
          <a:xfrm>
            <a:off x="6729840" y="2907720"/>
            <a:ext cx="48826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Our thresholded XGB F1 0.568 and AUC 0.8668 are competitive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19"/>
          <p:cNvSpPr/>
          <p:nvPr/>
        </p:nvSpPr>
        <p:spPr>
          <a:xfrm>
            <a:off x="530280" y="3355920"/>
            <a:ext cx="2194200" cy="5209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19"/>
          <p:cNvSpPr/>
          <p:nvPr/>
        </p:nvSpPr>
        <p:spPr>
          <a:xfrm>
            <a:off x="557640" y="3429000"/>
            <a:ext cx="21394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Zhang et al. 2025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19"/>
          <p:cNvSpPr/>
          <p:nvPr/>
        </p:nvSpPr>
        <p:spPr>
          <a:xfrm>
            <a:off x="2724840" y="3355920"/>
            <a:ext cx="3977280" cy="5209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19"/>
          <p:cNvSpPr/>
          <p:nvPr/>
        </p:nvSpPr>
        <p:spPr>
          <a:xfrm>
            <a:off x="2752200" y="3429000"/>
            <a:ext cx="39225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LightGBM + SMOTE + Boruta + GSCV best; AUPRC emphasized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19"/>
          <p:cNvSpPr/>
          <p:nvPr/>
        </p:nvSpPr>
        <p:spPr>
          <a:xfrm>
            <a:off x="6702480" y="3355920"/>
            <a:ext cx="4937400" cy="52092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19"/>
          <p:cNvSpPr/>
          <p:nvPr/>
        </p:nvSpPr>
        <p:spPr>
          <a:xfrm>
            <a:off x="6729840" y="3429000"/>
            <a:ext cx="48826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Supports future work: LightGBM, stronger feature selection, and PR-focused metrics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19"/>
          <p:cNvSpPr/>
          <p:nvPr/>
        </p:nvSpPr>
        <p:spPr>
          <a:xfrm>
            <a:off x="530280" y="3877200"/>
            <a:ext cx="2194200" cy="5209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19"/>
          <p:cNvSpPr/>
          <p:nvPr/>
        </p:nvSpPr>
        <p:spPr>
          <a:xfrm>
            <a:off x="557640" y="3950280"/>
            <a:ext cx="21394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Lee et al. 2021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19"/>
          <p:cNvSpPr/>
          <p:nvPr/>
        </p:nvSpPr>
        <p:spPr>
          <a:xfrm>
            <a:off x="2724840" y="3877200"/>
            <a:ext cx="3977280" cy="5209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19"/>
          <p:cNvSpPr/>
          <p:nvPr/>
        </p:nvSpPr>
        <p:spPr>
          <a:xfrm>
            <a:off x="2752200" y="3950280"/>
            <a:ext cx="39225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ML outperformed TIMI/GRACE for NSTEMI long-term mortality, AUC up to 0.840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19"/>
          <p:cNvSpPr/>
          <p:nvPr/>
        </p:nvSpPr>
        <p:spPr>
          <a:xfrm>
            <a:off x="6702480" y="3877200"/>
            <a:ext cx="4937400" cy="52092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19"/>
          <p:cNvSpPr/>
          <p:nvPr/>
        </p:nvSpPr>
        <p:spPr>
          <a:xfrm>
            <a:off x="6729840" y="3950280"/>
            <a:ext cx="48826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Our AUC results are in a clinically plausible range but still need external validation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4" name="Google Shape;1474;p19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5" name="Google Shape;1475;p19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19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2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2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20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20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20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HONEST LIMITATIONS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20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What failed, and why it matters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20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project demonstrates technical progress while remaining honest about clinical deployment limits.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20"/>
          <p:cNvSpPr/>
          <p:nvPr/>
        </p:nvSpPr>
        <p:spPr>
          <a:xfrm>
            <a:off x="685800" y="1508760"/>
            <a:ext cx="3382920" cy="1115280"/>
          </a:xfrm>
          <a:prstGeom prst="roundRect">
            <a:avLst>
              <a:gd fmla="val 9836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20"/>
          <p:cNvSpPr/>
          <p:nvPr/>
        </p:nvSpPr>
        <p:spPr>
          <a:xfrm>
            <a:off x="850320" y="1654920"/>
            <a:ext cx="3053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Persistent recall gap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20"/>
          <p:cNvSpPr/>
          <p:nvPr/>
        </p:nvSpPr>
        <p:spPr>
          <a:xfrm>
            <a:off x="850320" y="1956960"/>
            <a:ext cx="3053880" cy="52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Even the best standard recall is 0.6341, meaning 36.6% of mortalities are still missed at default policy.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20"/>
          <p:cNvSpPr/>
          <p:nvPr/>
        </p:nvSpPr>
        <p:spPr>
          <a:xfrm>
            <a:off x="4434840" y="1508760"/>
            <a:ext cx="3382920" cy="1115280"/>
          </a:xfrm>
          <a:prstGeom prst="roundRect">
            <a:avLst>
              <a:gd fmla="val 9836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20"/>
          <p:cNvSpPr/>
          <p:nvPr/>
        </p:nvSpPr>
        <p:spPr>
          <a:xfrm>
            <a:off x="4599360" y="1654920"/>
            <a:ext cx="3053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SVM tuning pitfall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20"/>
          <p:cNvSpPr/>
          <p:nvPr/>
        </p:nvSpPr>
        <p:spPr>
          <a:xfrm>
            <a:off x="4599360" y="1956960"/>
            <a:ext cx="3053880" cy="52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Tuned SVM recall collapsed from 0.6098 to 0.1463, showing that HPO can optimize the wrong behavior.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20"/>
          <p:cNvSpPr/>
          <p:nvPr/>
        </p:nvSpPr>
        <p:spPr>
          <a:xfrm>
            <a:off x="8183880" y="1508760"/>
            <a:ext cx="3382920" cy="1115280"/>
          </a:xfrm>
          <a:prstGeom prst="roundRect">
            <a:avLst>
              <a:gd fmla="val 9836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20"/>
          <p:cNvSpPr/>
          <p:nvPr/>
        </p:nvSpPr>
        <p:spPr>
          <a:xfrm>
            <a:off x="8348400" y="1654920"/>
            <a:ext cx="3053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Label-noise amplification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20"/>
          <p:cNvSpPr/>
          <p:nvPr/>
        </p:nvSpPr>
        <p:spPr>
          <a:xfrm>
            <a:off x="8348400" y="1956960"/>
            <a:ext cx="3053880" cy="52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15% label flips reduced LR F1 from 0.4602 to 0.3378; SMOTE can amplify corrupted minority examples.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20"/>
          <p:cNvSpPr/>
          <p:nvPr/>
        </p:nvSpPr>
        <p:spPr>
          <a:xfrm>
            <a:off x="685800" y="3063240"/>
            <a:ext cx="3382920" cy="1115280"/>
          </a:xfrm>
          <a:prstGeom prst="roundRect">
            <a:avLst>
              <a:gd fmla="val 9836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20"/>
          <p:cNvSpPr/>
          <p:nvPr/>
        </p:nvSpPr>
        <p:spPr>
          <a:xfrm>
            <a:off x="850320" y="3209400"/>
            <a:ext cx="3053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Missingness risk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20"/>
          <p:cNvSpPr/>
          <p:nvPr/>
        </p:nvSpPr>
        <p:spPr>
          <a:xfrm>
            <a:off x="850320" y="3511440"/>
            <a:ext cx="3053880" cy="52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103 feature columns contained missing values and 11 had more than 20% missingness.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20"/>
          <p:cNvSpPr/>
          <p:nvPr/>
        </p:nvSpPr>
        <p:spPr>
          <a:xfrm>
            <a:off x="4434840" y="3063240"/>
            <a:ext cx="3382920" cy="1115280"/>
          </a:xfrm>
          <a:prstGeom prst="roundRect">
            <a:avLst>
              <a:gd fmla="val 9836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20"/>
          <p:cNvSpPr/>
          <p:nvPr/>
        </p:nvSpPr>
        <p:spPr>
          <a:xfrm>
            <a:off x="4599360" y="3209400"/>
            <a:ext cx="3053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No external validation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20"/>
          <p:cNvSpPr/>
          <p:nvPr/>
        </p:nvSpPr>
        <p:spPr>
          <a:xfrm>
            <a:off x="4599360" y="3511440"/>
            <a:ext cx="3053880" cy="52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model is tested internally only; hospital-to-hospital generalization remains unproven.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20"/>
          <p:cNvSpPr/>
          <p:nvPr/>
        </p:nvSpPr>
        <p:spPr>
          <a:xfrm>
            <a:off x="8183880" y="3063240"/>
            <a:ext cx="3382920" cy="1115280"/>
          </a:xfrm>
          <a:prstGeom prst="roundRect">
            <a:avLst>
              <a:gd fmla="val 9836" name="adj"/>
            </a:avLst>
          </a:prstGeom>
          <a:solidFill>
            <a:srgbClr val="10243D"/>
          </a:solidFill>
          <a:ln cap="flat" cmpd="sng" w="10150">
            <a:solidFill>
              <a:srgbClr val="33415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20"/>
          <p:cNvSpPr/>
          <p:nvPr/>
        </p:nvSpPr>
        <p:spPr>
          <a:xfrm>
            <a:off x="8348400" y="3209400"/>
            <a:ext cx="305388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Interpretability gap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20"/>
          <p:cNvSpPr/>
          <p:nvPr/>
        </p:nvSpPr>
        <p:spPr>
          <a:xfrm>
            <a:off x="8348400" y="3511440"/>
            <a:ext cx="3053880" cy="52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High-performing models need SHAP/LIME explanations before clinical trust is realistic.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20"/>
          <p:cNvSpPr/>
          <p:nvPr/>
        </p:nvSpPr>
        <p:spPr>
          <a:xfrm>
            <a:off x="960120" y="5440680"/>
            <a:ext cx="102866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Key maturity statement: this is a strong academic ML pipeline, not yet a deployable clinical device.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8" name="Google Shape;1508;p20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9" name="Google Shape;1509;p20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20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2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2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21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21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21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21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How to turn the notebook into a stronger research pipeline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21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next iteration should focus on reliability, clinical alignment, and interpretability.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21"/>
          <p:cNvSpPr/>
          <p:nvPr/>
        </p:nvSpPr>
        <p:spPr>
          <a:xfrm>
            <a:off x="658440" y="1481400"/>
            <a:ext cx="10972440" cy="3858480"/>
          </a:xfrm>
          <a:prstGeom prst="roundRect">
            <a:avLst>
              <a:gd fmla="val 1896" name="adj"/>
            </a:avLst>
          </a:prstGeom>
          <a:solidFill>
            <a:srgbClr val="0B1A2E"/>
          </a:solidFill>
          <a:ln cap="flat" cmpd="sng" w="10150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21"/>
          <p:cNvSpPr/>
          <p:nvPr/>
        </p:nvSpPr>
        <p:spPr>
          <a:xfrm>
            <a:off x="658440" y="1481400"/>
            <a:ext cx="73116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21"/>
          <p:cNvSpPr/>
          <p:nvPr/>
        </p:nvSpPr>
        <p:spPr>
          <a:xfrm>
            <a:off x="685800" y="1554480"/>
            <a:ext cx="6764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21"/>
          <p:cNvSpPr/>
          <p:nvPr/>
        </p:nvSpPr>
        <p:spPr>
          <a:xfrm>
            <a:off x="1389960" y="1481400"/>
            <a:ext cx="475452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21"/>
          <p:cNvSpPr/>
          <p:nvPr/>
        </p:nvSpPr>
        <p:spPr>
          <a:xfrm>
            <a:off x="1417320" y="1554480"/>
            <a:ext cx="469980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21"/>
          <p:cNvSpPr/>
          <p:nvPr/>
        </p:nvSpPr>
        <p:spPr>
          <a:xfrm>
            <a:off x="6144840" y="1481400"/>
            <a:ext cx="5486040" cy="292320"/>
          </a:xfrm>
          <a:prstGeom prst="rect">
            <a:avLst/>
          </a:prstGeom>
          <a:solidFill>
            <a:srgbClr val="132B46"/>
          </a:solidFill>
          <a:ln cap="flat" cmpd="sng" w="9525">
            <a:solidFill>
              <a:srgbClr val="334155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21"/>
          <p:cNvSpPr/>
          <p:nvPr/>
        </p:nvSpPr>
        <p:spPr>
          <a:xfrm>
            <a:off x="6172200" y="1554480"/>
            <a:ext cx="54313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Expected impact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21"/>
          <p:cNvSpPr/>
          <p:nvPr/>
        </p:nvSpPr>
        <p:spPr>
          <a:xfrm>
            <a:off x="658440" y="1774080"/>
            <a:ext cx="731160" cy="502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21"/>
          <p:cNvSpPr/>
          <p:nvPr/>
        </p:nvSpPr>
        <p:spPr>
          <a:xfrm>
            <a:off x="685800" y="1847160"/>
            <a:ext cx="6764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21"/>
          <p:cNvSpPr/>
          <p:nvPr/>
        </p:nvSpPr>
        <p:spPr>
          <a:xfrm>
            <a:off x="1389960" y="1774080"/>
            <a:ext cx="4754520" cy="502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21"/>
          <p:cNvSpPr/>
          <p:nvPr/>
        </p:nvSpPr>
        <p:spPr>
          <a:xfrm>
            <a:off x="1417320" y="1847160"/>
            <a:ext cx="46998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Temporal holdout instead of random split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21"/>
          <p:cNvSpPr/>
          <p:nvPr/>
        </p:nvSpPr>
        <p:spPr>
          <a:xfrm>
            <a:off x="6144840" y="1774080"/>
            <a:ext cx="5486040" cy="502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21"/>
          <p:cNvSpPr/>
          <p:nvPr/>
        </p:nvSpPr>
        <p:spPr>
          <a:xfrm>
            <a:off x="6172200" y="1847160"/>
            <a:ext cx="54313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More realistic deployment estimate and drift detection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21"/>
          <p:cNvSpPr/>
          <p:nvPr/>
        </p:nvSpPr>
        <p:spPr>
          <a:xfrm>
            <a:off x="658440" y="2277000"/>
            <a:ext cx="731160" cy="502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21"/>
          <p:cNvSpPr/>
          <p:nvPr/>
        </p:nvSpPr>
        <p:spPr>
          <a:xfrm>
            <a:off x="685800" y="2350080"/>
            <a:ext cx="6764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21"/>
          <p:cNvSpPr/>
          <p:nvPr/>
        </p:nvSpPr>
        <p:spPr>
          <a:xfrm>
            <a:off x="1389960" y="2277000"/>
            <a:ext cx="4754520" cy="502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21"/>
          <p:cNvSpPr/>
          <p:nvPr/>
        </p:nvSpPr>
        <p:spPr>
          <a:xfrm>
            <a:off x="1417320" y="2350080"/>
            <a:ext cx="46998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Recall-optimized HPO using recall or Fβ scoring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21"/>
          <p:cNvSpPr/>
          <p:nvPr/>
        </p:nvSpPr>
        <p:spPr>
          <a:xfrm>
            <a:off x="6144840" y="2277000"/>
            <a:ext cx="5486040" cy="502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21"/>
          <p:cNvSpPr/>
          <p:nvPr/>
        </p:nvSpPr>
        <p:spPr>
          <a:xfrm>
            <a:off x="6172200" y="2350080"/>
            <a:ext cx="54313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Prevents SVM-style recall collapse and aligns with clinical risk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21"/>
          <p:cNvSpPr/>
          <p:nvPr/>
        </p:nvSpPr>
        <p:spPr>
          <a:xfrm>
            <a:off x="658440" y="2779920"/>
            <a:ext cx="731160" cy="502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21"/>
          <p:cNvSpPr/>
          <p:nvPr/>
        </p:nvSpPr>
        <p:spPr>
          <a:xfrm>
            <a:off x="685800" y="2853000"/>
            <a:ext cx="6764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21"/>
          <p:cNvSpPr/>
          <p:nvPr/>
        </p:nvSpPr>
        <p:spPr>
          <a:xfrm>
            <a:off x="1389960" y="2779920"/>
            <a:ext cx="4754520" cy="502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21"/>
          <p:cNvSpPr/>
          <p:nvPr/>
        </p:nvSpPr>
        <p:spPr>
          <a:xfrm>
            <a:off x="1417320" y="2853000"/>
            <a:ext cx="46998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Cleanlab/confident learning before SMOTE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21"/>
          <p:cNvSpPr/>
          <p:nvPr/>
        </p:nvSpPr>
        <p:spPr>
          <a:xfrm>
            <a:off x="6144840" y="2779920"/>
            <a:ext cx="5486040" cy="502560"/>
          </a:xfrm>
          <a:prstGeom prst="rect">
            <a:avLst/>
          </a:prstGeom>
          <a:solidFill>
            <a:srgbClr val="123D3B">
              <a:alpha val="94901"/>
            </a:srgbClr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21"/>
          <p:cNvSpPr/>
          <p:nvPr/>
        </p:nvSpPr>
        <p:spPr>
          <a:xfrm>
            <a:off x="6172200" y="2853000"/>
            <a:ext cx="54313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Detects mislabeled examples before synthetic oversampling amplifies noise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21"/>
          <p:cNvSpPr/>
          <p:nvPr/>
        </p:nvSpPr>
        <p:spPr>
          <a:xfrm>
            <a:off x="658440" y="3282840"/>
            <a:ext cx="731160" cy="5025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21"/>
          <p:cNvSpPr/>
          <p:nvPr/>
        </p:nvSpPr>
        <p:spPr>
          <a:xfrm>
            <a:off x="685800" y="3355920"/>
            <a:ext cx="6764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21"/>
          <p:cNvSpPr/>
          <p:nvPr/>
        </p:nvSpPr>
        <p:spPr>
          <a:xfrm>
            <a:off x="1389960" y="3282840"/>
            <a:ext cx="4754520" cy="5025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21"/>
          <p:cNvSpPr/>
          <p:nvPr/>
        </p:nvSpPr>
        <p:spPr>
          <a:xfrm>
            <a:off x="1417320" y="3355920"/>
            <a:ext cx="46998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LightGBM/CatBoost + calibrated probabilities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21"/>
          <p:cNvSpPr/>
          <p:nvPr/>
        </p:nvSpPr>
        <p:spPr>
          <a:xfrm>
            <a:off x="6144840" y="3282840"/>
            <a:ext cx="5486040" cy="5025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21"/>
          <p:cNvSpPr/>
          <p:nvPr/>
        </p:nvSpPr>
        <p:spPr>
          <a:xfrm>
            <a:off x="6172200" y="3355920"/>
            <a:ext cx="54313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Stronger tabular performance and more reliable thresholding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21"/>
          <p:cNvSpPr/>
          <p:nvPr/>
        </p:nvSpPr>
        <p:spPr>
          <a:xfrm>
            <a:off x="658440" y="3785760"/>
            <a:ext cx="73116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21"/>
          <p:cNvSpPr/>
          <p:nvPr/>
        </p:nvSpPr>
        <p:spPr>
          <a:xfrm>
            <a:off x="685800" y="3858840"/>
            <a:ext cx="6764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21"/>
          <p:cNvSpPr/>
          <p:nvPr/>
        </p:nvSpPr>
        <p:spPr>
          <a:xfrm>
            <a:off x="1389960" y="3785760"/>
            <a:ext cx="475452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21"/>
          <p:cNvSpPr/>
          <p:nvPr/>
        </p:nvSpPr>
        <p:spPr>
          <a:xfrm>
            <a:off x="1417320" y="3858840"/>
            <a:ext cx="46998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SHAP explanations for top predictors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21"/>
          <p:cNvSpPr/>
          <p:nvPr/>
        </p:nvSpPr>
        <p:spPr>
          <a:xfrm>
            <a:off x="6144840" y="3785760"/>
            <a:ext cx="548604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21"/>
          <p:cNvSpPr/>
          <p:nvPr/>
        </p:nvSpPr>
        <p:spPr>
          <a:xfrm>
            <a:off x="6172200" y="3858840"/>
            <a:ext cx="54313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Improves clinical trust and detects impossible feature behavior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21"/>
          <p:cNvSpPr/>
          <p:nvPr/>
        </p:nvSpPr>
        <p:spPr>
          <a:xfrm>
            <a:off x="658440" y="4288680"/>
            <a:ext cx="731160" cy="5025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21"/>
          <p:cNvSpPr/>
          <p:nvPr/>
        </p:nvSpPr>
        <p:spPr>
          <a:xfrm>
            <a:off x="685800" y="4361760"/>
            <a:ext cx="6764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21"/>
          <p:cNvSpPr/>
          <p:nvPr/>
        </p:nvSpPr>
        <p:spPr>
          <a:xfrm>
            <a:off x="1389960" y="4288680"/>
            <a:ext cx="4754520" cy="5025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21"/>
          <p:cNvSpPr/>
          <p:nvPr/>
        </p:nvSpPr>
        <p:spPr>
          <a:xfrm>
            <a:off x="1417320" y="4361760"/>
            <a:ext cx="46998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AUPRC and calibration curves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21"/>
          <p:cNvSpPr/>
          <p:nvPr/>
        </p:nvSpPr>
        <p:spPr>
          <a:xfrm>
            <a:off x="6144840" y="4288680"/>
            <a:ext cx="5486040" cy="502560"/>
          </a:xfrm>
          <a:prstGeom prst="rect">
            <a:avLst/>
          </a:prstGeom>
          <a:solidFill>
            <a:srgbClr val="10243D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21"/>
          <p:cNvSpPr/>
          <p:nvPr/>
        </p:nvSpPr>
        <p:spPr>
          <a:xfrm>
            <a:off x="6172200" y="4361760"/>
            <a:ext cx="54313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Better evaluation under severe class imbalance than ROC-AUC alone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21"/>
          <p:cNvSpPr/>
          <p:nvPr/>
        </p:nvSpPr>
        <p:spPr>
          <a:xfrm>
            <a:off x="658440" y="4791600"/>
            <a:ext cx="73116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21"/>
          <p:cNvSpPr/>
          <p:nvPr/>
        </p:nvSpPr>
        <p:spPr>
          <a:xfrm>
            <a:off x="685800" y="4864680"/>
            <a:ext cx="6764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21"/>
          <p:cNvSpPr/>
          <p:nvPr/>
        </p:nvSpPr>
        <p:spPr>
          <a:xfrm>
            <a:off x="1389960" y="4791600"/>
            <a:ext cx="475452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21"/>
          <p:cNvSpPr/>
          <p:nvPr/>
        </p:nvSpPr>
        <p:spPr>
          <a:xfrm>
            <a:off x="1417320" y="4864680"/>
            <a:ext cx="46998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External validation across hospitals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21"/>
          <p:cNvSpPr/>
          <p:nvPr/>
        </p:nvSpPr>
        <p:spPr>
          <a:xfrm>
            <a:off x="6144840" y="4791600"/>
            <a:ext cx="5486040" cy="502560"/>
          </a:xfrm>
          <a:prstGeom prst="rect">
            <a:avLst/>
          </a:prstGeom>
          <a:solidFill>
            <a:srgbClr val="0B1A2E"/>
          </a:solidFill>
          <a:ln cap="flat" cmpd="sng" w="9525">
            <a:solidFill>
              <a:srgbClr val="3341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21"/>
          <p:cNvSpPr/>
          <p:nvPr/>
        </p:nvSpPr>
        <p:spPr>
          <a:xfrm>
            <a:off x="6172200" y="4864680"/>
            <a:ext cx="54313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Tests generalizability and reduces single-dataset bias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2" name="Google Shape;1572;p21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3" name="Google Shape;1573;p21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21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01F"/>
        </a:solidFill>
      </p:bgPr>
    </p:bg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2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01F"/>
          </a:solidFill>
          <a:ln cap="flat" cmpd="sng" w="12700">
            <a:solidFill>
              <a:srgbClr val="061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2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22"/>
          <p:cNvSpPr/>
          <p:nvPr/>
        </p:nvSpPr>
        <p:spPr>
          <a:xfrm>
            <a:off x="-1554480" y="-173736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22"/>
          <p:cNvSpPr/>
          <p:nvPr/>
        </p:nvSpPr>
        <p:spPr>
          <a:xfrm>
            <a:off x="7680960" y="3840480"/>
            <a:ext cx="5486040" cy="54860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59E0B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22"/>
          <p:cNvSpPr/>
          <p:nvPr/>
        </p:nvSpPr>
        <p:spPr>
          <a:xfrm>
            <a:off x="567000" y="347400"/>
            <a:ext cx="5943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FINAL CONCLUSION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22"/>
          <p:cNvSpPr/>
          <p:nvPr/>
        </p:nvSpPr>
        <p:spPr>
          <a:xfrm>
            <a:off x="548640" y="658440"/>
            <a:ext cx="109267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 strong ML pipeline with a clinically realistic model decision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22"/>
          <p:cNvSpPr/>
          <p:nvPr/>
        </p:nvSpPr>
        <p:spPr>
          <a:xfrm>
            <a:off x="567000" y="1216080"/>
            <a:ext cx="105152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best answer is not “one model wins”; it is “choose the model and threshold for the clinical objective.”</a:t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22"/>
          <p:cNvSpPr/>
          <p:nvPr/>
        </p:nvSpPr>
        <p:spPr>
          <a:xfrm>
            <a:off x="777240" y="1627560"/>
            <a:ext cx="3337200" cy="1261440"/>
          </a:xfrm>
          <a:prstGeom prst="roundRect">
            <a:avLst>
              <a:gd fmla="val 8696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22C55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22"/>
          <p:cNvSpPr/>
          <p:nvPr/>
        </p:nvSpPr>
        <p:spPr>
          <a:xfrm>
            <a:off x="777240" y="1627560"/>
            <a:ext cx="72720" cy="126144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22"/>
          <p:cNvSpPr/>
          <p:nvPr/>
        </p:nvSpPr>
        <p:spPr>
          <a:xfrm>
            <a:off x="978480" y="1828800"/>
            <a:ext cx="301716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MAIN RESULT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22"/>
          <p:cNvSpPr/>
          <p:nvPr/>
        </p:nvSpPr>
        <p:spPr>
          <a:xfrm>
            <a:off x="978480" y="2066400"/>
            <a:ext cx="3017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XGB + threshold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22"/>
          <p:cNvSpPr/>
          <p:nvPr/>
        </p:nvSpPr>
        <p:spPr>
          <a:xfrm>
            <a:off x="978480" y="2496240"/>
            <a:ext cx="301716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Best-F1 threshold: F1 0.5679; Clinical threshold: Recall 0.7805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22"/>
          <p:cNvSpPr/>
          <p:nvPr/>
        </p:nvSpPr>
        <p:spPr>
          <a:xfrm>
            <a:off x="4434840" y="1627560"/>
            <a:ext cx="3337200" cy="1261440"/>
          </a:xfrm>
          <a:prstGeom prst="roundRect">
            <a:avLst>
              <a:gd fmla="val 8696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F59E0B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22"/>
          <p:cNvSpPr/>
          <p:nvPr/>
        </p:nvSpPr>
        <p:spPr>
          <a:xfrm>
            <a:off x="4434840" y="1627560"/>
            <a:ext cx="72720" cy="1261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22"/>
          <p:cNvSpPr/>
          <p:nvPr/>
        </p:nvSpPr>
        <p:spPr>
          <a:xfrm>
            <a:off x="4636080" y="1828800"/>
            <a:ext cx="301716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MOST IMPORTANT INSIGHT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p22"/>
          <p:cNvSpPr/>
          <p:nvPr/>
        </p:nvSpPr>
        <p:spPr>
          <a:xfrm>
            <a:off x="4636080" y="2066400"/>
            <a:ext cx="3017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9"/>
              <a:buFont typeface="Arial"/>
              <a:buNone/>
            </a:pPr>
            <a:r>
              <a:rPr b="1" i="0" lang="en-US" sz="1789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Accuracy is misleading</a:t>
            </a:r>
            <a:endParaRPr b="0" i="0" sz="178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22"/>
          <p:cNvSpPr/>
          <p:nvPr/>
        </p:nvSpPr>
        <p:spPr>
          <a:xfrm>
            <a:off x="4636080" y="2496240"/>
            <a:ext cx="301716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Best default accuracy 0.8863 still misses 58.5% of deaths in Voting Hard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22"/>
          <p:cNvSpPr/>
          <p:nvPr/>
        </p:nvSpPr>
        <p:spPr>
          <a:xfrm>
            <a:off x="8092440" y="1627560"/>
            <a:ext cx="3337200" cy="1261440"/>
          </a:xfrm>
          <a:prstGeom prst="roundRect">
            <a:avLst>
              <a:gd fmla="val 8696" name="adj"/>
            </a:avLst>
          </a:prstGeom>
          <a:solidFill>
            <a:srgbClr val="0B1A2E">
              <a:alpha val="94901"/>
            </a:srgbClr>
          </a:solidFill>
          <a:ln cap="flat" cmpd="sng" w="13950">
            <a:solidFill>
              <a:srgbClr val="F43F5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8" name="Google Shape;1598;p22"/>
          <p:cNvSpPr/>
          <p:nvPr/>
        </p:nvSpPr>
        <p:spPr>
          <a:xfrm>
            <a:off x="8092440" y="1627560"/>
            <a:ext cx="72720" cy="1261440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22"/>
          <p:cNvSpPr/>
          <p:nvPr/>
        </p:nvSpPr>
        <p:spPr>
          <a:xfrm>
            <a:off x="8293680" y="1828800"/>
            <a:ext cx="301716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DEPLOYMENT CAVEAT</a:t>
            </a:r>
            <a:endParaRPr b="0" i="0" sz="7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22"/>
          <p:cNvSpPr/>
          <p:nvPr/>
        </p:nvSpPr>
        <p:spPr>
          <a:xfrm>
            <a:off x="8293680" y="2066400"/>
            <a:ext cx="30171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en-US" sz="2223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Validate first</a:t>
            </a:r>
            <a:endParaRPr b="0" i="0" sz="222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22"/>
          <p:cNvSpPr/>
          <p:nvPr/>
        </p:nvSpPr>
        <p:spPr>
          <a:xfrm>
            <a:off x="8293680" y="2496240"/>
            <a:ext cx="301716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Needs temporal split, external validation, calibration, and explainability</a:t>
            </a:r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22"/>
          <p:cNvSpPr/>
          <p:nvPr/>
        </p:nvSpPr>
        <p:spPr>
          <a:xfrm>
            <a:off x="914400" y="3749040"/>
            <a:ext cx="10332360" cy="1416960"/>
          </a:xfrm>
          <a:prstGeom prst="roundRect">
            <a:avLst>
              <a:gd fmla="val 9677" name="adj"/>
            </a:avLst>
          </a:prstGeom>
          <a:solidFill>
            <a:srgbClr val="10243D"/>
          </a:solidFill>
          <a:ln cap="flat" cmpd="sng" w="12700">
            <a:solidFill>
              <a:srgbClr val="14B8A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22"/>
          <p:cNvSpPr/>
          <p:nvPr/>
        </p:nvSpPr>
        <p:spPr>
          <a:xfrm>
            <a:off x="1143000" y="3950280"/>
            <a:ext cx="98751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Final message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22"/>
          <p:cNvSpPr/>
          <p:nvPr/>
        </p:nvSpPr>
        <p:spPr>
          <a:xfrm>
            <a:off x="1143000" y="4316040"/>
            <a:ext cx="987516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The project successfully moves from raw MI data to a defensible, numerically justified final model recommendation: threshold-tuned XGBoost for clinical screening, supported by rigorous EDA, leakage control, cross-validation, feature selection, robustness testing, and honest limitation analysis.</a:t>
            </a:r>
            <a:endParaRPr b="0" i="0" sz="110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22"/>
          <p:cNvSpPr/>
          <p:nvPr/>
        </p:nvSpPr>
        <p:spPr>
          <a:xfrm>
            <a:off x="777240" y="5989320"/>
            <a:ext cx="107895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Thank you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6" name="Google Shape;1606;p22"/>
          <p:cNvCxnSpPr/>
          <p:nvPr/>
        </p:nvCxnSpPr>
        <p:spPr>
          <a:xfrm>
            <a:off x="502920" y="6555960"/>
            <a:ext cx="11201400" cy="360"/>
          </a:xfrm>
          <a:prstGeom prst="straightConnector1">
            <a:avLst/>
          </a:prstGeom>
          <a:noFill/>
          <a:ln cap="flat" cmpd="sng" w="9525">
            <a:solidFill>
              <a:srgbClr val="33415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7" name="Google Shape;1607;p22"/>
          <p:cNvSpPr/>
          <p:nvPr/>
        </p:nvSpPr>
        <p:spPr>
          <a:xfrm>
            <a:off x="530280" y="6602040"/>
            <a:ext cx="6217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Clinical Outcome Prediction • Myocardial Infarction Complications</a:t>
            </a:r>
            <a:endParaRPr b="0" i="0" sz="6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22"/>
          <p:cNvSpPr/>
          <p:nvPr/>
        </p:nvSpPr>
        <p:spPr>
          <a:xfrm>
            <a:off x="11201400" y="6565320"/>
            <a:ext cx="502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23"/>
          <p:cNvSpPr/>
          <p:nvPr/>
        </p:nvSpPr>
        <p:spPr>
          <a:xfrm>
            <a:off x="0" y="0"/>
            <a:ext cx="12191400" cy="6857700"/>
          </a:xfrm>
          <a:prstGeom prst="rect">
            <a:avLst/>
          </a:prstGeom>
          <a:solidFill>
            <a:srgbClr val="081629">
              <a:alpha val="85098"/>
            </a:srgbClr>
          </a:solidFill>
          <a:ln cap="flat" cmpd="sng" w="12700">
            <a:solidFill>
              <a:srgbClr val="0816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5" name="Google Shape;1615;p23" title="WhatsApp Image 2026-04-26 at 12.47.27 PM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2189" y="0"/>
            <a:ext cx="382762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