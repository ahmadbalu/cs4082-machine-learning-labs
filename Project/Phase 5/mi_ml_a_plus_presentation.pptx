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_rels/notesSlide1.xml.rels" ContentType="application/vnd.openxmlformats-package.relationships+xml"/>
  <Override PartName="/ppt/notesSlides/_rels/notesSlide2.xml.rels" ContentType="application/vnd.openxmlformats-package.relationships+xml"/>
  <Override PartName="/ppt/notesSlides/_rels/notesSlide3.xml.rels" ContentType="application/vnd.openxmlformats-package.relationships+xml"/>
  <Override PartName="/ppt/notesSlides/_rels/notesSlide4.xml.rels" ContentType="application/vnd.openxmlformats-package.relationships+xml"/>
  <Override PartName="/ppt/notesSlides/_rels/notesSlide5.xml.rels" ContentType="application/vnd.openxmlformats-package.relationships+xml"/>
  <Override PartName="/ppt/notesSlides/_rels/notesSlide6.xml.rels" ContentType="application/vnd.openxmlformats-package.relationships+xml"/>
  <Override PartName="/ppt/notesSlides/_rels/notesSlide7.xml.rels" ContentType="application/vnd.openxmlformats-package.relationships+xml"/>
  <Override PartName="/ppt/notesSlides/_rels/notesSlide8.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11.xml.rels" ContentType="application/vnd.openxmlformats-package.relationships+xml"/>
  <Override PartName="/ppt/notesSlides/_rels/notesSlide12.xml.rels" ContentType="application/vnd.openxmlformats-package.relationships+xml"/>
  <Override PartName="/ppt/notesSlides/_rels/notesSlide13.xml.rels" ContentType="application/vnd.openxmlformats-package.relationships+xml"/>
  <Override PartName="/ppt/notesSlides/_rels/notesSlide14.xml.rels" ContentType="application/vnd.openxmlformats-package.relationships+xml"/>
  <Override PartName="/ppt/notesSlides/_rels/notesSlide15.xml.rels" ContentType="application/vnd.openxmlformats-package.relationships+xml"/>
  <Override PartName="/ppt/notesSlides/_rels/notesSlide16.xml.rels" ContentType="application/vnd.openxmlformats-package.relationships+xml"/>
  <Override PartName="/ppt/notesSlides/_rels/notesSlide17.xml.rels" ContentType="application/vnd.openxmlformats-package.relationships+xml"/>
  <Override PartName="/ppt/notesSlides/_rels/notesSlide18.xml.rels" ContentType="application/vnd.openxmlformats-package.relationships+xml"/>
  <Override PartName="/ppt/notesSlides/_rels/notesSlide19.xml.rels" ContentType="application/vnd.openxmlformats-package.relationships+xml"/>
  <Override PartName="/ppt/notesSlides/_rels/notesSlide20.xml.rels" ContentType="application/vnd.openxmlformats-package.relationships+xml"/>
  <Override PartName="/ppt/notesSlides/_rels/notesSlide21.xml.rels" ContentType="application/vnd.openxmlformats-package.relationships+xml"/>
  <Override PartName="/ppt/slideLayouts/slideLayout1.xml" ContentType="application/vnd.openxmlformats-officedocument.presentationml.slideLayout+xml"/>
  <Override PartName="/ppt/slideLayouts/_rels/slideLayout1.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2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7.png" ContentType="image/png"/>
  <Override PartName="/ppt/presProps.xml" ContentType="application/vnd.openxmlformats-officedocument.presentationml.presPro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GB" sz="1800" spc="-1" strike="noStrike">
                <a:solidFill>
                  <a:schemeClr val="dk1"/>
                </a:solidFill>
                <a:latin typeface="Aptos"/>
              </a:rPr>
              <a:t>Click to move the slide</a:t>
            </a:r>
            <a:endParaRPr b="0" lang="en-GB" sz="1800" spc="-1" strike="noStrike">
              <a:solidFill>
                <a:schemeClr val="dk1"/>
              </a:solidFill>
              <a:latin typeface="Aptos"/>
            </a:endParaRP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GB" sz="2000" spc="-1" strike="noStrike">
                <a:solidFill>
                  <a:srgbClr val="000000"/>
                </a:solidFill>
                <a:latin typeface="Arial"/>
              </a:rPr>
              <a:t>Click to edit the notes format</a:t>
            </a:r>
            <a:endParaRPr b="0" lang="en-GB" sz="2000" spc="-1" strike="noStrike">
              <a:solidFill>
                <a:srgbClr val="000000"/>
              </a:solidFill>
              <a:latin typeface="Arial"/>
            </a:endParaRPr>
          </a:p>
        </p:txBody>
      </p:sp>
      <p:sp>
        <p:nvSpPr>
          <p:cNvPr id="4"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GB" sz="1400" spc="-1" strike="noStrike">
                <a:solidFill>
                  <a:srgbClr val="000000"/>
                </a:solidFill>
                <a:latin typeface="Times New Roman"/>
              </a:rPr>
              <a:t>&lt;header&gt;</a:t>
            </a:r>
            <a:endParaRPr b="0" lang="en-GB" sz="1400" spc="-1" strike="noStrike">
              <a:solidFill>
                <a:srgbClr val="000000"/>
              </a:solidFill>
              <a:latin typeface="Times New Roman"/>
            </a:endParaRPr>
          </a:p>
        </p:txBody>
      </p:sp>
      <p:sp>
        <p:nvSpPr>
          <p:cNvPr id="5"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n-GB" sz="1400" spc="-1" strike="noStrike">
                <a:solidFill>
                  <a:srgbClr val="000000"/>
                </a:solidFill>
                <a:latin typeface="Times New Roman"/>
              </a:defRPr>
            </a:lvl1pPr>
          </a:lstStyle>
          <a:p>
            <a:pPr indent="0" algn="r">
              <a:buNone/>
            </a:pPr>
            <a:r>
              <a:rPr b="0" lang="en-GB" sz="1400" spc="-1" strike="noStrike">
                <a:solidFill>
                  <a:srgbClr val="000000"/>
                </a:solidFill>
                <a:latin typeface="Times New Roman"/>
              </a:rPr>
              <a:t>&lt;date/time&gt;</a:t>
            </a:r>
            <a:endParaRPr b="0" lang="en-GB" sz="1400" spc="-1" strike="noStrike">
              <a:solidFill>
                <a:srgbClr val="000000"/>
              </a:solidFill>
              <a:latin typeface="Times New Roman"/>
            </a:endParaRP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n-GB" sz="1400" spc="-1" strike="noStrike">
                <a:solidFill>
                  <a:srgbClr val="000000"/>
                </a:solidFill>
                <a:latin typeface="Times New Roman"/>
              </a:defRPr>
            </a:lvl1pPr>
          </a:lstStyle>
          <a:p>
            <a:pPr indent="0">
              <a:buNone/>
            </a:pPr>
            <a:r>
              <a:rPr b="0" lang="en-GB" sz="1400" spc="-1" strike="noStrike">
                <a:solidFill>
                  <a:srgbClr val="000000"/>
                </a:solidFill>
                <a:latin typeface="Times New Roman"/>
              </a:rPr>
              <a:t>&lt;footer&gt;</a:t>
            </a:r>
            <a:endParaRPr b="0" lang="en-GB" sz="1400" spc="-1" strike="noStrike">
              <a:solidFill>
                <a:srgbClr val="000000"/>
              </a:solidFill>
              <a:latin typeface="Times New Roman"/>
            </a:endParaRP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n-GB" sz="1400" spc="-1" strike="noStrike">
                <a:solidFill>
                  <a:srgbClr val="000000"/>
                </a:solidFill>
                <a:latin typeface="Times New Roman"/>
              </a:defRPr>
            </a:lvl1pPr>
          </a:lstStyle>
          <a:p>
            <a:pPr indent="0" algn="r">
              <a:buNone/>
            </a:pPr>
            <a:fld id="{BE0FAFD0-9012-4289-9419-5DDBA202F8EA}" type="slidenum">
              <a:rPr b="0" lang="en-GB" sz="1400" spc="-1" strike="noStrike">
                <a:solidFill>
                  <a:srgbClr val="000000"/>
                </a:solidFill>
                <a:latin typeface="Times New Roman"/>
              </a:rPr>
              <a:t>&lt;number&gt;</a:t>
            </a:fld>
            <a:endParaRPr b="0" lang="en-GB"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8" name="PlaceHolder 1"/>
          <p:cNvSpPr>
            <a:spLocks noGrp="1"/>
          </p:cNvSpPr>
          <p:nvPr>
            <p:ph type="sldImg"/>
          </p:nvPr>
        </p:nvSpPr>
        <p:spPr>
          <a:xfrm>
            <a:off x="685800" y="1143000"/>
            <a:ext cx="5486040" cy="3085920"/>
          </a:xfrm>
          <a:prstGeom prst="rect">
            <a:avLst/>
          </a:prstGeom>
          <a:ln w="0">
            <a:noFill/>
          </a:ln>
        </p:spPr>
      </p:sp>
      <p:sp>
        <p:nvSpPr>
          <p:cNvPr id="151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Open by positioning the project as a clinical decision-support problem, not just a generic machine learning notebook. The project predicts in-hospital mortality after myocardial infarction using 1,700 patient records and 124 raw clinical variables. Emphasize that the deck will move from dataset quality to preprocessing, model development, final test results, robustness, and practical recommendations.</a:t>
            </a:r>
            <a:endParaRPr b="0" lang="en-GB" sz="2000" spc="-1" strike="noStrike">
              <a:solidFill>
                <a:srgbClr val="000000"/>
              </a:solidFill>
              <a:latin typeface="Arial"/>
            </a:endParaRPr>
          </a:p>
        </p:txBody>
      </p:sp>
      <p:sp>
        <p:nvSpPr>
          <p:cNvPr id="1520" name="PlaceHolder 3"/>
          <p:cNvSpPr>
            <a:spLocks noGrp="1"/>
          </p:cNvSpPr>
          <p:nvPr>
            <p:ph type="sldNum" idx="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FB27DCD2-5510-4DC2-A654-CF96144E76A9}" type="slidenum">
              <a:rPr b="0" lang="en-US" sz="1200" spc="-1" strike="noStrike">
                <a:solidFill>
                  <a:schemeClr val="dk1"/>
                </a:solidFill>
                <a:latin typeface="+mn-lt"/>
                <a:ea typeface="+mn-ea"/>
              </a:rPr>
              <a:t>&lt;number&gt;</a:t>
            </a:fld>
            <a:endParaRPr b="0" lang="en-GB"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1" name="PlaceHolder 1"/>
          <p:cNvSpPr>
            <a:spLocks noGrp="1"/>
          </p:cNvSpPr>
          <p:nvPr>
            <p:ph type="sldImg"/>
          </p:nvPr>
        </p:nvSpPr>
        <p:spPr>
          <a:xfrm>
            <a:off x="685800" y="1143000"/>
            <a:ext cx="5486040" cy="3085920"/>
          </a:xfrm>
          <a:prstGeom prst="rect">
            <a:avLst/>
          </a:prstGeom>
          <a:ln w="0">
            <a:noFill/>
          </a:ln>
        </p:spPr>
      </p:sp>
      <p:sp>
        <p:nvSpPr>
          <p:cNvPr id="152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Explain the clinical motivation in simple terms: after a heart attack, the cost of missing a future death or severe complication is much higher than the cost of flagging a patient for additional review. This is why we do not optimize only accuracy. In this dataset, only about 16 percent of cases are positive, so a model can achieve high accuracy while still failing clinically.</a:t>
            </a:r>
            <a:endParaRPr b="0" lang="en-GB" sz="2000" spc="-1" strike="noStrike">
              <a:solidFill>
                <a:srgbClr val="000000"/>
              </a:solidFill>
              <a:latin typeface="Arial"/>
            </a:endParaRPr>
          </a:p>
        </p:txBody>
      </p:sp>
      <p:sp>
        <p:nvSpPr>
          <p:cNvPr id="1523" name="PlaceHolder 3"/>
          <p:cNvSpPr>
            <a:spLocks noGrp="1"/>
          </p:cNvSpPr>
          <p:nvPr>
            <p:ph type="sldNum" idx="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E10EB83B-58C3-4D7C-947A-64B94777950A}" type="slidenum">
              <a:rPr b="0" lang="en-US" sz="1200" spc="-1" strike="noStrike">
                <a:solidFill>
                  <a:schemeClr val="dk1"/>
                </a:solidFill>
                <a:latin typeface="+mn-lt"/>
                <a:ea typeface="+mn-ea"/>
              </a:rPr>
              <a:t>&lt;number&gt;</a:t>
            </a:fld>
            <a:endParaRPr b="0" lang="en-GB"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4" name="PlaceHolder 1"/>
          <p:cNvSpPr>
            <a:spLocks noGrp="1"/>
          </p:cNvSpPr>
          <p:nvPr>
            <p:ph type="sldImg"/>
          </p:nvPr>
        </p:nvSpPr>
        <p:spPr>
          <a:xfrm>
            <a:off x="685800" y="1143000"/>
            <a:ext cx="5486040" cy="3085920"/>
          </a:xfrm>
          <a:prstGeom prst="rect">
            <a:avLst/>
          </a:prstGeom>
          <a:ln w="0">
            <a:noFill/>
          </a:ln>
        </p:spPr>
      </p:sp>
      <p:sp>
        <p:nvSpPr>
          <p:cNvPr id="152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Frame the project as a formal experiment. The notebook did not simply train one model; it built a controlled comparison across preprocessing choices, class imbalance strategies, feature selection, hyperparameter tuning, threshold tuning, and robustness tests. This slide helps the professor see that the work follows a serious methodology.</a:t>
            </a:r>
            <a:endParaRPr b="0" lang="en-GB" sz="2000" spc="-1" strike="noStrike">
              <a:solidFill>
                <a:srgbClr val="000000"/>
              </a:solidFill>
              <a:latin typeface="Arial"/>
            </a:endParaRPr>
          </a:p>
        </p:txBody>
      </p:sp>
      <p:sp>
        <p:nvSpPr>
          <p:cNvPr id="1526" name="PlaceHolder 3"/>
          <p:cNvSpPr>
            <a:spLocks noGrp="1"/>
          </p:cNvSpPr>
          <p:nvPr>
            <p:ph type="sldNum" idx="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38512413-DAD1-439D-AE0C-32084162BE03}" type="slidenum">
              <a:rPr b="0" lang="en-US" sz="1200" spc="-1" strike="noStrike">
                <a:solidFill>
                  <a:schemeClr val="dk1"/>
                </a:solidFill>
                <a:latin typeface="+mn-lt"/>
                <a:ea typeface="+mn-ea"/>
              </a:rPr>
              <a:t>&lt;number&gt;</a:t>
            </a:fld>
            <a:endParaRPr b="0" lang="en-GB"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7" name="PlaceHolder 1"/>
          <p:cNvSpPr>
            <a:spLocks noGrp="1"/>
          </p:cNvSpPr>
          <p:nvPr>
            <p:ph type="sldImg"/>
          </p:nvPr>
        </p:nvSpPr>
        <p:spPr>
          <a:xfrm>
            <a:off x="685800" y="1143000"/>
            <a:ext cx="5486040" cy="3085920"/>
          </a:xfrm>
          <a:prstGeom prst="rect">
            <a:avLst/>
          </a:prstGeom>
          <a:ln w="0">
            <a:noFill/>
          </a:ln>
        </p:spPr>
      </p:sp>
      <p:sp>
        <p:nvSpPr>
          <p:cNvPr id="152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Point out the size and shape of the dataset: 1,700 patients and 124 raw columns. After removing leakage-risk columns and other outcome targets, the model uses 104 features. The stratified split preserves the mortality rate in train, validation, and test sets, which is important because the positive class is relatively rare.</a:t>
            </a:r>
            <a:endParaRPr b="0" lang="en-GB" sz="2000" spc="-1" strike="noStrike">
              <a:solidFill>
                <a:srgbClr val="000000"/>
              </a:solidFill>
              <a:latin typeface="Arial"/>
            </a:endParaRPr>
          </a:p>
        </p:txBody>
      </p:sp>
      <p:sp>
        <p:nvSpPr>
          <p:cNvPr id="1529" name="PlaceHolder 3"/>
          <p:cNvSpPr>
            <a:spLocks noGrp="1"/>
          </p:cNvSpPr>
          <p:nvPr>
            <p:ph type="sldNum" idx="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E593CAFB-E9CB-4D38-BA94-5A46BC6D334A}" type="slidenum">
              <a:rPr b="0" lang="en-US" sz="1200" spc="-1" strike="noStrike">
                <a:solidFill>
                  <a:schemeClr val="dk1"/>
                </a:solidFill>
                <a:latin typeface="+mn-lt"/>
                <a:ea typeface="+mn-ea"/>
              </a:rPr>
              <a:t>&lt;number&gt;</a:t>
            </a:fld>
            <a:endParaRPr b="0" lang="en-GB"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0" name="PlaceHolder 1"/>
          <p:cNvSpPr>
            <a:spLocks noGrp="1"/>
          </p:cNvSpPr>
          <p:nvPr>
            <p:ph type="sldImg"/>
          </p:nvPr>
        </p:nvSpPr>
        <p:spPr>
          <a:xfrm>
            <a:off x="685800" y="1143000"/>
            <a:ext cx="5486040" cy="3085920"/>
          </a:xfrm>
          <a:prstGeom prst="rect">
            <a:avLst/>
          </a:prstGeom>
          <a:ln w="0">
            <a:noFill/>
          </a:ln>
        </p:spPr>
      </p:sp>
      <p:sp>
        <p:nvSpPr>
          <p:cNvPr id="153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Use this slide to explain the class imbalance visually. The model is not trying to classify evenly distributed categories; it is trying to detect a minority event. Mention that this is why the presentation repeatedly returns to recall and F1-score rather than praising the highest accuracy.</a:t>
            </a:r>
            <a:endParaRPr b="0" lang="en-GB" sz="2000" spc="-1" strike="noStrike">
              <a:solidFill>
                <a:srgbClr val="000000"/>
              </a:solidFill>
              <a:latin typeface="Arial"/>
            </a:endParaRPr>
          </a:p>
        </p:txBody>
      </p:sp>
      <p:sp>
        <p:nvSpPr>
          <p:cNvPr id="1532" name="PlaceHolder 3"/>
          <p:cNvSpPr>
            <a:spLocks noGrp="1"/>
          </p:cNvSpPr>
          <p:nvPr>
            <p:ph type="sldNum" idx="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047FB5C4-C868-4C4B-843E-516639B18ACD}" type="slidenum">
              <a:rPr b="0" lang="en-US" sz="1200" spc="-1" strike="noStrike">
                <a:solidFill>
                  <a:schemeClr val="dk1"/>
                </a:solidFill>
                <a:latin typeface="+mn-lt"/>
                <a:ea typeface="+mn-ea"/>
              </a:rPr>
              <a:t>&lt;number&gt;</a:t>
            </a:fld>
            <a:endParaRPr b="0" lang="en-GB"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3" name="PlaceHolder 1"/>
          <p:cNvSpPr>
            <a:spLocks noGrp="1"/>
          </p:cNvSpPr>
          <p:nvPr>
            <p:ph type="sldImg"/>
          </p:nvPr>
        </p:nvSpPr>
        <p:spPr>
          <a:xfrm>
            <a:off x="685800" y="1143000"/>
            <a:ext cx="5486040" cy="3085920"/>
          </a:xfrm>
          <a:prstGeom prst="rect">
            <a:avLst/>
          </a:prstGeom>
          <a:ln w="0">
            <a:noFill/>
          </a:ln>
        </p:spPr>
      </p:sp>
      <p:sp>
        <p:nvSpPr>
          <p:cNvPr id="153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Explain that preprocessing was fitted on the training data only to avoid data leakage. Continuous variables used median imputation and scaling, ordinal variables used most frequent imputation plus scaling, and binary variables used mode imputation. Missingness is not ignored: 103 feature columns had some missing values, 11 had more than 20 percent missingness, and the overall feature missingness rate was 8.98 percent.</a:t>
            </a:r>
            <a:endParaRPr b="0" lang="en-GB" sz="2000" spc="-1" strike="noStrike">
              <a:solidFill>
                <a:srgbClr val="000000"/>
              </a:solidFill>
              <a:latin typeface="Arial"/>
            </a:endParaRPr>
          </a:p>
        </p:txBody>
      </p:sp>
      <p:sp>
        <p:nvSpPr>
          <p:cNvPr id="1535" name="PlaceHolder 3"/>
          <p:cNvSpPr>
            <a:spLocks noGrp="1"/>
          </p:cNvSpPr>
          <p:nvPr>
            <p:ph type="sldNum" idx="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62E55D6F-D9CC-4318-BED9-36E3DC934953}" type="slidenum">
              <a:rPr b="0" lang="en-US" sz="1200" spc="-1" strike="noStrike">
                <a:solidFill>
                  <a:schemeClr val="dk1"/>
                </a:solidFill>
                <a:latin typeface="+mn-lt"/>
                <a:ea typeface="+mn-ea"/>
              </a:rPr>
              <a:t>&lt;number&gt;</a:t>
            </a:fld>
            <a:endParaRPr b="0" lang="en-GB"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6" name="PlaceHolder 1"/>
          <p:cNvSpPr>
            <a:spLocks noGrp="1"/>
          </p:cNvSpPr>
          <p:nvPr>
            <p:ph type="sldImg"/>
          </p:nvPr>
        </p:nvSpPr>
        <p:spPr>
          <a:xfrm>
            <a:off x="685800" y="1143000"/>
            <a:ext cx="5486040" cy="3085920"/>
          </a:xfrm>
          <a:prstGeom prst="rect">
            <a:avLst/>
          </a:prstGeom>
          <a:ln w="0">
            <a:noFill/>
          </a:ln>
        </p:spPr>
      </p:sp>
      <p:sp>
        <p:nvSpPr>
          <p:cNvPr id="153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Address the linear-regression expectation directly and academically. Since LET_IS is a binary outcome, a linear regression model would not be a statistically appropriate final classifier. The project instead uses Logistic Regression as the linear baseline. Regression metrics such as R-squared, MAE, MSE, and RMSE are not emphasized because this is a classification problem, not a continuous-value prediction problem.</a:t>
            </a:r>
            <a:endParaRPr b="0" lang="en-GB" sz="2000" spc="-1" strike="noStrike">
              <a:solidFill>
                <a:srgbClr val="000000"/>
              </a:solidFill>
              <a:latin typeface="Arial"/>
            </a:endParaRPr>
          </a:p>
        </p:txBody>
      </p:sp>
      <p:sp>
        <p:nvSpPr>
          <p:cNvPr id="1538" name="PlaceHolder 3"/>
          <p:cNvSpPr>
            <a:spLocks noGrp="1"/>
          </p:cNvSpPr>
          <p:nvPr>
            <p:ph type="sldNum" idx="1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3ABD5289-ED88-4144-8C0F-C1D1C2390A4D}" type="slidenum">
              <a:rPr b="0" lang="en-US" sz="1200" spc="-1" strike="noStrike">
                <a:solidFill>
                  <a:schemeClr val="dk1"/>
                </a:solidFill>
                <a:latin typeface="+mn-lt"/>
                <a:ea typeface="+mn-ea"/>
              </a:rPr>
              <a:t>&lt;number&gt;</a:t>
            </a:fld>
            <a:endParaRPr b="0" lang="en-GB"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9" name="PlaceHolder 1"/>
          <p:cNvSpPr>
            <a:spLocks noGrp="1"/>
          </p:cNvSpPr>
          <p:nvPr>
            <p:ph type="sldImg"/>
          </p:nvPr>
        </p:nvSpPr>
        <p:spPr>
          <a:xfrm>
            <a:off x="685800" y="1143000"/>
            <a:ext cx="5486040" cy="3085920"/>
          </a:xfrm>
          <a:prstGeom prst="rect">
            <a:avLst/>
          </a:prstGeom>
          <a:ln w="0">
            <a:noFill/>
          </a:ln>
        </p:spPr>
      </p:sp>
      <p:sp>
        <p:nvSpPr>
          <p:cNvPr id="154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Highlight the tension between metrics. XGBoost has the best validation F1-score at 0.6286 and the best AUC at 0.9055, while Logistic Regression has much higher recall at 0.8780 with a very similar AUC of 0.9053. This is the first sign that the final decision cannot be based on accuracy alone.</a:t>
            </a:r>
            <a:endParaRPr b="0" lang="en-GB" sz="2000" spc="-1" strike="noStrike">
              <a:solidFill>
                <a:srgbClr val="000000"/>
              </a:solidFill>
              <a:latin typeface="Arial"/>
            </a:endParaRPr>
          </a:p>
        </p:txBody>
      </p:sp>
      <p:sp>
        <p:nvSpPr>
          <p:cNvPr id="1541" name="PlaceHolder 3"/>
          <p:cNvSpPr>
            <a:spLocks noGrp="1"/>
          </p:cNvSpPr>
          <p:nvPr>
            <p:ph type="sldNum" idx="11"/>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6ABBB555-BE30-48AC-A068-420320F12D57}" type="slidenum">
              <a:rPr b="0" lang="en-US" sz="1200" spc="-1" strike="noStrike">
                <a:solidFill>
                  <a:schemeClr val="dk1"/>
                </a:solidFill>
                <a:latin typeface="+mn-lt"/>
                <a:ea typeface="+mn-ea"/>
              </a:rPr>
              <a:t>&lt;number&gt;</a:t>
            </a:fld>
            <a:endParaRPr b="0" lang="en-GB"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2" name="PlaceHolder 1"/>
          <p:cNvSpPr>
            <a:spLocks noGrp="1"/>
          </p:cNvSpPr>
          <p:nvPr>
            <p:ph type="sldImg"/>
          </p:nvPr>
        </p:nvSpPr>
        <p:spPr>
          <a:xfrm>
            <a:off x="685800" y="1143000"/>
            <a:ext cx="5486040" cy="3085920"/>
          </a:xfrm>
          <a:prstGeom prst="rect">
            <a:avLst/>
          </a:prstGeom>
          <a:ln w="0">
            <a:noFill/>
          </a:ln>
        </p:spPr>
      </p:sp>
      <p:sp>
        <p:nvSpPr>
          <p:cNvPr id="154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Explain that the notebook uses five-fold cross-validation to reduce dependence on a single validation split. Then explain the composite score: recall receives the highest weight because the positive class is clinically important; F1 balances recall with precision; AUC measures discrimination; and instability is penalized through CV standard deviation.</a:t>
            </a:r>
            <a:endParaRPr b="0" lang="en-GB" sz="2000" spc="-1" strike="noStrike">
              <a:solidFill>
                <a:srgbClr val="000000"/>
              </a:solidFill>
              <a:latin typeface="Arial"/>
            </a:endParaRPr>
          </a:p>
        </p:txBody>
      </p:sp>
      <p:sp>
        <p:nvSpPr>
          <p:cNvPr id="1544" name="PlaceHolder 3"/>
          <p:cNvSpPr>
            <a:spLocks noGrp="1"/>
          </p:cNvSpPr>
          <p:nvPr>
            <p:ph type="sldNum" idx="12"/>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DE1AD14C-0C1D-465A-9981-BD8F21F3405D}" type="slidenum">
              <a:rPr b="0" lang="en-US" sz="1200" spc="-1" strike="noStrike">
                <a:solidFill>
                  <a:schemeClr val="dk1"/>
                </a:solidFill>
                <a:latin typeface="+mn-lt"/>
                <a:ea typeface="+mn-ea"/>
              </a:rPr>
              <a:t>&lt;number&gt;</a:t>
            </a:fld>
            <a:endParaRPr b="0" lang="en-GB"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5" name="PlaceHolder 1"/>
          <p:cNvSpPr>
            <a:spLocks noGrp="1"/>
          </p:cNvSpPr>
          <p:nvPr>
            <p:ph type="sldImg"/>
          </p:nvPr>
        </p:nvSpPr>
        <p:spPr>
          <a:xfrm>
            <a:off x="685800" y="1143000"/>
            <a:ext cx="5486040" cy="3085920"/>
          </a:xfrm>
          <a:prstGeom prst="rect">
            <a:avLst/>
          </a:prstGeom>
          <a:ln w="0">
            <a:noFill/>
          </a:ln>
        </p:spPr>
      </p:sp>
      <p:sp>
        <p:nvSpPr>
          <p:cNvPr id="154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This slide is important for a strict professor because it shows honesty. Hyperparameter tuning did not automatically improve every metric. SVM is the strongest warning: its recall dropped dramatically, which would be unacceptable in a clinical-risk model. This supports the later recommendation to use recall-optimized tuning and threshold calibration.</a:t>
            </a:r>
            <a:endParaRPr b="0" lang="en-GB" sz="2000" spc="-1" strike="noStrike">
              <a:solidFill>
                <a:srgbClr val="000000"/>
              </a:solidFill>
              <a:latin typeface="Arial"/>
            </a:endParaRPr>
          </a:p>
        </p:txBody>
      </p:sp>
      <p:sp>
        <p:nvSpPr>
          <p:cNvPr id="1547" name="PlaceHolder 3"/>
          <p:cNvSpPr>
            <a:spLocks noGrp="1"/>
          </p:cNvSpPr>
          <p:nvPr>
            <p:ph type="sldNum" idx="13"/>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FAA6967C-87F4-4EF3-9741-F357837FBAE7}" type="slidenum">
              <a:rPr b="0" lang="en-US" sz="1200" spc="-1" strike="noStrike">
                <a:solidFill>
                  <a:schemeClr val="dk1"/>
                </a:solidFill>
                <a:latin typeface="+mn-lt"/>
                <a:ea typeface="+mn-ea"/>
              </a:rPr>
              <a:t>&lt;number&gt;</a:t>
            </a:fld>
            <a:endParaRPr b="0" lang="en-GB" sz="12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8" name="PlaceHolder 1"/>
          <p:cNvSpPr>
            <a:spLocks noGrp="1"/>
          </p:cNvSpPr>
          <p:nvPr>
            <p:ph type="sldImg"/>
          </p:nvPr>
        </p:nvSpPr>
        <p:spPr>
          <a:xfrm>
            <a:off x="685800" y="1143000"/>
            <a:ext cx="5486040" cy="3085920"/>
          </a:xfrm>
          <a:prstGeom prst="rect">
            <a:avLst/>
          </a:prstGeom>
          <a:ln w="0">
            <a:noFill/>
          </a:ln>
        </p:spPr>
      </p:sp>
      <p:sp>
        <p:nvSpPr>
          <p:cNvPr id="154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Explain the difference between model training and decision policy. XGBoost at the default 0.50 threshold recalls only 36.59 percent of deaths. Lowering the threshold to 0.325 produces the best F1-score at 0.5679, while the clinical threshold of 0.164 raises recall to 0.7805. This is the strongest evidence that threshold tuning is essential for a high-stakes imbalanced problem.</a:t>
            </a:r>
            <a:endParaRPr b="0" lang="en-GB" sz="2000" spc="-1" strike="noStrike">
              <a:solidFill>
                <a:srgbClr val="000000"/>
              </a:solidFill>
              <a:latin typeface="Arial"/>
            </a:endParaRPr>
          </a:p>
        </p:txBody>
      </p:sp>
      <p:sp>
        <p:nvSpPr>
          <p:cNvPr id="1550" name="PlaceHolder 3"/>
          <p:cNvSpPr>
            <a:spLocks noGrp="1"/>
          </p:cNvSpPr>
          <p:nvPr>
            <p:ph type="sldNum" idx="1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8E6B84B1-3652-4789-8752-4BBB67345B65}" type="slidenum">
              <a:rPr b="0" lang="en-US" sz="1200" spc="-1" strike="noStrike">
                <a:solidFill>
                  <a:schemeClr val="dk1"/>
                </a:solidFill>
                <a:latin typeface="+mn-lt"/>
                <a:ea typeface="+mn-ea"/>
              </a:rPr>
              <a:t>&lt;number&gt;</a:t>
            </a:fld>
            <a:endParaRPr b="0" lang="en-GB" sz="12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1" name="PlaceHolder 1"/>
          <p:cNvSpPr>
            <a:spLocks noGrp="1"/>
          </p:cNvSpPr>
          <p:nvPr>
            <p:ph type="sldImg"/>
          </p:nvPr>
        </p:nvSpPr>
        <p:spPr>
          <a:xfrm>
            <a:off x="685800" y="1143000"/>
            <a:ext cx="5486040" cy="3085920"/>
          </a:xfrm>
          <a:prstGeom prst="rect">
            <a:avLst/>
          </a:prstGeom>
          <a:ln w="0">
            <a:noFill/>
          </a:ln>
        </p:spPr>
      </p:sp>
      <p:sp>
        <p:nvSpPr>
          <p:cNvPr id="155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Feature selection improved the validation F1-score. The top-30 SelectKBest feature set achieved F1 of 0.6389 with 30 features, compared with 0.5915 using all 104 features. Highlight clinically plausible predictors such as age, ECG rhythm variables, blood pressure indicators, and time-related features.</a:t>
            </a:r>
            <a:endParaRPr b="0" lang="en-GB" sz="2000" spc="-1" strike="noStrike">
              <a:solidFill>
                <a:srgbClr val="000000"/>
              </a:solidFill>
              <a:latin typeface="Arial"/>
            </a:endParaRPr>
          </a:p>
        </p:txBody>
      </p:sp>
      <p:sp>
        <p:nvSpPr>
          <p:cNvPr id="1553" name="PlaceHolder 3"/>
          <p:cNvSpPr>
            <a:spLocks noGrp="1"/>
          </p:cNvSpPr>
          <p:nvPr>
            <p:ph type="sldNum" idx="1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EAAC4A4B-8B5B-4495-AB4F-53D267E10408}" type="slidenum">
              <a:rPr b="0" lang="en-US" sz="1200" spc="-1" strike="noStrike">
                <a:solidFill>
                  <a:schemeClr val="dk1"/>
                </a:solidFill>
                <a:latin typeface="+mn-lt"/>
                <a:ea typeface="+mn-ea"/>
              </a:rPr>
              <a:t>&lt;number&gt;</a:t>
            </a:fld>
            <a:endParaRPr b="0" lang="en-GB" sz="1200" spc="-1" strike="noStrike">
              <a:solidFill>
                <a:srgbClr val="000000"/>
              </a:solidFill>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4" name="PlaceHolder 1"/>
          <p:cNvSpPr>
            <a:spLocks noGrp="1"/>
          </p:cNvSpPr>
          <p:nvPr>
            <p:ph type="sldImg"/>
          </p:nvPr>
        </p:nvSpPr>
        <p:spPr>
          <a:xfrm>
            <a:off x="685800" y="1143000"/>
            <a:ext cx="5486040" cy="3085920"/>
          </a:xfrm>
          <a:prstGeom prst="rect">
            <a:avLst/>
          </a:prstGeom>
          <a:ln w="0">
            <a:noFill/>
          </a:ln>
        </p:spPr>
      </p:sp>
      <p:sp>
        <p:nvSpPr>
          <p:cNvPr id="155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This slide compares the final standard test set across baseline, tuned, ensemble, and adversarial-condition models. Voting Hard has the best F1 in the final model table at 0.5397 and the highest accuracy at 0.8863. However, the threshold-tuned XGBoost from Phase 4 is clinically more flexible because it can trade precision for recall through its decision threshold.</a:t>
            </a:r>
            <a:endParaRPr b="0" lang="en-GB" sz="2000" spc="-1" strike="noStrike">
              <a:solidFill>
                <a:srgbClr val="000000"/>
              </a:solidFill>
              <a:latin typeface="Arial"/>
            </a:endParaRPr>
          </a:p>
        </p:txBody>
      </p:sp>
      <p:sp>
        <p:nvSpPr>
          <p:cNvPr id="1556" name="PlaceHolder 3"/>
          <p:cNvSpPr>
            <a:spLocks noGrp="1"/>
          </p:cNvSpPr>
          <p:nvPr>
            <p:ph type="sldNum" idx="1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42BA91B3-00C2-4488-8A25-B56F80BEA1D6}" type="slidenum">
              <a:rPr b="0" lang="en-US" sz="1200" spc="-1" strike="noStrike">
                <a:solidFill>
                  <a:schemeClr val="dk1"/>
                </a:solidFill>
                <a:latin typeface="+mn-lt"/>
                <a:ea typeface="+mn-ea"/>
              </a:rPr>
              <a:t>&lt;number&gt;</a:t>
            </a:fld>
            <a:endParaRPr b="0" lang="en-GB" sz="1200" spc="-1" strike="noStrike">
              <a:solidFill>
                <a:srgbClr val="000000"/>
              </a:solidFill>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7" name="PlaceHolder 1"/>
          <p:cNvSpPr>
            <a:spLocks noGrp="1"/>
          </p:cNvSpPr>
          <p:nvPr>
            <p:ph type="sldImg"/>
          </p:nvPr>
        </p:nvSpPr>
        <p:spPr>
          <a:xfrm>
            <a:off x="685800" y="1143000"/>
            <a:ext cx="5486040" cy="3085920"/>
          </a:xfrm>
          <a:prstGeom prst="rect">
            <a:avLst/>
          </a:prstGeom>
          <a:ln w="0">
            <a:noFill/>
          </a:ln>
        </p:spPr>
      </p:sp>
      <p:sp>
        <p:nvSpPr>
          <p:cNvPr id="155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Walk through the confusion matrix counts. Tuned LR catches 26 of 41 deaths but produces 46 false positives. Tuned XGBoost default threshold produces only 7 false positives but catches only 15 deaths. The clinical threshold for XGBoost changes the decision policy and raises recall to 0.7805, corresponding to around 32 detected deaths out of 41. The exact clinical choice depends on the cost of false alarms versus missed deaths.</a:t>
            </a:r>
            <a:endParaRPr b="0" lang="en-GB" sz="2000" spc="-1" strike="noStrike">
              <a:solidFill>
                <a:srgbClr val="000000"/>
              </a:solidFill>
              <a:latin typeface="Arial"/>
            </a:endParaRPr>
          </a:p>
        </p:txBody>
      </p:sp>
      <p:sp>
        <p:nvSpPr>
          <p:cNvPr id="1559" name="PlaceHolder 3"/>
          <p:cNvSpPr>
            <a:spLocks noGrp="1"/>
          </p:cNvSpPr>
          <p:nvPr>
            <p:ph type="sldNum" idx="1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E97BFD47-1E4D-4F71-9B11-02ACED611A96}" type="slidenum">
              <a:rPr b="0" lang="en-US" sz="1200" spc="-1" strike="noStrike">
                <a:solidFill>
                  <a:schemeClr val="dk1"/>
                </a:solidFill>
                <a:latin typeface="+mn-lt"/>
                <a:ea typeface="+mn-ea"/>
              </a:rPr>
              <a:t>&lt;number&gt;</a:t>
            </a:fld>
            <a:endParaRPr b="0" lang="en-GB" sz="1200" spc="-1" strike="noStrike">
              <a:solidFill>
                <a:srgbClr val="000000"/>
              </a:solidFill>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0" name="PlaceHolder 1"/>
          <p:cNvSpPr>
            <a:spLocks noGrp="1"/>
          </p:cNvSpPr>
          <p:nvPr>
            <p:ph type="sldImg"/>
          </p:nvPr>
        </p:nvSpPr>
        <p:spPr>
          <a:xfrm>
            <a:off x="685800" y="1143000"/>
            <a:ext cx="5486040" cy="3085920"/>
          </a:xfrm>
          <a:prstGeom prst="rect">
            <a:avLst/>
          </a:prstGeom>
          <a:ln w="0">
            <a:noFill/>
          </a:ln>
        </p:spPr>
      </p:sp>
      <p:sp>
        <p:nvSpPr>
          <p:cNvPr id="156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Explain that the notebook deliberately tested two adverse conditions: 15 percent random label flips and a simulated shift in continuous features. Label noise hurt Logistic Regression F1, dropping it from 0.4602 to 0.3378. Concept drift had a smaller average F1 drop among tuned models, but it still demonstrates the need for temporal validation and external validation before clinical deployment.</a:t>
            </a:r>
            <a:endParaRPr b="0" lang="en-GB" sz="2000" spc="-1" strike="noStrike">
              <a:solidFill>
                <a:srgbClr val="000000"/>
              </a:solidFill>
              <a:latin typeface="Arial"/>
            </a:endParaRPr>
          </a:p>
        </p:txBody>
      </p:sp>
      <p:sp>
        <p:nvSpPr>
          <p:cNvPr id="1562" name="PlaceHolder 3"/>
          <p:cNvSpPr>
            <a:spLocks noGrp="1"/>
          </p:cNvSpPr>
          <p:nvPr>
            <p:ph type="sldNum" idx="1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2CC93782-2E7C-4280-B3FD-9818374A948B}" type="slidenum">
              <a:rPr b="0" lang="en-US" sz="1200" spc="-1" strike="noStrike">
                <a:solidFill>
                  <a:schemeClr val="dk1"/>
                </a:solidFill>
                <a:latin typeface="+mn-lt"/>
                <a:ea typeface="+mn-ea"/>
              </a:rPr>
              <a:t>&lt;number&gt;</a:t>
            </a:fld>
            <a:endParaRPr b="0" lang="en-GB" sz="1200" spc="-1" strike="noStrike">
              <a:solidFill>
                <a:srgbClr val="000000"/>
              </a:solidFill>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3" name="PlaceHolder 1"/>
          <p:cNvSpPr>
            <a:spLocks noGrp="1"/>
          </p:cNvSpPr>
          <p:nvPr>
            <p:ph type="sldImg"/>
          </p:nvPr>
        </p:nvSpPr>
        <p:spPr>
          <a:xfrm>
            <a:off x="685800" y="1143000"/>
            <a:ext cx="5486040" cy="3085920"/>
          </a:xfrm>
          <a:prstGeom prst="rect">
            <a:avLst/>
          </a:prstGeom>
          <a:ln w="0">
            <a:noFill/>
          </a:ln>
        </p:spPr>
      </p:sp>
      <p:sp>
        <p:nvSpPr>
          <p:cNvPr id="156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State the final decision clearly. The recommended final model is Tuned XGBoost with threshold calibration. At the best-F1 threshold of 0.325, it reaches F1 0.5679, which is higher than the default XGBoost F1 and higher than Voting Hard F1 in the final default model table. For a clinical screening use case, the 0.164 threshold is preferred because it raises recall to 0.7805.</a:t>
            </a:r>
            <a:endParaRPr b="0" lang="en-GB" sz="2000" spc="-1" strike="noStrike">
              <a:solidFill>
                <a:srgbClr val="000000"/>
              </a:solidFill>
              <a:latin typeface="Arial"/>
            </a:endParaRPr>
          </a:p>
        </p:txBody>
      </p:sp>
      <p:sp>
        <p:nvSpPr>
          <p:cNvPr id="1565" name="PlaceHolder 3"/>
          <p:cNvSpPr>
            <a:spLocks noGrp="1"/>
          </p:cNvSpPr>
          <p:nvPr>
            <p:ph type="sldNum" idx="1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3A806FF9-DEB7-48D0-8588-EF6ECE3C5858}" type="slidenum">
              <a:rPr b="0" lang="en-US" sz="1200" spc="-1" strike="noStrike">
                <a:solidFill>
                  <a:schemeClr val="dk1"/>
                </a:solidFill>
                <a:latin typeface="+mn-lt"/>
                <a:ea typeface="+mn-ea"/>
              </a:rPr>
              <a:t>&lt;number&gt;</a:t>
            </a:fld>
            <a:endParaRPr b="0" lang="en-GB" sz="1200" spc="-1" strike="noStrike">
              <a:solidFill>
                <a:srgbClr val="000000"/>
              </a:solidFill>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6" name="PlaceHolder 1"/>
          <p:cNvSpPr>
            <a:spLocks noGrp="1"/>
          </p:cNvSpPr>
          <p:nvPr>
            <p:ph type="sldImg"/>
          </p:nvPr>
        </p:nvSpPr>
        <p:spPr>
          <a:xfrm>
            <a:off x="685800" y="1143000"/>
            <a:ext cx="5486040" cy="3085920"/>
          </a:xfrm>
          <a:prstGeom prst="rect">
            <a:avLst/>
          </a:prstGeom>
          <a:ln w="0">
            <a:noFill/>
          </a:ln>
        </p:spPr>
      </p:sp>
      <p:sp>
        <p:nvSpPr>
          <p:cNvPr id="156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Use this slide to connect the notebook to the uploaded literature review. The main point is that the project choices are not random: previous cardiovascular ML studies often find tree ensembles and gradient boosting to be strong on tabular clinical data, while class imbalance, missingness, and interpretability remain persistent challenges. Mention that external validation is still needed before claiming clinical readiness.</a:t>
            </a:r>
            <a:endParaRPr b="0" lang="en-GB" sz="2000" spc="-1" strike="noStrike">
              <a:solidFill>
                <a:srgbClr val="000000"/>
              </a:solidFill>
              <a:latin typeface="Arial"/>
            </a:endParaRPr>
          </a:p>
        </p:txBody>
      </p:sp>
      <p:sp>
        <p:nvSpPr>
          <p:cNvPr id="1568" name="PlaceHolder 3"/>
          <p:cNvSpPr>
            <a:spLocks noGrp="1"/>
          </p:cNvSpPr>
          <p:nvPr>
            <p:ph type="sldNum" idx="2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C98AA876-ACE6-4A1D-8521-CDA78B5A8504}" type="slidenum">
              <a:rPr b="0" lang="en-US" sz="1200" spc="-1" strike="noStrike">
                <a:solidFill>
                  <a:schemeClr val="dk1"/>
                </a:solidFill>
                <a:latin typeface="+mn-lt"/>
                <a:ea typeface="+mn-ea"/>
              </a:rPr>
              <a:t>&lt;number&gt;</a:t>
            </a:fld>
            <a:endParaRPr b="0" lang="en-GB" sz="1200" spc="-1" strike="noStrike">
              <a:solidFill>
                <a:srgbClr val="000000"/>
              </a:solidFill>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9" name="PlaceHolder 1"/>
          <p:cNvSpPr>
            <a:spLocks noGrp="1"/>
          </p:cNvSpPr>
          <p:nvPr>
            <p:ph type="sldImg"/>
          </p:nvPr>
        </p:nvSpPr>
        <p:spPr>
          <a:xfrm>
            <a:off x="685800" y="1143000"/>
            <a:ext cx="5486040" cy="3085920"/>
          </a:xfrm>
          <a:prstGeom prst="rect">
            <a:avLst/>
          </a:prstGeom>
          <a:ln w="0">
            <a:noFill/>
          </a:ln>
        </p:spPr>
      </p:sp>
      <p:sp>
        <p:nvSpPr>
          <p:cNvPr id="157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This slide is designed to impress because it is honest. Rather than hiding weak points, it explains why they happened. The most important limitations are the recall ceiling, the sensitivity to label noise, the risk of overfitting to a single dataset, and the lack of interpretability tools. This is the difference between a notebook that runs and a clinically responsible ML project.</a:t>
            </a:r>
            <a:endParaRPr b="0" lang="en-GB" sz="2000" spc="-1" strike="noStrike">
              <a:solidFill>
                <a:srgbClr val="000000"/>
              </a:solidFill>
              <a:latin typeface="Arial"/>
            </a:endParaRPr>
          </a:p>
        </p:txBody>
      </p:sp>
      <p:sp>
        <p:nvSpPr>
          <p:cNvPr id="1571" name="PlaceHolder 3"/>
          <p:cNvSpPr>
            <a:spLocks noGrp="1"/>
          </p:cNvSpPr>
          <p:nvPr>
            <p:ph type="sldNum" idx="21"/>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6A653889-04BE-493A-8AFD-8BEB3669F454}" type="slidenum">
              <a:rPr b="0" lang="en-US" sz="1200" spc="-1" strike="noStrike">
                <a:solidFill>
                  <a:schemeClr val="dk1"/>
                </a:solidFill>
                <a:latin typeface="+mn-lt"/>
                <a:ea typeface="+mn-ea"/>
              </a:rPr>
              <a:t>&lt;number&gt;</a:t>
            </a:fld>
            <a:endParaRPr b="0" lang="en-GB" sz="1200" spc="-1" strike="noStrike">
              <a:solidFill>
                <a:srgbClr val="000000"/>
              </a:solidFill>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2" name="PlaceHolder 1"/>
          <p:cNvSpPr>
            <a:spLocks noGrp="1"/>
          </p:cNvSpPr>
          <p:nvPr>
            <p:ph type="sldImg"/>
          </p:nvPr>
        </p:nvSpPr>
        <p:spPr>
          <a:xfrm>
            <a:off x="685800" y="1143000"/>
            <a:ext cx="5486040" cy="3085920"/>
          </a:xfrm>
          <a:prstGeom prst="rect">
            <a:avLst/>
          </a:prstGeom>
          <a:ln w="0">
            <a:noFill/>
          </a:ln>
        </p:spPr>
      </p:sp>
      <p:sp>
        <p:nvSpPr>
          <p:cNvPr id="157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Make recommendations sound practical. A temporal split would better represent real deployment. Recall-optimized hyperparameter tuning would prevent models from sacrificing the minority class. Cleanlab could identify label noise before SMOTE. LightGBM or CatBoost are strong future candidates for tabular clinical data. SHAP would make the model more explainable to clinicians.</a:t>
            </a:r>
            <a:endParaRPr b="0" lang="en-GB" sz="2000" spc="-1" strike="noStrike">
              <a:solidFill>
                <a:srgbClr val="000000"/>
              </a:solidFill>
              <a:latin typeface="Arial"/>
            </a:endParaRPr>
          </a:p>
        </p:txBody>
      </p:sp>
      <p:sp>
        <p:nvSpPr>
          <p:cNvPr id="1574" name="PlaceHolder 3"/>
          <p:cNvSpPr>
            <a:spLocks noGrp="1"/>
          </p:cNvSpPr>
          <p:nvPr>
            <p:ph type="sldNum" idx="22"/>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48770C31-F6A4-430C-8553-C8A8D6229E5D}" type="slidenum">
              <a:rPr b="0" lang="en-US" sz="1200" spc="-1" strike="noStrike">
                <a:solidFill>
                  <a:schemeClr val="dk1"/>
                </a:solidFill>
                <a:latin typeface="+mn-lt"/>
                <a:ea typeface="+mn-ea"/>
              </a:rPr>
              <a:t>&lt;number&gt;</a:t>
            </a:fld>
            <a:endParaRPr b="0" lang="en-GB" sz="1200" spc="-1" strike="noStrike">
              <a:solidFill>
                <a:srgbClr val="000000"/>
              </a:solidFill>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5" name="PlaceHolder 1"/>
          <p:cNvSpPr>
            <a:spLocks noGrp="1"/>
          </p:cNvSpPr>
          <p:nvPr>
            <p:ph type="sldImg"/>
          </p:nvPr>
        </p:nvSpPr>
        <p:spPr>
          <a:xfrm>
            <a:off x="685800" y="1143000"/>
            <a:ext cx="5486040" cy="3085920"/>
          </a:xfrm>
          <a:prstGeom prst="rect">
            <a:avLst/>
          </a:prstGeom>
          <a:ln w="0">
            <a:noFill/>
          </a:ln>
        </p:spPr>
      </p:sp>
      <p:sp>
        <p:nvSpPr>
          <p:cNvPr id="157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Close confidently. The final recommendation is threshold-tuned XGBoost because it offers a strong AUC and lets the team select a clinically appropriate recall level. Emphasize that the project is academically strong because it is not pretending the model is perfect; it presents clear evidence, trade-offs, and future improvements.</a:t>
            </a:r>
            <a:endParaRPr b="0" lang="en-GB" sz="2000" spc="-1" strike="noStrike">
              <a:solidFill>
                <a:srgbClr val="000000"/>
              </a:solidFill>
              <a:latin typeface="Arial"/>
            </a:endParaRPr>
          </a:p>
        </p:txBody>
      </p:sp>
      <p:sp>
        <p:nvSpPr>
          <p:cNvPr id="1577" name="PlaceHolder 3"/>
          <p:cNvSpPr>
            <a:spLocks noGrp="1"/>
          </p:cNvSpPr>
          <p:nvPr>
            <p:ph type="sldNum" idx="23"/>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7F9E7F2A-C583-4242-A971-2214A4D7875E}" type="slidenum">
              <a:rPr b="0" lang="en-US" sz="1200" spc="-1" strike="noStrike">
                <a:solidFill>
                  <a:schemeClr val="dk1"/>
                </a:solidFill>
                <a:latin typeface="+mn-lt"/>
                <a:ea typeface="+mn-ea"/>
              </a:rPr>
              <a:t>&lt;number&gt;</a:t>
            </a:fld>
            <a:endParaRPr b="0" lang="en-GB" sz="1200" spc="-1" strike="noStrike">
              <a:solidFill>
                <a:srgbClr val="000000"/>
              </a:solidFill>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8" name="PlaceHolder 1"/>
          <p:cNvSpPr>
            <a:spLocks noGrp="1"/>
          </p:cNvSpPr>
          <p:nvPr>
            <p:ph type="sldImg"/>
          </p:nvPr>
        </p:nvSpPr>
        <p:spPr>
          <a:xfrm>
            <a:off x="685800" y="1143000"/>
            <a:ext cx="5486040" cy="3085920"/>
          </a:xfrm>
          <a:prstGeom prst="rect">
            <a:avLst/>
          </a:prstGeom>
          <a:ln w="0">
            <a:noFill/>
          </a:ln>
        </p:spPr>
      </p:sp>
      <p:sp>
        <p:nvSpPr>
          <p:cNvPr id="157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This backup slide contains visual evidence from the notebook: ROC curves and confusion matrices across final models. It is placed after the conclusion so the main 20-minute flow stays clean, but it can be used if the doctor asks for deeper technical proof.</a:t>
            </a:r>
            <a:endParaRPr b="0" lang="en-GB" sz="2000" spc="-1" strike="noStrike">
              <a:solidFill>
                <a:srgbClr val="000000"/>
              </a:solidFill>
              <a:latin typeface="Arial"/>
            </a:endParaRPr>
          </a:p>
        </p:txBody>
      </p:sp>
      <p:sp>
        <p:nvSpPr>
          <p:cNvPr id="1580" name="PlaceHolder 3"/>
          <p:cNvSpPr>
            <a:spLocks noGrp="1"/>
          </p:cNvSpPr>
          <p:nvPr>
            <p:ph type="sldNum" idx="2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C3BB0B26-307A-4814-B56F-90D65D46F4E5}" type="slidenum">
              <a:rPr b="0" lang="en-US" sz="1200" spc="-1" strike="noStrike">
                <a:solidFill>
                  <a:schemeClr val="dk1"/>
                </a:solidFill>
                <a:latin typeface="+mn-lt"/>
                <a:ea typeface="+mn-ea"/>
              </a:rPr>
              <a:t>&lt;number&gt;</a:t>
            </a:fld>
            <a:endParaRPr b="0" lang="en-GB"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en-GB" sz="1800" spc="-1" strike="noStrike">
                <a:solidFill>
                  <a:schemeClr val="dk1"/>
                </a:solidFill>
                <a:latin typeface="Aptos"/>
              </a:rPr>
              <a:t>Click to edit the title text format</a:t>
            </a:r>
            <a:endParaRPr b="0" lang="en-GB" sz="1800" spc="-1" strike="noStrike">
              <a:solidFill>
                <a:schemeClr val="dk1"/>
              </a:solidFill>
              <a:latin typeface="Aptos"/>
            </a:endParaRPr>
          </a:p>
        </p:txBody>
      </p:sp>
      <p:sp>
        <p:nvSpPr>
          <p:cNvPr id="1"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pc="-1" strike="noStrike">
                <a:solidFill>
                  <a:schemeClr val="dk1"/>
                </a:solidFill>
                <a:latin typeface="Aptos"/>
              </a:rPr>
              <a:t>Click to edit the outline text format</a:t>
            </a:r>
            <a:endParaRPr b="0" lang="en-GB" sz="3200" spc="-1" strike="noStrike">
              <a:solidFill>
                <a:schemeClr val="dk1"/>
              </a:solidFill>
              <a:latin typeface="Aptos"/>
            </a:endParaRPr>
          </a:p>
          <a:p>
            <a:pPr lvl="1" marL="864000" indent="-324000">
              <a:spcBef>
                <a:spcPts val="1134"/>
              </a:spcBef>
              <a:buClr>
                <a:srgbClr val="000000"/>
              </a:buClr>
              <a:buSzPct val="75000"/>
              <a:buFont typeface="Symbol" charset="2"/>
              <a:buChar char=""/>
            </a:pPr>
            <a:r>
              <a:rPr b="0" lang="en-GB" sz="2400" spc="-1" strike="noStrike">
                <a:solidFill>
                  <a:schemeClr val="dk1"/>
                </a:solidFill>
                <a:latin typeface="Aptos"/>
              </a:rPr>
              <a:t>Second Outline Level</a:t>
            </a:r>
            <a:endParaRPr b="0" lang="en-GB" sz="2400" spc="-1" strike="noStrike">
              <a:solidFill>
                <a:schemeClr val="dk1"/>
              </a:solidFill>
              <a:latin typeface="Aptos"/>
            </a:endParaRPr>
          </a:p>
          <a:p>
            <a:pPr lvl="2" marL="1296000" indent="-288000">
              <a:spcBef>
                <a:spcPts val="850"/>
              </a:spcBef>
              <a:buClr>
                <a:srgbClr val="000000"/>
              </a:buClr>
              <a:buSzPct val="45000"/>
              <a:buFont typeface="Wingdings" charset="2"/>
              <a:buChar char=""/>
            </a:pPr>
            <a:r>
              <a:rPr b="0" lang="en-GB" sz="2000" spc="-1" strike="noStrike">
                <a:solidFill>
                  <a:schemeClr val="dk1"/>
                </a:solidFill>
                <a:latin typeface="Aptos"/>
              </a:rPr>
              <a:t>Third Outline Level</a:t>
            </a:r>
            <a:endParaRPr b="0" lang="en-GB" sz="2000" spc="-1" strike="noStrike">
              <a:solidFill>
                <a:schemeClr val="dk1"/>
              </a:solidFill>
              <a:latin typeface="Aptos"/>
            </a:endParaRPr>
          </a:p>
          <a:p>
            <a:pPr lvl="3" marL="1728000" indent="-216000">
              <a:spcBef>
                <a:spcPts val="567"/>
              </a:spcBef>
              <a:buClr>
                <a:srgbClr val="000000"/>
              </a:buClr>
              <a:buSzPct val="75000"/>
              <a:buFont typeface="Symbol" charset="2"/>
              <a:buChar char=""/>
            </a:pPr>
            <a:r>
              <a:rPr b="0" lang="en-GB" sz="2000" spc="-1" strike="noStrike">
                <a:solidFill>
                  <a:schemeClr val="dk1"/>
                </a:solidFill>
                <a:latin typeface="Aptos"/>
              </a:rPr>
              <a:t>Fourth Outline Level</a:t>
            </a:r>
            <a:endParaRPr b="0" lang="en-GB" sz="2000" spc="-1" strike="noStrike">
              <a:solidFill>
                <a:schemeClr val="dk1"/>
              </a:solidFill>
              <a:latin typeface="Aptos"/>
            </a:endParaRPr>
          </a:p>
          <a:p>
            <a:pPr lvl="4" marL="2160000" indent="-216000">
              <a:spcBef>
                <a:spcPts val="283"/>
              </a:spcBef>
              <a:buClr>
                <a:srgbClr val="000000"/>
              </a:buClr>
              <a:buSzPct val="45000"/>
              <a:buFont typeface="Wingdings" charset="2"/>
              <a:buChar char=""/>
            </a:pPr>
            <a:r>
              <a:rPr b="0" lang="en-GB" sz="2000" spc="-1" strike="noStrike">
                <a:solidFill>
                  <a:schemeClr val="dk1"/>
                </a:solidFill>
                <a:latin typeface="Aptos"/>
              </a:rPr>
              <a:t>Fifth Outline Level</a:t>
            </a:r>
            <a:endParaRPr b="0" lang="en-GB" sz="2000" spc="-1" strike="noStrike">
              <a:solidFill>
                <a:schemeClr val="dk1"/>
              </a:solidFill>
              <a:latin typeface="Aptos"/>
            </a:endParaRPr>
          </a:p>
          <a:p>
            <a:pPr lvl="5" marL="2592000" indent="-216000">
              <a:spcBef>
                <a:spcPts val="283"/>
              </a:spcBef>
              <a:buClr>
                <a:srgbClr val="000000"/>
              </a:buClr>
              <a:buSzPct val="45000"/>
              <a:buFont typeface="Wingdings" charset="2"/>
              <a:buChar char=""/>
            </a:pPr>
            <a:r>
              <a:rPr b="0" lang="en-GB" sz="2000" spc="-1" strike="noStrike">
                <a:solidFill>
                  <a:schemeClr val="dk1"/>
                </a:solidFill>
                <a:latin typeface="Aptos"/>
              </a:rPr>
              <a:t>Sixth Outline Level</a:t>
            </a:r>
            <a:endParaRPr b="0" lang="en-GB" sz="2000" spc="-1" strike="noStrike">
              <a:solidFill>
                <a:schemeClr val="dk1"/>
              </a:solidFill>
              <a:latin typeface="Aptos"/>
            </a:endParaRPr>
          </a:p>
          <a:p>
            <a:pPr lvl="6" marL="3024000" indent="-216000">
              <a:spcBef>
                <a:spcPts val="283"/>
              </a:spcBef>
              <a:buClr>
                <a:srgbClr val="000000"/>
              </a:buClr>
              <a:buSzPct val="45000"/>
              <a:buFont typeface="Wingdings" charset="2"/>
              <a:buChar char=""/>
            </a:pPr>
            <a:r>
              <a:rPr b="0" lang="en-GB" sz="2000" spc="-1" strike="noStrike">
                <a:solidFill>
                  <a:schemeClr val="dk1"/>
                </a:solidFill>
                <a:latin typeface="Aptos"/>
              </a:rPr>
              <a:t>Seventh Outline Level</a:t>
            </a:r>
            <a:endParaRPr b="0" lang="en-GB" sz="2000" spc="-1" strike="noStrike">
              <a:solidFill>
                <a:schemeClr val="dk1"/>
              </a:solidFill>
              <a:latin typeface="Aptos"/>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slideLayout" Target="../slideLayouts/slideLayout1.xml"/><Relationship Id="rId4" Type="http://schemas.openxmlformats.org/officeDocument/2006/relationships/notesSlide" Target="../notesSlides/notesSlide2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01f"/>
        </a:solidFill>
      </p:bgPr>
    </p:bg>
    <p:spTree>
      <p:nvGrpSpPr>
        <p:cNvPr id="1" name=""/>
        <p:cNvGrpSpPr/>
        <p:nvPr/>
      </p:nvGrpSpPr>
      <p:grpSpPr>
        <a:xfrm>
          <a:off x="0" y="0"/>
          <a:ext cx="0" cy="0"/>
          <a:chOff x="0" y="0"/>
          <a:chExt cx="0" cy="0"/>
        </a:xfrm>
      </p:grpSpPr>
      <p:sp>
        <p:nvSpPr>
          <p:cNvPr id="8" name="Shape 0"/>
          <p:cNvSpPr/>
          <p:nvPr/>
        </p:nvSpPr>
        <p:spPr>
          <a:xfrm>
            <a:off x="0" y="0"/>
            <a:ext cx="12191400" cy="6857640"/>
          </a:xfrm>
          <a:prstGeom prst="rect">
            <a:avLst/>
          </a:prstGeom>
          <a:solidFill>
            <a:srgbClr val="06101f"/>
          </a:solidFill>
          <a:ln w="12700">
            <a:solidFill>
              <a:srgbClr val="06101f"/>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9" name="Shape 1"/>
          <p:cNvSpPr/>
          <p:nvPr/>
        </p:nvSpPr>
        <p:spPr>
          <a:xfrm>
            <a:off x="0" y="0"/>
            <a:ext cx="12191400" cy="6857640"/>
          </a:xfrm>
          <a:prstGeom prst="rect">
            <a:avLst/>
          </a:prstGeom>
          <a:solidFill>
            <a:srgbClr val="081629">
              <a:alpha val="85000"/>
            </a:srgbClr>
          </a:solidFill>
          <a:ln w="12700">
            <a:solidFill>
              <a:srgbClr val="081629">
                <a:alpha val="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0" name="Shape 2"/>
          <p:cNvSpPr/>
          <p:nvPr/>
        </p:nvSpPr>
        <p:spPr>
          <a:xfrm>
            <a:off x="-1554480" y="-1737360"/>
            <a:ext cx="5486040" cy="5486040"/>
          </a:xfrm>
          <a:prstGeom prst="arc">
            <a:avLst>
              <a:gd name="adj1" fmla="val 16200000"/>
              <a:gd name="adj2" fmla="val 0"/>
            </a:avLst>
          </a:prstGeom>
          <a:noFill/>
          <a:ln w="13970">
            <a:solidFill>
              <a:srgbClr val="14b8a6">
                <a:alpha val="3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1" name="Shape 3"/>
          <p:cNvSpPr/>
          <p:nvPr/>
        </p:nvSpPr>
        <p:spPr>
          <a:xfrm>
            <a:off x="7680960" y="3840480"/>
            <a:ext cx="5486040" cy="5486040"/>
          </a:xfrm>
          <a:prstGeom prst="arc">
            <a:avLst>
              <a:gd name="adj1" fmla="val 16200000"/>
              <a:gd name="adj2" fmla="val 0"/>
            </a:avLst>
          </a:prstGeom>
          <a:noFill/>
          <a:ln w="12700">
            <a:solidFill>
              <a:srgbClr val="f59e0b">
                <a:alpha val="22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2" name="Shape 4"/>
          <p:cNvSpPr/>
          <p:nvPr/>
        </p:nvSpPr>
        <p:spPr>
          <a:xfrm>
            <a:off x="0" y="0"/>
            <a:ext cx="12191400" cy="6857640"/>
          </a:xfrm>
          <a:prstGeom prst="rect">
            <a:avLst/>
          </a:prstGeom>
          <a:solidFill>
            <a:srgbClr val="06101f"/>
          </a:solidFill>
          <a:ln w="12700">
            <a:solidFill>
              <a:srgbClr val="06101f"/>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3" name="Shape 5"/>
          <p:cNvSpPr/>
          <p:nvPr/>
        </p:nvSpPr>
        <p:spPr>
          <a:xfrm>
            <a:off x="-914400" y="-1371600"/>
            <a:ext cx="5943240" cy="5943240"/>
          </a:xfrm>
          <a:prstGeom prst="arc">
            <a:avLst>
              <a:gd name="adj1" fmla="val 16200000"/>
              <a:gd name="adj2" fmla="val 0"/>
            </a:avLst>
          </a:prstGeom>
          <a:noFill/>
          <a:ln w="19050">
            <a:solidFill>
              <a:srgbClr val="14b8a6">
                <a:alpha val="6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4" name="Shape 6"/>
          <p:cNvSpPr/>
          <p:nvPr/>
        </p:nvSpPr>
        <p:spPr>
          <a:xfrm>
            <a:off x="7315200" y="3474720"/>
            <a:ext cx="5668920" cy="5668920"/>
          </a:xfrm>
          <a:prstGeom prst="arc">
            <a:avLst>
              <a:gd name="adj1" fmla="val 16200000"/>
              <a:gd name="adj2" fmla="val 0"/>
            </a:avLst>
          </a:prstGeom>
          <a:noFill/>
          <a:ln w="19050">
            <a:solidFill>
              <a:srgbClr val="f59e0b">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5" name="Shape 7"/>
          <p:cNvSpPr/>
          <p:nvPr/>
        </p:nvSpPr>
        <p:spPr>
          <a:xfrm>
            <a:off x="685800" y="567000"/>
            <a:ext cx="2331360" cy="292320"/>
          </a:xfrm>
          <a:prstGeom prst="roundRect">
            <a:avLst>
              <a:gd name="adj" fmla="val 25000"/>
            </a:avLst>
          </a:prstGeom>
          <a:solidFill>
            <a:srgbClr val="14b8a6">
              <a:alpha val="25000"/>
            </a:srgbClr>
          </a:solidFill>
          <a:ln w="8890">
            <a:solidFill>
              <a:srgbClr val="14b8a6">
                <a:alpha val="8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6" name="Text 8"/>
          <p:cNvSpPr/>
          <p:nvPr/>
        </p:nvSpPr>
        <p:spPr>
          <a:xfrm>
            <a:off x="758880" y="635400"/>
            <a:ext cx="2185200" cy="1278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720" spc="-1" strike="noStrike">
                <a:solidFill>
                  <a:srgbClr val="f8fafc"/>
                </a:solidFill>
                <a:latin typeface="Aptos"/>
                <a:ea typeface="Aptos"/>
              </a:rPr>
              <a:t>MACHINE LEARNING FINAL PROJECT</a:t>
            </a:r>
            <a:endParaRPr b="0" lang="en-GB" sz="720" spc="-1" strike="noStrike">
              <a:solidFill>
                <a:srgbClr val="ffffff"/>
              </a:solidFill>
              <a:latin typeface="Arial"/>
            </a:endParaRPr>
          </a:p>
        </p:txBody>
      </p:sp>
      <p:sp>
        <p:nvSpPr>
          <p:cNvPr id="17" name="Text 9"/>
          <p:cNvSpPr/>
          <p:nvPr/>
        </p:nvSpPr>
        <p:spPr>
          <a:xfrm>
            <a:off x="658440" y="1078920"/>
            <a:ext cx="7497720" cy="959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100" spc="-1" strike="noStrike">
                <a:solidFill>
                  <a:srgbClr val="f8fafc"/>
                </a:solidFill>
                <a:latin typeface="Aptos Display"/>
                <a:ea typeface="Aptos Display"/>
              </a:rPr>
              <a:t>Predicting Myocardial Infarction Mortality</a:t>
            </a:r>
            <a:endParaRPr b="0" lang="en-GB" sz="3100" spc="-1" strike="noStrike">
              <a:solidFill>
                <a:srgbClr val="ffffff"/>
              </a:solidFill>
              <a:latin typeface="Arial"/>
            </a:endParaRPr>
          </a:p>
        </p:txBody>
      </p:sp>
      <p:sp>
        <p:nvSpPr>
          <p:cNvPr id="18" name="Text 10"/>
          <p:cNvSpPr/>
          <p:nvPr/>
        </p:nvSpPr>
        <p:spPr>
          <a:xfrm>
            <a:off x="694800" y="2148840"/>
            <a:ext cx="6949080" cy="438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350" spc="-1" strike="noStrike">
                <a:solidFill>
                  <a:srgbClr val="94a3b8"/>
                </a:solidFill>
                <a:latin typeface="Aptos"/>
                <a:ea typeface="Aptos"/>
              </a:rPr>
              <a:t>A clinically oriented evaluation of preprocessing, model selection, robustness, and final test-set performance.</a:t>
            </a:r>
            <a:endParaRPr b="0" lang="en-GB" sz="1350" spc="-1" strike="noStrike">
              <a:solidFill>
                <a:srgbClr val="ffffff"/>
              </a:solidFill>
              <a:latin typeface="Arial"/>
            </a:endParaRPr>
          </a:p>
        </p:txBody>
      </p:sp>
      <p:sp>
        <p:nvSpPr>
          <p:cNvPr id="19" name="Shape 11"/>
          <p:cNvSpPr/>
          <p:nvPr/>
        </p:nvSpPr>
        <p:spPr>
          <a:xfrm>
            <a:off x="713160" y="2971800"/>
            <a:ext cx="1874160" cy="1115280"/>
          </a:xfrm>
          <a:prstGeom prst="roundRect">
            <a:avLst>
              <a:gd name="adj" fmla="val 9836"/>
            </a:avLst>
          </a:prstGeom>
          <a:solidFill>
            <a:srgbClr val="0b1a2e">
              <a:alpha val="95000"/>
            </a:srgbClr>
          </a:solidFill>
          <a:ln w="13970">
            <a:solidFill>
              <a:srgbClr val="14b8a6">
                <a:alpha val="6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0" name="Shape 12"/>
          <p:cNvSpPr/>
          <p:nvPr/>
        </p:nvSpPr>
        <p:spPr>
          <a:xfrm>
            <a:off x="713160" y="2971800"/>
            <a:ext cx="72720" cy="1115280"/>
          </a:xfrm>
          <a:prstGeom prst="rect">
            <a:avLst/>
          </a:prstGeom>
          <a:solidFill>
            <a:srgbClr val="14b8a6"/>
          </a:solidFill>
          <a:ln w="12700">
            <a:solidFill>
              <a:srgbClr val="14b8a6"/>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1" name="Text 13"/>
          <p:cNvSpPr/>
          <p:nvPr/>
        </p:nvSpPr>
        <p:spPr>
          <a:xfrm>
            <a:off x="914400" y="3173040"/>
            <a:ext cx="155412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720" spc="-1" strike="noStrike">
                <a:solidFill>
                  <a:srgbClr val="94a3b8"/>
                </a:solidFill>
                <a:latin typeface="Aptos"/>
                <a:ea typeface="Aptos"/>
              </a:rPr>
              <a:t>PATIENTS</a:t>
            </a:r>
            <a:endParaRPr b="0" lang="en-GB" sz="720" spc="-1" strike="noStrike">
              <a:solidFill>
                <a:srgbClr val="ffffff"/>
              </a:solidFill>
              <a:latin typeface="Arial"/>
            </a:endParaRPr>
          </a:p>
        </p:txBody>
      </p:sp>
      <p:sp>
        <p:nvSpPr>
          <p:cNvPr id="22" name="Text 14"/>
          <p:cNvSpPr/>
          <p:nvPr/>
        </p:nvSpPr>
        <p:spPr>
          <a:xfrm>
            <a:off x="914400" y="3410640"/>
            <a:ext cx="1554120" cy="328680"/>
          </a:xfrm>
          <a:prstGeom prst="rect">
            <a:avLst/>
          </a:prstGeom>
          <a:noFill/>
          <a:ln w="0">
            <a:noFill/>
          </a:ln>
        </p:spPr>
        <p:style>
          <a:lnRef idx="0"/>
          <a:fillRef idx="0"/>
          <a:effectRef idx="0"/>
          <a:fontRef idx="minor"/>
        </p:style>
        <p:txBody>
          <a:bodyPr lIns="0" rIns="0" tIns="0" bIns="0" anchor="ctr">
            <a:normAutofit fontScale="96666"/>
          </a:bodyPr>
          <a:p>
            <a:pPr defTabSz="914400">
              <a:lnSpc>
                <a:spcPct val="100000"/>
              </a:lnSpc>
              <a:tabLst>
                <a:tab algn="l" pos="0"/>
              </a:tabLst>
            </a:pPr>
            <a:r>
              <a:rPr b="1" lang="en-US" sz="2300" spc="-1" strike="noStrike">
                <a:solidFill>
                  <a:srgbClr val="f8fafc"/>
                </a:solidFill>
                <a:latin typeface="Aptos Display"/>
                <a:ea typeface="Aptos Display"/>
              </a:rPr>
              <a:t>1,700</a:t>
            </a:r>
            <a:endParaRPr b="0" lang="en-GB" sz="2300" spc="-1" strike="noStrike">
              <a:solidFill>
                <a:srgbClr val="ffffff"/>
              </a:solidFill>
              <a:latin typeface="Arial"/>
            </a:endParaRPr>
          </a:p>
        </p:txBody>
      </p:sp>
      <p:sp>
        <p:nvSpPr>
          <p:cNvPr id="23" name="Text 15"/>
          <p:cNvSpPr/>
          <p:nvPr/>
        </p:nvSpPr>
        <p:spPr>
          <a:xfrm>
            <a:off x="914400" y="3840480"/>
            <a:ext cx="1554120" cy="155160"/>
          </a:xfrm>
          <a:prstGeom prst="rect">
            <a:avLst/>
          </a:prstGeom>
          <a:noFill/>
          <a:ln w="0">
            <a:noFill/>
          </a:ln>
        </p:spPr>
        <p:style>
          <a:lnRef idx="0"/>
          <a:fillRef idx="0"/>
          <a:effectRef idx="0"/>
          <a:fontRef idx="minor"/>
        </p:style>
        <p:txBody>
          <a:bodyPr lIns="0" rIns="0" tIns="0" bIns="0" anchor="ctr">
            <a:normAutofit fontScale="75000"/>
          </a:bodyPr>
          <a:p>
            <a:pPr defTabSz="914400">
              <a:lnSpc>
                <a:spcPct val="100000"/>
              </a:lnSpc>
              <a:tabLst>
                <a:tab algn="l" pos="0"/>
              </a:tabLst>
            </a:pPr>
            <a:r>
              <a:rPr b="0" lang="en-US" sz="850" spc="-1" strike="noStrike">
                <a:solidFill>
                  <a:srgbClr val="94a3b8"/>
                </a:solidFill>
                <a:latin typeface="Aptos"/>
                <a:ea typeface="Aptos"/>
              </a:rPr>
              <a:t>UCI / Kaggle MI complications dataset</a:t>
            </a:r>
            <a:endParaRPr b="0" lang="en-GB" sz="850" spc="-1" strike="noStrike">
              <a:solidFill>
                <a:srgbClr val="ffffff"/>
              </a:solidFill>
              <a:latin typeface="Arial"/>
            </a:endParaRPr>
          </a:p>
        </p:txBody>
      </p:sp>
      <p:sp>
        <p:nvSpPr>
          <p:cNvPr id="24" name="Shape 16"/>
          <p:cNvSpPr/>
          <p:nvPr/>
        </p:nvSpPr>
        <p:spPr>
          <a:xfrm>
            <a:off x="2816280" y="2971800"/>
            <a:ext cx="1874160" cy="1115280"/>
          </a:xfrm>
          <a:prstGeom prst="roundRect">
            <a:avLst>
              <a:gd name="adj" fmla="val 9836"/>
            </a:avLst>
          </a:prstGeom>
          <a:solidFill>
            <a:srgbClr val="0b1a2e">
              <a:alpha val="95000"/>
            </a:srgbClr>
          </a:solidFill>
          <a:ln w="13970">
            <a:solidFill>
              <a:srgbClr val="38bdf8">
                <a:alpha val="6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5" name="Shape 17"/>
          <p:cNvSpPr/>
          <p:nvPr/>
        </p:nvSpPr>
        <p:spPr>
          <a:xfrm>
            <a:off x="2816280" y="2971800"/>
            <a:ext cx="72720" cy="1115280"/>
          </a:xfrm>
          <a:prstGeom prst="rect">
            <a:avLst/>
          </a:prstGeom>
          <a:solidFill>
            <a:srgbClr val="38bdf8"/>
          </a:solidFill>
          <a:ln w="12700">
            <a:solidFill>
              <a:srgbClr val="38bdf8"/>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6" name="Text 18"/>
          <p:cNvSpPr/>
          <p:nvPr/>
        </p:nvSpPr>
        <p:spPr>
          <a:xfrm>
            <a:off x="3017520" y="3173040"/>
            <a:ext cx="155412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720" spc="-1" strike="noStrike">
                <a:solidFill>
                  <a:srgbClr val="94a3b8"/>
                </a:solidFill>
                <a:latin typeface="Aptos"/>
                <a:ea typeface="Aptos"/>
              </a:rPr>
              <a:t>VARIABLES</a:t>
            </a:r>
            <a:endParaRPr b="0" lang="en-GB" sz="720" spc="-1" strike="noStrike">
              <a:solidFill>
                <a:srgbClr val="ffffff"/>
              </a:solidFill>
              <a:latin typeface="Arial"/>
            </a:endParaRPr>
          </a:p>
        </p:txBody>
      </p:sp>
      <p:sp>
        <p:nvSpPr>
          <p:cNvPr id="27" name="Text 19"/>
          <p:cNvSpPr/>
          <p:nvPr/>
        </p:nvSpPr>
        <p:spPr>
          <a:xfrm>
            <a:off x="3017520" y="3410640"/>
            <a:ext cx="1554120" cy="328680"/>
          </a:xfrm>
          <a:prstGeom prst="rect">
            <a:avLst/>
          </a:prstGeom>
          <a:noFill/>
          <a:ln w="0">
            <a:noFill/>
          </a:ln>
        </p:spPr>
        <p:style>
          <a:lnRef idx="0"/>
          <a:fillRef idx="0"/>
          <a:effectRef idx="0"/>
          <a:fontRef idx="minor"/>
        </p:style>
        <p:txBody>
          <a:bodyPr lIns="0" rIns="0" tIns="0" bIns="0" anchor="ctr">
            <a:normAutofit fontScale="96666"/>
          </a:bodyPr>
          <a:p>
            <a:pPr defTabSz="914400">
              <a:lnSpc>
                <a:spcPct val="100000"/>
              </a:lnSpc>
              <a:tabLst>
                <a:tab algn="l" pos="0"/>
              </a:tabLst>
            </a:pPr>
            <a:r>
              <a:rPr b="1" lang="en-US" sz="2300" spc="-1" strike="noStrike">
                <a:solidFill>
                  <a:srgbClr val="f8fafc"/>
                </a:solidFill>
                <a:latin typeface="Aptos Display"/>
                <a:ea typeface="Aptos Display"/>
              </a:rPr>
              <a:t>124</a:t>
            </a:r>
            <a:endParaRPr b="0" lang="en-GB" sz="2300" spc="-1" strike="noStrike">
              <a:solidFill>
                <a:srgbClr val="ffffff"/>
              </a:solidFill>
              <a:latin typeface="Arial"/>
            </a:endParaRPr>
          </a:p>
        </p:txBody>
      </p:sp>
      <p:sp>
        <p:nvSpPr>
          <p:cNvPr id="28" name="Text 20"/>
          <p:cNvSpPr/>
          <p:nvPr/>
        </p:nvSpPr>
        <p:spPr>
          <a:xfrm>
            <a:off x="3017520" y="3840480"/>
            <a:ext cx="1554120" cy="155160"/>
          </a:xfrm>
          <a:prstGeom prst="rect">
            <a:avLst/>
          </a:prstGeom>
          <a:noFill/>
          <a:ln w="0">
            <a:noFill/>
          </a:ln>
        </p:spPr>
        <p:style>
          <a:lnRef idx="0"/>
          <a:fillRef idx="0"/>
          <a:effectRef idx="0"/>
          <a:fontRef idx="minor"/>
        </p:style>
        <p:txBody>
          <a:bodyPr lIns="0" rIns="0" tIns="0" bIns="0" anchor="ctr">
            <a:normAutofit fontScale="75000" lnSpcReduction="20000"/>
          </a:bodyPr>
          <a:p>
            <a:pPr defTabSz="914400">
              <a:lnSpc>
                <a:spcPct val="100000"/>
              </a:lnSpc>
              <a:tabLst>
                <a:tab algn="l" pos="0"/>
              </a:tabLst>
            </a:pPr>
            <a:r>
              <a:rPr b="0" lang="en-US" sz="850" spc="-1" strike="noStrike">
                <a:solidFill>
                  <a:srgbClr val="94a3b8"/>
                </a:solidFill>
                <a:latin typeface="Aptos"/>
                <a:ea typeface="Aptos"/>
              </a:rPr>
              <a:t>Raw clinical columns before leakage control</a:t>
            </a:r>
            <a:endParaRPr b="0" lang="en-GB" sz="850" spc="-1" strike="noStrike">
              <a:solidFill>
                <a:srgbClr val="ffffff"/>
              </a:solidFill>
              <a:latin typeface="Arial"/>
            </a:endParaRPr>
          </a:p>
        </p:txBody>
      </p:sp>
      <p:sp>
        <p:nvSpPr>
          <p:cNvPr id="29" name="Shape 21"/>
          <p:cNvSpPr/>
          <p:nvPr/>
        </p:nvSpPr>
        <p:spPr>
          <a:xfrm>
            <a:off x="4919400" y="2971800"/>
            <a:ext cx="1874160" cy="1115280"/>
          </a:xfrm>
          <a:prstGeom prst="roundRect">
            <a:avLst>
              <a:gd name="adj" fmla="val 9836"/>
            </a:avLst>
          </a:prstGeom>
          <a:solidFill>
            <a:srgbClr val="0b1a2e">
              <a:alpha val="95000"/>
            </a:srgbClr>
          </a:solidFill>
          <a:ln w="13970">
            <a:solidFill>
              <a:srgbClr val="f59e0b">
                <a:alpha val="6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30" name="Shape 22"/>
          <p:cNvSpPr/>
          <p:nvPr/>
        </p:nvSpPr>
        <p:spPr>
          <a:xfrm>
            <a:off x="4919400" y="2971800"/>
            <a:ext cx="72720" cy="1115280"/>
          </a:xfrm>
          <a:prstGeom prst="rect">
            <a:avLst/>
          </a:prstGeom>
          <a:solidFill>
            <a:srgbClr val="f59e0b"/>
          </a:solidFill>
          <a:ln w="12700">
            <a:solidFill>
              <a:srgbClr val="f59e0b"/>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31" name="Text 23"/>
          <p:cNvSpPr/>
          <p:nvPr/>
        </p:nvSpPr>
        <p:spPr>
          <a:xfrm>
            <a:off x="5120640" y="3173040"/>
            <a:ext cx="155412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720" spc="-1" strike="noStrike">
                <a:solidFill>
                  <a:srgbClr val="94a3b8"/>
                </a:solidFill>
                <a:latin typeface="Aptos"/>
                <a:ea typeface="Aptos"/>
              </a:rPr>
              <a:t>FEATURES USED</a:t>
            </a:r>
            <a:endParaRPr b="0" lang="en-GB" sz="720" spc="-1" strike="noStrike">
              <a:solidFill>
                <a:srgbClr val="ffffff"/>
              </a:solidFill>
              <a:latin typeface="Arial"/>
            </a:endParaRPr>
          </a:p>
        </p:txBody>
      </p:sp>
      <p:sp>
        <p:nvSpPr>
          <p:cNvPr id="32" name="Text 24"/>
          <p:cNvSpPr/>
          <p:nvPr/>
        </p:nvSpPr>
        <p:spPr>
          <a:xfrm>
            <a:off x="5120640" y="3410640"/>
            <a:ext cx="1554120" cy="328680"/>
          </a:xfrm>
          <a:prstGeom prst="rect">
            <a:avLst/>
          </a:prstGeom>
          <a:noFill/>
          <a:ln w="0">
            <a:noFill/>
          </a:ln>
        </p:spPr>
        <p:style>
          <a:lnRef idx="0"/>
          <a:fillRef idx="0"/>
          <a:effectRef idx="0"/>
          <a:fontRef idx="minor"/>
        </p:style>
        <p:txBody>
          <a:bodyPr lIns="0" rIns="0" tIns="0" bIns="0" anchor="ctr">
            <a:normAutofit fontScale="96666"/>
          </a:bodyPr>
          <a:p>
            <a:pPr defTabSz="914400">
              <a:lnSpc>
                <a:spcPct val="100000"/>
              </a:lnSpc>
              <a:tabLst>
                <a:tab algn="l" pos="0"/>
              </a:tabLst>
            </a:pPr>
            <a:r>
              <a:rPr b="1" lang="en-US" sz="2300" spc="-1" strike="noStrike">
                <a:solidFill>
                  <a:srgbClr val="f8fafc"/>
                </a:solidFill>
                <a:latin typeface="Aptos Display"/>
                <a:ea typeface="Aptos Display"/>
              </a:rPr>
              <a:t>104</a:t>
            </a:r>
            <a:endParaRPr b="0" lang="en-GB" sz="2300" spc="-1" strike="noStrike">
              <a:solidFill>
                <a:srgbClr val="ffffff"/>
              </a:solidFill>
              <a:latin typeface="Arial"/>
            </a:endParaRPr>
          </a:p>
        </p:txBody>
      </p:sp>
      <p:sp>
        <p:nvSpPr>
          <p:cNvPr id="33" name="Text 25"/>
          <p:cNvSpPr/>
          <p:nvPr/>
        </p:nvSpPr>
        <p:spPr>
          <a:xfrm>
            <a:off x="5120640" y="3840480"/>
            <a:ext cx="1554120" cy="155160"/>
          </a:xfrm>
          <a:prstGeom prst="rect">
            <a:avLst/>
          </a:prstGeom>
          <a:noFill/>
          <a:ln w="0">
            <a:noFill/>
          </a:ln>
        </p:spPr>
        <p:style>
          <a:lnRef idx="0"/>
          <a:fillRef idx="0"/>
          <a:effectRef idx="0"/>
          <a:fontRef idx="minor"/>
        </p:style>
        <p:txBody>
          <a:bodyPr lIns="0" rIns="0" tIns="0" bIns="0" anchor="ctr">
            <a:normAutofit fontScale="75000" lnSpcReduction="20000"/>
          </a:bodyPr>
          <a:p>
            <a:pPr defTabSz="914400">
              <a:lnSpc>
                <a:spcPct val="100000"/>
              </a:lnSpc>
              <a:tabLst>
                <a:tab algn="l" pos="0"/>
              </a:tabLst>
            </a:pPr>
            <a:r>
              <a:rPr b="0" lang="en-US" sz="850" spc="-1" strike="noStrike">
                <a:solidFill>
                  <a:srgbClr val="94a3b8"/>
                </a:solidFill>
                <a:latin typeface="Aptos"/>
                <a:ea typeface="Aptos"/>
              </a:rPr>
              <a:t>After dropping leakage and other targets</a:t>
            </a:r>
            <a:endParaRPr b="0" lang="en-GB" sz="850" spc="-1" strike="noStrike">
              <a:solidFill>
                <a:srgbClr val="ffffff"/>
              </a:solidFill>
              <a:latin typeface="Arial"/>
            </a:endParaRPr>
          </a:p>
        </p:txBody>
      </p:sp>
      <p:sp>
        <p:nvSpPr>
          <p:cNvPr id="34" name="Shape 26"/>
          <p:cNvSpPr/>
          <p:nvPr/>
        </p:nvSpPr>
        <p:spPr>
          <a:xfrm>
            <a:off x="7022520" y="2971800"/>
            <a:ext cx="1874160" cy="1115280"/>
          </a:xfrm>
          <a:prstGeom prst="roundRect">
            <a:avLst>
              <a:gd name="adj" fmla="val 9836"/>
            </a:avLst>
          </a:prstGeom>
          <a:solidFill>
            <a:srgbClr val="0b1a2e">
              <a:alpha val="95000"/>
            </a:srgbClr>
          </a:solidFill>
          <a:ln w="13970">
            <a:solidFill>
              <a:srgbClr val="a78bfa">
                <a:alpha val="6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35" name="Shape 27"/>
          <p:cNvSpPr/>
          <p:nvPr/>
        </p:nvSpPr>
        <p:spPr>
          <a:xfrm>
            <a:off x="7022520" y="2971800"/>
            <a:ext cx="72720" cy="1115280"/>
          </a:xfrm>
          <a:prstGeom prst="rect">
            <a:avLst/>
          </a:prstGeom>
          <a:solidFill>
            <a:srgbClr val="a78bfa"/>
          </a:solidFill>
          <a:ln w="12700">
            <a:solidFill>
              <a:srgbClr val="a78bfa"/>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36" name="Text 28"/>
          <p:cNvSpPr/>
          <p:nvPr/>
        </p:nvSpPr>
        <p:spPr>
          <a:xfrm>
            <a:off x="7223760" y="3173040"/>
            <a:ext cx="155412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720" spc="-1" strike="noStrike">
                <a:solidFill>
                  <a:srgbClr val="94a3b8"/>
                </a:solidFill>
                <a:latin typeface="Aptos"/>
                <a:ea typeface="Aptos"/>
              </a:rPr>
              <a:t>FINAL MODELS</a:t>
            </a:r>
            <a:endParaRPr b="0" lang="en-GB" sz="720" spc="-1" strike="noStrike">
              <a:solidFill>
                <a:srgbClr val="ffffff"/>
              </a:solidFill>
              <a:latin typeface="Arial"/>
            </a:endParaRPr>
          </a:p>
        </p:txBody>
      </p:sp>
      <p:sp>
        <p:nvSpPr>
          <p:cNvPr id="37" name="Text 29"/>
          <p:cNvSpPr/>
          <p:nvPr/>
        </p:nvSpPr>
        <p:spPr>
          <a:xfrm>
            <a:off x="7223760" y="3410640"/>
            <a:ext cx="1554120" cy="328680"/>
          </a:xfrm>
          <a:prstGeom prst="rect">
            <a:avLst/>
          </a:prstGeom>
          <a:noFill/>
          <a:ln w="0">
            <a:noFill/>
          </a:ln>
        </p:spPr>
        <p:style>
          <a:lnRef idx="0"/>
          <a:fillRef idx="0"/>
          <a:effectRef idx="0"/>
          <a:fontRef idx="minor"/>
        </p:style>
        <p:txBody>
          <a:bodyPr lIns="0" rIns="0" tIns="0" bIns="0" anchor="ctr">
            <a:normAutofit fontScale="96666"/>
          </a:bodyPr>
          <a:p>
            <a:pPr defTabSz="914400">
              <a:lnSpc>
                <a:spcPct val="100000"/>
              </a:lnSpc>
              <a:tabLst>
                <a:tab algn="l" pos="0"/>
              </a:tabLst>
            </a:pPr>
            <a:r>
              <a:rPr b="1" lang="en-US" sz="2300" spc="-1" strike="noStrike">
                <a:solidFill>
                  <a:srgbClr val="f8fafc"/>
                </a:solidFill>
                <a:latin typeface="Aptos Display"/>
                <a:ea typeface="Aptos Display"/>
              </a:rPr>
              <a:t>10</a:t>
            </a:r>
            <a:endParaRPr b="0" lang="en-GB" sz="2300" spc="-1" strike="noStrike">
              <a:solidFill>
                <a:srgbClr val="ffffff"/>
              </a:solidFill>
              <a:latin typeface="Arial"/>
            </a:endParaRPr>
          </a:p>
        </p:txBody>
      </p:sp>
      <p:sp>
        <p:nvSpPr>
          <p:cNvPr id="38" name="Text 30"/>
          <p:cNvSpPr/>
          <p:nvPr/>
        </p:nvSpPr>
        <p:spPr>
          <a:xfrm>
            <a:off x="7223760" y="3840480"/>
            <a:ext cx="1554120" cy="155160"/>
          </a:xfrm>
          <a:prstGeom prst="rect">
            <a:avLst/>
          </a:prstGeom>
          <a:noFill/>
          <a:ln w="0">
            <a:noFill/>
          </a:ln>
        </p:spPr>
        <p:style>
          <a:lnRef idx="0"/>
          <a:fillRef idx="0"/>
          <a:effectRef idx="0"/>
          <a:fontRef idx="minor"/>
        </p:style>
        <p:txBody>
          <a:bodyPr lIns="0" rIns="0" tIns="0" bIns="0" anchor="ctr">
            <a:normAutofit fontScale="75000" lnSpcReduction="20000"/>
          </a:bodyPr>
          <a:p>
            <a:pPr defTabSz="914400">
              <a:lnSpc>
                <a:spcPct val="100000"/>
              </a:lnSpc>
              <a:tabLst>
                <a:tab algn="l" pos="0"/>
              </a:tabLst>
            </a:pPr>
            <a:r>
              <a:rPr b="0" lang="en-US" sz="850" spc="-1" strike="noStrike">
                <a:solidFill>
                  <a:srgbClr val="94a3b8"/>
                </a:solidFill>
                <a:latin typeface="Aptos"/>
                <a:ea typeface="Aptos"/>
              </a:rPr>
              <a:t>Baseline, tuned, ensembles, adversarial</a:t>
            </a:r>
            <a:endParaRPr b="0" lang="en-GB" sz="850" spc="-1" strike="noStrike">
              <a:solidFill>
                <a:srgbClr val="ffffff"/>
              </a:solidFill>
              <a:latin typeface="Arial"/>
            </a:endParaRPr>
          </a:p>
        </p:txBody>
      </p:sp>
      <p:sp>
        <p:nvSpPr>
          <p:cNvPr id="39" name="Text 31"/>
          <p:cNvSpPr/>
          <p:nvPr/>
        </p:nvSpPr>
        <p:spPr>
          <a:xfrm>
            <a:off x="713160" y="6080760"/>
            <a:ext cx="8960760" cy="200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94a3b8"/>
                </a:solidFill>
                <a:latin typeface="Aptos"/>
                <a:ea typeface="Aptos"/>
              </a:rPr>
              <a:t>Ahmad Balubaid, Faisal khalili, Mohammed Tazi, Hamzah Hamzah</a:t>
            </a:r>
            <a:endParaRPr b="0" lang="en-GB" sz="900" spc="-1" strike="noStrike">
              <a:solidFill>
                <a:srgbClr val="ffffff"/>
              </a:solidFill>
              <a:latin typeface="Arial"/>
            </a:endParaRPr>
          </a:p>
        </p:txBody>
      </p:sp>
      <p:sp>
        <p:nvSpPr>
          <p:cNvPr id="40" name="Shape 32"/>
          <p:cNvSpPr/>
          <p:nvPr/>
        </p:nvSpPr>
        <p:spPr>
          <a:xfrm>
            <a:off x="502920" y="6555960"/>
            <a:ext cx="11201400" cy="360"/>
          </a:xfrm>
          <a:prstGeom prst="line">
            <a:avLst/>
          </a:prstGeom>
          <a:ln w="7620">
            <a:solidFill>
              <a:srgbClr val="334155">
                <a:alpha val="60000"/>
              </a:srgbClr>
            </a:solidFill>
            <a:round/>
          </a:ln>
        </p:spPr>
        <p:style>
          <a:lnRef idx="0"/>
          <a:fillRef idx="0"/>
          <a:effectRef idx="0"/>
          <a:fontRef idx="minor"/>
        </p:style>
        <p:txBody>
          <a:bodyPr lIns="90000" rIns="90000" tIns="-44640" bIns="-44640" anchor="t" anchorCtr="1">
            <a:noAutofit/>
          </a:bodyPr>
          <a:p>
            <a:endParaRPr b="0" lang="en-GB" sz="1800" spc="-1" strike="noStrike">
              <a:solidFill>
                <a:srgbClr val="ffffff"/>
              </a:solidFill>
              <a:latin typeface="Arial"/>
            </a:endParaRPr>
          </a:p>
        </p:txBody>
      </p:sp>
      <p:sp>
        <p:nvSpPr>
          <p:cNvPr id="41" name="Text 33"/>
          <p:cNvSpPr/>
          <p:nvPr/>
        </p:nvSpPr>
        <p:spPr>
          <a:xfrm>
            <a:off x="530280" y="6602040"/>
            <a:ext cx="6217560" cy="145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650" spc="-1" strike="noStrike">
                <a:solidFill>
                  <a:srgbClr val="94a3b8"/>
                </a:solidFill>
                <a:latin typeface="Aptos"/>
                <a:ea typeface="Aptos"/>
              </a:rPr>
              <a:t>Clinical Outcome Prediction • Myocardial Infarction Complications</a:t>
            </a:r>
            <a:endParaRPr b="0" lang="en-GB" sz="650" spc="-1" strike="noStrike">
              <a:solidFill>
                <a:srgbClr val="ffffff"/>
              </a:solidFill>
              <a:latin typeface="Arial"/>
            </a:endParaRPr>
          </a:p>
        </p:txBody>
      </p:sp>
      <p:sp>
        <p:nvSpPr>
          <p:cNvPr id="42" name="Text 34"/>
          <p:cNvSpPr/>
          <p:nvPr/>
        </p:nvSpPr>
        <p:spPr>
          <a:xfrm>
            <a:off x="11201400" y="6565320"/>
            <a:ext cx="502560" cy="2282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750" spc="-1" strike="noStrike">
                <a:solidFill>
                  <a:srgbClr val="94a3b8"/>
                </a:solidFill>
                <a:latin typeface="Aptos"/>
                <a:ea typeface="Aptos"/>
              </a:rPr>
              <a:t>01</a:t>
            </a:r>
            <a:endParaRPr b="0" lang="en-GB" sz="7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01f"/>
        </a:solidFill>
      </p:bgPr>
    </p:bg>
    <p:spTree>
      <p:nvGrpSpPr>
        <p:cNvPr id="1" name=""/>
        <p:cNvGrpSpPr/>
        <p:nvPr/>
      </p:nvGrpSpPr>
      <p:grpSpPr>
        <a:xfrm>
          <a:off x="0" y="0"/>
          <a:ext cx="0" cy="0"/>
          <a:chOff x="0" y="0"/>
          <a:chExt cx="0" cy="0"/>
        </a:xfrm>
      </p:grpSpPr>
      <p:sp>
        <p:nvSpPr>
          <p:cNvPr id="43" name="Shape 0"/>
          <p:cNvSpPr/>
          <p:nvPr/>
        </p:nvSpPr>
        <p:spPr>
          <a:xfrm>
            <a:off x="0" y="0"/>
            <a:ext cx="12191400" cy="6857640"/>
          </a:xfrm>
          <a:prstGeom prst="rect">
            <a:avLst/>
          </a:prstGeom>
          <a:solidFill>
            <a:srgbClr val="06101f"/>
          </a:solidFill>
          <a:ln w="12700">
            <a:solidFill>
              <a:srgbClr val="06101f"/>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44" name="Shape 1"/>
          <p:cNvSpPr/>
          <p:nvPr/>
        </p:nvSpPr>
        <p:spPr>
          <a:xfrm>
            <a:off x="0" y="0"/>
            <a:ext cx="12191400" cy="6857640"/>
          </a:xfrm>
          <a:prstGeom prst="rect">
            <a:avLst/>
          </a:prstGeom>
          <a:solidFill>
            <a:srgbClr val="081629">
              <a:alpha val="85000"/>
            </a:srgbClr>
          </a:solidFill>
          <a:ln w="12700">
            <a:solidFill>
              <a:srgbClr val="081629">
                <a:alpha val="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45" name="Shape 2"/>
          <p:cNvSpPr/>
          <p:nvPr/>
        </p:nvSpPr>
        <p:spPr>
          <a:xfrm>
            <a:off x="-1554480" y="-1737360"/>
            <a:ext cx="5486040" cy="5486040"/>
          </a:xfrm>
          <a:prstGeom prst="arc">
            <a:avLst>
              <a:gd name="adj1" fmla="val 16200000"/>
              <a:gd name="adj2" fmla="val 0"/>
            </a:avLst>
          </a:prstGeom>
          <a:noFill/>
          <a:ln w="13970">
            <a:solidFill>
              <a:srgbClr val="14b8a6">
                <a:alpha val="3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46" name="Shape 3"/>
          <p:cNvSpPr/>
          <p:nvPr/>
        </p:nvSpPr>
        <p:spPr>
          <a:xfrm>
            <a:off x="7680960" y="3840480"/>
            <a:ext cx="5486040" cy="5486040"/>
          </a:xfrm>
          <a:prstGeom prst="arc">
            <a:avLst>
              <a:gd name="adj1" fmla="val 16200000"/>
              <a:gd name="adj2" fmla="val 0"/>
            </a:avLst>
          </a:prstGeom>
          <a:noFill/>
          <a:ln w="12700">
            <a:solidFill>
              <a:srgbClr val="f59e0b">
                <a:alpha val="22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47" name="Text 4"/>
          <p:cNvSpPr/>
          <p:nvPr/>
        </p:nvSpPr>
        <p:spPr>
          <a:xfrm>
            <a:off x="567000" y="347400"/>
            <a:ext cx="594324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50" spc="-1" strike="noStrike">
                <a:solidFill>
                  <a:srgbClr val="14b8a6"/>
                </a:solidFill>
                <a:latin typeface="Aptos"/>
                <a:ea typeface="Aptos"/>
              </a:rPr>
              <a:t>OPENING HOOK</a:t>
            </a:r>
            <a:endParaRPr b="0" lang="en-GB" sz="850" spc="-1" strike="noStrike">
              <a:solidFill>
                <a:srgbClr val="ffffff"/>
              </a:solidFill>
              <a:latin typeface="Arial"/>
            </a:endParaRPr>
          </a:p>
        </p:txBody>
      </p:sp>
      <p:sp>
        <p:nvSpPr>
          <p:cNvPr id="48" name="Text 5"/>
          <p:cNvSpPr/>
          <p:nvPr/>
        </p:nvSpPr>
        <p:spPr>
          <a:xfrm>
            <a:off x="548640" y="658440"/>
            <a:ext cx="10926720" cy="5940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400" spc="-1" strike="noStrike">
                <a:solidFill>
                  <a:srgbClr val="f8fafc"/>
                </a:solidFill>
                <a:latin typeface="Aptos Display"/>
                <a:ea typeface="Aptos Display"/>
              </a:rPr>
              <a:t>The clinical question: who is at risk before it is too late?</a:t>
            </a:r>
            <a:endParaRPr b="0" lang="en-GB" sz="2400" spc="-1" strike="noStrike">
              <a:solidFill>
                <a:srgbClr val="ffffff"/>
              </a:solidFill>
              <a:latin typeface="Arial"/>
            </a:endParaRPr>
          </a:p>
        </p:txBody>
      </p:sp>
      <p:sp>
        <p:nvSpPr>
          <p:cNvPr id="49" name="Text 6"/>
          <p:cNvSpPr/>
          <p:nvPr/>
        </p:nvSpPr>
        <p:spPr>
          <a:xfrm>
            <a:off x="567000" y="1216080"/>
            <a:ext cx="1051524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50" spc="-1" strike="noStrike">
                <a:solidFill>
                  <a:srgbClr val="94a3b8"/>
                </a:solidFill>
                <a:latin typeface="Aptos"/>
                <a:ea typeface="Aptos"/>
              </a:rPr>
              <a:t>The goal is not only high accuracy; the goal is to identify high-risk patients without missing critical minority-class cases.</a:t>
            </a:r>
            <a:endParaRPr b="0" lang="en-GB" sz="1050" spc="-1" strike="noStrike">
              <a:solidFill>
                <a:srgbClr val="ffffff"/>
              </a:solidFill>
              <a:latin typeface="Arial"/>
            </a:endParaRPr>
          </a:p>
        </p:txBody>
      </p:sp>
      <p:sp>
        <p:nvSpPr>
          <p:cNvPr id="50" name="Shape 7"/>
          <p:cNvSpPr/>
          <p:nvPr/>
        </p:nvSpPr>
        <p:spPr>
          <a:xfrm>
            <a:off x="658440" y="1783080"/>
            <a:ext cx="3428640" cy="1261440"/>
          </a:xfrm>
          <a:prstGeom prst="roundRect">
            <a:avLst>
              <a:gd name="adj" fmla="val 8696"/>
            </a:avLst>
          </a:prstGeom>
          <a:solidFill>
            <a:srgbClr val="10243d"/>
          </a:solidFill>
          <a:ln w="10160">
            <a:solidFill>
              <a:srgbClr val="334155">
                <a:alpha val="6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51" name="Text 8"/>
          <p:cNvSpPr/>
          <p:nvPr/>
        </p:nvSpPr>
        <p:spPr>
          <a:xfrm>
            <a:off x="822960" y="1929240"/>
            <a:ext cx="3099600" cy="209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00" spc="-1" strike="noStrike">
                <a:solidFill>
                  <a:srgbClr val="f43f5e"/>
                </a:solidFill>
                <a:latin typeface="Aptos"/>
                <a:ea typeface="Aptos"/>
              </a:rPr>
              <a:t>Problem</a:t>
            </a:r>
            <a:endParaRPr b="0" lang="en-GB" sz="900" spc="-1" strike="noStrike">
              <a:solidFill>
                <a:srgbClr val="ffffff"/>
              </a:solidFill>
              <a:latin typeface="Arial"/>
            </a:endParaRPr>
          </a:p>
        </p:txBody>
      </p:sp>
      <p:sp>
        <p:nvSpPr>
          <p:cNvPr id="52" name="Text 9"/>
          <p:cNvSpPr/>
          <p:nvPr/>
        </p:nvSpPr>
        <p:spPr>
          <a:xfrm>
            <a:off x="822960" y="2231280"/>
            <a:ext cx="3099600" cy="6670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1" strike="noStrike">
                <a:solidFill>
                  <a:srgbClr val="f8fafc"/>
                </a:solidFill>
                <a:latin typeface="Aptos"/>
                <a:ea typeface="Aptos"/>
              </a:rPr>
              <a:t>Post-MI patients can deteriorate through complications such as arrhythmia, shock, recurrent infarction, or death. Traditional scoring can miss non-linear interactions in high-dimensional clinical data.</a:t>
            </a:r>
            <a:endParaRPr b="0" lang="en-GB" sz="850" spc="-1" strike="noStrike">
              <a:solidFill>
                <a:srgbClr val="ffffff"/>
              </a:solidFill>
              <a:latin typeface="Arial"/>
            </a:endParaRPr>
          </a:p>
        </p:txBody>
      </p:sp>
      <p:sp>
        <p:nvSpPr>
          <p:cNvPr id="53" name="Shape 10"/>
          <p:cNvSpPr/>
          <p:nvPr/>
        </p:nvSpPr>
        <p:spPr>
          <a:xfrm>
            <a:off x="4389120" y="1783080"/>
            <a:ext cx="3428640" cy="1261440"/>
          </a:xfrm>
          <a:prstGeom prst="roundRect">
            <a:avLst>
              <a:gd name="adj" fmla="val 8696"/>
            </a:avLst>
          </a:prstGeom>
          <a:solidFill>
            <a:srgbClr val="10243d"/>
          </a:solidFill>
          <a:ln w="10160">
            <a:solidFill>
              <a:srgbClr val="334155">
                <a:alpha val="6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54" name="Text 11"/>
          <p:cNvSpPr/>
          <p:nvPr/>
        </p:nvSpPr>
        <p:spPr>
          <a:xfrm>
            <a:off x="4553640" y="1929240"/>
            <a:ext cx="3099600" cy="209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00" spc="-1" strike="noStrike">
                <a:solidFill>
                  <a:srgbClr val="14b8a6"/>
                </a:solidFill>
                <a:latin typeface="Aptos"/>
                <a:ea typeface="Aptos"/>
              </a:rPr>
              <a:t>Why ML?</a:t>
            </a:r>
            <a:endParaRPr b="0" lang="en-GB" sz="900" spc="-1" strike="noStrike">
              <a:solidFill>
                <a:srgbClr val="ffffff"/>
              </a:solidFill>
              <a:latin typeface="Arial"/>
            </a:endParaRPr>
          </a:p>
        </p:txBody>
      </p:sp>
      <p:sp>
        <p:nvSpPr>
          <p:cNvPr id="55" name="Text 12"/>
          <p:cNvSpPr/>
          <p:nvPr/>
        </p:nvSpPr>
        <p:spPr>
          <a:xfrm>
            <a:off x="4553640" y="2231280"/>
            <a:ext cx="3099600" cy="6670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1" strike="noStrike">
                <a:solidFill>
                  <a:srgbClr val="f8fafc"/>
                </a:solidFill>
                <a:latin typeface="Aptos"/>
                <a:ea typeface="Aptos"/>
              </a:rPr>
              <a:t>Machine learning can combine demographics, ECG findings, blood pressure, laboratory values, medical history, and treatment indicators into a single risk model.</a:t>
            </a:r>
            <a:endParaRPr b="0" lang="en-GB" sz="850" spc="-1" strike="noStrike">
              <a:solidFill>
                <a:srgbClr val="ffffff"/>
              </a:solidFill>
              <a:latin typeface="Arial"/>
            </a:endParaRPr>
          </a:p>
        </p:txBody>
      </p:sp>
      <p:sp>
        <p:nvSpPr>
          <p:cNvPr id="56" name="Shape 13"/>
          <p:cNvSpPr/>
          <p:nvPr/>
        </p:nvSpPr>
        <p:spPr>
          <a:xfrm>
            <a:off x="8119800" y="1783080"/>
            <a:ext cx="3428640" cy="1261440"/>
          </a:xfrm>
          <a:prstGeom prst="roundRect">
            <a:avLst>
              <a:gd name="adj" fmla="val 8696"/>
            </a:avLst>
          </a:prstGeom>
          <a:solidFill>
            <a:srgbClr val="10243d"/>
          </a:solidFill>
          <a:ln w="10160">
            <a:solidFill>
              <a:srgbClr val="334155">
                <a:alpha val="6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57" name="Text 14"/>
          <p:cNvSpPr/>
          <p:nvPr/>
        </p:nvSpPr>
        <p:spPr>
          <a:xfrm>
            <a:off x="8284320" y="1929240"/>
            <a:ext cx="3099600" cy="209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00" spc="-1" strike="noStrike">
                <a:solidFill>
                  <a:srgbClr val="f59e0b"/>
                </a:solidFill>
                <a:latin typeface="Aptos"/>
                <a:ea typeface="Aptos"/>
              </a:rPr>
              <a:t>Why this is hard</a:t>
            </a:r>
            <a:endParaRPr b="0" lang="en-GB" sz="900" spc="-1" strike="noStrike">
              <a:solidFill>
                <a:srgbClr val="ffffff"/>
              </a:solidFill>
              <a:latin typeface="Arial"/>
            </a:endParaRPr>
          </a:p>
        </p:txBody>
      </p:sp>
      <p:sp>
        <p:nvSpPr>
          <p:cNvPr id="58" name="Text 15"/>
          <p:cNvSpPr/>
          <p:nvPr/>
        </p:nvSpPr>
        <p:spPr>
          <a:xfrm>
            <a:off x="8284320" y="2231280"/>
            <a:ext cx="3099600" cy="6670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1" strike="noStrike">
                <a:solidFill>
                  <a:srgbClr val="f8fafc"/>
                </a:solidFill>
                <a:latin typeface="Aptos"/>
                <a:ea typeface="Aptos"/>
              </a:rPr>
              <a:t>The event is rare: the positive class is about 16%. A model can look accurate by predicting survival, while still missing the patients we care about most.</a:t>
            </a:r>
            <a:endParaRPr b="0" lang="en-GB" sz="850" spc="-1" strike="noStrike">
              <a:solidFill>
                <a:srgbClr val="ffffff"/>
              </a:solidFill>
              <a:latin typeface="Arial"/>
            </a:endParaRPr>
          </a:p>
        </p:txBody>
      </p:sp>
      <p:sp>
        <p:nvSpPr>
          <p:cNvPr id="59" name="Shape 16"/>
          <p:cNvSpPr/>
          <p:nvPr/>
        </p:nvSpPr>
        <p:spPr>
          <a:xfrm>
            <a:off x="1005840" y="3977640"/>
            <a:ext cx="1444320" cy="566640"/>
          </a:xfrm>
          <a:prstGeom prst="roundRect">
            <a:avLst>
              <a:gd name="adj" fmla="val 12903"/>
            </a:avLst>
          </a:prstGeom>
          <a:solidFill>
            <a:srgbClr val="132b46">
              <a:alpha val="90000"/>
            </a:srgbClr>
          </a:solidFill>
          <a:ln w="10160">
            <a:solidFill>
              <a:srgbClr val="132b46">
                <a:alpha val="7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60" name="Text 17"/>
          <p:cNvSpPr/>
          <p:nvPr/>
        </p:nvSpPr>
        <p:spPr>
          <a:xfrm>
            <a:off x="1078920" y="4123800"/>
            <a:ext cx="129816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60" spc="-1" strike="noStrike">
                <a:solidFill>
                  <a:srgbClr val="f8fafc"/>
                </a:solidFill>
                <a:latin typeface="Aptos"/>
                <a:ea typeface="Aptos"/>
              </a:rPr>
              <a:t>EHR data</a:t>
            </a:r>
            <a:endParaRPr b="0" lang="en-GB" sz="760" spc="-1" strike="noStrike">
              <a:solidFill>
                <a:srgbClr val="ffffff"/>
              </a:solidFill>
              <a:latin typeface="Arial"/>
            </a:endParaRPr>
          </a:p>
        </p:txBody>
      </p:sp>
      <p:sp>
        <p:nvSpPr>
          <p:cNvPr id="61" name="Text 18"/>
          <p:cNvSpPr/>
          <p:nvPr/>
        </p:nvSpPr>
        <p:spPr>
          <a:xfrm>
            <a:off x="2468880" y="4142160"/>
            <a:ext cx="10944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 strike="noStrike">
                <a:solidFill>
                  <a:srgbClr val="94a3b8"/>
                </a:solidFill>
                <a:latin typeface="Aptos"/>
                <a:ea typeface="Aptos"/>
              </a:rPr>
              <a:t>→</a:t>
            </a:r>
            <a:endParaRPr b="0" lang="en-GB" sz="1100" spc="-1" strike="noStrike">
              <a:solidFill>
                <a:srgbClr val="ffffff"/>
              </a:solidFill>
              <a:latin typeface="Arial"/>
            </a:endParaRPr>
          </a:p>
        </p:txBody>
      </p:sp>
      <p:sp>
        <p:nvSpPr>
          <p:cNvPr id="62" name="Shape 19"/>
          <p:cNvSpPr/>
          <p:nvPr/>
        </p:nvSpPr>
        <p:spPr>
          <a:xfrm>
            <a:off x="2578680" y="3977640"/>
            <a:ext cx="1444320" cy="566640"/>
          </a:xfrm>
          <a:prstGeom prst="roundRect">
            <a:avLst>
              <a:gd name="adj" fmla="val 12903"/>
            </a:avLst>
          </a:prstGeom>
          <a:solidFill>
            <a:srgbClr val="14b8a6">
              <a:alpha val="90000"/>
            </a:srgbClr>
          </a:solidFill>
          <a:ln w="10160">
            <a:solidFill>
              <a:srgbClr val="14b8a6">
                <a:alpha val="7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63" name="Text 20"/>
          <p:cNvSpPr/>
          <p:nvPr/>
        </p:nvSpPr>
        <p:spPr>
          <a:xfrm>
            <a:off x="2651760" y="4123800"/>
            <a:ext cx="129816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60" spc="-1" strike="noStrike">
                <a:solidFill>
                  <a:srgbClr val="f8fafc"/>
                </a:solidFill>
                <a:latin typeface="Aptos"/>
                <a:ea typeface="Aptos"/>
              </a:rPr>
              <a:t>Preprocess</a:t>
            </a:r>
            <a:endParaRPr b="0" lang="en-GB" sz="760" spc="-1" strike="noStrike">
              <a:solidFill>
                <a:srgbClr val="ffffff"/>
              </a:solidFill>
              <a:latin typeface="Arial"/>
            </a:endParaRPr>
          </a:p>
        </p:txBody>
      </p:sp>
      <p:sp>
        <p:nvSpPr>
          <p:cNvPr id="64" name="Text 21"/>
          <p:cNvSpPr/>
          <p:nvPr/>
        </p:nvSpPr>
        <p:spPr>
          <a:xfrm>
            <a:off x="4041720" y="4142160"/>
            <a:ext cx="10944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 strike="noStrike">
                <a:solidFill>
                  <a:srgbClr val="94a3b8"/>
                </a:solidFill>
                <a:latin typeface="Aptos"/>
                <a:ea typeface="Aptos"/>
              </a:rPr>
              <a:t>→</a:t>
            </a:r>
            <a:endParaRPr b="0" lang="en-GB" sz="1100" spc="-1" strike="noStrike">
              <a:solidFill>
                <a:srgbClr val="ffffff"/>
              </a:solidFill>
              <a:latin typeface="Arial"/>
            </a:endParaRPr>
          </a:p>
        </p:txBody>
      </p:sp>
      <p:sp>
        <p:nvSpPr>
          <p:cNvPr id="65" name="Shape 22"/>
          <p:cNvSpPr/>
          <p:nvPr/>
        </p:nvSpPr>
        <p:spPr>
          <a:xfrm>
            <a:off x="4151520" y="3977640"/>
            <a:ext cx="1444320" cy="566640"/>
          </a:xfrm>
          <a:prstGeom prst="roundRect">
            <a:avLst>
              <a:gd name="adj" fmla="val 12903"/>
            </a:avLst>
          </a:prstGeom>
          <a:solidFill>
            <a:srgbClr val="a78bfa">
              <a:alpha val="90000"/>
            </a:srgbClr>
          </a:solidFill>
          <a:ln w="10160">
            <a:solidFill>
              <a:srgbClr val="a78bfa">
                <a:alpha val="75000"/>
              </a:srgbClr>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66" name="Text 23"/>
          <p:cNvSpPr/>
          <p:nvPr/>
        </p:nvSpPr>
        <p:spPr>
          <a:xfrm>
            <a:off x="4224600" y="4123800"/>
            <a:ext cx="129816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60" spc="-1" strike="noStrike">
                <a:solidFill>
                  <a:srgbClr val="f8fafc"/>
                </a:solidFill>
                <a:latin typeface="Aptos"/>
                <a:ea typeface="Aptos"/>
              </a:rPr>
              <a:t>Model</a:t>
            </a:r>
            <a:endParaRPr b="0" lang="en-GB" sz="760" spc="-1" strike="noStrike">
              <a:solidFill>
                <a:srgbClr val="ffffff"/>
              </a:solidFill>
              <a:latin typeface="Arial"/>
            </a:endParaRPr>
          </a:p>
        </p:txBody>
      </p:sp>
      <p:sp>
        <p:nvSpPr>
          <p:cNvPr id="67" name="Text 24"/>
          <p:cNvSpPr/>
          <p:nvPr/>
        </p:nvSpPr>
        <p:spPr>
          <a:xfrm>
            <a:off x="5614560" y="4142160"/>
            <a:ext cx="10944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 strike="noStrike">
                <a:solidFill>
                  <a:srgbClr val="94a3b8"/>
                </a:solidFill>
                <a:latin typeface="Aptos"/>
                <a:ea typeface="Aptos"/>
              </a:rPr>
              <a:t>→</a:t>
            </a:r>
            <a:endParaRPr b="0" lang="en-GB" sz="1100" spc="-1" strike="noStrike">
              <a:solidFill>
                <a:srgbClr val="ffffff"/>
              </a:solidFill>
              <a:latin typeface="Arial"/>
            </a:endParaRPr>
          </a:p>
        </p:txBody>
      </p:sp>
      <p:sp>
        <p:nvSpPr>
          <p:cNvPr id="68" name="Shape 25"/>
          <p:cNvSpPr/>
          <p:nvPr/>
        </p:nvSpPr>
        <p:spPr>
          <a:xfrm>
            <a:off x="5724000" y="3977640"/>
            <a:ext cx="1444320" cy="566640"/>
          </a:xfrm>
          <a:prstGeom prst="roundRect">
            <a:avLst>
              <a:gd name="adj" fmla="val 12903"/>
            </a:avLst>
          </a:prstGeom>
          <a:solidFill>
            <a:srgbClr val="f59e0b">
              <a:alpha val="90000"/>
            </a:srgbClr>
          </a:solidFill>
          <a:ln w="10160">
            <a:solidFill>
              <a:srgbClr val="f59e0b">
                <a:alpha val="75000"/>
              </a:srgbClr>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69" name="Text 26"/>
          <p:cNvSpPr/>
          <p:nvPr/>
        </p:nvSpPr>
        <p:spPr>
          <a:xfrm>
            <a:off x="5797440" y="4123800"/>
            <a:ext cx="129816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60" spc="-1" strike="noStrike">
                <a:solidFill>
                  <a:srgbClr val="f8fafc"/>
                </a:solidFill>
                <a:latin typeface="Aptos"/>
                <a:ea typeface="Aptos"/>
              </a:rPr>
              <a:t>Evaluate</a:t>
            </a:r>
            <a:endParaRPr b="0" lang="en-GB" sz="760" spc="-1" strike="noStrike">
              <a:solidFill>
                <a:srgbClr val="ffffff"/>
              </a:solidFill>
              <a:latin typeface="Arial"/>
            </a:endParaRPr>
          </a:p>
        </p:txBody>
      </p:sp>
      <p:sp>
        <p:nvSpPr>
          <p:cNvPr id="70" name="Text 27"/>
          <p:cNvSpPr/>
          <p:nvPr/>
        </p:nvSpPr>
        <p:spPr>
          <a:xfrm>
            <a:off x="7187040" y="4142160"/>
            <a:ext cx="10944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 strike="noStrike">
                <a:solidFill>
                  <a:srgbClr val="94a3b8"/>
                </a:solidFill>
                <a:latin typeface="Aptos"/>
                <a:ea typeface="Aptos"/>
              </a:rPr>
              <a:t>→</a:t>
            </a:r>
            <a:endParaRPr b="0" lang="en-GB" sz="1100" spc="-1" strike="noStrike">
              <a:solidFill>
                <a:srgbClr val="ffffff"/>
              </a:solidFill>
              <a:latin typeface="Arial"/>
            </a:endParaRPr>
          </a:p>
        </p:txBody>
      </p:sp>
      <p:sp>
        <p:nvSpPr>
          <p:cNvPr id="71" name="Shape 28"/>
          <p:cNvSpPr/>
          <p:nvPr/>
        </p:nvSpPr>
        <p:spPr>
          <a:xfrm>
            <a:off x="7296840" y="3977640"/>
            <a:ext cx="1444320" cy="566640"/>
          </a:xfrm>
          <a:prstGeom prst="roundRect">
            <a:avLst>
              <a:gd name="adj" fmla="val 12903"/>
            </a:avLst>
          </a:prstGeom>
          <a:solidFill>
            <a:srgbClr val="22c55e">
              <a:alpha val="90000"/>
            </a:srgbClr>
          </a:solidFill>
          <a:ln w="10160">
            <a:solidFill>
              <a:srgbClr val="22c55e">
                <a:alpha val="7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72" name="Text 29"/>
          <p:cNvSpPr/>
          <p:nvPr/>
        </p:nvSpPr>
        <p:spPr>
          <a:xfrm>
            <a:off x="7369920" y="4123800"/>
            <a:ext cx="129816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60" spc="-1" strike="noStrike">
                <a:solidFill>
                  <a:srgbClr val="f8fafc"/>
                </a:solidFill>
                <a:latin typeface="Aptos"/>
                <a:ea typeface="Aptos"/>
              </a:rPr>
              <a:t>Clinical insight</a:t>
            </a:r>
            <a:endParaRPr b="0" lang="en-GB" sz="760" spc="-1" strike="noStrike">
              <a:solidFill>
                <a:srgbClr val="ffffff"/>
              </a:solidFill>
              <a:latin typeface="Arial"/>
            </a:endParaRPr>
          </a:p>
        </p:txBody>
      </p:sp>
      <p:sp>
        <p:nvSpPr>
          <p:cNvPr id="73" name="Text 30"/>
          <p:cNvSpPr/>
          <p:nvPr/>
        </p:nvSpPr>
        <p:spPr>
          <a:xfrm>
            <a:off x="1005840" y="5074920"/>
            <a:ext cx="9875160" cy="347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pc="-1" strike="noStrike">
                <a:solidFill>
                  <a:srgbClr val="f8fafc"/>
                </a:solidFill>
                <a:latin typeface="Aptos Display"/>
                <a:ea typeface="Aptos Display"/>
              </a:rPr>
              <a:t>Core evaluation principle: treat recall, F1-score, and ROC-AUC as more informative than accuracy alone.</a:t>
            </a:r>
            <a:endParaRPr b="0" lang="en-GB" sz="1800" spc="-1" strike="noStrike">
              <a:solidFill>
                <a:srgbClr val="ffffff"/>
              </a:solidFill>
              <a:latin typeface="Arial"/>
            </a:endParaRPr>
          </a:p>
        </p:txBody>
      </p:sp>
      <p:sp>
        <p:nvSpPr>
          <p:cNvPr id="74" name="Shape 31"/>
          <p:cNvSpPr/>
          <p:nvPr/>
        </p:nvSpPr>
        <p:spPr>
          <a:xfrm>
            <a:off x="502920" y="6555960"/>
            <a:ext cx="11201400" cy="360"/>
          </a:xfrm>
          <a:prstGeom prst="line">
            <a:avLst/>
          </a:prstGeom>
          <a:ln w="7620">
            <a:solidFill>
              <a:srgbClr val="334155">
                <a:alpha val="60000"/>
              </a:srgbClr>
            </a:solidFill>
            <a:round/>
          </a:ln>
        </p:spPr>
        <p:style>
          <a:lnRef idx="0"/>
          <a:fillRef idx="0"/>
          <a:effectRef idx="0"/>
          <a:fontRef idx="minor"/>
        </p:style>
        <p:txBody>
          <a:bodyPr lIns="90000" rIns="90000" tIns="-44640" bIns="-44640" anchor="t" anchorCtr="1">
            <a:noAutofit/>
          </a:bodyPr>
          <a:p>
            <a:endParaRPr b="0" lang="en-GB" sz="1800" spc="-1" strike="noStrike">
              <a:solidFill>
                <a:srgbClr val="ffffff"/>
              </a:solidFill>
              <a:latin typeface="Arial"/>
            </a:endParaRPr>
          </a:p>
        </p:txBody>
      </p:sp>
      <p:sp>
        <p:nvSpPr>
          <p:cNvPr id="75" name="Text 32"/>
          <p:cNvSpPr/>
          <p:nvPr/>
        </p:nvSpPr>
        <p:spPr>
          <a:xfrm>
            <a:off x="530280" y="6602040"/>
            <a:ext cx="6217560" cy="145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650" spc="-1" strike="noStrike">
                <a:solidFill>
                  <a:srgbClr val="94a3b8"/>
                </a:solidFill>
                <a:latin typeface="Aptos"/>
                <a:ea typeface="Aptos"/>
              </a:rPr>
              <a:t>Clinical Outcome Prediction • Myocardial Infarction Complications</a:t>
            </a:r>
            <a:endParaRPr b="0" lang="en-GB" sz="650" spc="-1" strike="noStrike">
              <a:solidFill>
                <a:srgbClr val="ffffff"/>
              </a:solidFill>
              <a:latin typeface="Arial"/>
            </a:endParaRPr>
          </a:p>
        </p:txBody>
      </p:sp>
      <p:sp>
        <p:nvSpPr>
          <p:cNvPr id="76" name="Text 33"/>
          <p:cNvSpPr/>
          <p:nvPr/>
        </p:nvSpPr>
        <p:spPr>
          <a:xfrm>
            <a:off x="11201400" y="6565320"/>
            <a:ext cx="502560" cy="2282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750" spc="-1" strike="noStrike">
                <a:solidFill>
                  <a:srgbClr val="94a3b8"/>
                </a:solidFill>
                <a:latin typeface="Aptos"/>
                <a:ea typeface="Aptos"/>
              </a:rPr>
              <a:t>02</a:t>
            </a:r>
            <a:endParaRPr b="0" lang="en-GB" sz="7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01f"/>
        </a:solidFill>
      </p:bgPr>
    </p:bg>
    <p:spTree>
      <p:nvGrpSpPr>
        <p:cNvPr id="1" name=""/>
        <p:cNvGrpSpPr/>
        <p:nvPr/>
      </p:nvGrpSpPr>
      <p:grpSpPr>
        <a:xfrm>
          <a:off x="0" y="0"/>
          <a:ext cx="0" cy="0"/>
          <a:chOff x="0" y="0"/>
          <a:chExt cx="0" cy="0"/>
        </a:xfrm>
      </p:grpSpPr>
      <p:sp>
        <p:nvSpPr>
          <p:cNvPr id="77" name="Shape 0"/>
          <p:cNvSpPr/>
          <p:nvPr/>
        </p:nvSpPr>
        <p:spPr>
          <a:xfrm>
            <a:off x="0" y="0"/>
            <a:ext cx="12191400" cy="6857640"/>
          </a:xfrm>
          <a:prstGeom prst="rect">
            <a:avLst/>
          </a:prstGeom>
          <a:solidFill>
            <a:srgbClr val="06101f"/>
          </a:solidFill>
          <a:ln w="12700">
            <a:solidFill>
              <a:srgbClr val="06101f"/>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78" name="Shape 1"/>
          <p:cNvSpPr/>
          <p:nvPr/>
        </p:nvSpPr>
        <p:spPr>
          <a:xfrm>
            <a:off x="0" y="0"/>
            <a:ext cx="12191400" cy="6857640"/>
          </a:xfrm>
          <a:prstGeom prst="rect">
            <a:avLst/>
          </a:prstGeom>
          <a:solidFill>
            <a:srgbClr val="081629">
              <a:alpha val="85000"/>
            </a:srgbClr>
          </a:solidFill>
          <a:ln w="12700">
            <a:solidFill>
              <a:srgbClr val="081629">
                <a:alpha val="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79" name="Shape 2"/>
          <p:cNvSpPr/>
          <p:nvPr/>
        </p:nvSpPr>
        <p:spPr>
          <a:xfrm>
            <a:off x="-1554480" y="-1737360"/>
            <a:ext cx="5486040" cy="5486040"/>
          </a:xfrm>
          <a:prstGeom prst="arc">
            <a:avLst>
              <a:gd name="adj1" fmla="val 16200000"/>
              <a:gd name="adj2" fmla="val 0"/>
            </a:avLst>
          </a:prstGeom>
          <a:noFill/>
          <a:ln w="13970">
            <a:solidFill>
              <a:srgbClr val="14b8a6">
                <a:alpha val="3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80" name="Shape 3"/>
          <p:cNvSpPr/>
          <p:nvPr/>
        </p:nvSpPr>
        <p:spPr>
          <a:xfrm>
            <a:off x="7680960" y="3840480"/>
            <a:ext cx="5486040" cy="5486040"/>
          </a:xfrm>
          <a:prstGeom prst="arc">
            <a:avLst>
              <a:gd name="adj1" fmla="val 16200000"/>
              <a:gd name="adj2" fmla="val 0"/>
            </a:avLst>
          </a:prstGeom>
          <a:noFill/>
          <a:ln w="12700">
            <a:solidFill>
              <a:srgbClr val="f59e0b">
                <a:alpha val="22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81" name="Text 4"/>
          <p:cNvSpPr/>
          <p:nvPr/>
        </p:nvSpPr>
        <p:spPr>
          <a:xfrm>
            <a:off x="567000" y="347400"/>
            <a:ext cx="594324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50" spc="-1" strike="noStrike">
                <a:solidFill>
                  <a:srgbClr val="14b8a6"/>
                </a:solidFill>
                <a:latin typeface="Aptos"/>
                <a:ea typeface="Aptos"/>
              </a:rPr>
              <a:t>PRODUCT-QUALITY METHODOLOGY</a:t>
            </a:r>
            <a:endParaRPr b="0" lang="en-GB" sz="850" spc="-1" strike="noStrike">
              <a:solidFill>
                <a:srgbClr val="ffffff"/>
              </a:solidFill>
              <a:latin typeface="Arial"/>
            </a:endParaRPr>
          </a:p>
        </p:txBody>
      </p:sp>
      <p:sp>
        <p:nvSpPr>
          <p:cNvPr id="82" name="Text 5"/>
          <p:cNvSpPr/>
          <p:nvPr/>
        </p:nvSpPr>
        <p:spPr>
          <a:xfrm>
            <a:off x="548640" y="658440"/>
            <a:ext cx="10926720" cy="5940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400" spc="-1" strike="noStrike">
                <a:solidFill>
                  <a:srgbClr val="f8fafc"/>
                </a:solidFill>
                <a:latin typeface="Aptos Display"/>
                <a:ea typeface="Aptos Display"/>
              </a:rPr>
              <a:t>Research objectives and evaluation strategy</a:t>
            </a:r>
            <a:endParaRPr b="0" lang="en-GB" sz="2400" spc="-1" strike="noStrike">
              <a:solidFill>
                <a:srgbClr val="ffffff"/>
              </a:solidFill>
              <a:latin typeface="Arial"/>
            </a:endParaRPr>
          </a:p>
        </p:txBody>
      </p:sp>
      <p:sp>
        <p:nvSpPr>
          <p:cNvPr id="83" name="Text 6"/>
          <p:cNvSpPr/>
          <p:nvPr/>
        </p:nvSpPr>
        <p:spPr>
          <a:xfrm>
            <a:off x="567000" y="1216080"/>
            <a:ext cx="1051524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50" spc="-1" strike="noStrike">
                <a:solidFill>
                  <a:srgbClr val="94a3b8"/>
                </a:solidFill>
                <a:latin typeface="Aptos"/>
                <a:ea typeface="Aptos"/>
              </a:rPr>
              <a:t>A structured pipeline: from raw clinical data to final held-out test evaluation.</a:t>
            </a:r>
            <a:endParaRPr b="0" lang="en-GB" sz="1050" spc="-1" strike="noStrike">
              <a:solidFill>
                <a:srgbClr val="ffffff"/>
              </a:solidFill>
              <a:latin typeface="Arial"/>
            </a:endParaRPr>
          </a:p>
        </p:txBody>
      </p:sp>
      <p:sp>
        <p:nvSpPr>
          <p:cNvPr id="84" name="Shape 7"/>
          <p:cNvSpPr/>
          <p:nvPr/>
        </p:nvSpPr>
        <p:spPr>
          <a:xfrm>
            <a:off x="685800" y="1691640"/>
            <a:ext cx="5166000" cy="2304000"/>
          </a:xfrm>
          <a:prstGeom prst="roundRect">
            <a:avLst>
              <a:gd name="adj" fmla="val 3175"/>
            </a:avLst>
          </a:prstGeom>
          <a:solidFill>
            <a:srgbClr val="0b1a2e"/>
          </a:solidFill>
          <a:ln w="1016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85" name="Shape 8"/>
          <p:cNvSpPr/>
          <p:nvPr/>
        </p:nvSpPr>
        <p:spPr>
          <a:xfrm>
            <a:off x="685800" y="1691640"/>
            <a:ext cx="1919880" cy="292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86" name="Text 9"/>
          <p:cNvSpPr/>
          <p:nvPr/>
        </p:nvSpPr>
        <p:spPr>
          <a:xfrm>
            <a:off x="713160" y="1764720"/>
            <a:ext cx="186516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50" spc="-1" strike="noStrike">
                <a:solidFill>
                  <a:srgbClr val="f8fafc"/>
                </a:solidFill>
                <a:latin typeface="Aptos"/>
                <a:ea typeface="Aptos"/>
              </a:rPr>
              <a:t>Objective</a:t>
            </a:r>
            <a:endParaRPr b="0" lang="en-GB" sz="750" spc="-1" strike="noStrike">
              <a:solidFill>
                <a:srgbClr val="ffffff"/>
              </a:solidFill>
              <a:latin typeface="Arial"/>
            </a:endParaRPr>
          </a:p>
        </p:txBody>
      </p:sp>
      <p:sp>
        <p:nvSpPr>
          <p:cNvPr id="87" name="Shape 10"/>
          <p:cNvSpPr/>
          <p:nvPr/>
        </p:nvSpPr>
        <p:spPr>
          <a:xfrm>
            <a:off x="2606040" y="1691640"/>
            <a:ext cx="3245760" cy="292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88" name="Text 11"/>
          <p:cNvSpPr/>
          <p:nvPr/>
        </p:nvSpPr>
        <p:spPr>
          <a:xfrm>
            <a:off x="2633400" y="1764720"/>
            <a:ext cx="319104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50" spc="-1" strike="noStrike">
                <a:solidFill>
                  <a:srgbClr val="f8fafc"/>
                </a:solidFill>
                <a:latin typeface="Aptos"/>
                <a:ea typeface="Aptos"/>
              </a:rPr>
              <a:t>How it was tested</a:t>
            </a:r>
            <a:endParaRPr b="0" lang="en-GB" sz="750" spc="-1" strike="noStrike">
              <a:solidFill>
                <a:srgbClr val="ffffff"/>
              </a:solidFill>
              <a:latin typeface="Arial"/>
            </a:endParaRPr>
          </a:p>
        </p:txBody>
      </p:sp>
      <p:sp>
        <p:nvSpPr>
          <p:cNvPr id="89" name="Shape 12"/>
          <p:cNvSpPr/>
          <p:nvPr/>
        </p:nvSpPr>
        <p:spPr>
          <a:xfrm>
            <a:off x="685800" y="1984320"/>
            <a:ext cx="1919880" cy="39276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90" name="Text 13"/>
          <p:cNvSpPr/>
          <p:nvPr/>
        </p:nvSpPr>
        <p:spPr>
          <a:xfrm>
            <a:off x="713160" y="2057400"/>
            <a:ext cx="1865160" cy="328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750" spc="-1" strike="noStrike">
                <a:solidFill>
                  <a:srgbClr val="f8fafc"/>
                </a:solidFill>
                <a:latin typeface="Aptos"/>
                <a:ea typeface="Aptos"/>
              </a:rPr>
              <a:t>Predict mortality</a:t>
            </a:r>
            <a:endParaRPr b="0" lang="en-GB" sz="750" spc="-1" strike="noStrike">
              <a:solidFill>
                <a:srgbClr val="ffffff"/>
              </a:solidFill>
              <a:latin typeface="Arial"/>
            </a:endParaRPr>
          </a:p>
        </p:txBody>
      </p:sp>
      <p:sp>
        <p:nvSpPr>
          <p:cNvPr id="91" name="Shape 14"/>
          <p:cNvSpPr/>
          <p:nvPr/>
        </p:nvSpPr>
        <p:spPr>
          <a:xfrm>
            <a:off x="2606040" y="1984320"/>
            <a:ext cx="3245760" cy="39276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92" name="Text 15"/>
          <p:cNvSpPr/>
          <p:nvPr/>
        </p:nvSpPr>
        <p:spPr>
          <a:xfrm>
            <a:off x="2633400" y="2057400"/>
            <a:ext cx="3191040" cy="328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50" spc="-1" strike="noStrike">
                <a:solidFill>
                  <a:srgbClr val="f8fafc"/>
                </a:solidFill>
                <a:latin typeface="Aptos"/>
                <a:ea typeface="Aptos"/>
              </a:rPr>
              <a:t>Binary target LET_IS converted to survived vs died</a:t>
            </a:r>
            <a:endParaRPr b="0" lang="en-GB" sz="750" spc="-1" strike="noStrike">
              <a:solidFill>
                <a:srgbClr val="ffffff"/>
              </a:solidFill>
              <a:latin typeface="Arial"/>
            </a:endParaRPr>
          </a:p>
        </p:txBody>
      </p:sp>
      <p:sp>
        <p:nvSpPr>
          <p:cNvPr id="93" name="Shape 16"/>
          <p:cNvSpPr/>
          <p:nvPr/>
        </p:nvSpPr>
        <p:spPr>
          <a:xfrm>
            <a:off x="685800" y="2377440"/>
            <a:ext cx="1919880" cy="39276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94" name="Text 17"/>
          <p:cNvSpPr/>
          <p:nvPr/>
        </p:nvSpPr>
        <p:spPr>
          <a:xfrm>
            <a:off x="713160" y="2450520"/>
            <a:ext cx="1865160" cy="328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750" spc="-1" strike="noStrike">
                <a:solidFill>
                  <a:srgbClr val="f8fafc"/>
                </a:solidFill>
                <a:latin typeface="Aptos"/>
                <a:ea typeface="Aptos"/>
              </a:rPr>
              <a:t>Avoid leakage</a:t>
            </a:r>
            <a:endParaRPr b="0" lang="en-GB" sz="750" spc="-1" strike="noStrike">
              <a:solidFill>
                <a:srgbClr val="ffffff"/>
              </a:solidFill>
              <a:latin typeface="Arial"/>
            </a:endParaRPr>
          </a:p>
        </p:txBody>
      </p:sp>
      <p:sp>
        <p:nvSpPr>
          <p:cNvPr id="95" name="Shape 18"/>
          <p:cNvSpPr/>
          <p:nvPr/>
        </p:nvSpPr>
        <p:spPr>
          <a:xfrm>
            <a:off x="2606040" y="2377440"/>
            <a:ext cx="3245760" cy="39276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96" name="Text 19"/>
          <p:cNvSpPr/>
          <p:nvPr/>
        </p:nvSpPr>
        <p:spPr>
          <a:xfrm>
            <a:off x="2633400" y="2450520"/>
            <a:ext cx="3191040" cy="328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50" spc="-1" strike="noStrike">
                <a:solidFill>
                  <a:srgbClr val="f8fafc"/>
                </a:solidFill>
                <a:latin typeface="Aptos"/>
                <a:ea typeface="Aptos"/>
              </a:rPr>
              <a:t>Dropped ID, treatment-after-admission flags, and other complication targets</a:t>
            </a:r>
            <a:endParaRPr b="0" lang="en-GB" sz="750" spc="-1" strike="noStrike">
              <a:solidFill>
                <a:srgbClr val="ffffff"/>
              </a:solidFill>
              <a:latin typeface="Arial"/>
            </a:endParaRPr>
          </a:p>
        </p:txBody>
      </p:sp>
      <p:sp>
        <p:nvSpPr>
          <p:cNvPr id="97" name="Shape 20"/>
          <p:cNvSpPr/>
          <p:nvPr/>
        </p:nvSpPr>
        <p:spPr>
          <a:xfrm>
            <a:off x="685800" y="2770560"/>
            <a:ext cx="1919880" cy="39276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98" name="Text 21"/>
          <p:cNvSpPr/>
          <p:nvPr/>
        </p:nvSpPr>
        <p:spPr>
          <a:xfrm>
            <a:off x="713160" y="2843640"/>
            <a:ext cx="1865160" cy="328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750" spc="-1" strike="noStrike">
                <a:solidFill>
                  <a:srgbClr val="f8fafc"/>
                </a:solidFill>
                <a:latin typeface="Aptos"/>
                <a:ea typeface="Aptos"/>
              </a:rPr>
              <a:t>Handle clinical messiness</a:t>
            </a:r>
            <a:endParaRPr b="0" lang="en-GB" sz="750" spc="-1" strike="noStrike">
              <a:solidFill>
                <a:srgbClr val="ffffff"/>
              </a:solidFill>
              <a:latin typeface="Arial"/>
            </a:endParaRPr>
          </a:p>
        </p:txBody>
      </p:sp>
      <p:sp>
        <p:nvSpPr>
          <p:cNvPr id="99" name="Shape 22"/>
          <p:cNvSpPr/>
          <p:nvPr/>
        </p:nvSpPr>
        <p:spPr>
          <a:xfrm>
            <a:off x="2606040" y="2770560"/>
            <a:ext cx="3245760" cy="39276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00" name="Text 23"/>
          <p:cNvSpPr/>
          <p:nvPr/>
        </p:nvSpPr>
        <p:spPr>
          <a:xfrm>
            <a:off x="2633400" y="2843640"/>
            <a:ext cx="3191040" cy="328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50" spc="-1" strike="noStrike">
                <a:solidFill>
                  <a:srgbClr val="f8fafc"/>
                </a:solidFill>
                <a:latin typeface="Aptos"/>
                <a:ea typeface="Aptos"/>
              </a:rPr>
              <a:t>Missing value imputation, scaling, class imbalance strategies</a:t>
            </a:r>
            <a:endParaRPr b="0" lang="en-GB" sz="750" spc="-1" strike="noStrike">
              <a:solidFill>
                <a:srgbClr val="ffffff"/>
              </a:solidFill>
              <a:latin typeface="Arial"/>
            </a:endParaRPr>
          </a:p>
        </p:txBody>
      </p:sp>
      <p:sp>
        <p:nvSpPr>
          <p:cNvPr id="101" name="Shape 24"/>
          <p:cNvSpPr/>
          <p:nvPr/>
        </p:nvSpPr>
        <p:spPr>
          <a:xfrm>
            <a:off x="685800" y="3163680"/>
            <a:ext cx="1919880" cy="39276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02" name="Text 25"/>
          <p:cNvSpPr/>
          <p:nvPr/>
        </p:nvSpPr>
        <p:spPr>
          <a:xfrm>
            <a:off x="713160" y="3237120"/>
            <a:ext cx="1865160" cy="328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750" spc="-1" strike="noStrike">
                <a:solidFill>
                  <a:srgbClr val="f8fafc"/>
                </a:solidFill>
                <a:latin typeface="Aptos"/>
                <a:ea typeface="Aptos"/>
              </a:rPr>
              <a:t>Compare model families</a:t>
            </a:r>
            <a:endParaRPr b="0" lang="en-GB" sz="750" spc="-1" strike="noStrike">
              <a:solidFill>
                <a:srgbClr val="ffffff"/>
              </a:solidFill>
              <a:latin typeface="Arial"/>
            </a:endParaRPr>
          </a:p>
        </p:txBody>
      </p:sp>
      <p:sp>
        <p:nvSpPr>
          <p:cNvPr id="103" name="Shape 26"/>
          <p:cNvSpPr/>
          <p:nvPr/>
        </p:nvSpPr>
        <p:spPr>
          <a:xfrm>
            <a:off x="2606040" y="3163680"/>
            <a:ext cx="3245760" cy="39276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04" name="Text 27"/>
          <p:cNvSpPr/>
          <p:nvPr/>
        </p:nvSpPr>
        <p:spPr>
          <a:xfrm>
            <a:off x="2633400" y="3237120"/>
            <a:ext cx="3191040" cy="328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50" spc="-1" strike="noStrike">
                <a:solidFill>
                  <a:srgbClr val="f8fafc"/>
                </a:solidFill>
                <a:latin typeface="Aptos"/>
                <a:ea typeface="Aptos"/>
              </a:rPr>
              <a:t>LR, RF, XGB, SVM, KNN, NB, DT, voting, stacking</a:t>
            </a:r>
            <a:endParaRPr b="0" lang="en-GB" sz="750" spc="-1" strike="noStrike">
              <a:solidFill>
                <a:srgbClr val="ffffff"/>
              </a:solidFill>
              <a:latin typeface="Arial"/>
            </a:endParaRPr>
          </a:p>
        </p:txBody>
      </p:sp>
      <p:sp>
        <p:nvSpPr>
          <p:cNvPr id="105" name="Shape 28"/>
          <p:cNvSpPr/>
          <p:nvPr/>
        </p:nvSpPr>
        <p:spPr>
          <a:xfrm>
            <a:off x="685800" y="3557160"/>
            <a:ext cx="1919880" cy="39276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06" name="Text 29"/>
          <p:cNvSpPr/>
          <p:nvPr/>
        </p:nvSpPr>
        <p:spPr>
          <a:xfrm>
            <a:off x="713160" y="3630240"/>
            <a:ext cx="1865160" cy="328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750" spc="-1" strike="noStrike">
                <a:solidFill>
                  <a:srgbClr val="f8fafc"/>
                </a:solidFill>
                <a:latin typeface="Aptos"/>
                <a:ea typeface="Aptos"/>
              </a:rPr>
              <a:t>Measure robustness</a:t>
            </a:r>
            <a:endParaRPr b="0" lang="en-GB" sz="750" spc="-1" strike="noStrike">
              <a:solidFill>
                <a:srgbClr val="ffffff"/>
              </a:solidFill>
              <a:latin typeface="Arial"/>
            </a:endParaRPr>
          </a:p>
        </p:txBody>
      </p:sp>
      <p:sp>
        <p:nvSpPr>
          <p:cNvPr id="107" name="Shape 30"/>
          <p:cNvSpPr/>
          <p:nvPr/>
        </p:nvSpPr>
        <p:spPr>
          <a:xfrm>
            <a:off x="2606040" y="3557160"/>
            <a:ext cx="3245760" cy="39276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08" name="Text 31"/>
          <p:cNvSpPr/>
          <p:nvPr/>
        </p:nvSpPr>
        <p:spPr>
          <a:xfrm>
            <a:off x="2633400" y="3630240"/>
            <a:ext cx="3191040" cy="328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50" spc="-1" strike="noStrike">
                <a:solidFill>
                  <a:srgbClr val="f8fafc"/>
                </a:solidFill>
                <a:latin typeface="Aptos"/>
                <a:ea typeface="Aptos"/>
              </a:rPr>
              <a:t>15% label-noise injection and concept-drift simulation</a:t>
            </a:r>
            <a:endParaRPr b="0" lang="en-GB" sz="750" spc="-1" strike="noStrike">
              <a:solidFill>
                <a:srgbClr val="ffffff"/>
              </a:solidFill>
              <a:latin typeface="Arial"/>
            </a:endParaRPr>
          </a:p>
        </p:txBody>
      </p:sp>
      <p:sp>
        <p:nvSpPr>
          <p:cNvPr id="109" name="Shape 32"/>
          <p:cNvSpPr/>
          <p:nvPr/>
        </p:nvSpPr>
        <p:spPr>
          <a:xfrm>
            <a:off x="6400800" y="1691640"/>
            <a:ext cx="4800240" cy="959760"/>
          </a:xfrm>
          <a:prstGeom prst="roundRect">
            <a:avLst>
              <a:gd name="adj" fmla="val 11429"/>
            </a:avLst>
          </a:prstGeom>
          <a:solidFill>
            <a:srgbClr val="10243d"/>
          </a:solidFill>
          <a:ln w="10160">
            <a:solidFill>
              <a:srgbClr val="334155">
                <a:alpha val="6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10" name="Text 33"/>
          <p:cNvSpPr/>
          <p:nvPr/>
        </p:nvSpPr>
        <p:spPr>
          <a:xfrm>
            <a:off x="6565320" y="1837800"/>
            <a:ext cx="4471200" cy="209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00" spc="-1" strike="noStrike">
                <a:solidFill>
                  <a:srgbClr val="14b8a6"/>
                </a:solidFill>
                <a:latin typeface="Aptos"/>
                <a:ea typeface="Aptos"/>
              </a:rPr>
              <a:t>What makes this presentation analytical</a:t>
            </a:r>
            <a:endParaRPr b="0" lang="en-GB" sz="900" spc="-1" strike="noStrike">
              <a:solidFill>
                <a:srgbClr val="ffffff"/>
              </a:solidFill>
              <a:latin typeface="Arial"/>
            </a:endParaRPr>
          </a:p>
        </p:txBody>
      </p:sp>
      <p:sp>
        <p:nvSpPr>
          <p:cNvPr id="111" name="Text 34"/>
          <p:cNvSpPr/>
          <p:nvPr/>
        </p:nvSpPr>
        <p:spPr>
          <a:xfrm>
            <a:off x="6565320" y="2139840"/>
            <a:ext cx="4471200" cy="365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1" strike="noStrike">
                <a:solidFill>
                  <a:srgbClr val="f8fafc"/>
                </a:solidFill>
                <a:latin typeface="Aptos"/>
                <a:ea typeface="Aptos"/>
              </a:rPr>
              <a:t>Every model decision is justified using exact numbers: Accuracy, Precision, Recall, F1-score, ROC-AUC, confusion matrix counts, threshold sensitivity, and feature importance.</a:t>
            </a:r>
            <a:endParaRPr b="0" lang="en-GB" sz="850" spc="-1" strike="noStrike">
              <a:solidFill>
                <a:srgbClr val="ffffff"/>
              </a:solidFill>
              <a:latin typeface="Arial"/>
            </a:endParaRPr>
          </a:p>
        </p:txBody>
      </p:sp>
      <p:sp>
        <p:nvSpPr>
          <p:cNvPr id="112" name="Shape 35"/>
          <p:cNvSpPr/>
          <p:nvPr/>
        </p:nvSpPr>
        <p:spPr>
          <a:xfrm>
            <a:off x="6400800" y="2880360"/>
            <a:ext cx="4800240" cy="959760"/>
          </a:xfrm>
          <a:prstGeom prst="roundRect">
            <a:avLst>
              <a:gd name="adj" fmla="val 11429"/>
            </a:avLst>
          </a:prstGeom>
          <a:solidFill>
            <a:srgbClr val="10243d"/>
          </a:solidFill>
          <a:ln w="10160">
            <a:solidFill>
              <a:srgbClr val="334155">
                <a:alpha val="6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13" name="Text 36"/>
          <p:cNvSpPr/>
          <p:nvPr/>
        </p:nvSpPr>
        <p:spPr>
          <a:xfrm>
            <a:off x="6565320" y="3026520"/>
            <a:ext cx="4471200" cy="209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00" spc="-1" strike="noStrike">
                <a:solidFill>
                  <a:srgbClr val="f59e0b"/>
                </a:solidFill>
                <a:latin typeface="Aptos"/>
                <a:ea typeface="Aptos"/>
              </a:rPr>
              <a:t>Clinical priority</a:t>
            </a:r>
            <a:endParaRPr b="0" lang="en-GB" sz="900" spc="-1" strike="noStrike">
              <a:solidFill>
                <a:srgbClr val="ffffff"/>
              </a:solidFill>
              <a:latin typeface="Arial"/>
            </a:endParaRPr>
          </a:p>
        </p:txBody>
      </p:sp>
      <p:sp>
        <p:nvSpPr>
          <p:cNvPr id="114" name="Text 37"/>
          <p:cNvSpPr/>
          <p:nvPr/>
        </p:nvSpPr>
        <p:spPr>
          <a:xfrm>
            <a:off x="6565320" y="3328560"/>
            <a:ext cx="4471200" cy="365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1" strike="noStrike">
                <a:solidFill>
                  <a:srgbClr val="f8fafc"/>
                </a:solidFill>
                <a:latin typeface="Aptos"/>
                <a:ea typeface="Aptos"/>
              </a:rPr>
              <a:t>Recall is treated as a critical metric because false negatives represent missed deaths. F1-score balances recall with the false-alarm burden.</a:t>
            </a:r>
            <a:endParaRPr b="0" lang="en-GB" sz="850" spc="-1" strike="noStrike">
              <a:solidFill>
                <a:srgbClr val="ffffff"/>
              </a:solidFill>
              <a:latin typeface="Arial"/>
            </a:endParaRPr>
          </a:p>
        </p:txBody>
      </p:sp>
      <p:sp>
        <p:nvSpPr>
          <p:cNvPr id="115" name="Shape 38"/>
          <p:cNvSpPr/>
          <p:nvPr/>
        </p:nvSpPr>
        <p:spPr>
          <a:xfrm>
            <a:off x="6400800" y="4069080"/>
            <a:ext cx="4800240" cy="959760"/>
          </a:xfrm>
          <a:prstGeom prst="roundRect">
            <a:avLst>
              <a:gd name="adj" fmla="val 11429"/>
            </a:avLst>
          </a:prstGeom>
          <a:solidFill>
            <a:srgbClr val="10243d"/>
          </a:solidFill>
          <a:ln w="10160">
            <a:solidFill>
              <a:srgbClr val="334155">
                <a:alpha val="6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16" name="Text 39"/>
          <p:cNvSpPr/>
          <p:nvPr/>
        </p:nvSpPr>
        <p:spPr>
          <a:xfrm>
            <a:off x="6565320" y="4215240"/>
            <a:ext cx="4471200" cy="209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00" spc="-1" strike="noStrike">
                <a:solidFill>
                  <a:srgbClr val="a78bfa"/>
                </a:solidFill>
                <a:latin typeface="Aptos"/>
                <a:ea typeface="Aptos"/>
              </a:rPr>
              <a:t>Academic priority</a:t>
            </a:r>
            <a:endParaRPr b="0" lang="en-GB" sz="900" spc="-1" strike="noStrike">
              <a:solidFill>
                <a:srgbClr val="ffffff"/>
              </a:solidFill>
              <a:latin typeface="Arial"/>
            </a:endParaRPr>
          </a:p>
        </p:txBody>
      </p:sp>
      <p:sp>
        <p:nvSpPr>
          <p:cNvPr id="117" name="Text 40"/>
          <p:cNvSpPr/>
          <p:nvPr/>
        </p:nvSpPr>
        <p:spPr>
          <a:xfrm>
            <a:off x="6565320" y="4517280"/>
            <a:ext cx="4471200" cy="365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1" strike="noStrike">
                <a:solidFill>
                  <a:srgbClr val="f8fafc"/>
                </a:solidFill>
                <a:latin typeface="Aptos"/>
                <a:ea typeface="Aptos"/>
              </a:rPr>
              <a:t>Final model choice is based on held-out test performance, not validation-only results, preventing optimistic bias.</a:t>
            </a:r>
            <a:endParaRPr b="0" lang="en-GB" sz="850" spc="-1" strike="noStrike">
              <a:solidFill>
                <a:srgbClr val="ffffff"/>
              </a:solidFill>
              <a:latin typeface="Arial"/>
            </a:endParaRPr>
          </a:p>
        </p:txBody>
      </p:sp>
      <p:sp>
        <p:nvSpPr>
          <p:cNvPr id="118" name="Shape 41"/>
          <p:cNvSpPr/>
          <p:nvPr/>
        </p:nvSpPr>
        <p:spPr>
          <a:xfrm>
            <a:off x="502920" y="6555960"/>
            <a:ext cx="11201400" cy="360"/>
          </a:xfrm>
          <a:prstGeom prst="line">
            <a:avLst/>
          </a:prstGeom>
          <a:ln w="7620">
            <a:solidFill>
              <a:srgbClr val="334155">
                <a:alpha val="60000"/>
              </a:srgbClr>
            </a:solidFill>
            <a:round/>
          </a:ln>
        </p:spPr>
        <p:style>
          <a:lnRef idx="0"/>
          <a:fillRef idx="0"/>
          <a:effectRef idx="0"/>
          <a:fontRef idx="minor"/>
        </p:style>
        <p:txBody>
          <a:bodyPr lIns="90000" rIns="90000" tIns="-44640" bIns="-44640" anchor="t" anchorCtr="1">
            <a:noAutofit/>
          </a:bodyPr>
          <a:p>
            <a:endParaRPr b="0" lang="en-GB" sz="1800" spc="-1" strike="noStrike">
              <a:solidFill>
                <a:srgbClr val="ffffff"/>
              </a:solidFill>
              <a:latin typeface="Arial"/>
            </a:endParaRPr>
          </a:p>
        </p:txBody>
      </p:sp>
      <p:sp>
        <p:nvSpPr>
          <p:cNvPr id="119" name="Text 42"/>
          <p:cNvSpPr/>
          <p:nvPr/>
        </p:nvSpPr>
        <p:spPr>
          <a:xfrm>
            <a:off x="530280" y="6602040"/>
            <a:ext cx="6217560" cy="145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650" spc="-1" strike="noStrike">
                <a:solidFill>
                  <a:srgbClr val="94a3b8"/>
                </a:solidFill>
                <a:latin typeface="Aptos"/>
                <a:ea typeface="Aptos"/>
              </a:rPr>
              <a:t>Clinical Outcome Prediction • Myocardial Infarction Complications</a:t>
            </a:r>
            <a:endParaRPr b="0" lang="en-GB" sz="650" spc="-1" strike="noStrike">
              <a:solidFill>
                <a:srgbClr val="ffffff"/>
              </a:solidFill>
              <a:latin typeface="Arial"/>
            </a:endParaRPr>
          </a:p>
        </p:txBody>
      </p:sp>
      <p:sp>
        <p:nvSpPr>
          <p:cNvPr id="120" name="Text 43"/>
          <p:cNvSpPr/>
          <p:nvPr/>
        </p:nvSpPr>
        <p:spPr>
          <a:xfrm>
            <a:off x="11201400" y="6565320"/>
            <a:ext cx="502560" cy="2282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750" spc="-1" strike="noStrike">
                <a:solidFill>
                  <a:srgbClr val="94a3b8"/>
                </a:solidFill>
                <a:latin typeface="Aptos"/>
                <a:ea typeface="Aptos"/>
              </a:rPr>
              <a:t>03</a:t>
            </a:r>
            <a:endParaRPr b="0" lang="en-GB" sz="7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01f"/>
        </a:solidFill>
      </p:bgPr>
    </p:bg>
    <p:spTree>
      <p:nvGrpSpPr>
        <p:cNvPr id="1" name=""/>
        <p:cNvGrpSpPr/>
        <p:nvPr/>
      </p:nvGrpSpPr>
      <p:grpSpPr>
        <a:xfrm>
          <a:off x="0" y="0"/>
          <a:ext cx="0" cy="0"/>
          <a:chOff x="0" y="0"/>
          <a:chExt cx="0" cy="0"/>
        </a:xfrm>
      </p:grpSpPr>
      <p:sp>
        <p:nvSpPr>
          <p:cNvPr id="121" name="Shape 0"/>
          <p:cNvSpPr/>
          <p:nvPr/>
        </p:nvSpPr>
        <p:spPr>
          <a:xfrm>
            <a:off x="0" y="0"/>
            <a:ext cx="12191400" cy="6857640"/>
          </a:xfrm>
          <a:prstGeom prst="rect">
            <a:avLst/>
          </a:prstGeom>
          <a:solidFill>
            <a:srgbClr val="06101f"/>
          </a:solidFill>
          <a:ln w="12700">
            <a:solidFill>
              <a:srgbClr val="06101f"/>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22" name="Shape 1"/>
          <p:cNvSpPr/>
          <p:nvPr/>
        </p:nvSpPr>
        <p:spPr>
          <a:xfrm>
            <a:off x="0" y="0"/>
            <a:ext cx="12191400" cy="6857640"/>
          </a:xfrm>
          <a:prstGeom prst="rect">
            <a:avLst/>
          </a:prstGeom>
          <a:solidFill>
            <a:srgbClr val="081629">
              <a:alpha val="85000"/>
            </a:srgbClr>
          </a:solidFill>
          <a:ln w="12700">
            <a:solidFill>
              <a:srgbClr val="081629">
                <a:alpha val="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23" name="Shape 2"/>
          <p:cNvSpPr/>
          <p:nvPr/>
        </p:nvSpPr>
        <p:spPr>
          <a:xfrm>
            <a:off x="-1554480" y="-1737360"/>
            <a:ext cx="5486040" cy="5486040"/>
          </a:xfrm>
          <a:prstGeom prst="arc">
            <a:avLst>
              <a:gd name="adj1" fmla="val 16200000"/>
              <a:gd name="adj2" fmla="val 0"/>
            </a:avLst>
          </a:prstGeom>
          <a:noFill/>
          <a:ln w="13970">
            <a:solidFill>
              <a:srgbClr val="14b8a6">
                <a:alpha val="3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24" name="Shape 3"/>
          <p:cNvSpPr/>
          <p:nvPr/>
        </p:nvSpPr>
        <p:spPr>
          <a:xfrm>
            <a:off x="7680960" y="3840480"/>
            <a:ext cx="5486040" cy="5486040"/>
          </a:xfrm>
          <a:prstGeom prst="arc">
            <a:avLst>
              <a:gd name="adj1" fmla="val 16200000"/>
              <a:gd name="adj2" fmla="val 0"/>
            </a:avLst>
          </a:prstGeom>
          <a:noFill/>
          <a:ln w="12700">
            <a:solidFill>
              <a:srgbClr val="f59e0b">
                <a:alpha val="22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25" name="Text 4"/>
          <p:cNvSpPr/>
          <p:nvPr/>
        </p:nvSpPr>
        <p:spPr>
          <a:xfrm>
            <a:off x="567000" y="347400"/>
            <a:ext cx="594324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50" spc="-1" strike="noStrike">
                <a:solidFill>
                  <a:srgbClr val="14b8a6"/>
                </a:solidFill>
                <a:latin typeface="Aptos"/>
                <a:ea typeface="Aptos"/>
              </a:rPr>
              <a:t>DATASET OVERVIEW</a:t>
            </a:r>
            <a:endParaRPr b="0" lang="en-GB" sz="850" spc="-1" strike="noStrike">
              <a:solidFill>
                <a:srgbClr val="ffffff"/>
              </a:solidFill>
              <a:latin typeface="Arial"/>
            </a:endParaRPr>
          </a:p>
        </p:txBody>
      </p:sp>
      <p:sp>
        <p:nvSpPr>
          <p:cNvPr id="126" name="Text 5"/>
          <p:cNvSpPr/>
          <p:nvPr/>
        </p:nvSpPr>
        <p:spPr>
          <a:xfrm>
            <a:off x="548640" y="658440"/>
            <a:ext cx="10926720" cy="5940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400" spc="-1" strike="noStrike">
                <a:solidFill>
                  <a:srgbClr val="f8fafc"/>
                </a:solidFill>
                <a:latin typeface="Aptos Display"/>
                <a:ea typeface="Aptos Display"/>
              </a:rPr>
              <a:t>High-dimensional myocardial infarction complication data</a:t>
            </a:r>
            <a:endParaRPr b="0" lang="en-GB" sz="2400" spc="-1" strike="noStrike">
              <a:solidFill>
                <a:srgbClr val="ffffff"/>
              </a:solidFill>
              <a:latin typeface="Arial"/>
            </a:endParaRPr>
          </a:p>
        </p:txBody>
      </p:sp>
      <p:sp>
        <p:nvSpPr>
          <p:cNvPr id="127" name="Text 6"/>
          <p:cNvSpPr/>
          <p:nvPr/>
        </p:nvSpPr>
        <p:spPr>
          <a:xfrm>
            <a:off x="567000" y="1216080"/>
            <a:ext cx="1051524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50" spc="-1" strike="noStrike">
                <a:solidFill>
                  <a:srgbClr val="94a3b8"/>
                </a:solidFill>
                <a:latin typeface="Aptos"/>
                <a:ea typeface="Aptos"/>
              </a:rPr>
              <a:t>UCI/Kaggle dataset with clinical, ECG, laboratory, history, and outcome variables.</a:t>
            </a:r>
            <a:endParaRPr b="0" lang="en-GB" sz="1050" spc="-1" strike="noStrike">
              <a:solidFill>
                <a:srgbClr val="ffffff"/>
              </a:solidFill>
              <a:latin typeface="Arial"/>
            </a:endParaRPr>
          </a:p>
        </p:txBody>
      </p:sp>
      <p:sp>
        <p:nvSpPr>
          <p:cNvPr id="128" name="Shape 7"/>
          <p:cNvSpPr/>
          <p:nvPr/>
        </p:nvSpPr>
        <p:spPr>
          <a:xfrm>
            <a:off x="621720" y="1627560"/>
            <a:ext cx="1874160" cy="1142640"/>
          </a:xfrm>
          <a:prstGeom prst="roundRect">
            <a:avLst>
              <a:gd name="adj" fmla="val 9600"/>
            </a:avLst>
          </a:prstGeom>
          <a:solidFill>
            <a:srgbClr val="0b1a2e">
              <a:alpha val="95000"/>
            </a:srgbClr>
          </a:solidFill>
          <a:ln w="13970">
            <a:solidFill>
              <a:srgbClr val="14b8a6">
                <a:alpha val="6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29" name="Shape 8"/>
          <p:cNvSpPr/>
          <p:nvPr/>
        </p:nvSpPr>
        <p:spPr>
          <a:xfrm>
            <a:off x="621720" y="1627560"/>
            <a:ext cx="72720" cy="1142640"/>
          </a:xfrm>
          <a:prstGeom prst="rect">
            <a:avLst/>
          </a:prstGeom>
          <a:solidFill>
            <a:srgbClr val="14b8a6"/>
          </a:solidFill>
          <a:ln w="12700">
            <a:solidFill>
              <a:srgbClr val="14b8a6"/>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30" name="Text 9"/>
          <p:cNvSpPr/>
          <p:nvPr/>
        </p:nvSpPr>
        <p:spPr>
          <a:xfrm>
            <a:off x="822960" y="1828800"/>
            <a:ext cx="155412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720" spc="-1" strike="noStrike">
                <a:solidFill>
                  <a:srgbClr val="94a3b8"/>
                </a:solidFill>
                <a:latin typeface="Aptos"/>
                <a:ea typeface="Aptos"/>
              </a:rPr>
              <a:t>ROWS</a:t>
            </a:r>
            <a:endParaRPr b="0" lang="en-GB" sz="720" spc="-1" strike="noStrike">
              <a:solidFill>
                <a:srgbClr val="ffffff"/>
              </a:solidFill>
              <a:latin typeface="Arial"/>
            </a:endParaRPr>
          </a:p>
        </p:txBody>
      </p:sp>
      <p:sp>
        <p:nvSpPr>
          <p:cNvPr id="131" name="Text 10"/>
          <p:cNvSpPr/>
          <p:nvPr/>
        </p:nvSpPr>
        <p:spPr>
          <a:xfrm>
            <a:off x="822960" y="2066400"/>
            <a:ext cx="1554120" cy="328680"/>
          </a:xfrm>
          <a:prstGeom prst="rect">
            <a:avLst/>
          </a:prstGeom>
          <a:noFill/>
          <a:ln w="0">
            <a:noFill/>
          </a:ln>
        </p:spPr>
        <p:style>
          <a:lnRef idx="0"/>
          <a:fillRef idx="0"/>
          <a:effectRef idx="0"/>
          <a:fontRef idx="minor"/>
        </p:style>
        <p:txBody>
          <a:bodyPr lIns="0" rIns="0" tIns="0" bIns="0" anchor="ctr">
            <a:normAutofit fontScale="96666"/>
          </a:bodyPr>
          <a:p>
            <a:pPr defTabSz="914400">
              <a:lnSpc>
                <a:spcPct val="100000"/>
              </a:lnSpc>
              <a:tabLst>
                <a:tab algn="l" pos="0"/>
              </a:tabLst>
            </a:pPr>
            <a:r>
              <a:rPr b="1" lang="en-US" sz="2300" spc="-1" strike="noStrike">
                <a:solidFill>
                  <a:srgbClr val="f8fafc"/>
                </a:solidFill>
                <a:latin typeface="Aptos Display"/>
                <a:ea typeface="Aptos Display"/>
              </a:rPr>
              <a:t>1,700</a:t>
            </a:r>
            <a:endParaRPr b="0" lang="en-GB" sz="2300" spc="-1" strike="noStrike">
              <a:solidFill>
                <a:srgbClr val="ffffff"/>
              </a:solidFill>
              <a:latin typeface="Arial"/>
            </a:endParaRPr>
          </a:p>
        </p:txBody>
      </p:sp>
      <p:sp>
        <p:nvSpPr>
          <p:cNvPr id="132" name="Text 11"/>
          <p:cNvSpPr/>
          <p:nvPr/>
        </p:nvSpPr>
        <p:spPr>
          <a:xfrm>
            <a:off x="822960" y="2496240"/>
            <a:ext cx="1554120" cy="182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1" strike="noStrike">
                <a:solidFill>
                  <a:srgbClr val="94a3b8"/>
                </a:solidFill>
                <a:latin typeface="Aptos"/>
                <a:ea typeface="Aptos"/>
              </a:rPr>
              <a:t>Patient admission records</a:t>
            </a:r>
            <a:endParaRPr b="0" lang="en-GB" sz="850" spc="-1" strike="noStrike">
              <a:solidFill>
                <a:srgbClr val="ffffff"/>
              </a:solidFill>
              <a:latin typeface="Arial"/>
            </a:endParaRPr>
          </a:p>
        </p:txBody>
      </p:sp>
      <p:sp>
        <p:nvSpPr>
          <p:cNvPr id="133" name="Shape 12"/>
          <p:cNvSpPr/>
          <p:nvPr/>
        </p:nvSpPr>
        <p:spPr>
          <a:xfrm>
            <a:off x="2697480" y="1627560"/>
            <a:ext cx="1874160" cy="1142640"/>
          </a:xfrm>
          <a:prstGeom prst="roundRect">
            <a:avLst>
              <a:gd name="adj" fmla="val 9600"/>
            </a:avLst>
          </a:prstGeom>
          <a:solidFill>
            <a:srgbClr val="0b1a2e">
              <a:alpha val="95000"/>
            </a:srgbClr>
          </a:solidFill>
          <a:ln w="13970">
            <a:solidFill>
              <a:srgbClr val="38bdf8">
                <a:alpha val="6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34" name="Shape 13"/>
          <p:cNvSpPr/>
          <p:nvPr/>
        </p:nvSpPr>
        <p:spPr>
          <a:xfrm>
            <a:off x="2697480" y="1627560"/>
            <a:ext cx="72720" cy="1142640"/>
          </a:xfrm>
          <a:prstGeom prst="rect">
            <a:avLst/>
          </a:prstGeom>
          <a:solidFill>
            <a:srgbClr val="38bdf8"/>
          </a:solidFill>
          <a:ln w="12700">
            <a:solidFill>
              <a:srgbClr val="38bdf8"/>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35" name="Text 14"/>
          <p:cNvSpPr/>
          <p:nvPr/>
        </p:nvSpPr>
        <p:spPr>
          <a:xfrm>
            <a:off x="2898720" y="1828800"/>
            <a:ext cx="155412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720" spc="-1" strike="noStrike">
                <a:solidFill>
                  <a:srgbClr val="94a3b8"/>
                </a:solidFill>
                <a:latin typeface="Aptos"/>
                <a:ea typeface="Aptos"/>
              </a:rPr>
              <a:t>RAW COLUMNS</a:t>
            </a:r>
            <a:endParaRPr b="0" lang="en-GB" sz="720" spc="-1" strike="noStrike">
              <a:solidFill>
                <a:srgbClr val="ffffff"/>
              </a:solidFill>
              <a:latin typeface="Arial"/>
            </a:endParaRPr>
          </a:p>
        </p:txBody>
      </p:sp>
      <p:sp>
        <p:nvSpPr>
          <p:cNvPr id="136" name="Text 15"/>
          <p:cNvSpPr/>
          <p:nvPr/>
        </p:nvSpPr>
        <p:spPr>
          <a:xfrm>
            <a:off x="2898720" y="2066400"/>
            <a:ext cx="1554120" cy="328680"/>
          </a:xfrm>
          <a:prstGeom prst="rect">
            <a:avLst/>
          </a:prstGeom>
          <a:noFill/>
          <a:ln w="0">
            <a:noFill/>
          </a:ln>
        </p:spPr>
        <p:style>
          <a:lnRef idx="0"/>
          <a:fillRef idx="0"/>
          <a:effectRef idx="0"/>
          <a:fontRef idx="minor"/>
        </p:style>
        <p:txBody>
          <a:bodyPr lIns="0" rIns="0" tIns="0" bIns="0" anchor="ctr">
            <a:normAutofit fontScale="96666"/>
          </a:bodyPr>
          <a:p>
            <a:pPr defTabSz="914400">
              <a:lnSpc>
                <a:spcPct val="100000"/>
              </a:lnSpc>
              <a:tabLst>
                <a:tab algn="l" pos="0"/>
              </a:tabLst>
            </a:pPr>
            <a:r>
              <a:rPr b="1" lang="en-US" sz="2300" spc="-1" strike="noStrike">
                <a:solidFill>
                  <a:srgbClr val="f8fafc"/>
                </a:solidFill>
                <a:latin typeface="Aptos Display"/>
                <a:ea typeface="Aptos Display"/>
              </a:rPr>
              <a:t>124</a:t>
            </a:r>
            <a:endParaRPr b="0" lang="en-GB" sz="2300" spc="-1" strike="noStrike">
              <a:solidFill>
                <a:srgbClr val="ffffff"/>
              </a:solidFill>
              <a:latin typeface="Arial"/>
            </a:endParaRPr>
          </a:p>
        </p:txBody>
      </p:sp>
      <p:sp>
        <p:nvSpPr>
          <p:cNvPr id="137" name="Text 16"/>
          <p:cNvSpPr/>
          <p:nvPr/>
        </p:nvSpPr>
        <p:spPr>
          <a:xfrm>
            <a:off x="2898720" y="2496240"/>
            <a:ext cx="1554120" cy="182520"/>
          </a:xfrm>
          <a:prstGeom prst="rect">
            <a:avLst/>
          </a:prstGeom>
          <a:noFill/>
          <a:ln w="0">
            <a:noFill/>
          </a:ln>
        </p:spPr>
        <p:style>
          <a:lnRef idx="0"/>
          <a:fillRef idx="0"/>
          <a:effectRef idx="0"/>
          <a:fontRef idx="minor"/>
        </p:style>
        <p:txBody>
          <a:bodyPr lIns="0" rIns="0" tIns="0" bIns="0" anchor="ctr">
            <a:normAutofit fontScale="87222"/>
          </a:bodyPr>
          <a:p>
            <a:pPr defTabSz="914400">
              <a:lnSpc>
                <a:spcPct val="100000"/>
              </a:lnSpc>
              <a:tabLst>
                <a:tab algn="l" pos="0"/>
              </a:tabLst>
            </a:pPr>
            <a:r>
              <a:rPr b="0" lang="en-US" sz="850" spc="-1" strike="noStrike">
                <a:solidFill>
                  <a:srgbClr val="94a3b8"/>
                </a:solidFill>
                <a:latin typeface="Aptos"/>
                <a:ea typeface="Aptos"/>
              </a:rPr>
              <a:t>Before target and leakage filtering</a:t>
            </a:r>
            <a:endParaRPr b="0" lang="en-GB" sz="850" spc="-1" strike="noStrike">
              <a:solidFill>
                <a:srgbClr val="ffffff"/>
              </a:solidFill>
              <a:latin typeface="Arial"/>
            </a:endParaRPr>
          </a:p>
        </p:txBody>
      </p:sp>
      <p:sp>
        <p:nvSpPr>
          <p:cNvPr id="138" name="Shape 17"/>
          <p:cNvSpPr/>
          <p:nvPr/>
        </p:nvSpPr>
        <p:spPr>
          <a:xfrm>
            <a:off x="4773240" y="1627560"/>
            <a:ext cx="1874160" cy="1142640"/>
          </a:xfrm>
          <a:prstGeom prst="roundRect">
            <a:avLst>
              <a:gd name="adj" fmla="val 9600"/>
            </a:avLst>
          </a:prstGeom>
          <a:solidFill>
            <a:srgbClr val="0b1a2e">
              <a:alpha val="95000"/>
            </a:srgbClr>
          </a:solidFill>
          <a:ln w="13970">
            <a:solidFill>
              <a:srgbClr val="f59e0b">
                <a:alpha val="6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39" name="Shape 18"/>
          <p:cNvSpPr/>
          <p:nvPr/>
        </p:nvSpPr>
        <p:spPr>
          <a:xfrm>
            <a:off x="4773240" y="1627560"/>
            <a:ext cx="72720" cy="1142640"/>
          </a:xfrm>
          <a:prstGeom prst="rect">
            <a:avLst/>
          </a:prstGeom>
          <a:solidFill>
            <a:srgbClr val="f59e0b"/>
          </a:solidFill>
          <a:ln w="12700">
            <a:solidFill>
              <a:srgbClr val="f59e0b"/>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140" name="Text 19"/>
          <p:cNvSpPr/>
          <p:nvPr/>
        </p:nvSpPr>
        <p:spPr>
          <a:xfrm>
            <a:off x="4974480" y="1828800"/>
            <a:ext cx="155412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720" spc="-1" strike="noStrike">
                <a:solidFill>
                  <a:srgbClr val="94a3b8"/>
                </a:solidFill>
                <a:latin typeface="Aptos"/>
                <a:ea typeface="Aptos"/>
              </a:rPr>
              <a:t>FEATURE MATRIX</a:t>
            </a:r>
            <a:endParaRPr b="0" lang="en-GB" sz="720" spc="-1" strike="noStrike">
              <a:solidFill>
                <a:srgbClr val="ffffff"/>
              </a:solidFill>
              <a:latin typeface="Arial"/>
            </a:endParaRPr>
          </a:p>
        </p:txBody>
      </p:sp>
      <p:sp>
        <p:nvSpPr>
          <p:cNvPr id="141" name="Text 20"/>
          <p:cNvSpPr/>
          <p:nvPr/>
        </p:nvSpPr>
        <p:spPr>
          <a:xfrm>
            <a:off x="4974480" y="2066400"/>
            <a:ext cx="1554120" cy="328680"/>
          </a:xfrm>
          <a:prstGeom prst="rect">
            <a:avLst/>
          </a:prstGeom>
          <a:noFill/>
          <a:ln w="0">
            <a:noFill/>
          </a:ln>
        </p:spPr>
        <p:style>
          <a:lnRef idx="0"/>
          <a:fillRef idx="0"/>
          <a:effectRef idx="0"/>
          <a:fontRef idx="minor"/>
        </p:style>
        <p:txBody>
          <a:bodyPr lIns="0" rIns="0" tIns="0" bIns="0" anchor="ctr">
            <a:normAutofit fontScale="96666"/>
          </a:bodyPr>
          <a:p>
            <a:pPr defTabSz="914400">
              <a:lnSpc>
                <a:spcPct val="100000"/>
              </a:lnSpc>
              <a:tabLst>
                <a:tab algn="l" pos="0"/>
              </a:tabLst>
            </a:pPr>
            <a:r>
              <a:rPr b="1" lang="en-US" sz="2300" spc="-1" strike="noStrike">
                <a:solidFill>
                  <a:srgbClr val="f8fafc"/>
                </a:solidFill>
                <a:latin typeface="Aptos Display"/>
                <a:ea typeface="Aptos Display"/>
              </a:rPr>
              <a:t>104</a:t>
            </a:r>
            <a:endParaRPr b="0" lang="en-GB" sz="2300" spc="-1" strike="noStrike">
              <a:solidFill>
                <a:srgbClr val="ffffff"/>
              </a:solidFill>
              <a:latin typeface="Arial"/>
            </a:endParaRPr>
          </a:p>
        </p:txBody>
      </p:sp>
      <p:sp>
        <p:nvSpPr>
          <p:cNvPr id="142" name="Text 21"/>
          <p:cNvSpPr/>
          <p:nvPr/>
        </p:nvSpPr>
        <p:spPr>
          <a:xfrm>
            <a:off x="4974480" y="2496240"/>
            <a:ext cx="1554120" cy="182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1" strike="noStrike">
                <a:solidFill>
                  <a:srgbClr val="94a3b8"/>
                </a:solidFill>
                <a:latin typeface="Aptos"/>
                <a:ea typeface="Aptos"/>
              </a:rPr>
              <a:t>Final predictors</a:t>
            </a:r>
            <a:endParaRPr b="0" lang="en-GB" sz="850" spc="-1" strike="noStrike">
              <a:solidFill>
                <a:srgbClr val="ffffff"/>
              </a:solidFill>
              <a:latin typeface="Arial"/>
            </a:endParaRPr>
          </a:p>
        </p:txBody>
      </p:sp>
      <p:sp>
        <p:nvSpPr>
          <p:cNvPr id="143" name="Shape 22"/>
          <p:cNvSpPr/>
          <p:nvPr/>
        </p:nvSpPr>
        <p:spPr>
          <a:xfrm>
            <a:off x="6849000" y="1627560"/>
            <a:ext cx="1874160" cy="1142640"/>
          </a:xfrm>
          <a:prstGeom prst="roundRect">
            <a:avLst>
              <a:gd name="adj" fmla="val 9600"/>
            </a:avLst>
          </a:prstGeom>
          <a:solidFill>
            <a:srgbClr val="0b1a2e">
              <a:alpha val="95000"/>
            </a:srgbClr>
          </a:solidFill>
          <a:ln w="13970">
            <a:solidFill>
              <a:srgbClr val="f43f5e">
                <a:alpha val="6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44" name="Shape 23"/>
          <p:cNvSpPr/>
          <p:nvPr/>
        </p:nvSpPr>
        <p:spPr>
          <a:xfrm>
            <a:off x="6849000" y="1627560"/>
            <a:ext cx="72720" cy="1142640"/>
          </a:xfrm>
          <a:prstGeom prst="rect">
            <a:avLst/>
          </a:prstGeom>
          <a:solidFill>
            <a:srgbClr val="f43f5e"/>
          </a:solidFill>
          <a:ln w="12700">
            <a:solidFill>
              <a:srgbClr val="f43f5e"/>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45" name="Text 24"/>
          <p:cNvSpPr/>
          <p:nvPr/>
        </p:nvSpPr>
        <p:spPr>
          <a:xfrm>
            <a:off x="7049880" y="1828800"/>
            <a:ext cx="155412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720" spc="-1" strike="noStrike">
                <a:solidFill>
                  <a:srgbClr val="94a3b8"/>
                </a:solidFill>
                <a:latin typeface="Aptos"/>
                <a:ea typeface="Aptos"/>
              </a:rPr>
              <a:t>POSITIVE RATE</a:t>
            </a:r>
            <a:endParaRPr b="0" lang="en-GB" sz="720" spc="-1" strike="noStrike">
              <a:solidFill>
                <a:srgbClr val="ffffff"/>
              </a:solidFill>
              <a:latin typeface="Arial"/>
            </a:endParaRPr>
          </a:p>
        </p:txBody>
      </p:sp>
      <p:sp>
        <p:nvSpPr>
          <p:cNvPr id="146" name="Text 25"/>
          <p:cNvSpPr/>
          <p:nvPr/>
        </p:nvSpPr>
        <p:spPr>
          <a:xfrm>
            <a:off x="7049880" y="2066400"/>
            <a:ext cx="1554120" cy="328680"/>
          </a:xfrm>
          <a:prstGeom prst="rect">
            <a:avLst/>
          </a:prstGeom>
          <a:noFill/>
          <a:ln w="0">
            <a:noFill/>
          </a:ln>
        </p:spPr>
        <p:style>
          <a:lnRef idx="0"/>
          <a:fillRef idx="0"/>
          <a:effectRef idx="0"/>
          <a:fontRef idx="minor"/>
        </p:style>
        <p:txBody>
          <a:bodyPr lIns="0" rIns="0" tIns="0" bIns="0" anchor="ctr">
            <a:normAutofit fontScale="96666"/>
          </a:bodyPr>
          <a:p>
            <a:pPr defTabSz="914400">
              <a:lnSpc>
                <a:spcPct val="100000"/>
              </a:lnSpc>
              <a:tabLst>
                <a:tab algn="l" pos="0"/>
              </a:tabLst>
            </a:pPr>
            <a:r>
              <a:rPr b="1" lang="en-US" sz="2300" spc="-1" strike="noStrike">
                <a:solidFill>
                  <a:srgbClr val="f8fafc"/>
                </a:solidFill>
                <a:latin typeface="Aptos Display"/>
                <a:ea typeface="Aptos Display"/>
              </a:rPr>
              <a:t>16.1%</a:t>
            </a:r>
            <a:endParaRPr b="0" lang="en-GB" sz="2300" spc="-1" strike="noStrike">
              <a:solidFill>
                <a:srgbClr val="ffffff"/>
              </a:solidFill>
              <a:latin typeface="Arial"/>
            </a:endParaRPr>
          </a:p>
        </p:txBody>
      </p:sp>
      <p:sp>
        <p:nvSpPr>
          <p:cNvPr id="147" name="Text 26"/>
          <p:cNvSpPr/>
          <p:nvPr/>
        </p:nvSpPr>
        <p:spPr>
          <a:xfrm>
            <a:off x="7049880" y="2496240"/>
            <a:ext cx="1554120" cy="182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1" strike="noStrike">
                <a:solidFill>
                  <a:srgbClr val="94a3b8"/>
                </a:solidFill>
                <a:latin typeface="Aptos"/>
                <a:ea typeface="Aptos"/>
              </a:rPr>
              <a:t>Validation/test mortality share</a:t>
            </a:r>
            <a:endParaRPr b="0" lang="en-GB" sz="850" spc="-1" strike="noStrike">
              <a:solidFill>
                <a:srgbClr val="ffffff"/>
              </a:solidFill>
              <a:latin typeface="Arial"/>
            </a:endParaRPr>
          </a:p>
        </p:txBody>
      </p:sp>
      <p:sp>
        <p:nvSpPr>
          <p:cNvPr id="148" name="Shape 27"/>
          <p:cNvSpPr/>
          <p:nvPr/>
        </p:nvSpPr>
        <p:spPr>
          <a:xfrm>
            <a:off x="8924400" y="1627560"/>
            <a:ext cx="1874160" cy="1142640"/>
          </a:xfrm>
          <a:prstGeom prst="roundRect">
            <a:avLst>
              <a:gd name="adj" fmla="val 9600"/>
            </a:avLst>
          </a:prstGeom>
          <a:solidFill>
            <a:srgbClr val="0b1a2e">
              <a:alpha val="95000"/>
            </a:srgbClr>
          </a:solidFill>
          <a:ln w="13970">
            <a:solidFill>
              <a:srgbClr val="a78bfa">
                <a:alpha val="6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49" name="Shape 28"/>
          <p:cNvSpPr/>
          <p:nvPr/>
        </p:nvSpPr>
        <p:spPr>
          <a:xfrm>
            <a:off x="8924400" y="1627560"/>
            <a:ext cx="72720" cy="1142640"/>
          </a:xfrm>
          <a:prstGeom prst="rect">
            <a:avLst/>
          </a:prstGeom>
          <a:solidFill>
            <a:srgbClr val="a78bfa"/>
          </a:solidFill>
          <a:ln w="12700">
            <a:solidFill>
              <a:srgbClr val="a78bfa"/>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150" name="Text 29"/>
          <p:cNvSpPr/>
          <p:nvPr/>
        </p:nvSpPr>
        <p:spPr>
          <a:xfrm>
            <a:off x="9125640" y="1828800"/>
            <a:ext cx="155412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720" spc="-1" strike="noStrike">
                <a:solidFill>
                  <a:srgbClr val="94a3b8"/>
                </a:solidFill>
                <a:latin typeface="Aptos"/>
                <a:ea typeface="Aptos"/>
              </a:rPr>
              <a:t>IMBALANCE</a:t>
            </a:r>
            <a:endParaRPr b="0" lang="en-GB" sz="720" spc="-1" strike="noStrike">
              <a:solidFill>
                <a:srgbClr val="ffffff"/>
              </a:solidFill>
              <a:latin typeface="Arial"/>
            </a:endParaRPr>
          </a:p>
        </p:txBody>
      </p:sp>
      <p:sp>
        <p:nvSpPr>
          <p:cNvPr id="151" name="Text 30"/>
          <p:cNvSpPr/>
          <p:nvPr/>
        </p:nvSpPr>
        <p:spPr>
          <a:xfrm>
            <a:off x="9125640" y="2066400"/>
            <a:ext cx="1554120" cy="328680"/>
          </a:xfrm>
          <a:prstGeom prst="rect">
            <a:avLst/>
          </a:prstGeom>
          <a:noFill/>
          <a:ln w="0">
            <a:noFill/>
          </a:ln>
        </p:spPr>
        <p:style>
          <a:lnRef idx="0"/>
          <a:fillRef idx="0"/>
          <a:effectRef idx="0"/>
          <a:fontRef idx="minor"/>
        </p:style>
        <p:txBody>
          <a:bodyPr lIns="0" rIns="0" tIns="0" bIns="0" anchor="ctr">
            <a:normAutofit fontScale="96666"/>
          </a:bodyPr>
          <a:p>
            <a:pPr defTabSz="914400">
              <a:lnSpc>
                <a:spcPct val="100000"/>
              </a:lnSpc>
              <a:tabLst>
                <a:tab algn="l" pos="0"/>
              </a:tabLst>
            </a:pPr>
            <a:r>
              <a:rPr b="1" lang="en-US" sz="2300" spc="-1" strike="noStrike">
                <a:solidFill>
                  <a:srgbClr val="f8fafc"/>
                </a:solidFill>
                <a:latin typeface="Aptos Display"/>
                <a:ea typeface="Aptos Display"/>
              </a:rPr>
              <a:t>5.3:1</a:t>
            </a:r>
            <a:endParaRPr b="0" lang="en-GB" sz="2300" spc="-1" strike="noStrike">
              <a:solidFill>
                <a:srgbClr val="ffffff"/>
              </a:solidFill>
              <a:latin typeface="Arial"/>
            </a:endParaRPr>
          </a:p>
        </p:txBody>
      </p:sp>
      <p:sp>
        <p:nvSpPr>
          <p:cNvPr id="152" name="Text 31"/>
          <p:cNvSpPr/>
          <p:nvPr/>
        </p:nvSpPr>
        <p:spPr>
          <a:xfrm>
            <a:off x="9125640" y="2496240"/>
            <a:ext cx="1554120" cy="182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1" strike="noStrike">
                <a:solidFill>
                  <a:srgbClr val="94a3b8"/>
                </a:solidFill>
                <a:latin typeface="Aptos"/>
                <a:ea typeface="Aptos"/>
              </a:rPr>
              <a:t>Survived to died ratio</a:t>
            </a:r>
            <a:endParaRPr b="0" lang="en-GB" sz="850" spc="-1" strike="noStrike">
              <a:solidFill>
                <a:srgbClr val="ffffff"/>
              </a:solidFill>
              <a:latin typeface="Arial"/>
            </a:endParaRPr>
          </a:p>
        </p:txBody>
      </p:sp>
      <p:sp>
        <p:nvSpPr>
          <p:cNvPr id="153" name="Shape 32"/>
          <p:cNvSpPr/>
          <p:nvPr/>
        </p:nvSpPr>
        <p:spPr>
          <a:xfrm>
            <a:off x="658440" y="3273480"/>
            <a:ext cx="5394600" cy="2057040"/>
          </a:xfrm>
          <a:prstGeom prst="roundRect">
            <a:avLst>
              <a:gd name="adj" fmla="val 3556"/>
            </a:avLst>
          </a:prstGeom>
          <a:solidFill>
            <a:srgbClr val="0b1a2e"/>
          </a:solidFill>
          <a:ln w="1016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54" name="Shape 33"/>
          <p:cNvSpPr/>
          <p:nvPr/>
        </p:nvSpPr>
        <p:spPr>
          <a:xfrm>
            <a:off x="658440" y="3273480"/>
            <a:ext cx="1965600" cy="292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55" name="Text 34"/>
          <p:cNvSpPr/>
          <p:nvPr/>
        </p:nvSpPr>
        <p:spPr>
          <a:xfrm>
            <a:off x="685800" y="3346560"/>
            <a:ext cx="191088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30" spc="-1" strike="noStrike">
                <a:solidFill>
                  <a:srgbClr val="f8fafc"/>
                </a:solidFill>
                <a:latin typeface="Aptos"/>
                <a:ea typeface="Aptos"/>
              </a:rPr>
              <a:t>Feature type</a:t>
            </a:r>
            <a:endParaRPr b="0" lang="en-GB" sz="730" spc="-1" strike="noStrike">
              <a:solidFill>
                <a:srgbClr val="ffffff"/>
              </a:solidFill>
              <a:latin typeface="Arial"/>
            </a:endParaRPr>
          </a:p>
        </p:txBody>
      </p:sp>
      <p:sp>
        <p:nvSpPr>
          <p:cNvPr id="156" name="Shape 35"/>
          <p:cNvSpPr/>
          <p:nvPr/>
        </p:nvSpPr>
        <p:spPr>
          <a:xfrm>
            <a:off x="2624400" y="3273480"/>
            <a:ext cx="776880" cy="292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57" name="Text 36"/>
          <p:cNvSpPr/>
          <p:nvPr/>
        </p:nvSpPr>
        <p:spPr>
          <a:xfrm>
            <a:off x="2651760" y="3346560"/>
            <a:ext cx="72216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30" spc="-1" strike="noStrike">
                <a:solidFill>
                  <a:srgbClr val="f8fafc"/>
                </a:solidFill>
                <a:latin typeface="Aptos"/>
                <a:ea typeface="Aptos"/>
              </a:rPr>
              <a:t>Count</a:t>
            </a:r>
            <a:endParaRPr b="0" lang="en-GB" sz="730" spc="-1" strike="noStrike">
              <a:solidFill>
                <a:srgbClr val="ffffff"/>
              </a:solidFill>
              <a:latin typeface="Arial"/>
            </a:endParaRPr>
          </a:p>
        </p:txBody>
      </p:sp>
      <p:sp>
        <p:nvSpPr>
          <p:cNvPr id="158" name="Shape 37"/>
          <p:cNvSpPr/>
          <p:nvPr/>
        </p:nvSpPr>
        <p:spPr>
          <a:xfrm>
            <a:off x="3401640" y="3273480"/>
            <a:ext cx="2651400" cy="292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59" name="Text 38"/>
          <p:cNvSpPr/>
          <p:nvPr/>
        </p:nvSpPr>
        <p:spPr>
          <a:xfrm>
            <a:off x="3429000" y="3346560"/>
            <a:ext cx="259668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30" spc="-1" strike="noStrike">
                <a:solidFill>
                  <a:srgbClr val="f8fafc"/>
                </a:solidFill>
                <a:latin typeface="Aptos"/>
                <a:ea typeface="Aptos"/>
              </a:rPr>
              <a:t>Treatment</a:t>
            </a:r>
            <a:endParaRPr b="0" lang="en-GB" sz="730" spc="-1" strike="noStrike">
              <a:solidFill>
                <a:srgbClr val="ffffff"/>
              </a:solidFill>
              <a:latin typeface="Arial"/>
            </a:endParaRPr>
          </a:p>
        </p:txBody>
      </p:sp>
      <p:sp>
        <p:nvSpPr>
          <p:cNvPr id="160" name="Shape 39"/>
          <p:cNvSpPr/>
          <p:nvPr/>
        </p:nvSpPr>
        <p:spPr>
          <a:xfrm>
            <a:off x="658440" y="3566160"/>
            <a:ext cx="1965600" cy="42948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61" name="Text 40"/>
          <p:cNvSpPr/>
          <p:nvPr/>
        </p:nvSpPr>
        <p:spPr>
          <a:xfrm>
            <a:off x="685800" y="3639240"/>
            <a:ext cx="1910880" cy="365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730" spc="-1" strike="noStrike">
                <a:solidFill>
                  <a:srgbClr val="f8fafc"/>
                </a:solidFill>
                <a:latin typeface="Aptos"/>
                <a:ea typeface="Aptos"/>
              </a:rPr>
              <a:t>Continuous clinical/lab values</a:t>
            </a:r>
            <a:endParaRPr b="0" lang="en-GB" sz="730" spc="-1" strike="noStrike">
              <a:solidFill>
                <a:srgbClr val="ffffff"/>
              </a:solidFill>
              <a:latin typeface="Arial"/>
            </a:endParaRPr>
          </a:p>
        </p:txBody>
      </p:sp>
      <p:sp>
        <p:nvSpPr>
          <p:cNvPr id="162" name="Shape 41"/>
          <p:cNvSpPr/>
          <p:nvPr/>
        </p:nvSpPr>
        <p:spPr>
          <a:xfrm>
            <a:off x="2624400" y="3566160"/>
            <a:ext cx="776880" cy="42948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63" name="Text 42"/>
          <p:cNvSpPr/>
          <p:nvPr/>
        </p:nvSpPr>
        <p:spPr>
          <a:xfrm>
            <a:off x="2651760" y="3639240"/>
            <a:ext cx="722160" cy="365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30" spc="-1" strike="noStrike">
                <a:solidFill>
                  <a:srgbClr val="f8fafc"/>
                </a:solidFill>
                <a:latin typeface="Aptos"/>
                <a:ea typeface="Aptos"/>
              </a:rPr>
              <a:t>13</a:t>
            </a:r>
            <a:endParaRPr b="0" lang="en-GB" sz="730" spc="-1" strike="noStrike">
              <a:solidFill>
                <a:srgbClr val="ffffff"/>
              </a:solidFill>
              <a:latin typeface="Arial"/>
            </a:endParaRPr>
          </a:p>
        </p:txBody>
      </p:sp>
      <p:sp>
        <p:nvSpPr>
          <p:cNvPr id="164" name="Shape 43"/>
          <p:cNvSpPr/>
          <p:nvPr/>
        </p:nvSpPr>
        <p:spPr>
          <a:xfrm>
            <a:off x="3401640" y="3566160"/>
            <a:ext cx="2651400" cy="42948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65" name="Text 44"/>
          <p:cNvSpPr/>
          <p:nvPr/>
        </p:nvSpPr>
        <p:spPr>
          <a:xfrm>
            <a:off x="3429000" y="3639240"/>
            <a:ext cx="2596680" cy="365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30" spc="-1" strike="noStrike">
                <a:solidFill>
                  <a:srgbClr val="f8fafc"/>
                </a:solidFill>
                <a:latin typeface="Aptos"/>
                <a:ea typeface="Aptos"/>
              </a:rPr>
              <a:t>Median imputation + StandardScaler</a:t>
            </a:r>
            <a:endParaRPr b="0" lang="en-GB" sz="730" spc="-1" strike="noStrike">
              <a:solidFill>
                <a:srgbClr val="ffffff"/>
              </a:solidFill>
              <a:latin typeface="Arial"/>
            </a:endParaRPr>
          </a:p>
        </p:txBody>
      </p:sp>
      <p:sp>
        <p:nvSpPr>
          <p:cNvPr id="166" name="Shape 45"/>
          <p:cNvSpPr/>
          <p:nvPr/>
        </p:nvSpPr>
        <p:spPr>
          <a:xfrm>
            <a:off x="658440" y="3996000"/>
            <a:ext cx="1965600" cy="42948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67" name="Text 46"/>
          <p:cNvSpPr/>
          <p:nvPr/>
        </p:nvSpPr>
        <p:spPr>
          <a:xfrm>
            <a:off x="685800" y="4069080"/>
            <a:ext cx="1910880" cy="365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730" spc="-1" strike="noStrike">
                <a:solidFill>
                  <a:srgbClr val="f8fafc"/>
                </a:solidFill>
                <a:latin typeface="Aptos"/>
                <a:ea typeface="Aptos"/>
              </a:rPr>
              <a:t>Ordinal variables</a:t>
            </a:r>
            <a:endParaRPr b="0" lang="en-GB" sz="730" spc="-1" strike="noStrike">
              <a:solidFill>
                <a:srgbClr val="ffffff"/>
              </a:solidFill>
              <a:latin typeface="Arial"/>
            </a:endParaRPr>
          </a:p>
        </p:txBody>
      </p:sp>
      <p:sp>
        <p:nvSpPr>
          <p:cNvPr id="168" name="Shape 47"/>
          <p:cNvSpPr/>
          <p:nvPr/>
        </p:nvSpPr>
        <p:spPr>
          <a:xfrm>
            <a:off x="2624400" y="3996000"/>
            <a:ext cx="776880" cy="42948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69" name="Text 48"/>
          <p:cNvSpPr/>
          <p:nvPr/>
        </p:nvSpPr>
        <p:spPr>
          <a:xfrm>
            <a:off x="2651760" y="4069080"/>
            <a:ext cx="722160" cy="365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30" spc="-1" strike="noStrike">
                <a:solidFill>
                  <a:srgbClr val="f8fafc"/>
                </a:solidFill>
                <a:latin typeface="Aptos"/>
                <a:ea typeface="Aptos"/>
              </a:rPr>
              <a:t>3</a:t>
            </a:r>
            <a:endParaRPr b="0" lang="en-GB" sz="730" spc="-1" strike="noStrike">
              <a:solidFill>
                <a:srgbClr val="ffffff"/>
              </a:solidFill>
              <a:latin typeface="Arial"/>
            </a:endParaRPr>
          </a:p>
        </p:txBody>
      </p:sp>
      <p:sp>
        <p:nvSpPr>
          <p:cNvPr id="170" name="Shape 49"/>
          <p:cNvSpPr/>
          <p:nvPr/>
        </p:nvSpPr>
        <p:spPr>
          <a:xfrm>
            <a:off x="3401640" y="3996000"/>
            <a:ext cx="2651400" cy="42948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71" name="Text 50"/>
          <p:cNvSpPr/>
          <p:nvPr/>
        </p:nvSpPr>
        <p:spPr>
          <a:xfrm>
            <a:off x="3429000" y="4069080"/>
            <a:ext cx="2596680" cy="365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30" spc="-1" strike="noStrike">
                <a:solidFill>
                  <a:srgbClr val="f8fafc"/>
                </a:solidFill>
                <a:latin typeface="Aptos"/>
                <a:ea typeface="Aptos"/>
              </a:rPr>
              <a:t>Most-frequent imputation + StandardScaler</a:t>
            </a:r>
            <a:endParaRPr b="0" lang="en-GB" sz="730" spc="-1" strike="noStrike">
              <a:solidFill>
                <a:srgbClr val="ffffff"/>
              </a:solidFill>
              <a:latin typeface="Arial"/>
            </a:endParaRPr>
          </a:p>
        </p:txBody>
      </p:sp>
      <p:sp>
        <p:nvSpPr>
          <p:cNvPr id="172" name="Shape 51"/>
          <p:cNvSpPr/>
          <p:nvPr/>
        </p:nvSpPr>
        <p:spPr>
          <a:xfrm>
            <a:off x="658440" y="4425840"/>
            <a:ext cx="1965600" cy="42948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73" name="Text 52"/>
          <p:cNvSpPr/>
          <p:nvPr/>
        </p:nvSpPr>
        <p:spPr>
          <a:xfrm>
            <a:off x="685800" y="4498920"/>
            <a:ext cx="1910880" cy="365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730" spc="-1" strike="noStrike">
                <a:solidFill>
                  <a:srgbClr val="f8fafc"/>
                </a:solidFill>
                <a:latin typeface="Aptos"/>
                <a:ea typeface="Aptos"/>
              </a:rPr>
              <a:t>Binary flags</a:t>
            </a:r>
            <a:endParaRPr b="0" lang="en-GB" sz="730" spc="-1" strike="noStrike">
              <a:solidFill>
                <a:srgbClr val="ffffff"/>
              </a:solidFill>
              <a:latin typeface="Arial"/>
            </a:endParaRPr>
          </a:p>
        </p:txBody>
      </p:sp>
      <p:sp>
        <p:nvSpPr>
          <p:cNvPr id="174" name="Shape 53"/>
          <p:cNvSpPr/>
          <p:nvPr/>
        </p:nvSpPr>
        <p:spPr>
          <a:xfrm>
            <a:off x="2624400" y="4425840"/>
            <a:ext cx="776880" cy="42948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75" name="Text 54"/>
          <p:cNvSpPr/>
          <p:nvPr/>
        </p:nvSpPr>
        <p:spPr>
          <a:xfrm>
            <a:off x="2651760" y="4498920"/>
            <a:ext cx="722160" cy="365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30" spc="-1" strike="noStrike">
                <a:solidFill>
                  <a:srgbClr val="f8fafc"/>
                </a:solidFill>
                <a:latin typeface="Aptos"/>
                <a:ea typeface="Aptos"/>
              </a:rPr>
              <a:t>88</a:t>
            </a:r>
            <a:endParaRPr b="0" lang="en-GB" sz="730" spc="-1" strike="noStrike">
              <a:solidFill>
                <a:srgbClr val="ffffff"/>
              </a:solidFill>
              <a:latin typeface="Arial"/>
            </a:endParaRPr>
          </a:p>
        </p:txBody>
      </p:sp>
      <p:sp>
        <p:nvSpPr>
          <p:cNvPr id="176" name="Shape 55"/>
          <p:cNvSpPr/>
          <p:nvPr/>
        </p:nvSpPr>
        <p:spPr>
          <a:xfrm>
            <a:off x="3401640" y="4425840"/>
            <a:ext cx="2651400" cy="42948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77" name="Text 56"/>
          <p:cNvSpPr/>
          <p:nvPr/>
        </p:nvSpPr>
        <p:spPr>
          <a:xfrm>
            <a:off x="3429000" y="4498920"/>
            <a:ext cx="2596680" cy="365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30" spc="-1" strike="noStrike">
                <a:solidFill>
                  <a:srgbClr val="f8fafc"/>
                </a:solidFill>
                <a:latin typeface="Aptos"/>
                <a:ea typeface="Aptos"/>
              </a:rPr>
              <a:t>Mode imputation, no scaling</a:t>
            </a:r>
            <a:endParaRPr b="0" lang="en-GB" sz="730" spc="-1" strike="noStrike">
              <a:solidFill>
                <a:srgbClr val="ffffff"/>
              </a:solidFill>
              <a:latin typeface="Arial"/>
            </a:endParaRPr>
          </a:p>
        </p:txBody>
      </p:sp>
      <p:sp>
        <p:nvSpPr>
          <p:cNvPr id="178" name="Shape 57"/>
          <p:cNvSpPr/>
          <p:nvPr/>
        </p:nvSpPr>
        <p:spPr>
          <a:xfrm>
            <a:off x="658440" y="4855320"/>
            <a:ext cx="1965600" cy="42948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79" name="Text 58"/>
          <p:cNvSpPr/>
          <p:nvPr/>
        </p:nvSpPr>
        <p:spPr>
          <a:xfrm>
            <a:off x="685800" y="4928760"/>
            <a:ext cx="1910880" cy="365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730" spc="-1" strike="noStrike">
                <a:solidFill>
                  <a:srgbClr val="f8fafc"/>
                </a:solidFill>
                <a:latin typeface="Aptos"/>
                <a:ea typeface="Aptos"/>
              </a:rPr>
              <a:t>Dropped leakage/targets</a:t>
            </a:r>
            <a:endParaRPr b="0" lang="en-GB" sz="730" spc="-1" strike="noStrike">
              <a:solidFill>
                <a:srgbClr val="ffffff"/>
              </a:solidFill>
              <a:latin typeface="Arial"/>
            </a:endParaRPr>
          </a:p>
        </p:txBody>
      </p:sp>
      <p:sp>
        <p:nvSpPr>
          <p:cNvPr id="180" name="Shape 59"/>
          <p:cNvSpPr/>
          <p:nvPr/>
        </p:nvSpPr>
        <p:spPr>
          <a:xfrm>
            <a:off x="2624400" y="4855320"/>
            <a:ext cx="776880" cy="42948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81" name="Text 60"/>
          <p:cNvSpPr/>
          <p:nvPr/>
        </p:nvSpPr>
        <p:spPr>
          <a:xfrm>
            <a:off x="2651760" y="4928760"/>
            <a:ext cx="722160" cy="365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30" spc="-1" strike="noStrike">
                <a:solidFill>
                  <a:srgbClr val="f8fafc"/>
                </a:solidFill>
                <a:latin typeface="Aptos"/>
                <a:ea typeface="Aptos"/>
              </a:rPr>
              <a:t>19</a:t>
            </a:r>
            <a:endParaRPr b="0" lang="en-GB" sz="730" spc="-1" strike="noStrike">
              <a:solidFill>
                <a:srgbClr val="ffffff"/>
              </a:solidFill>
              <a:latin typeface="Arial"/>
            </a:endParaRPr>
          </a:p>
        </p:txBody>
      </p:sp>
      <p:sp>
        <p:nvSpPr>
          <p:cNvPr id="182" name="Shape 61"/>
          <p:cNvSpPr/>
          <p:nvPr/>
        </p:nvSpPr>
        <p:spPr>
          <a:xfrm>
            <a:off x="3401640" y="4855320"/>
            <a:ext cx="2651400" cy="42948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83" name="Text 62"/>
          <p:cNvSpPr/>
          <p:nvPr/>
        </p:nvSpPr>
        <p:spPr>
          <a:xfrm>
            <a:off x="3429000" y="4928760"/>
            <a:ext cx="2596680" cy="365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30" spc="-1" strike="noStrike">
                <a:solidFill>
                  <a:srgbClr val="f8fafc"/>
                </a:solidFill>
                <a:latin typeface="Aptos"/>
                <a:ea typeface="Aptos"/>
              </a:rPr>
              <a:t>Removed before training</a:t>
            </a:r>
            <a:endParaRPr b="0" lang="en-GB" sz="730" spc="-1" strike="noStrike">
              <a:solidFill>
                <a:srgbClr val="ffffff"/>
              </a:solidFill>
              <a:latin typeface="Arial"/>
            </a:endParaRPr>
          </a:p>
        </p:txBody>
      </p:sp>
      <p:sp>
        <p:nvSpPr>
          <p:cNvPr id="184" name="Shape 63"/>
          <p:cNvSpPr/>
          <p:nvPr/>
        </p:nvSpPr>
        <p:spPr>
          <a:xfrm>
            <a:off x="6446520" y="3273480"/>
            <a:ext cx="4983120" cy="1737000"/>
          </a:xfrm>
          <a:prstGeom prst="roundRect">
            <a:avLst>
              <a:gd name="adj" fmla="val 4211"/>
            </a:avLst>
          </a:prstGeom>
          <a:solidFill>
            <a:srgbClr val="0b1a2e"/>
          </a:solidFill>
          <a:ln w="1016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85" name="Shape 64"/>
          <p:cNvSpPr/>
          <p:nvPr/>
        </p:nvSpPr>
        <p:spPr>
          <a:xfrm>
            <a:off x="6446520" y="3273480"/>
            <a:ext cx="1554120" cy="292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86" name="Text 65"/>
          <p:cNvSpPr/>
          <p:nvPr/>
        </p:nvSpPr>
        <p:spPr>
          <a:xfrm>
            <a:off x="6473880" y="3346560"/>
            <a:ext cx="149940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80" spc="-1" strike="noStrike">
                <a:solidFill>
                  <a:srgbClr val="f8fafc"/>
                </a:solidFill>
                <a:latin typeface="Aptos"/>
                <a:ea typeface="Aptos"/>
              </a:rPr>
              <a:t>Split</a:t>
            </a:r>
            <a:endParaRPr b="0" lang="en-GB" sz="780" spc="-1" strike="noStrike">
              <a:solidFill>
                <a:srgbClr val="ffffff"/>
              </a:solidFill>
              <a:latin typeface="Arial"/>
            </a:endParaRPr>
          </a:p>
        </p:txBody>
      </p:sp>
      <p:sp>
        <p:nvSpPr>
          <p:cNvPr id="187" name="Shape 66"/>
          <p:cNvSpPr/>
          <p:nvPr/>
        </p:nvSpPr>
        <p:spPr>
          <a:xfrm>
            <a:off x="8001000" y="3273480"/>
            <a:ext cx="1737000" cy="292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88" name="Text 67"/>
          <p:cNvSpPr/>
          <p:nvPr/>
        </p:nvSpPr>
        <p:spPr>
          <a:xfrm>
            <a:off x="8028360" y="3346560"/>
            <a:ext cx="168228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80" spc="-1" strike="noStrike">
                <a:solidFill>
                  <a:srgbClr val="f8fafc"/>
                </a:solidFill>
                <a:latin typeface="Aptos"/>
                <a:ea typeface="Aptos"/>
              </a:rPr>
              <a:t>Shape</a:t>
            </a:r>
            <a:endParaRPr b="0" lang="en-GB" sz="780" spc="-1" strike="noStrike">
              <a:solidFill>
                <a:srgbClr val="ffffff"/>
              </a:solidFill>
              <a:latin typeface="Arial"/>
            </a:endParaRPr>
          </a:p>
        </p:txBody>
      </p:sp>
      <p:sp>
        <p:nvSpPr>
          <p:cNvPr id="189" name="Shape 68"/>
          <p:cNvSpPr/>
          <p:nvPr/>
        </p:nvSpPr>
        <p:spPr>
          <a:xfrm>
            <a:off x="9738360" y="3273480"/>
            <a:ext cx="1691280" cy="292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90" name="Text 69"/>
          <p:cNvSpPr/>
          <p:nvPr/>
        </p:nvSpPr>
        <p:spPr>
          <a:xfrm>
            <a:off x="9765720" y="3346560"/>
            <a:ext cx="163656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80" spc="-1" strike="noStrike">
                <a:solidFill>
                  <a:srgbClr val="f8fafc"/>
                </a:solidFill>
                <a:latin typeface="Aptos"/>
                <a:ea typeface="Aptos"/>
              </a:rPr>
              <a:t>Positive rate</a:t>
            </a:r>
            <a:endParaRPr b="0" lang="en-GB" sz="780" spc="-1" strike="noStrike">
              <a:solidFill>
                <a:srgbClr val="ffffff"/>
              </a:solidFill>
              <a:latin typeface="Arial"/>
            </a:endParaRPr>
          </a:p>
        </p:txBody>
      </p:sp>
      <p:sp>
        <p:nvSpPr>
          <p:cNvPr id="191" name="Shape 70"/>
          <p:cNvSpPr/>
          <p:nvPr/>
        </p:nvSpPr>
        <p:spPr>
          <a:xfrm>
            <a:off x="6446520" y="3566160"/>
            <a:ext cx="1554120" cy="46584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92" name="Text 71"/>
          <p:cNvSpPr/>
          <p:nvPr/>
        </p:nvSpPr>
        <p:spPr>
          <a:xfrm>
            <a:off x="6473880" y="3639240"/>
            <a:ext cx="1499400" cy="402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780" spc="-1" strike="noStrike">
                <a:solidFill>
                  <a:srgbClr val="f8fafc"/>
                </a:solidFill>
                <a:latin typeface="Aptos"/>
                <a:ea typeface="Aptos"/>
              </a:rPr>
              <a:t>Train</a:t>
            </a:r>
            <a:endParaRPr b="0" lang="en-GB" sz="780" spc="-1" strike="noStrike">
              <a:solidFill>
                <a:srgbClr val="ffffff"/>
              </a:solidFill>
              <a:latin typeface="Arial"/>
            </a:endParaRPr>
          </a:p>
        </p:txBody>
      </p:sp>
      <p:sp>
        <p:nvSpPr>
          <p:cNvPr id="193" name="Shape 72"/>
          <p:cNvSpPr/>
          <p:nvPr/>
        </p:nvSpPr>
        <p:spPr>
          <a:xfrm>
            <a:off x="8001000" y="3566160"/>
            <a:ext cx="1737000" cy="46584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94" name="Text 73"/>
          <p:cNvSpPr/>
          <p:nvPr/>
        </p:nvSpPr>
        <p:spPr>
          <a:xfrm>
            <a:off x="8028360" y="3639240"/>
            <a:ext cx="1682280" cy="4021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80" spc="-1" strike="noStrike">
                <a:solidFill>
                  <a:srgbClr val="f8fafc"/>
                </a:solidFill>
                <a:latin typeface="Aptos"/>
                <a:ea typeface="Aptos"/>
              </a:rPr>
              <a:t>1190 × 104</a:t>
            </a:r>
            <a:endParaRPr b="0" lang="en-GB" sz="780" spc="-1" strike="noStrike">
              <a:solidFill>
                <a:srgbClr val="ffffff"/>
              </a:solidFill>
              <a:latin typeface="Arial"/>
            </a:endParaRPr>
          </a:p>
        </p:txBody>
      </p:sp>
      <p:sp>
        <p:nvSpPr>
          <p:cNvPr id="195" name="Shape 74"/>
          <p:cNvSpPr/>
          <p:nvPr/>
        </p:nvSpPr>
        <p:spPr>
          <a:xfrm>
            <a:off x="9738360" y="3566160"/>
            <a:ext cx="1691280" cy="46584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96" name="Text 75"/>
          <p:cNvSpPr/>
          <p:nvPr/>
        </p:nvSpPr>
        <p:spPr>
          <a:xfrm>
            <a:off x="9765720" y="3639240"/>
            <a:ext cx="1636560" cy="4021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80" spc="-1" strike="noStrike">
                <a:solidFill>
                  <a:srgbClr val="f8fafc"/>
                </a:solidFill>
                <a:latin typeface="Aptos"/>
                <a:ea typeface="Aptos"/>
              </a:rPr>
              <a:t>15.9%</a:t>
            </a:r>
            <a:endParaRPr b="0" lang="en-GB" sz="780" spc="-1" strike="noStrike">
              <a:solidFill>
                <a:srgbClr val="ffffff"/>
              </a:solidFill>
              <a:latin typeface="Arial"/>
            </a:endParaRPr>
          </a:p>
        </p:txBody>
      </p:sp>
      <p:sp>
        <p:nvSpPr>
          <p:cNvPr id="197" name="Shape 76"/>
          <p:cNvSpPr/>
          <p:nvPr/>
        </p:nvSpPr>
        <p:spPr>
          <a:xfrm>
            <a:off x="6446520" y="4032360"/>
            <a:ext cx="1554120" cy="46584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98" name="Text 77"/>
          <p:cNvSpPr/>
          <p:nvPr/>
        </p:nvSpPr>
        <p:spPr>
          <a:xfrm>
            <a:off x="6473880" y="4105800"/>
            <a:ext cx="1499400" cy="402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780" spc="-1" strike="noStrike">
                <a:solidFill>
                  <a:srgbClr val="f8fafc"/>
                </a:solidFill>
                <a:latin typeface="Aptos"/>
                <a:ea typeface="Aptos"/>
              </a:rPr>
              <a:t>Validation</a:t>
            </a:r>
            <a:endParaRPr b="0" lang="en-GB" sz="780" spc="-1" strike="noStrike">
              <a:solidFill>
                <a:srgbClr val="ffffff"/>
              </a:solidFill>
              <a:latin typeface="Arial"/>
            </a:endParaRPr>
          </a:p>
        </p:txBody>
      </p:sp>
      <p:sp>
        <p:nvSpPr>
          <p:cNvPr id="199" name="Shape 78"/>
          <p:cNvSpPr/>
          <p:nvPr/>
        </p:nvSpPr>
        <p:spPr>
          <a:xfrm>
            <a:off x="8001000" y="4032360"/>
            <a:ext cx="1737000" cy="46584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00" name="Text 79"/>
          <p:cNvSpPr/>
          <p:nvPr/>
        </p:nvSpPr>
        <p:spPr>
          <a:xfrm>
            <a:off x="8028360" y="4105800"/>
            <a:ext cx="1682280" cy="4021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80" spc="-1" strike="noStrike">
                <a:solidFill>
                  <a:srgbClr val="f8fafc"/>
                </a:solidFill>
                <a:latin typeface="Aptos"/>
                <a:ea typeface="Aptos"/>
              </a:rPr>
              <a:t>255 × 104</a:t>
            </a:r>
            <a:endParaRPr b="0" lang="en-GB" sz="780" spc="-1" strike="noStrike">
              <a:solidFill>
                <a:srgbClr val="ffffff"/>
              </a:solidFill>
              <a:latin typeface="Arial"/>
            </a:endParaRPr>
          </a:p>
        </p:txBody>
      </p:sp>
      <p:sp>
        <p:nvSpPr>
          <p:cNvPr id="201" name="Shape 80"/>
          <p:cNvSpPr/>
          <p:nvPr/>
        </p:nvSpPr>
        <p:spPr>
          <a:xfrm>
            <a:off x="9738360" y="4032360"/>
            <a:ext cx="1691280" cy="46584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02" name="Text 81"/>
          <p:cNvSpPr/>
          <p:nvPr/>
        </p:nvSpPr>
        <p:spPr>
          <a:xfrm>
            <a:off x="9765720" y="4105800"/>
            <a:ext cx="1636560" cy="4021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80" spc="-1" strike="noStrike">
                <a:solidFill>
                  <a:srgbClr val="f8fafc"/>
                </a:solidFill>
                <a:latin typeface="Aptos"/>
                <a:ea typeface="Aptos"/>
              </a:rPr>
              <a:t>16.1%</a:t>
            </a:r>
            <a:endParaRPr b="0" lang="en-GB" sz="780" spc="-1" strike="noStrike">
              <a:solidFill>
                <a:srgbClr val="ffffff"/>
              </a:solidFill>
              <a:latin typeface="Arial"/>
            </a:endParaRPr>
          </a:p>
        </p:txBody>
      </p:sp>
      <p:sp>
        <p:nvSpPr>
          <p:cNvPr id="203" name="Shape 82"/>
          <p:cNvSpPr/>
          <p:nvPr/>
        </p:nvSpPr>
        <p:spPr>
          <a:xfrm>
            <a:off x="6446520" y="4498920"/>
            <a:ext cx="1554120" cy="46584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04" name="Text 83"/>
          <p:cNvSpPr/>
          <p:nvPr/>
        </p:nvSpPr>
        <p:spPr>
          <a:xfrm>
            <a:off x="6473880" y="4572000"/>
            <a:ext cx="1499400" cy="402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780" spc="-1" strike="noStrike">
                <a:solidFill>
                  <a:srgbClr val="f8fafc"/>
                </a:solidFill>
                <a:latin typeface="Aptos"/>
                <a:ea typeface="Aptos"/>
              </a:rPr>
              <a:t>Test</a:t>
            </a:r>
            <a:endParaRPr b="0" lang="en-GB" sz="780" spc="-1" strike="noStrike">
              <a:solidFill>
                <a:srgbClr val="ffffff"/>
              </a:solidFill>
              <a:latin typeface="Arial"/>
            </a:endParaRPr>
          </a:p>
        </p:txBody>
      </p:sp>
      <p:sp>
        <p:nvSpPr>
          <p:cNvPr id="205" name="Shape 84"/>
          <p:cNvSpPr/>
          <p:nvPr/>
        </p:nvSpPr>
        <p:spPr>
          <a:xfrm>
            <a:off x="8001000" y="4498920"/>
            <a:ext cx="1737000" cy="46584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06" name="Text 85"/>
          <p:cNvSpPr/>
          <p:nvPr/>
        </p:nvSpPr>
        <p:spPr>
          <a:xfrm>
            <a:off x="8028360" y="4572000"/>
            <a:ext cx="1682280" cy="4021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80" spc="-1" strike="noStrike">
                <a:solidFill>
                  <a:srgbClr val="f8fafc"/>
                </a:solidFill>
                <a:latin typeface="Aptos"/>
                <a:ea typeface="Aptos"/>
              </a:rPr>
              <a:t>255 × 104</a:t>
            </a:r>
            <a:endParaRPr b="0" lang="en-GB" sz="780" spc="-1" strike="noStrike">
              <a:solidFill>
                <a:srgbClr val="ffffff"/>
              </a:solidFill>
              <a:latin typeface="Arial"/>
            </a:endParaRPr>
          </a:p>
        </p:txBody>
      </p:sp>
      <p:sp>
        <p:nvSpPr>
          <p:cNvPr id="207" name="Shape 86"/>
          <p:cNvSpPr/>
          <p:nvPr/>
        </p:nvSpPr>
        <p:spPr>
          <a:xfrm>
            <a:off x="9738360" y="4498920"/>
            <a:ext cx="1691280" cy="46584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08" name="Text 87"/>
          <p:cNvSpPr/>
          <p:nvPr/>
        </p:nvSpPr>
        <p:spPr>
          <a:xfrm>
            <a:off x="9765720" y="4572000"/>
            <a:ext cx="1636560" cy="4021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80" spc="-1" strike="noStrike">
                <a:solidFill>
                  <a:srgbClr val="f8fafc"/>
                </a:solidFill>
                <a:latin typeface="Aptos"/>
                <a:ea typeface="Aptos"/>
              </a:rPr>
              <a:t>16.1%</a:t>
            </a:r>
            <a:endParaRPr b="0" lang="en-GB" sz="780" spc="-1" strike="noStrike">
              <a:solidFill>
                <a:srgbClr val="ffffff"/>
              </a:solidFill>
              <a:latin typeface="Arial"/>
            </a:endParaRPr>
          </a:p>
        </p:txBody>
      </p:sp>
      <p:sp>
        <p:nvSpPr>
          <p:cNvPr id="209" name="Shape 88"/>
          <p:cNvSpPr/>
          <p:nvPr/>
        </p:nvSpPr>
        <p:spPr>
          <a:xfrm>
            <a:off x="502920" y="6555960"/>
            <a:ext cx="11201400" cy="360"/>
          </a:xfrm>
          <a:prstGeom prst="line">
            <a:avLst/>
          </a:prstGeom>
          <a:ln w="7620">
            <a:solidFill>
              <a:srgbClr val="334155">
                <a:alpha val="60000"/>
              </a:srgbClr>
            </a:solidFill>
            <a:round/>
          </a:ln>
        </p:spPr>
        <p:style>
          <a:lnRef idx="0"/>
          <a:fillRef idx="0"/>
          <a:effectRef idx="0"/>
          <a:fontRef idx="minor"/>
        </p:style>
        <p:txBody>
          <a:bodyPr lIns="90000" rIns="90000" tIns="-44640" bIns="-44640" anchor="t" anchorCtr="1">
            <a:noAutofit/>
          </a:bodyPr>
          <a:p>
            <a:endParaRPr b="0" lang="en-GB" sz="1800" spc="-1" strike="noStrike">
              <a:solidFill>
                <a:srgbClr val="ffffff"/>
              </a:solidFill>
              <a:latin typeface="Arial"/>
            </a:endParaRPr>
          </a:p>
        </p:txBody>
      </p:sp>
      <p:sp>
        <p:nvSpPr>
          <p:cNvPr id="210" name="Text 89"/>
          <p:cNvSpPr/>
          <p:nvPr/>
        </p:nvSpPr>
        <p:spPr>
          <a:xfrm>
            <a:off x="530280" y="6602040"/>
            <a:ext cx="6217560" cy="145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650" spc="-1" strike="noStrike">
                <a:solidFill>
                  <a:srgbClr val="94a3b8"/>
                </a:solidFill>
                <a:latin typeface="Aptos"/>
                <a:ea typeface="Aptos"/>
              </a:rPr>
              <a:t>Clinical Outcome Prediction • Myocardial Infarction Complications</a:t>
            </a:r>
            <a:endParaRPr b="0" lang="en-GB" sz="650" spc="-1" strike="noStrike">
              <a:solidFill>
                <a:srgbClr val="ffffff"/>
              </a:solidFill>
              <a:latin typeface="Arial"/>
            </a:endParaRPr>
          </a:p>
        </p:txBody>
      </p:sp>
      <p:sp>
        <p:nvSpPr>
          <p:cNvPr id="211" name="Text 90"/>
          <p:cNvSpPr/>
          <p:nvPr/>
        </p:nvSpPr>
        <p:spPr>
          <a:xfrm>
            <a:off x="11201400" y="6565320"/>
            <a:ext cx="502560" cy="2282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750" spc="-1" strike="noStrike">
                <a:solidFill>
                  <a:srgbClr val="94a3b8"/>
                </a:solidFill>
                <a:latin typeface="Aptos"/>
                <a:ea typeface="Aptos"/>
              </a:rPr>
              <a:t>04</a:t>
            </a:r>
            <a:endParaRPr b="0" lang="en-GB" sz="7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01f"/>
        </a:solidFill>
      </p:bgPr>
    </p:bg>
    <p:spTree>
      <p:nvGrpSpPr>
        <p:cNvPr id="1" name=""/>
        <p:cNvGrpSpPr/>
        <p:nvPr/>
      </p:nvGrpSpPr>
      <p:grpSpPr>
        <a:xfrm>
          <a:off x="0" y="0"/>
          <a:ext cx="0" cy="0"/>
          <a:chOff x="0" y="0"/>
          <a:chExt cx="0" cy="0"/>
        </a:xfrm>
      </p:grpSpPr>
      <p:sp>
        <p:nvSpPr>
          <p:cNvPr id="212" name="Shape 0"/>
          <p:cNvSpPr/>
          <p:nvPr/>
        </p:nvSpPr>
        <p:spPr>
          <a:xfrm>
            <a:off x="0" y="0"/>
            <a:ext cx="12191400" cy="6857640"/>
          </a:xfrm>
          <a:prstGeom prst="rect">
            <a:avLst/>
          </a:prstGeom>
          <a:solidFill>
            <a:srgbClr val="06101f"/>
          </a:solidFill>
          <a:ln w="12700">
            <a:solidFill>
              <a:srgbClr val="06101f"/>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13" name="Shape 1"/>
          <p:cNvSpPr/>
          <p:nvPr/>
        </p:nvSpPr>
        <p:spPr>
          <a:xfrm>
            <a:off x="0" y="0"/>
            <a:ext cx="12191400" cy="6857640"/>
          </a:xfrm>
          <a:prstGeom prst="rect">
            <a:avLst/>
          </a:prstGeom>
          <a:solidFill>
            <a:srgbClr val="081629">
              <a:alpha val="85000"/>
            </a:srgbClr>
          </a:solidFill>
          <a:ln w="12700">
            <a:solidFill>
              <a:srgbClr val="081629">
                <a:alpha val="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14" name="Shape 2"/>
          <p:cNvSpPr/>
          <p:nvPr/>
        </p:nvSpPr>
        <p:spPr>
          <a:xfrm>
            <a:off x="-1554480" y="-1737360"/>
            <a:ext cx="5486040" cy="5486040"/>
          </a:xfrm>
          <a:prstGeom prst="arc">
            <a:avLst>
              <a:gd name="adj1" fmla="val 16200000"/>
              <a:gd name="adj2" fmla="val 0"/>
            </a:avLst>
          </a:prstGeom>
          <a:noFill/>
          <a:ln w="13970">
            <a:solidFill>
              <a:srgbClr val="14b8a6">
                <a:alpha val="3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15" name="Shape 3"/>
          <p:cNvSpPr/>
          <p:nvPr/>
        </p:nvSpPr>
        <p:spPr>
          <a:xfrm>
            <a:off x="7680960" y="3840480"/>
            <a:ext cx="5486040" cy="5486040"/>
          </a:xfrm>
          <a:prstGeom prst="arc">
            <a:avLst>
              <a:gd name="adj1" fmla="val 16200000"/>
              <a:gd name="adj2" fmla="val 0"/>
            </a:avLst>
          </a:prstGeom>
          <a:noFill/>
          <a:ln w="12700">
            <a:solidFill>
              <a:srgbClr val="f59e0b">
                <a:alpha val="22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16" name="Text 4"/>
          <p:cNvSpPr/>
          <p:nvPr/>
        </p:nvSpPr>
        <p:spPr>
          <a:xfrm>
            <a:off x="567000" y="347400"/>
            <a:ext cx="594324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50" spc="-1" strike="noStrike">
                <a:solidFill>
                  <a:srgbClr val="14b8a6"/>
                </a:solidFill>
                <a:latin typeface="Aptos"/>
                <a:ea typeface="Aptos"/>
              </a:rPr>
              <a:t>EDA 1</a:t>
            </a:r>
            <a:endParaRPr b="0" lang="en-GB" sz="850" spc="-1" strike="noStrike">
              <a:solidFill>
                <a:srgbClr val="ffffff"/>
              </a:solidFill>
              <a:latin typeface="Arial"/>
            </a:endParaRPr>
          </a:p>
        </p:txBody>
      </p:sp>
      <p:sp>
        <p:nvSpPr>
          <p:cNvPr id="217" name="Text 5"/>
          <p:cNvSpPr/>
          <p:nvPr/>
        </p:nvSpPr>
        <p:spPr>
          <a:xfrm>
            <a:off x="548640" y="658440"/>
            <a:ext cx="10926720" cy="5940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400" spc="-1" strike="noStrike">
                <a:solidFill>
                  <a:srgbClr val="f8fafc"/>
                </a:solidFill>
                <a:latin typeface="Aptos Display"/>
                <a:ea typeface="Aptos Display"/>
              </a:rPr>
              <a:t>Target distribution reveals the main modeling risk</a:t>
            </a:r>
            <a:endParaRPr b="0" lang="en-GB" sz="2400" spc="-1" strike="noStrike">
              <a:solidFill>
                <a:srgbClr val="ffffff"/>
              </a:solidFill>
              <a:latin typeface="Arial"/>
            </a:endParaRPr>
          </a:p>
        </p:txBody>
      </p:sp>
      <p:sp>
        <p:nvSpPr>
          <p:cNvPr id="218" name="Text 6"/>
          <p:cNvSpPr/>
          <p:nvPr/>
        </p:nvSpPr>
        <p:spPr>
          <a:xfrm>
            <a:off x="567000" y="1216080"/>
            <a:ext cx="1051524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50" spc="-1" strike="noStrike">
                <a:solidFill>
                  <a:srgbClr val="94a3b8"/>
                </a:solidFill>
                <a:latin typeface="Aptos"/>
                <a:ea typeface="Aptos"/>
              </a:rPr>
              <a:t>Mortality is the minority class, so accuracy alone is not enough.</a:t>
            </a:r>
            <a:endParaRPr b="0" lang="en-GB" sz="1050" spc="-1" strike="noStrike">
              <a:solidFill>
                <a:srgbClr val="ffffff"/>
              </a:solidFill>
              <a:latin typeface="Arial"/>
            </a:endParaRPr>
          </a:p>
        </p:txBody>
      </p:sp>
      <p:sp>
        <p:nvSpPr>
          <p:cNvPr id="219" name="Shape 7"/>
          <p:cNvSpPr/>
          <p:nvPr/>
        </p:nvSpPr>
        <p:spPr>
          <a:xfrm>
            <a:off x="658440" y="1627560"/>
            <a:ext cx="5531760" cy="3565800"/>
          </a:xfrm>
          <a:prstGeom prst="roundRect">
            <a:avLst>
              <a:gd name="adj" fmla="val 3077"/>
            </a:avLst>
          </a:prstGeom>
          <a:solidFill>
            <a:srgbClr val="ffffff">
              <a:alpha val="5000"/>
            </a:srgbClr>
          </a:solidFill>
          <a:ln w="10160">
            <a:solidFill>
              <a:srgbClr val="334155">
                <a:alpha val="65000"/>
              </a:srgbClr>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pic>
        <p:nvPicPr>
          <p:cNvPr id="220" name="Image 0" descr="/mnt/data/mi_ml_assets/target_distribution.png"/>
          <p:cNvPicPr/>
          <p:nvPr/>
        </p:nvPicPr>
        <p:blipFill>
          <a:blip r:embed="rId1"/>
          <a:stretch/>
        </p:blipFill>
        <p:spPr>
          <a:xfrm>
            <a:off x="658440" y="2244240"/>
            <a:ext cx="5531760" cy="2332080"/>
          </a:xfrm>
          <a:prstGeom prst="rect">
            <a:avLst/>
          </a:prstGeom>
          <a:ln w="0">
            <a:noFill/>
          </a:ln>
          <a:effectLst>
            <a:outerShdw algn="bl" blurRad="25560" dir="2700000" dist="50402" kx="0" ky="0" rotWithShape="0" sx="100000" sy="100000">
              <a:srgbClr val="000000">
                <a:alpha val="25000"/>
              </a:srgbClr>
            </a:outerShdw>
          </a:effectLst>
        </p:spPr>
      </p:pic>
      <p:sp>
        <p:nvSpPr>
          <p:cNvPr id="221" name="Shape 8"/>
          <p:cNvSpPr/>
          <p:nvPr/>
        </p:nvSpPr>
        <p:spPr>
          <a:xfrm>
            <a:off x="6537960" y="1673280"/>
            <a:ext cx="2148480" cy="1142640"/>
          </a:xfrm>
          <a:prstGeom prst="roundRect">
            <a:avLst>
              <a:gd name="adj" fmla="val 9600"/>
            </a:avLst>
          </a:prstGeom>
          <a:solidFill>
            <a:srgbClr val="0b1a2e">
              <a:alpha val="95000"/>
            </a:srgbClr>
          </a:solidFill>
          <a:ln w="13970">
            <a:solidFill>
              <a:srgbClr val="f43f5e">
                <a:alpha val="6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22" name="Shape 9"/>
          <p:cNvSpPr/>
          <p:nvPr/>
        </p:nvSpPr>
        <p:spPr>
          <a:xfrm>
            <a:off x="6537960" y="1673280"/>
            <a:ext cx="72720" cy="1142640"/>
          </a:xfrm>
          <a:prstGeom prst="rect">
            <a:avLst/>
          </a:prstGeom>
          <a:solidFill>
            <a:srgbClr val="f43f5e"/>
          </a:solidFill>
          <a:ln w="12700">
            <a:solidFill>
              <a:srgbClr val="f43f5e"/>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23" name="Text 10"/>
          <p:cNvSpPr/>
          <p:nvPr/>
        </p:nvSpPr>
        <p:spPr>
          <a:xfrm>
            <a:off x="6739200" y="1874520"/>
            <a:ext cx="182844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720" spc="-1" strike="noStrike">
                <a:solidFill>
                  <a:srgbClr val="94a3b8"/>
                </a:solidFill>
                <a:latin typeface="Aptos"/>
                <a:ea typeface="Aptos"/>
              </a:rPr>
              <a:t>IMBALANCE RATIO</a:t>
            </a:r>
            <a:endParaRPr b="0" lang="en-GB" sz="720" spc="-1" strike="noStrike">
              <a:solidFill>
                <a:srgbClr val="ffffff"/>
              </a:solidFill>
              <a:latin typeface="Arial"/>
            </a:endParaRPr>
          </a:p>
        </p:txBody>
      </p:sp>
      <p:sp>
        <p:nvSpPr>
          <p:cNvPr id="224" name="Text 11"/>
          <p:cNvSpPr/>
          <p:nvPr/>
        </p:nvSpPr>
        <p:spPr>
          <a:xfrm>
            <a:off x="6739200" y="2112120"/>
            <a:ext cx="1828440" cy="328680"/>
          </a:xfrm>
          <a:prstGeom prst="rect">
            <a:avLst/>
          </a:prstGeom>
          <a:noFill/>
          <a:ln w="0">
            <a:noFill/>
          </a:ln>
        </p:spPr>
        <p:style>
          <a:lnRef idx="0"/>
          <a:fillRef idx="0"/>
          <a:effectRef idx="0"/>
          <a:fontRef idx="minor"/>
        </p:style>
        <p:txBody>
          <a:bodyPr lIns="0" rIns="0" tIns="0" bIns="0" anchor="ctr">
            <a:normAutofit fontScale="96666"/>
          </a:bodyPr>
          <a:p>
            <a:pPr defTabSz="914400">
              <a:lnSpc>
                <a:spcPct val="100000"/>
              </a:lnSpc>
              <a:tabLst>
                <a:tab algn="l" pos="0"/>
              </a:tabLst>
            </a:pPr>
            <a:r>
              <a:rPr b="1" lang="en-US" sz="2300" spc="-1" strike="noStrike">
                <a:solidFill>
                  <a:srgbClr val="f8fafc"/>
                </a:solidFill>
                <a:latin typeface="Aptos Display"/>
                <a:ea typeface="Aptos Display"/>
              </a:rPr>
              <a:t>5.3:1</a:t>
            </a:r>
            <a:endParaRPr b="0" lang="en-GB" sz="2300" spc="-1" strike="noStrike">
              <a:solidFill>
                <a:srgbClr val="ffffff"/>
              </a:solidFill>
              <a:latin typeface="Arial"/>
            </a:endParaRPr>
          </a:p>
        </p:txBody>
      </p:sp>
      <p:sp>
        <p:nvSpPr>
          <p:cNvPr id="225" name="Text 12"/>
          <p:cNvSpPr/>
          <p:nvPr/>
        </p:nvSpPr>
        <p:spPr>
          <a:xfrm>
            <a:off x="6739200" y="2541960"/>
            <a:ext cx="1828440" cy="182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1" strike="noStrike">
                <a:solidFill>
                  <a:srgbClr val="94a3b8"/>
                </a:solidFill>
                <a:latin typeface="Aptos"/>
                <a:ea typeface="Aptos"/>
              </a:rPr>
              <a:t>Negative to positive class</a:t>
            </a:r>
            <a:endParaRPr b="0" lang="en-GB" sz="850" spc="-1" strike="noStrike">
              <a:solidFill>
                <a:srgbClr val="ffffff"/>
              </a:solidFill>
              <a:latin typeface="Arial"/>
            </a:endParaRPr>
          </a:p>
        </p:txBody>
      </p:sp>
      <p:sp>
        <p:nvSpPr>
          <p:cNvPr id="226" name="Shape 13"/>
          <p:cNvSpPr/>
          <p:nvPr/>
        </p:nvSpPr>
        <p:spPr>
          <a:xfrm>
            <a:off x="9052560" y="1673280"/>
            <a:ext cx="2148480" cy="1142640"/>
          </a:xfrm>
          <a:prstGeom prst="roundRect">
            <a:avLst>
              <a:gd name="adj" fmla="val 9600"/>
            </a:avLst>
          </a:prstGeom>
          <a:solidFill>
            <a:srgbClr val="0b1a2e">
              <a:alpha val="95000"/>
            </a:srgbClr>
          </a:solidFill>
          <a:ln w="13970">
            <a:solidFill>
              <a:srgbClr val="f59e0b">
                <a:alpha val="6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27" name="Shape 14"/>
          <p:cNvSpPr/>
          <p:nvPr/>
        </p:nvSpPr>
        <p:spPr>
          <a:xfrm>
            <a:off x="9052560" y="1673280"/>
            <a:ext cx="72720" cy="1142640"/>
          </a:xfrm>
          <a:prstGeom prst="rect">
            <a:avLst/>
          </a:prstGeom>
          <a:solidFill>
            <a:srgbClr val="f59e0b"/>
          </a:solidFill>
          <a:ln w="12700">
            <a:solidFill>
              <a:srgbClr val="f59e0b"/>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228" name="Text 15"/>
          <p:cNvSpPr/>
          <p:nvPr/>
        </p:nvSpPr>
        <p:spPr>
          <a:xfrm>
            <a:off x="9253800" y="1874520"/>
            <a:ext cx="182844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720" spc="-1" strike="noStrike">
                <a:solidFill>
                  <a:srgbClr val="94a3b8"/>
                </a:solidFill>
                <a:latin typeface="Aptos"/>
                <a:ea typeface="Aptos"/>
              </a:rPr>
              <a:t>POSITIVE RATE</a:t>
            </a:r>
            <a:endParaRPr b="0" lang="en-GB" sz="720" spc="-1" strike="noStrike">
              <a:solidFill>
                <a:srgbClr val="ffffff"/>
              </a:solidFill>
              <a:latin typeface="Arial"/>
            </a:endParaRPr>
          </a:p>
        </p:txBody>
      </p:sp>
      <p:sp>
        <p:nvSpPr>
          <p:cNvPr id="229" name="Text 16"/>
          <p:cNvSpPr/>
          <p:nvPr/>
        </p:nvSpPr>
        <p:spPr>
          <a:xfrm>
            <a:off x="9253800" y="2112120"/>
            <a:ext cx="1828440" cy="328680"/>
          </a:xfrm>
          <a:prstGeom prst="rect">
            <a:avLst/>
          </a:prstGeom>
          <a:noFill/>
          <a:ln w="0">
            <a:noFill/>
          </a:ln>
        </p:spPr>
        <p:style>
          <a:lnRef idx="0"/>
          <a:fillRef idx="0"/>
          <a:effectRef idx="0"/>
          <a:fontRef idx="minor"/>
        </p:style>
        <p:txBody>
          <a:bodyPr lIns="0" rIns="0" tIns="0" bIns="0" anchor="ctr">
            <a:normAutofit fontScale="96666"/>
          </a:bodyPr>
          <a:p>
            <a:pPr defTabSz="914400">
              <a:lnSpc>
                <a:spcPct val="100000"/>
              </a:lnSpc>
              <a:tabLst>
                <a:tab algn="l" pos="0"/>
              </a:tabLst>
            </a:pPr>
            <a:r>
              <a:rPr b="1" lang="en-US" sz="2300" spc="-1" strike="noStrike">
                <a:solidFill>
                  <a:srgbClr val="f8fafc"/>
                </a:solidFill>
                <a:latin typeface="Aptos Display"/>
                <a:ea typeface="Aptos Display"/>
              </a:rPr>
              <a:t>~16%</a:t>
            </a:r>
            <a:endParaRPr b="0" lang="en-GB" sz="2300" spc="-1" strike="noStrike">
              <a:solidFill>
                <a:srgbClr val="ffffff"/>
              </a:solidFill>
              <a:latin typeface="Arial"/>
            </a:endParaRPr>
          </a:p>
        </p:txBody>
      </p:sp>
      <p:sp>
        <p:nvSpPr>
          <p:cNvPr id="230" name="Text 17"/>
          <p:cNvSpPr/>
          <p:nvPr/>
        </p:nvSpPr>
        <p:spPr>
          <a:xfrm>
            <a:off x="9253800" y="2541960"/>
            <a:ext cx="1828440" cy="182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1" strike="noStrike">
                <a:solidFill>
                  <a:srgbClr val="94a3b8"/>
                </a:solidFill>
                <a:latin typeface="Aptos"/>
                <a:ea typeface="Aptos"/>
              </a:rPr>
              <a:t>Mortality/minority class</a:t>
            </a:r>
            <a:endParaRPr b="0" lang="en-GB" sz="850" spc="-1" strike="noStrike">
              <a:solidFill>
                <a:srgbClr val="ffffff"/>
              </a:solidFill>
              <a:latin typeface="Arial"/>
            </a:endParaRPr>
          </a:p>
        </p:txBody>
      </p:sp>
      <p:sp>
        <p:nvSpPr>
          <p:cNvPr id="231" name="Shape 18"/>
          <p:cNvSpPr/>
          <p:nvPr/>
        </p:nvSpPr>
        <p:spPr>
          <a:xfrm>
            <a:off x="6537960" y="3154680"/>
            <a:ext cx="4663080" cy="959760"/>
          </a:xfrm>
          <a:prstGeom prst="roundRect">
            <a:avLst>
              <a:gd name="adj" fmla="val 11429"/>
            </a:avLst>
          </a:prstGeom>
          <a:solidFill>
            <a:srgbClr val="10243d"/>
          </a:solidFill>
          <a:ln w="10160">
            <a:solidFill>
              <a:srgbClr val="334155">
                <a:alpha val="6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32" name="Text 19"/>
          <p:cNvSpPr/>
          <p:nvPr/>
        </p:nvSpPr>
        <p:spPr>
          <a:xfrm>
            <a:off x="6702480" y="3300840"/>
            <a:ext cx="4334040" cy="209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00" spc="-1" strike="noStrike">
                <a:solidFill>
                  <a:srgbClr val="14b8a6"/>
                </a:solidFill>
                <a:latin typeface="Aptos"/>
                <a:ea typeface="Aptos"/>
              </a:rPr>
              <a:t>Interpretation</a:t>
            </a:r>
            <a:endParaRPr b="0" lang="en-GB" sz="900" spc="-1" strike="noStrike">
              <a:solidFill>
                <a:srgbClr val="ffffff"/>
              </a:solidFill>
              <a:latin typeface="Arial"/>
            </a:endParaRPr>
          </a:p>
        </p:txBody>
      </p:sp>
      <p:sp>
        <p:nvSpPr>
          <p:cNvPr id="233" name="Text 20"/>
          <p:cNvSpPr/>
          <p:nvPr/>
        </p:nvSpPr>
        <p:spPr>
          <a:xfrm>
            <a:off x="6702480" y="3602880"/>
            <a:ext cx="4334040" cy="365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1" strike="noStrike">
                <a:solidFill>
                  <a:srgbClr val="f8fafc"/>
                </a:solidFill>
                <a:latin typeface="Aptos"/>
                <a:ea typeface="Aptos"/>
              </a:rPr>
              <a:t>A naïve classifier could appear strong by predicting survival most of the time. The project therefore prioritizes recall and F1-score.</a:t>
            </a:r>
            <a:endParaRPr b="0" lang="en-GB" sz="850" spc="-1" strike="noStrike">
              <a:solidFill>
                <a:srgbClr val="ffffff"/>
              </a:solidFill>
              <a:latin typeface="Arial"/>
            </a:endParaRPr>
          </a:p>
        </p:txBody>
      </p:sp>
      <p:sp>
        <p:nvSpPr>
          <p:cNvPr id="234" name="Shape 21"/>
          <p:cNvSpPr/>
          <p:nvPr/>
        </p:nvSpPr>
        <p:spPr>
          <a:xfrm>
            <a:off x="6537960" y="4316040"/>
            <a:ext cx="4663080" cy="959760"/>
          </a:xfrm>
          <a:prstGeom prst="roundRect">
            <a:avLst>
              <a:gd name="adj" fmla="val 11429"/>
            </a:avLst>
          </a:prstGeom>
          <a:solidFill>
            <a:srgbClr val="10243d"/>
          </a:solidFill>
          <a:ln w="10160">
            <a:solidFill>
              <a:srgbClr val="334155">
                <a:alpha val="6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35" name="Text 22"/>
          <p:cNvSpPr/>
          <p:nvPr/>
        </p:nvSpPr>
        <p:spPr>
          <a:xfrm>
            <a:off x="6702480" y="4462200"/>
            <a:ext cx="4334040" cy="209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00" spc="-1" strike="noStrike">
                <a:solidFill>
                  <a:srgbClr val="f43f5e"/>
                </a:solidFill>
                <a:latin typeface="Aptos"/>
                <a:ea typeface="Aptos"/>
              </a:rPr>
              <a:t>Clinical meaning</a:t>
            </a:r>
            <a:endParaRPr b="0" lang="en-GB" sz="900" spc="-1" strike="noStrike">
              <a:solidFill>
                <a:srgbClr val="ffffff"/>
              </a:solidFill>
              <a:latin typeface="Arial"/>
            </a:endParaRPr>
          </a:p>
        </p:txBody>
      </p:sp>
      <p:sp>
        <p:nvSpPr>
          <p:cNvPr id="236" name="Text 23"/>
          <p:cNvSpPr/>
          <p:nvPr/>
        </p:nvSpPr>
        <p:spPr>
          <a:xfrm>
            <a:off x="6702480" y="4763880"/>
            <a:ext cx="4334040" cy="365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1" strike="noStrike">
                <a:solidFill>
                  <a:srgbClr val="f8fafc"/>
                </a:solidFill>
                <a:latin typeface="Aptos"/>
                <a:ea typeface="Aptos"/>
              </a:rPr>
              <a:t>Every false negative is a patient who died but was predicted as low-risk. This is why threshold tuning is not a cosmetic step; it is central to deployment.</a:t>
            </a:r>
            <a:endParaRPr b="0" lang="en-GB" sz="850" spc="-1" strike="noStrike">
              <a:solidFill>
                <a:srgbClr val="ffffff"/>
              </a:solidFill>
              <a:latin typeface="Arial"/>
            </a:endParaRPr>
          </a:p>
        </p:txBody>
      </p:sp>
      <p:sp>
        <p:nvSpPr>
          <p:cNvPr id="237" name="Shape 24"/>
          <p:cNvSpPr/>
          <p:nvPr/>
        </p:nvSpPr>
        <p:spPr>
          <a:xfrm>
            <a:off x="502920" y="6555960"/>
            <a:ext cx="11201400" cy="360"/>
          </a:xfrm>
          <a:prstGeom prst="line">
            <a:avLst/>
          </a:prstGeom>
          <a:ln w="7620">
            <a:solidFill>
              <a:srgbClr val="334155">
                <a:alpha val="60000"/>
              </a:srgbClr>
            </a:solidFill>
            <a:round/>
          </a:ln>
        </p:spPr>
        <p:style>
          <a:lnRef idx="0"/>
          <a:fillRef idx="0"/>
          <a:effectRef idx="0"/>
          <a:fontRef idx="minor"/>
        </p:style>
        <p:txBody>
          <a:bodyPr lIns="90000" rIns="90000" tIns="-44640" bIns="-44640" anchor="t" anchorCtr="1">
            <a:noAutofit/>
          </a:bodyPr>
          <a:p>
            <a:endParaRPr b="0" lang="en-GB" sz="1800" spc="-1" strike="noStrike">
              <a:solidFill>
                <a:srgbClr val="ffffff"/>
              </a:solidFill>
              <a:latin typeface="Arial"/>
            </a:endParaRPr>
          </a:p>
        </p:txBody>
      </p:sp>
      <p:sp>
        <p:nvSpPr>
          <p:cNvPr id="238" name="Text 25"/>
          <p:cNvSpPr/>
          <p:nvPr/>
        </p:nvSpPr>
        <p:spPr>
          <a:xfrm>
            <a:off x="530280" y="6602040"/>
            <a:ext cx="6217560" cy="145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650" spc="-1" strike="noStrike">
                <a:solidFill>
                  <a:srgbClr val="94a3b8"/>
                </a:solidFill>
                <a:latin typeface="Aptos"/>
                <a:ea typeface="Aptos"/>
              </a:rPr>
              <a:t>Clinical Outcome Prediction • Myocardial Infarction Complications</a:t>
            </a:r>
            <a:endParaRPr b="0" lang="en-GB" sz="650" spc="-1" strike="noStrike">
              <a:solidFill>
                <a:srgbClr val="ffffff"/>
              </a:solidFill>
              <a:latin typeface="Arial"/>
            </a:endParaRPr>
          </a:p>
        </p:txBody>
      </p:sp>
      <p:sp>
        <p:nvSpPr>
          <p:cNvPr id="239" name="Text 26"/>
          <p:cNvSpPr/>
          <p:nvPr/>
        </p:nvSpPr>
        <p:spPr>
          <a:xfrm>
            <a:off x="11201400" y="6565320"/>
            <a:ext cx="502560" cy="2282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750" spc="-1" strike="noStrike">
                <a:solidFill>
                  <a:srgbClr val="94a3b8"/>
                </a:solidFill>
                <a:latin typeface="Aptos"/>
                <a:ea typeface="Aptos"/>
              </a:rPr>
              <a:t>05</a:t>
            </a:r>
            <a:endParaRPr b="0" lang="en-GB" sz="7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01f"/>
        </a:solidFill>
      </p:bgPr>
    </p:bg>
    <p:spTree>
      <p:nvGrpSpPr>
        <p:cNvPr id="1" name=""/>
        <p:cNvGrpSpPr/>
        <p:nvPr/>
      </p:nvGrpSpPr>
      <p:grpSpPr>
        <a:xfrm>
          <a:off x="0" y="0"/>
          <a:ext cx="0" cy="0"/>
          <a:chOff x="0" y="0"/>
          <a:chExt cx="0" cy="0"/>
        </a:xfrm>
      </p:grpSpPr>
      <p:sp>
        <p:nvSpPr>
          <p:cNvPr id="240" name="Shape 0"/>
          <p:cNvSpPr/>
          <p:nvPr/>
        </p:nvSpPr>
        <p:spPr>
          <a:xfrm>
            <a:off x="0" y="0"/>
            <a:ext cx="12191400" cy="6857640"/>
          </a:xfrm>
          <a:prstGeom prst="rect">
            <a:avLst/>
          </a:prstGeom>
          <a:solidFill>
            <a:srgbClr val="06101f"/>
          </a:solidFill>
          <a:ln w="12700">
            <a:solidFill>
              <a:srgbClr val="06101f"/>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41" name="Shape 1"/>
          <p:cNvSpPr/>
          <p:nvPr/>
        </p:nvSpPr>
        <p:spPr>
          <a:xfrm>
            <a:off x="0" y="0"/>
            <a:ext cx="12191400" cy="6857640"/>
          </a:xfrm>
          <a:prstGeom prst="rect">
            <a:avLst/>
          </a:prstGeom>
          <a:solidFill>
            <a:srgbClr val="081629">
              <a:alpha val="85000"/>
            </a:srgbClr>
          </a:solidFill>
          <a:ln w="12700">
            <a:solidFill>
              <a:srgbClr val="081629">
                <a:alpha val="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42" name="Shape 2"/>
          <p:cNvSpPr/>
          <p:nvPr/>
        </p:nvSpPr>
        <p:spPr>
          <a:xfrm>
            <a:off x="-1554480" y="-1737360"/>
            <a:ext cx="5486040" cy="5486040"/>
          </a:xfrm>
          <a:prstGeom prst="arc">
            <a:avLst>
              <a:gd name="adj1" fmla="val 16200000"/>
              <a:gd name="adj2" fmla="val 0"/>
            </a:avLst>
          </a:prstGeom>
          <a:noFill/>
          <a:ln w="13970">
            <a:solidFill>
              <a:srgbClr val="14b8a6">
                <a:alpha val="3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43" name="Shape 3"/>
          <p:cNvSpPr/>
          <p:nvPr/>
        </p:nvSpPr>
        <p:spPr>
          <a:xfrm>
            <a:off x="7680960" y="3840480"/>
            <a:ext cx="5486040" cy="5486040"/>
          </a:xfrm>
          <a:prstGeom prst="arc">
            <a:avLst>
              <a:gd name="adj1" fmla="val 16200000"/>
              <a:gd name="adj2" fmla="val 0"/>
            </a:avLst>
          </a:prstGeom>
          <a:noFill/>
          <a:ln w="12700">
            <a:solidFill>
              <a:srgbClr val="f59e0b">
                <a:alpha val="22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44" name="Text 4"/>
          <p:cNvSpPr/>
          <p:nvPr/>
        </p:nvSpPr>
        <p:spPr>
          <a:xfrm>
            <a:off x="567000" y="347400"/>
            <a:ext cx="594324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50" spc="-1" strike="noStrike">
                <a:solidFill>
                  <a:srgbClr val="14b8a6"/>
                </a:solidFill>
                <a:latin typeface="Aptos"/>
                <a:ea typeface="Aptos"/>
              </a:rPr>
              <a:t>EDA 2</a:t>
            </a:r>
            <a:endParaRPr b="0" lang="en-GB" sz="850" spc="-1" strike="noStrike">
              <a:solidFill>
                <a:srgbClr val="ffffff"/>
              </a:solidFill>
              <a:latin typeface="Arial"/>
            </a:endParaRPr>
          </a:p>
        </p:txBody>
      </p:sp>
      <p:sp>
        <p:nvSpPr>
          <p:cNvPr id="245" name="Text 5"/>
          <p:cNvSpPr/>
          <p:nvPr/>
        </p:nvSpPr>
        <p:spPr>
          <a:xfrm>
            <a:off x="548640" y="658440"/>
            <a:ext cx="10926720" cy="5940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400" spc="-1" strike="noStrike">
                <a:solidFill>
                  <a:srgbClr val="f8fafc"/>
                </a:solidFill>
                <a:latin typeface="Aptos Display"/>
                <a:ea typeface="Aptos Display"/>
              </a:rPr>
              <a:t>Data cleaning: missingness, outliers, and leakage control</a:t>
            </a:r>
            <a:endParaRPr b="0" lang="en-GB" sz="2400" spc="-1" strike="noStrike">
              <a:solidFill>
                <a:srgbClr val="ffffff"/>
              </a:solidFill>
              <a:latin typeface="Arial"/>
            </a:endParaRPr>
          </a:p>
        </p:txBody>
      </p:sp>
      <p:sp>
        <p:nvSpPr>
          <p:cNvPr id="246" name="Text 6"/>
          <p:cNvSpPr/>
          <p:nvPr/>
        </p:nvSpPr>
        <p:spPr>
          <a:xfrm>
            <a:off x="567000" y="1216080"/>
            <a:ext cx="1051524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50" spc="-1" strike="noStrike">
                <a:solidFill>
                  <a:srgbClr val="94a3b8"/>
                </a:solidFill>
                <a:latin typeface="Aptos"/>
                <a:ea typeface="Aptos"/>
              </a:rPr>
              <a:t>Clinical datasets are valuable but noisy; preprocessing determines whether the model is trustworthy.</a:t>
            </a:r>
            <a:endParaRPr b="0" lang="en-GB" sz="1050" spc="-1" strike="noStrike">
              <a:solidFill>
                <a:srgbClr val="ffffff"/>
              </a:solidFill>
              <a:latin typeface="Arial"/>
            </a:endParaRPr>
          </a:p>
        </p:txBody>
      </p:sp>
      <p:sp>
        <p:nvSpPr>
          <p:cNvPr id="247" name="Shape 7"/>
          <p:cNvSpPr/>
          <p:nvPr/>
        </p:nvSpPr>
        <p:spPr>
          <a:xfrm>
            <a:off x="621720" y="1600200"/>
            <a:ext cx="5348880" cy="3200040"/>
          </a:xfrm>
          <a:prstGeom prst="roundRect">
            <a:avLst>
              <a:gd name="adj" fmla="val 3429"/>
            </a:avLst>
          </a:prstGeom>
          <a:solidFill>
            <a:srgbClr val="ffffff">
              <a:alpha val="5000"/>
            </a:srgbClr>
          </a:solidFill>
          <a:ln w="10160">
            <a:solidFill>
              <a:srgbClr val="334155">
                <a:alpha val="65000"/>
              </a:srgbClr>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pic>
        <p:nvPicPr>
          <p:cNvPr id="248" name="Image 0" descr="/mnt/data/mi_ml_assets/missing_values.png"/>
          <p:cNvPicPr/>
          <p:nvPr/>
        </p:nvPicPr>
        <p:blipFill>
          <a:blip r:embed="rId1"/>
          <a:stretch/>
        </p:blipFill>
        <p:spPr>
          <a:xfrm>
            <a:off x="621720" y="2265120"/>
            <a:ext cx="5348880" cy="1870200"/>
          </a:xfrm>
          <a:prstGeom prst="rect">
            <a:avLst/>
          </a:prstGeom>
          <a:ln w="0">
            <a:noFill/>
          </a:ln>
          <a:effectLst>
            <a:outerShdw algn="bl" blurRad="25560" dir="2700000" dist="50402" kx="0" ky="0" rotWithShape="0" sx="100000" sy="100000">
              <a:srgbClr val="000000">
                <a:alpha val="25000"/>
              </a:srgbClr>
            </a:outerShdw>
          </a:effectLst>
        </p:spPr>
      </p:pic>
      <p:sp>
        <p:nvSpPr>
          <p:cNvPr id="249" name="Shape 8"/>
          <p:cNvSpPr/>
          <p:nvPr/>
        </p:nvSpPr>
        <p:spPr>
          <a:xfrm>
            <a:off x="6263640" y="1627560"/>
            <a:ext cx="5166000" cy="2395440"/>
          </a:xfrm>
          <a:prstGeom prst="roundRect">
            <a:avLst>
              <a:gd name="adj" fmla="val 3053"/>
            </a:avLst>
          </a:prstGeom>
          <a:solidFill>
            <a:srgbClr val="0b1a2e"/>
          </a:solidFill>
          <a:ln w="1016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50" name="Shape 9"/>
          <p:cNvSpPr/>
          <p:nvPr/>
        </p:nvSpPr>
        <p:spPr>
          <a:xfrm>
            <a:off x="6263640" y="1627560"/>
            <a:ext cx="1371240" cy="292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51" name="Text 10"/>
          <p:cNvSpPr/>
          <p:nvPr/>
        </p:nvSpPr>
        <p:spPr>
          <a:xfrm>
            <a:off x="6291000" y="1700640"/>
            <a:ext cx="131652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690" spc="-1" strike="noStrike">
                <a:solidFill>
                  <a:srgbClr val="f8fafc"/>
                </a:solidFill>
                <a:latin typeface="Aptos"/>
                <a:ea typeface="Aptos"/>
              </a:rPr>
              <a:t>Data issue</a:t>
            </a:r>
            <a:endParaRPr b="0" lang="en-GB" sz="690" spc="-1" strike="noStrike">
              <a:solidFill>
                <a:srgbClr val="ffffff"/>
              </a:solidFill>
              <a:latin typeface="Arial"/>
            </a:endParaRPr>
          </a:p>
        </p:txBody>
      </p:sp>
      <p:sp>
        <p:nvSpPr>
          <p:cNvPr id="252" name="Shape 11"/>
          <p:cNvSpPr/>
          <p:nvPr/>
        </p:nvSpPr>
        <p:spPr>
          <a:xfrm>
            <a:off x="7635240" y="1627560"/>
            <a:ext cx="1325520" cy="292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53" name="Text 12"/>
          <p:cNvSpPr/>
          <p:nvPr/>
        </p:nvSpPr>
        <p:spPr>
          <a:xfrm>
            <a:off x="7662600" y="1700640"/>
            <a:ext cx="127080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690" spc="-1" strike="noStrike">
                <a:solidFill>
                  <a:srgbClr val="f8fafc"/>
                </a:solidFill>
                <a:latin typeface="Aptos"/>
                <a:ea typeface="Aptos"/>
              </a:rPr>
              <a:t>Exact result</a:t>
            </a:r>
            <a:endParaRPr b="0" lang="en-GB" sz="690" spc="-1" strike="noStrike">
              <a:solidFill>
                <a:srgbClr val="ffffff"/>
              </a:solidFill>
              <a:latin typeface="Arial"/>
            </a:endParaRPr>
          </a:p>
        </p:txBody>
      </p:sp>
      <p:sp>
        <p:nvSpPr>
          <p:cNvPr id="254" name="Shape 13"/>
          <p:cNvSpPr/>
          <p:nvPr/>
        </p:nvSpPr>
        <p:spPr>
          <a:xfrm>
            <a:off x="8961120" y="1627560"/>
            <a:ext cx="2468520" cy="292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55" name="Text 14"/>
          <p:cNvSpPr/>
          <p:nvPr/>
        </p:nvSpPr>
        <p:spPr>
          <a:xfrm>
            <a:off x="8988480" y="1700640"/>
            <a:ext cx="241380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690" spc="-1" strike="noStrike">
                <a:solidFill>
                  <a:srgbClr val="f8fafc"/>
                </a:solidFill>
                <a:latin typeface="Aptos"/>
                <a:ea typeface="Aptos"/>
              </a:rPr>
              <a:t>Action taken</a:t>
            </a:r>
            <a:endParaRPr b="0" lang="en-GB" sz="690" spc="-1" strike="noStrike">
              <a:solidFill>
                <a:srgbClr val="ffffff"/>
              </a:solidFill>
              <a:latin typeface="Arial"/>
            </a:endParaRPr>
          </a:p>
        </p:txBody>
      </p:sp>
      <p:sp>
        <p:nvSpPr>
          <p:cNvPr id="256" name="Shape 15"/>
          <p:cNvSpPr/>
          <p:nvPr/>
        </p:nvSpPr>
        <p:spPr>
          <a:xfrm>
            <a:off x="6263640" y="1920240"/>
            <a:ext cx="1371240" cy="41112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57" name="Text 16"/>
          <p:cNvSpPr/>
          <p:nvPr/>
        </p:nvSpPr>
        <p:spPr>
          <a:xfrm>
            <a:off x="6291000" y="1993320"/>
            <a:ext cx="1316520" cy="3470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690" spc="-1" strike="noStrike">
                <a:solidFill>
                  <a:srgbClr val="f8fafc"/>
                </a:solidFill>
                <a:latin typeface="Aptos"/>
                <a:ea typeface="Aptos"/>
              </a:rPr>
              <a:t>Any missingness</a:t>
            </a:r>
            <a:endParaRPr b="0" lang="en-GB" sz="690" spc="-1" strike="noStrike">
              <a:solidFill>
                <a:srgbClr val="ffffff"/>
              </a:solidFill>
              <a:latin typeface="Arial"/>
            </a:endParaRPr>
          </a:p>
        </p:txBody>
      </p:sp>
      <p:sp>
        <p:nvSpPr>
          <p:cNvPr id="258" name="Shape 17"/>
          <p:cNvSpPr/>
          <p:nvPr/>
        </p:nvSpPr>
        <p:spPr>
          <a:xfrm>
            <a:off x="7635240" y="1920240"/>
            <a:ext cx="1325520" cy="41112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59" name="Text 18"/>
          <p:cNvSpPr/>
          <p:nvPr/>
        </p:nvSpPr>
        <p:spPr>
          <a:xfrm>
            <a:off x="7662600" y="1993320"/>
            <a:ext cx="1270800" cy="3470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90" spc="-1" strike="noStrike">
                <a:solidFill>
                  <a:srgbClr val="f8fafc"/>
                </a:solidFill>
                <a:latin typeface="Aptos"/>
                <a:ea typeface="Aptos"/>
              </a:rPr>
              <a:t>103 columns</a:t>
            </a:r>
            <a:endParaRPr b="0" lang="en-GB" sz="690" spc="-1" strike="noStrike">
              <a:solidFill>
                <a:srgbClr val="ffffff"/>
              </a:solidFill>
              <a:latin typeface="Arial"/>
            </a:endParaRPr>
          </a:p>
        </p:txBody>
      </p:sp>
      <p:sp>
        <p:nvSpPr>
          <p:cNvPr id="260" name="Shape 19"/>
          <p:cNvSpPr/>
          <p:nvPr/>
        </p:nvSpPr>
        <p:spPr>
          <a:xfrm>
            <a:off x="8961120" y="1920240"/>
            <a:ext cx="2468520" cy="41112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61" name="Text 20"/>
          <p:cNvSpPr/>
          <p:nvPr/>
        </p:nvSpPr>
        <p:spPr>
          <a:xfrm>
            <a:off x="8988480" y="1993320"/>
            <a:ext cx="2413800" cy="3470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90" spc="-1" strike="noStrike">
                <a:solidFill>
                  <a:srgbClr val="f8fafc"/>
                </a:solidFill>
                <a:latin typeface="Aptos"/>
                <a:ea typeface="Aptos"/>
              </a:rPr>
              <a:t>Type-aware imputation</a:t>
            </a:r>
            <a:endParaRPr b="0" lang="en-GB" sz="690" spc="-1" strike="noStrike">
              <a:solidFill>
                <a:srgbClr val="ffffff"/>
              </a:solidFill>
              <a:latin typeface="Arial"/>
            </a:endParaRPr>
          </a:p>
        </p:txBody>
      </p:sp>
      <p:sp>
        <p:nvSpPr>
          <p:cNvPr id="262" name="Shape 21"/>
          <p:cNvSpPr/>
          <p:nvPr/>
        </p:nvSpPr>
        <p:spPr>
          <a:xfrm>
            <a:off x="6263640" y="2331720"/>
            <a:ext cx="1371240" cy="41112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63" name="Text 22"/>
          <p:cNvSpPr/>
          <p:nvPr/>
        </p:nvSpPr>
        <p:spPr>
          <a:xfrm>
            <a:off x="6291000" y="2404800"/>
            <a:ext cx="1316520" cy="3470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690" spc="-1" strike="noStrike">
                <a:solidFill>
                  <a:srgbClr val="f8fafc"/>
                </a:solidFill>
                <a:latin typeface="Aptos"/>
                <a:ea typeface="Aptos"/>
              </a:rPr>
              <a:t>High missingness</a:t>
            </a:r>
            <a:endParaRPr b="0" lang="en-GB" sz="690" spc="-1" strike="noStrike">
              <a:solidFill>
                <a:srgbClr val="ffffff"/>
              </a:solidFill>
              <a:latin typeface="Arial"/>
            </a:endParaRPr>
          </a:p>
        </p:txBody>
      </p:sp>
      <p:sp>
        <p:nvSpPr>
          <p:cNvPr id="264" name="Shape 23"/>
          <p:cNvSpPr/>
          <p:nvPr/>
        </p:nvSpPr>
        <p:spPr>
          <a:xfrm>
            <a:off x="7635240" y="2331720"/>
            <a:ext cx="1325520" cy="41112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65" name="Text 24"/>
          <p:cNvSpPr/>
          <p:nvPr/>
        </p:nvSpPr>
        <p:spPr>
          <a:xfrm>
            <a:off x="7662600" y="2404800"/>
            <a:ext cx="1270800" cy="3470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90" spc="-1" strike="noStrike">
                <a:solidFill>
                  <a:srgbClr val="f8fafc"/>
                </a:solidFill>
                <a:latin typeface="Aptos"/>
                <a:ea typeface="Aptos"/>
              </a:rPr>
              <a:t>11 columns &gt;20%</a:t>
            </a:r>
            <a:endParaRPr b="0" lang="en-GB" sz="690" spc="-1" strike="noStrike">
              <a:solidFill>
                <a:srgbClr val="ffffff"/>
              </a:solidFill>
              <a:latin typeface="Arial"/>
            </a:endParaRPr>
          </a:p>
        </p:txBody>
      </p:sp>
      <p:sp>
        <p:nvSpPr>
          <p:cNvPr id="266" name="Shape 25"/>
          <p:cNvSpPr/>
          <p:nvPr/>
        </p:nvSpPr>
        <p:spPr>
          <a:xfrm>
            <a:off x="8961120" y="2331720"/>
            <a:ext cx="2468520" cy="41112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67" name="Text 26"/>
          <p:cNvSpPr/>
          <p:nvPr/>
        </p:nvSpPr>
        <p:spPr>
          <a:xfrm>
            <a:off x="8988480" y="2404800"/>
            <a:ext cx="2413800" cy="3470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90" spc="-1" strike="noStrike">
                <a:solidFill>
                  <a:srgbClr val="f8fafc"/>
                </a:solidFill>
                <a:latin typeface="Aptos"/>
                <a:ea typeface="Aptos"/>
              </a:rPr>
              <a:t>Tracked as quality risk</a:t>
            </a:r>
            <a:endParaRPr b="0" lang="en-GB" sz="690" spc="-1" strike="noStrike">
              <a:solidFill>
                <a:srgbClr val="ffffff"/>
              </a:solidFill>
              <a:latin typeface="Arial"/>
            </a:endParaRPr>
          </a:p>
        </p:txBody>
      </p:sp>
      <p:sp>
        <p:nvSpPr>
          <p:cNvPr id="268" name="Shape 27"/>
          <p:cNvSpPr/>
          <p:nvPr/>
        </p:nvSpPr>
        <p:spPr>
          <a:xfrm>
            <a:off x="6263640" y="2743200"/>
            <a:ext cx="1371240" cy="41112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69" name="Text 28"/>
          <p:cNvSpPr/>
          <p:nvPr/>
        </p:nvSpPr>
        <p:spPr>
          <a:xfrm>
            <a:off x="6291000" y="2816280"/>
            <a:ext cx="1316520" cy="3470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690" spc="-1" strike="noStrike">
                <a:solidFill>
                  <a:srgbClr val="f8fafc"/>
                </a:solidFill>
                <a:latin typeface="Aptos"/>
                <a:ea typeface="Aptos"/>
              </a:rPr>
              <a:t>Overall missing rate</a:t>
            </a:r>
            <a:endParaRPr b="0" lang="en-GB" sz="690" spc="-1" strike="noStrike">
              <a:solidFill>
                <a:srgbClr val="ffffff"/>
              </a:solidFill>
              <a:latin typeface="Arial"/>
            </a:endParaRPr>
          </a:p>
        </p:txBody>
      </p:sp>
      <p:sp>
        <p:nvSpPr>
          <p:cNvPr id="270" name="Shape 29"/>
          <p:cNvSpPr/>
          <p:nvPr/>
        </p:nvSpPr>
        <p:spPr>
          <a:xfrm>
            <a:off x="7635240" y="2743200"/>
            <a:ext cx="1325520" cy="41112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71" name="Text 30"/>
          <p:cNvSpPr/>
          <p:nvPr/>
        </p:nvSpPr>
        <p:spPr>
          <a:xfrm>
            <a:off x="7662600" y="2816280"/>
            <a:ext cx="1270800" cy="3470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90" spc="-1" strike="noStrike">
                <a:solidFill>
                  <a:srgbClr val="f8fafc"/>
                </a:solidFill>
                <a:latin typeface="Aptos"/>
                <a:ea typeface="Aptos"/>
              </a:rPr>
              <a:t>8.98%</a:t>
            </a:r>
            <a:endParaRPr b="0" lang="en-GB" sz="690" spc="-1" strike="noStrike">
              <a:solidFill>
                <a:srgbClr val="ffffff"/>
              </a:solidFill>
              <a:latin typeface="Arial"/>
            </a:endParaRPr>
          </a:p>
        </p:txBody>
      </p:sp>
      <p:sp>
        <p:nvSpPr>
          <p:cNvPr id="272" name="Shape 31"/>
          <p:cNvSpPr/>
          <p:nvPr/>
        </p:nvSpPr>
        <p:spPr>
          <a:xfrm>
            <a:off x="8961120" y="2743200"/>
            <a:ext cx="2468520" cy="41112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73" name="Text 32"/>
          <p:cNvSpPr/>
          <p:nvPr/>
        </p:nvSpPr>
        <p:spPr>
          <a:xfrm>
            <a:off x="8988480" y="2816280"/>
            <a:ext cx="2413800" cy="3470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90" spc="-1" strike="noStrike">
                <a:solidFill>
                  <a:srgbClr val="f8fafc"/>
                </a:solidFill>
                <a:latin typeface="Aptos"/>
                <a:ea typeface="Aptos"/>
              </a:rPr>
              <a:t>Handled inside train-fit pipeline</a:t>
            </a:r>
            <a:endParaRPr b="0" lang="en-GB" sz="690" spc="-1" strike="noStrike">
              <a:solidFill>
                <a:srgbClr val="ffffff"/>
              </a:solidFill>
              <a:latin typeface="Arial"/>
            </a:endParaRPr>
          </a:p>
        </p:txBody>
      </p:sp>
      <p:sp>
        <p:nvSpPr>
          <p:cNvPr id="274" name="Shape 33"/>
          <p:cNvSpPr/>
          <p:nvPr/>
        </p:nvSpPr>
        <p:spPr>
          <a:xfrm>
            <a:off x="6263640" y="3154680"/>
            <a:ext cx="1371240" cy="41112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75" name="Text 34"/>
          <p:cNvSpPr/>
          <p:nvPr/>
        </p:nvSpPr>
        <p:spPr>
          <a:xfrm>
            <a:off x="6291000" y="3227760"/>
            <a:ext cx="1316520" cy="3470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690" spc="-1" strike="noStrike">
                <a:solidFill>
                  <a:srgbClr val="f8fafc"/>
                </a:solidFill>
                <a:latin typeface="Aptos"/>
                <a:ea typeface="Aptos"/>
              </a:rPr>
              <a:t>Outliers</a:t>
            </a:r>
            <a:endParaRPr b="0" lang="en-GB" sz="690" spc="-1" strike="noStrike">
              <a:solidFill>
                <a:srgbClr val="ffffff"/>
              </a:solidFill>
              <a:latin typeface="Arial"/>
            </a:endParaRPr>
          </a:p>
        </p:txBody>
      </p:sp>
      <p:sp>
        <p:nvSpPr>
          <p:cNvPr id="276" name="Shape 35"/>
          <p:cNvSpPr/>
          <p:nvPr/>
        </p:nvSpPr>
        <p:spPr>
          <a:xfrm>
            <a:off x="7635240" y="3154680"/>
            <a:ext cx="1325520" cy="41112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77" name="Text 36"/>
          <p:cNvSpPr/>
          <p:nvPr/>
        </p:nvSpPr>
        <p:spPr>
          <a:xfrm>
            <a:off x="7662600" y="3227760"/>
            <a:ext cx="1270800" cy="3470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90" spc="-1" strike="noStrike">
                <a:solidFill>
                  <a:srgbClr val="f8fafc"/>
                </a:solidFill>
                <a:latin typeface="Aptos"/>
                <a:ea typeface="Aptos"/>
              </a:rPr>
              <a:t>ROE 4.48%, L_BLOOD 3.56%, K_BLOOD 2.93%</a:t>
            </a:r>
            <a:endParaRPr b="0" lang="en-GB" sz="690" spc="-1" strike="noStrike">
              <a:solidFill>
                <a:srgbClr val="ffffff"/>
              </a:solidFill>
              <a:latin typeface="Arial"/>
            </a:endParaRPr>
          </a:p>
        </p:txBody>
      </p:sp>
      <p:sp>
        <p:nvSpPr>
          <p:cNvPr id="278" name="Shape 37"/>
          <p:cNvSpPr/>
          <p:nvPr/>
        </p:nvSpPr>
        <p:spPr>
          <a:xfrm>
            <a:off x="8961120" y="3154680"/>
            <a:ext cx="2468520" cy="41112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79" name="Text 38"/>
          <p:cNvSpPr/>
          <p:nvPr/>
        </p:nvSpPr>
        <p:spPr>
          <a:xfrm>
            <a:off x="8988480" y="3227760"/>
            <a:ext cx="2413800" cy="3470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90" spc="-1" strike="noStrike">
                <a:solidFill>
                  <a:srgbClr val="f8fafc"/>
                </a:solidFill>
                <a:latin typeface="Aptos"/>
                <a:ea typeface="Aptos"/>
              </a:rPr>
              <a:t>Robust median imputation + scaling</a:t>
            </a:r>
            <a:endParaRPr b="0" lang="en-GB" sz="690" spc="-1" strike="noStrike">
              <a:solidFill>
                <a:srgbClr val="ffffff"/>
              </a:solidFill>
              <a:latin typeface="Arial"/>
            </a:endParaRPr>
          </a:p>
        </p:txBody>
      </p:sp>
      <p:sp>
        <p:nvSpPr>
          <p:cNvPr id="280" name="Shape 39"/>
          <p:cNvSpPr/>
          <p:nvPr/>
        </p:nvSpPr>
        <p:spPr>
          <a:xfrm>
            <a:off x="6263640" y="3566160"/>
            <a:ext cx="1371240" cy="41112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81" name="Text 40"/>
          <p:cNvSpPr/>
          <p:nvPr/>
        </p:nvSpPr>
        <p:spPr>
          <a:xfrm>
            <a:off x="6291000" y="3639240"/>
            <a:ext cx="1316520" cy="3470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690" spc="-1" strike="noStrike">
                <a:solidFill>
                  <a:srgbClr val="f8fafc"/>
                </a:solidFill>
                <a:latin typeface="Aptos"/>
                <a:ea typeface="Aptos"/>
              </a:rPr>
              <a:t>Leakage risk</a:t>
            </a:r>
            <a:endParaRPr b="0" lang="en-GB" sz="690" spc="-1" strike="noStrike">
              <a:solidFill>
                <a:srgbClr val="ffffff"/>
              </a:solidFill>
              <a:latin typeface="Arial"/>
            </a:endParaRPr>
          </a:p>
        </p:txBody>
      </p:sp>
      <p:sp>
        <p:nvSpPr>
          <p:cNvPr id="282" name="Shape 41"/>
          <p:cNvSpPr/>
          <p:nvPr/>
        </p:nvSpPr>
        <p:spPr>
          <a:xfrm>
            <a:off x="7635240" y="3566160"/>
            <a:ext cx="1325520" cy="41112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83" name="Text 42"/>
          <p:cNvSpPr/>
          <p:nvPr/>
        </p:nvSpPr>
        <p:spPr>
          <a:xfrm>
            <a:off x="7662600" y="3639240"/>
            <a:ext cx="1270800" cy="3470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90" spc="-1" strike="noStrike">
                <a:solidFill>
                  <a:srgbClr val="f8fafc"/>
                </a:solidFill>
                <a:latin typeface="Aptos"/>
                <a:ea typeface="Aptos"/>
              </a:rPr>
              <a:t>19 columns dropped</a:t>
            </a:r>
            <a:endParaRPr b="0" lang="en-GB" sz="690" spc="-1" strike="noStrike">
              <a:solidFill>
                <a:srgbClr val="ffffff"/>
              </a:solidFill>
              <a:latin typeface="Arial"/>
            </a:endParaRPr>
          </a:p>
        </p:txBody>
      </p:sp>
      <p:sp>
        <p:nvSpPr>
          <p:cNvPr id="284" name="Shape 43"/>
          <p:cNvSpPr/>
          <p:nvPr/>
        </p:nvSpPr>
        <p:spPr>
          <a:xfrm>
            <a:off x="8961120" y="3566160"/>
            <a:ext cx="2468520" cy="41112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85" name="Text 44"/>
          <p:cNvSpPr/>
          <p:nvPr/>
        </p:nvSpPr>
        <p:spPr>
          <a:xfrm>
            <a:off x="8988480" y="3639240"/>
            <a:ext cx="2413800" cy="3470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90" spc="-1" strike="noStrike">
                <a:solidFill>
                  <a:srgbClr val="f8fafc"/>
                </a:solidFill>
                <a:latin typeface="Aptos"/>
                <a:ea typeface="Aptos"/>
              </a:rPr>
              <a:t>No post-outcome/treatment leakage</a:t>
            </a:r>
            <a:endParaRPr b="0" lang="en-GB" sz="690" spc="-1" strike="noStrike">
              <a:solidFill>
                <a:srgbClr val="ffffff"/>
              </a:solidFill>
              <a:latin typeface="Arial"/>
            </a:endParaRPr>
          </a:p>
        </p:txBody>
      </p:sp>
      <p:sp>
        <p:nvSpPr>
          <p:cNvPr id="286" name="Shape 45"/>
          <p:cNvSpPr/>
          <p:nvPr/>
        </p:nvSpPr>
        <p:spPr>
          <a:xfrm>
            <a:off x="932760" y="5349240"/>
            <a:ext cx="1444320" cy="566640"/>
          </a:xfrm>
          <a:prstGeom prst="roundRect">
            <a:avLst>
              <a:gd name="adj" fmla="val 12903"/>
            </a:avLst>
          </a:prstGeom>
          <a:solidFill>
            <a:srgbClr val="132b46">
              <a:alpha val="90000"/>
            </a:srgbClr>
          </a:solidFill>
          <a:ln w="10160">
            <a:solidFill>
              <a:srgbClr val="132b46">
                <a:alpha val="7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87" name="Text 46"/>
          <p:cNvSpPr/>
          <p:nvPr/>
        </p:nvSpPr>
        <p:spPr>
          <a:xfrm>
            <a:off x="1005840" y="5495400"/>
            <a:ext cx="129816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60" spc="-1" strike="noStrike">
                <a:solidFill>
                  <a:srgbClr val="f8fafc"/>
                </a:solidFill>
                <a:latin typeface="Aptos"/>
                <a:ea typeface="Aptos"/>
              </a:rPr>
              <a:t>Raw data</a:t>
            </a:r>
            <a:endParaRPr b="0" lang="en-GB" sz="760" spc="-1" strike="noStrike">
              <a:solidFill>
                <a:srgbClr val="ffffff"/>
              </a:solidFill>
              <a:latin typeface="Arial"/>
            </a:endParaRPr>
          </a:p>
        </p:txBody>
      </p:sp>
      <p:sp>
        <p:nvSpPr>
          <p:cNvPr id="288" name="Text 47"/>
          <p:cNvSpPr/>
          <p:nvPr/>
        </p:nvSpPr>
        <p:spPr>
          <a:xfrm>
            <a:off x="2395800" y="5513760"/>
            <a:ext cx="10944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 strike="noStrike">
                <a:solidFill>
                  <a:srgbClr val="94a3b8"/>
                </a:solidFill>
                <a:latin typeface="Aptos"/>
                <a:ea typeface="Aptos"/>
              </a:rPr>
              <a:t>→</a:t>
            </a:r>
            <a:endParaRPr b="0" lang="en-GB" sz="1100" spc="-1" strike="noStrike">
              <a:solidFill>
                <a:srgbClr val="ffffff"/>
              </a:solidFill>
              <a:latin typeface="Arial"/>
            </a:endParaRPr>
          </a:p>
        </p:txBody>
      </p:sp>
      <p:sp>
        <p:nvSpPr>
          <p:cNvPr id="289" name="Shape 48"/>
          <p:cNvSpPr/>
          <p:nvPr/>
        </p:nvSpPr>
        <p:spPr>
          <a:xfrm>
            <a:off x="2505600" y="5349240"/>
            <a:ext cx="1444320" cy="566640"/>
          </a:xfrm>
          <a:prstGeom prst="roundRect">
            <a:avLst>
              <a:gd name="adj" fmla="val 12903"/>
            </a:avLst>
          </a:prstGeom>
          <a:solidFill>
            <a:srgbClr val="f43f5e">
              <a:alpha val="90000"/>
            </a:srgbClr>
          </a:solidFill>
          <a:ln w="10160">
            <a:solidFill>
              <a:srgbClr val="f43f5e">
                <a:alpha val="7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90" name="Text 49"/>
          <p:cNvSpPr/>
          <p:nvPr/>
        </p:nvSpPr>
        <p:spPr>
          <a:xfrm>
            <a:off x="2578680" y="5495400"/>
            <a:ext cx="129816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60" spc="-1" strike="noStrike">
                <a:solidFill>
                  <a:srgbClr val="f8fafc"/>
                </a:solidFill>
                <a:latin typeface="Aptos"/>
                <a:ea typeface="Aptos"/>
              </a:rPr>
              <a:t>Drop leakage</a:t>
            </a:r>
            <a:endParaRPr b="0" lang="en-GB" sz="760" spc="-1" strike="noStrike">
              <a:solidFill>
                <a:srgbClr val="ffffff"/>
              </a:solidFill>
              <a:latin typeface="Arial"/>
            </a:endParaRPr>
          </a:p>
        </p:txBody>
      </p:sp>
      <p:sp>
        <p:nvSpPr>
          <p:cNvPr id="291" name="Text 50"/>
          <p:cNvSpPr/>
          <p:nvPr/>
        </p:nvSpPr>
        <p:spPr>
          <a:xfrm>
            <a:off x="3968640" y="5513760"/>
            <a:ext cx="10944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 strike="noStrike">
                <a:solidFill>
                  <a:srgbClr val="94a3b8"/>
                </a:solidFill>
                <a:latin typeface="Aptos"/>
                <a:ea typeface="Aptos"/>
              </a:rPr>
              <a:t>→</a:t>
            </a:r>
            <a:endParaRPr b="0" lang="en-GB" sz="1100" spc="-1" strike="noStrike">
              <a:solidFill>
                <a:srgbClr val="ffffff"/>
              </a:solidFill>
              <a:latin typeface="Arial"/>
            </a:endParaRPr>
          </a:p>
        </p:txBody>
      </p:sp>
      <p:sp>
        <p:nvSpPr>
          <p:cNvPr id="292" name="Shape 51"/>
          <p:cNvSpPr/>
          <p:nvPr/>
        </p:nvSpPr>
        <p:spPr>
          <a:xfrm>
            <a:off x="4078080" y="5349240"/>
            <a:ext cx="1444320" cy="566640"/>
          </a:xfrm>
          <a:prstGeom prst="roundRect">
            <a:avLst>
              <a:gd name="adj" fmla="val 12903"/>
            </a:avLst>
          </a:prstGeom>
          <a:solidFill>
            <a:srgbClr val="38bdf8">
              <a:alpha val="90000"/>
            </a:srgbClr>
          </a:solidFill>
          <a:ln w="10160">
            <a:solidFill>
              <a:srgbClr val="38bdf8">
                <a:alpha val="7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93" name="Text 52"/>
          <p:cNvSpPr/>
          <p:nvPr/>
        </p:nvSpPr>
        <p:spPr>
          <a:xfrm>
            <a:off x="4151520" y="5495400"/>
            <a:ext cx="129816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60" spc="-1" strike="noStrike">
                <a:solidFill>
                  <a:srgbClr val="f8fafc"/>
                </a:solidFill>
                <a:latin typeface="Aptos"/>
                <a:ea typeface="Aptos"/>
              </a:rPr>
              <a:t>Impute</a:t>
            </a:r>
            <a:endParaRPr b="0" lang="en-GB" sz="760" spc="-1" strike="noStrike">
              <a:solidFill>
                <a:srgbClr val="ffffff"/>
              </a:solidFill>
              <a:latin typeface="Arial"/>
            </a:endParaRPr>
          </a:p>
        </p:txBody>
      </p:sp>
      <p:sp>
        <p:nvSpPr>
          <p:cNvPr id="294" name="Text 53"/>
          <p:cNvSpPr/>
          <p:nvPr/>
        </p:nvSpPr>
        <p:spPr>
          <a:xfrm>
            <a:off x="5541120" y="5513760"/>
            <a:ext cx="10944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 strike="noStrike">
                <a:solidFill>
                  <a:srgbClr val="94a3b8"/>
                </a:solidFill>
                <a:latin typeface="Aptos"/>
                <a:ea typeface="Aptos"/>
              </a:rPr>
              <a:t>→</a:t>
            </a:r>
            <a:endParaRPr b="0" lang="en-GB" sz="1100" spc="-1" strike="noStrike">
              <a:solidFill>
                <a:srgbClr val="ffffff"/>
              </a:solidFill>
              <a:latin typeface="Arial"/>
            </a:endParaRPr>
          </a:p>
        </p:txBody>
      </p:sp>
      <p:sp>
        <p:nvSpPr>
          <p:cNvPr id="295" name="Shape 54"/>
          <p:cNvSpPr/>
          <p:nvPr/>
        </p:nvSpPr>
        <p:spPr>
          <a:xfrm>
            <a:off x="5650920" y="5349240"/>
            <a:ext cx="1444320" cy="566640"/>
          </a:xfrm>
          <a:prstGeom prst="roundRect">
            <a:avLst>
              <a:gd name="adj" fmla="val 12903"/>
            </a:avLst>
          </a:prstGeom>
          <a:solidFill>
            <a:srgbClr val="14b8a6">
              <a:alpha val="90000"/>
            </a:srgbClr>
          </a:solidFill>
          <a:ln w="10160">
            <a:solidFill>
              <a:srgbClr val="14b8a6">
                <a:alpha val="7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96" name="Text 55"/>
          <p:cNvSpPr/>
          <p:nvPr/>
        </p:nvSpPr>
        <p:spPr>
          <a:xfrm>
            <a:off x="5724000" y="5495400"/>
            <a:ext cx="129816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60" spc="-1" strike="noStrike">
                <a:solidFill>
                  <a:srgbClr val="f8fafc"/>
                </a:solidFill>
                <a:latin typeface="Aptos"/>
                <a:ea typeface="Aptos"/>
              </a:rPr>
              <a:t>Scale</a:t>
            </a:r>
            <a:endParaRPr b="0" lang="en-GB" sz="760" spc="-1" strike="noStrike">
              <a:solidFill>
                <a:srgbClr val="ffffff"/>
              </a:solidFill>
              <a:latin typeface="Arial"/>
            </a:endParaRPr>
          </a:p>
        </p:txBody>
      </p:sp>
      <p:sp>
        <p:nvSpPr>
          <p:cNvPr id="297" name="Text 56"/>
          <p:cNvSpPr/>
          <p:nvPr/>
        </p:nvSpPr>
        <p:spPr>
          <a:xfrm>
            <a:off x="7113960" y="5513760"/>
            <a:ext cx="10944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 strike="noStrike">
                <a:solidFill>
                  <a:srgbClr val="94a3b8"/>
                </a:solidFill>
                <a:latin typeface="Aptos"/>
                <a:ea typeface="Aptos"/>
              </a:rPr>
              <a:t>→</a:t>
            </a:r>
            <a:endParaRPr b="0" lang="en-GB" sz="1100" spc="-1" strike="noStrike">
              <a:solidFill>
                <a:srgbClr val="ffffff"/>
              </a:solidFill>
              <a:latin typeface="Arial"/>
            </a:endParaRPr>
          </a:p>
        </p:txBody>
      </p:sp>
      <p:sp>
        <p:nvSpPr>
          <p:cNvPr id="298" name="Shape 57"/>
          <p:cNvSpPr/>
          <p:nvPr/>
        </p:nvSpPr>
        <p:spPr>
          <a:xfrm>
            <a:off x="7223760" y="5349240"/>
            <a:ext cx="1444320" cy="566640"/>
          </a:xfrm>
          <a:prstGeom prst="roundRect">
            <a:avLst>
              <a:gd name="adj" fmla="val 12903"/>
            </a:avLst>
          </a:prstGeom>
          <a:solidFill>
            <a:srgbClr val="f59e0b">
              <a:alpha val="90000"/>
            </a:srgbClr>
          </a:solidFill>
          <a:ln w="10160">
            <a:solidFill>
              <a:srgbClr val="f59e0b">
                <a:alpha val="75000"/>
              </a:srgbClr>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299" name="Text 58"/>
          <p:cNvSpPr/>
          <p:nvPr/>
        </p:nvSpPr>
        <p:spPr>
          <a:xfrm>
            <a:off x="7296840" y="5495400"/>
            <a:ext cx="129816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60" spc="-1" strike="noStrike">
                <a:solidFill>
                  <a:srgbClr val="f8fafc"/>
                </a:solidFill>
                <a:latin typeface="Aptos"/>
                <a:ea typeface="Aptos"/>
              </a:rPr>
              <a:t>SMOTE</a:t>
            </a:r>
            <a:endParaRPr b="0" lang="en-GB" sz="760" spc="-1" strike="noStrike">
              <a:solidFill>
                <a:srgbClr val="ffffff"/>
              </a:solidFill>
              <a:latin typeface="Arial"/>
            </a:endParaRPr>
          </a:p>
        </p:txBody>
      </p:sp>
      <p:sp>
        <p:nvSpPr>
          <p:cNvPr id="300" name="Text 59"/>
          <p:cNvSpPr/>
          <p:nvPr/>
        </p:nvSpPr>
        <p:spPr>
          <a:xfrm>
            <a:off x="8686800" y="5513760"/>
            <a:ext cx="10944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 strike="noStrike">
                <a:solidFill>
                  <a:srgbClr val="94a3b8"/>
                </a:solidFill>
                <a:latin typeface="Aptos"/>
                <a:ea typeface="Aptos"/>
              </a:rPr>
              <a:t>→</a:t>
            </a:r>
            <a:endParaRPr b="0" lang="en-GB" sz="1100" spc="-1" strike="noStrike">
              <a:solidFill>
                <a:srgbClr val="ffffff"/>
              </a:solidFill>
              <a:latin typeface="Arial"/>
            </a:endParaRPr>
          </a:p>
        </p:txBody>
      </p:sp>
      <p:sp>
        <p:nvSpPr>
          <p:cNvPr id="301" name="Shape 60"/>
          <p:cNvSpPr/>
          <p:nvPr/>
        </p:nvSpPr>
        <p:spPr>
          <a:xfrm>
            <a:off x="8796600" y="5349240"/>
            <a:ext cx="1444320" cy="566640"/>
          </a:xfrm>
          <a:prstGeom prst="roundRect">
            <a:avLst>
              <a:gd name="adj" fmla="val 12903"/>
            </a:avLst>
          </a:prstGeom>
          <a:solidFill>
            <a:srgbClr val="22c55e">
              <a:alpha val="90000"/>
            </a:srgbClr>
          </a:solidFill>
          <a:ln w="10160">
            <a:solidFill>
              <a:srgbClr val="22c55e">
                <a:alpha val="7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302" name="Text 61"/>
          <p:cNvSpPr/>
          <p:nvPr/>
        </p:nvSpPr>
        <p:spPr>
          <a:xfrm>
            <a:off x="8869680" y="5495400"/>
            <a:ext cx="129816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60" spc="-1" strike="noStrike">
                <a:solidFill>
                  <a:srgbClr val="f8fafc"/>
                </a:solidFill>
                <a:latin typeface="Aptos"/>
                <a:ea typeface="Aptos"/>
              </a:rPr>
              <a:t>Train</a:t>
            </a:r>
            <a:endParaRPr b="0" lang="en-GB" sz="760" spc="-1" strike="noStrike">
              <a:solidFill>
                <a:srgbClr val="ffffff"/>
              </a:solidFill>
              <a:latin typeface="Arial"/>
            </a:endParaRPr>
          </a:p>
        </p:txBody>
      </p:sp>
      <p:sp>
        <p:nvSpPr>
          <p:cNvPr id="303" name="Shape 62"/>
          <p:cNvSpPr/>
          <p:nvPr/>
        </p:nvSpPr>
        <p:spPr>
          <a:xfrm>
            <a:off x="502920" y="6555960"/>
            <a:ext cx="11201400" cy="360"/>
          </a:xfrm>
          <a:prstGeom prst="line">
            <a:avLst/>
          </a:prstGeom>
          <a:ln w="7620">
            <a:solidFill>
              <a:srgbClr val="334155">
                <a:alpha val="60000"/>
              </a:srgbClr>
            </a:solidFill>
            <a:round/>
          </a:ln>
        </p:spPr>
        <p:style>
          <a:lnRef idx="0"/>
          <a:fillRef idx="0"/>
          <a:effectRef idx="0"/>
          <a:fontRef idx="minor"/>
        </p:style>
        <p:txBody>
          <a:bodyPr lIns="90000" rIns="90000" tIns="-44640" bIns="-44640" anchor="t" anchorCtr="1">
            <a:noAutofit/>
          </a:bodyPr>
          <a:p>
            <a:endParaRPr b="0" lang="en-GB" sz="1800" spc="-1" strike="noStrike">
              <a:solidFill>
                <a:srgbClr val="ffffff"/>
              </a:solidFill>
              <a:latin typeface="Arial"/>
            </a:endParaRPr>
          </a:p>
        </p:txBody>
      </p:sp>
      <p:sp>
        <p:nvSpPr>
          <p:cNvPr id="304" name="Text 63"/>
          <p:cNvSpPr/>
          <p:nvPr/>
        </p:nvSpPr>
        <p:spPr>
          <a:xfrm>
            <a:off x="530280" y="6602040"/>
            <a:ext cx="6217560" cy="145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650" spc="-1" strike="noStrike">
                <a:solidFill>
                  <a:srgbClr val="94a3b8"/>
                </a:solidFill>
                <a:latin typeface="Aptos"/>
                <a:ea typeface="Aptos"/>
              </a:rPr>
              <a:t>Clinical Outcome Prediction • Myocardial Infarction Complications</a:t>
            </a:r>
            <a:endParaRPr b="0" lang="en-GB" sz="650" spc="-1" strike="noStrike">
              <a:solidFill>
                <a:srgbClr val="ffffff"/>
              </a:solidFill>
              <a:latin typeface="Arial"/>
            </a:endParaRPr>
          </a:p>
        </p:txBody>
      </p:sp>
      <p:sp>
        <p:nvSpPr>
          <p:cNvPr id="305" name="Text 64"/>
          <p:cNvSpPr/>
          <p:nvPr/>
        </p:nvSpPr>
        <p:spPr>
          <a:xfrm>
            <a:off x="11201400" y="6565320"/>
            <a:ext cx="502560" cy="2282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750" spc="-1" strike="noStrike">
                <a:solidFill>
                  <a:srgbClr val="94a3b8"/>
                </a:solidFill>
                <a:latin typeface="Aptos"/>
                <a:ea typeface="Aptos"/>
              </a:rPr>
              <a:t>06</a:t>
            </a:r>
            <a:endParaRPr b="0" lang="en-GB" sz="7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01f"/>
        </a:solidFill>
      </p:bgPr>
    </p:bg>
    <p:spTree>
      <p:nvGrpSpPr>
        <p:cNvPr id="1" name=""/>
        <p:cNvGrpSpPr/>
        <p:nvPr/>
      </p:nvGrpSpPr>
      <p:grpSpPr>
        <a:xfrm>
          <a:off x="0" y="0"/>
          <a:ext cx="0" cy="0"/>
          <a:chOff x="0" y="0"/>
          <a:chExt cx="0" cy="0"/>
        </a:xfrm>
      </p:grpSpPr>
      <p:sp>
        <p:nvSpPr>
          <p:cNvPr id="306" name="Shape 0"/>
          <p:cNvSpPr/>
          <p:nvPr/>
        </p:nvSpPr>
        <p:spPr>
          <a:xfrm>
            <a:off x="0" y="0"/>
            <a:ext cx="12191400" cy="6857640"/>
          </a:xfrm>
          <a:prstGeom prst="rect">
            <a:avLst/>
          </a:prstGeom>
          <a:solidFill>
            <a:srgbClr val="06101f"/>
          </a:solidFill>
          <a:ln w="12700">
            <a:solidFill>
              <a:srgbClr val="06101f"/>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307" name="Shape 1"/>
          <p:cNvSpPr/>
          <p:nvPr/>
        </p:nvSpPr>
        <p:spPr>
          <a:xfrm>
            <a:off x="0" y="0"/>
            <a:ext cx="12191400" cy="6857640"/>
          </a:xfrm>
          <a:prstGeom prst="rect">
            <a:avLst/>
          </a:prstGeom>
          <a:solidFill>
            <a:srgbClr val="081629">
              <a:alpha val="85000"/>
            </a:srgbClr>
          </a:solidFill>
          <a:ln w="12700">
            <a:solidFill>
              <a:srgbClr val="081629">
                <a:alpha val="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308" name="Shape 2"/>
          <p:cNvSpPr/>
          <p:nvPr/>
        </p:nvSpPr>
        <p:spPr>
          <a:xfrm>
            <a:off x="-1554480" y="-1737360"/>
            <a:ext cx="5486040" cy="5486040"/>
          </a:xfrm>
          <a:prstGeom prst="arc">
            <a:avLst>
              <a:gd name="adj1" fmla="val 16200000"/>
              <a:gd name="adj2" fmla="val 0"/>
            </a:avLst>
          </a:prstGeom>
          <a:noFill/>
          <a:ln w="13970">
            <a:solidFill>
              <a:srgbClr val="14b8a6">
                <a:alpha val="3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309" name="Shape 3"/>
          <p:cNvSpPr/>
          <p:nvPr/>
        </p:nvSpPr>
        <p:spPr>
          <a:xfrm>
            <a:off x="7680960" y="3840480"/>
            <a:ext cx="5486040" cy="5486040"/>
          </a:xfrm>
          <a:prstGeom prst="arc">
            <a:avLst>
              <a:gd name="adj1" fmla="val 16200000"/>
              <a:gd name="adj2" fmla="val 0"/>
            </a:avLst>
          </a:prstGeom>
          <a:noFill/>
          <a:ln w="12700">
            <a:solidFill>
              <a:srgbClr val="f59e0b">
                <a:alpha val="22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310" name="Text 4"/>
          <p:cNvSpPr/>
          <p:nvPr/>
        </p:nvSpPr>
        <p:spPr>
          <a:xfrm>
            <a:off x="567000" y="347400"/>
            <a:ext cx="594324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50" spc="-1" strike="noStrike">
                <a:solidFill>
                  <a:srgbClr val="14b8a6"/>
                </a:solidFill>
                <a:latin typeface="Aptos"/>
                <a:ea typeface="Aptos"/>
              </a:rPr>
              <a:t>MODELING PROTOCOL</a:t>
            </a:r>
            <a:endParaRPr b="0" lang="en-GB" sz="850" spc="-1" strike="noStrike">
              <a:solidFill>
                <a:srgbClr val="ffffff"/>
              </a:solidFill>
              <a:latin typeface="Arial"/>
            </a:endParaRPr>
          </a:p>
        </p:txBody>
      </p:sp>
      <p:sp>
        <p:nvSpPr>
          <p:cNvPr id="311" name="Text 5"/>
          <p:cNvSpPr/>
          <p:nvPr/>
        </p:nvSpPr>
        <p:spPr>
          <a:xfrm>
            <a:off x="548640" y="658440"/>
            <a:ext cx="10926720" cy="5940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400" spc="-1" strike="noStrike">
                <a:solidFill>
                  <a:srgbClr val="f8fafc"/>
                </a:solidFill>
                <a:latin typeface="Aptos Display"/>
                <a:ea typeface="Aptos Display"/>
              </a:rPr>
              <a:t>From baseline classifiers to robust final evaluation</a:t>
            </a:r>
            <a:endParaRPr b="0" lang="en-GB" sz="2400" spc="-1" strike="noStrike">
              <a:solidFill>
                <a:srgbClr val="ffffff"/>
              </a:solidFill>
              <a:latin typeface="Arial"/>
            </a:endParaRPr>
          </a:p>
        </p:txBody>
      </p:sp>
      <p:sp>
        <p:nvSpPr>
          <p:cNvPr id="312" name="Text 6"/>
          <p:cNvSpPr/>
          <p:nvPr/>
        </p:nvSpPr>
        <p:spPr>
          <a:xfrm>
            <a:off x="567000" y="1216080"/>
            <a:ext cx="1051524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50" spc="-1" strike="noStrike">
                <a:solidFill>
                  <a:srgbClr val="94a3b8"/>
                </a:solidFill>
                <a:latin typeface="Aptos"/>
                <a:ea typeface="Aptos"/>
              </a:rPr>
              <a:t>The notebook compares simple, ensemble, tuned, thresholded, and adversarial-condition models.</a:t>
            </a:r>
            <a:endParaRPr b="0" lang="en-GB" sz="1050" spc="-1" strike="noStrike">
              <a:solidFill>
                <a:srgbClr val="ffffff"/>
              </a:solidFill>
              <a:latin typeface="Arial"/>
            </a:endParaRPr>
          </a:p>
        </p:txBody>
      </p:sp>
      <p:sp>
        <p:nvSpPr>
          <p:cNvPr id="313" name="Shape 7"/>
          <p:cNvSpPr/>
          <p:nvPr/>
        </p:nvSpPr>
        <p:spPr>
          <a:xfrm>
            <a:off x="777240" y="1600200"/>
            <a:ext cx="1444320" cy="566640"/>
          </a:xfrm>
          <a:prstGeom prst="roundRect">
            <a:avLst>
              <a:gd name="adj" fmla="val 12903"/>
            </a:avLst>
          </a:prstGeom>
          <a:solidFill>
            <a:srgbClr val="132b46">
              <a:alpha val="90000"/>
            </a:srgbClr>
          </a:solidFill>
          <a:ln w="10160">
            <a:solidFill>
              <a:srgbClr val="132b46">
                <a:alpha val="7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314" name="Text 8"/>
          <p:cNvSpPr/>
          <p:nvPr/>
        </p:nvSpPr>
        <p:spPr>
          <a:xfrm>
            <a:off x="850320" y="1746360"/>
            <a:ext cx="129816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60" spc="-1" strike="noStrike">
                <a:solidFill>
                  <a:srgbClr val="f8fafc"/>
                </a:solidFill>
                <a:latin typeface="Aptos"/>
                <a:ea typeface="Aptos"/>
              </a:rPr>
              <a:t>Baseline</a:t>
            </a:r>
            <a:endParaRPr b="0" lang="en-GB" sz="760" spc="-1" strike="noStrike">
              <a:solidFill>
                <a:srgbClr val="ffffff"/>
              </a:solidFill>
              <a:latin typeface="Arial"/>
            </a:endParaRPr>
          </a:p>
        </p:txBody>
      </p:sp>
      <p:sp>
        <p:nvSpPr>
          <p:cNvPr id="315" name="Text 9"/>
          <p:cNvSpPr/>
          <p:nvPr/>
        </p:nvSpPr>
        <p:spPr>
          <a:xfrm>
            <a:off x="2240280" y="1764720"/>
            <a:ext cx="10944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 strike="noStrike">
                <a:solidFill>
                  <a:srgbClr val="94a3b8"/>
                </a:solidFill>
                <a:latin typeface="Aptos"/>
                <a:ea typeface="Aptos"/>
              </a:rPr>
              <a:t>→</a:t>
            </a:r>
            <a:endParaRPr b="0" lang="en-GB" sz="1100" spc="-1" strike="noStrike">
              <a:solidFill>
                <a:srgbClr val="ffffff"/>
              </a:solidFill>
              <a:latin typeface="Arial"/>
            </a:endParaRPr>
          </a:p>
        </p:txBody>
      </p:sp>
      <p:sp>
        <p:nvSpPr>
          <p:cNvPr id="316" name="Shape 10"/>
          <p:cNvSpPr/>
          <p:nvPr/>
        </p:nvSpPr>
        <p:spPr>
          <a:xfrm>
            <a:off x="2350080" y="1600200"/>
            <a:ext cx="1444320" cy="566640"/>
          </a:xfrm>
          <a:prstGeom prst="roundRect">
            <a:avLst>
              <a:gd name="adj" fmla="val 12903"/>
            </a:avLst>
          </a:prstGeom>
          <a:solidFill>
            <a:srgbClr val="14b8a6">
              <a:alpha val="90000"/>
            </a:srgbClr>
          </a:solidFill>
          <a:ln w="10160">
            <a:solidFill>
              <a:srgbClr val="14b8a6">
                <a:alpha val="7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317" name="Text 11"/>
          <p:cNvSpPr/>
          <p:nvPr/>
        </p:nvSpPr>
        <p:spPr>
          <a:xfrm>
            <a:off x="2423160" y="1746360"/>
            <a:ext cx="129816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60" spc="-1" strike="noStrike">
                <a:solidFill>
                  <a:srgbClr val="f8fafc"/>
                </a:solidFill>
                <a:latin typeface="Aptos"/>
                <a:ea typeface="Aptos"/>
              </a:rPr>
              <a:t>7 classifiers</a:t>
            </a:r>
            <a:endParaRPr b="0" lang="en-GB" sz="760" spc="-1" strike="noStrike">
              <a:solidFill>
                <a:srgbClr val="ffffff"/>
              </a:solidFill>
              <a:latin typeface="Arial"/>
            </a:endParaRPr>
          </a:p>
        </p:txBody>
      </p:sp>
      <p:sp>
        <p:nvSpPr>
          <p:cNvPr id="318" name="Text 12"/>
          <p:cNvSpPr/>
          <p:nvPr/>
        </p:nvSpPr>
        <p:spPr>
          <a:xfrm>
            <a:off x="3813120" y="1764720"/>
            <a:ext cx="10944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 strike="noStrike">
                <a:solidFill>
                  <a:srgbClr val="94a3b8"/>
                </a:solidFill>
                <a:latin typeface="Aptos"/>
                <a:ea typeface="Aptos"/>
              </a:rPr>
              <a:t>→</a:t>
            </a:r>
            <a:endParaRPr b="0" lang="en-GB" sz="1100" spc="-1" strike="noStrike">
              <a:solidFill>
                <a:srgbClr val="ffffff"/>
              </a:solidFill>
              <a:latin typeface="Arial"/>
            </a:endParaRPr>
          </a:p>
        </p:txBody>
      </p:sp>
      <p:sp>
        <p:nvSpPr>
          <p:cNvPr id="319" name="Shape 13"/>
          <p:cNvSpPr/>
          <p:nvPr/>
        </p:nvSpPr>
        <p:spPr>
          <a:xfrm>
            <a:off x="3922920" y="1600200"/>
            <a:ext cx="1444320" cy="566640"/>
          </a:xfrm>
          <a:prstGeom prst="roundRect">
            <a:avLst>
              <a:gd name="adj" fmla="val 12903"/>
            </a:avLst>
          </a:prstGeom>
          <a:solidFill>
            <a:srgbClr val="f59e0b">
              <a:alpha val="90000"/>
            </a:srgbClr>
          </a:solidFill>
          <a:ln w="10160">
            <a:solidFill>
              <a:srgbClr val="f59e0b">
                <a:alpha val="75000"/>
              </a:srgbClr>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320" name="Text 14"/>
          <p:cNvSpPr/>
          <p:nvPr/>
        </p:nvSpPr>
        <p:spPr>
          <a:xfrm>
            <a:off x="3996000" y="1746360"/>
            <a:ext cx="129816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60" spc="-1" strike="noStrike">
                <a:solidFill>
                  <a:srgbClr val="f8fafc"/>
                </a:solidFill>
                <a:latin typeface="Aptos"/>
                <a:ea typeface="Aptos"/>
              </a:rPr>
              <a:t>CV</a:t>
            </a:r>
            <a:endParaRPr b="0" lang="en-GB" sz="760" spc="-1" strike="noStrike">
              <a:solidFill>
                <a:srgbClr val="ffffff"/>
              </a:solidFill>
              <a:latin typeface="Arial"/>
            </a:endParaRPr>
          </a:p>
        </p:txBody>
      </p:sp>
      <p:sp>
        <p:nvSpPr>
          <p:cNvPr id="321" name="Text 15"/>
          <p:cNvSpPr/>
          <p:nvPr/>
        </p:nvSpPr>
        <p:spPr>
          <a:xfrm>
            <a:off x="5385960" y="1764720"/>
            <a:ext cx="10944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 strike="noStrike">
                <a:solidFill>
                  <a:srgbClr val="94a3b8"/>
                </a:solidFill>
                <a:latin typeface="Aptos"/>
                <a:ea typeface="Aptos"/>
              </a:rPr>
              <a:t>→</a:t>
            </a:r>
            <a:endParaRPr b="0" lang="en-GB" sz="1100" spc="-1" strike="noStrike">
              <a:solidFill>
                <a:srgbClr val="ffffff"/>
              </a:solidFill>
              <a:latin typeface="Arial"/>
            </a:endParaRPr>
          </a:p>
        </p:txBody>
      </p:sp>
      <p:sp>
        <p:nvSpPr>
          <p:cNvPr id="322" name="Shape 16"/>
          <p:cNvSpPr/>
          <p:nvPr/>
        </p:nvSpPr>
        <p:spPr>
          <a:xfrm>
            <a:off x="5495400" y="1600200"/>
            <a:ext cx="1444320" cy="566640"/>
          </a:xfrm>
          <a:prstGeom prst="roundRect">
            <a:avLst>
              <a:gd name="adj" fmla="val 12903"/>
            </a:avLst>
          </a:prstGeom>
          <a:solidFill>
            <a:srgbClr val="a78bfa">
              <a:alpha val="90000"/>
            </a:srgbClr>
          </a:solidFill>
          <a:ln w="10160">
            <a:solidFill>
              <a:srgbClr val="a78bfa">
                <a:alpha val="75000"/>
              </a:srgbClr>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323" name="Text 17"/>
          <p:cNvSpPr/>
          <p:nvPr/>
        </p:nvSpPr>
        <p:spPr>
          <a:xfrm>
            <a:off x="5568840" y="1746360"/>
            <a:ext cx="129816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60" spc="-1" strike="noStrike">
                <a:solidFill>
                  <a:srgbClr val="f8fafc"/>
                </a:solidFill>
                <a:latin typeface="Aptos"/>
                <a:ea typeface="Aptos"/>
              </a:rPr>
              <a:t>HPO</a:t>
            </a:r>
            <a:endParaRPr b="0" lang="en-GB" sz="760" spc="-1" strike="noStrike">
              <a:solidFill>
                <a:srgbClr val="ffffff"/>
              </a:solidFill>
              <a:latin typeface="Arial"/>
            </a:endParaRPr>
          </a:p>
        </p:txBody>
      </p:sp>
      <p:sp>
        <p:nvSpPr>
          <p:cNvPr id="324" name="Text 18"/>
          <p:cNvSpPr/>
          <p:nvPr/>
        </p:nvSpPr>
        <p:spPr>
          <a:xfrm>
            <a:off x="6958440" y="1764720"/>
            <a:ext cx="10944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 strike="noStrike">
                <a:solidFill>
                  <a:srgbClr val="94a3b8"/>
                </a:solidFill>
                <a:latin typeface="Aptos"/>
                <a:ea typeface="Aptos"/>
              </a:rPr>
              <a:t>→</a:t>
            </a:r>
            <a:endParaRPr b="0" lang="en-GB" sz="1100" spc="-1" strike="noStrike">
              <a:solidFill>
                <a:srgbClr val="ffffff"/>
              </a:solidFill>
              <a:latin typeface="Arial"/>
            </a:endParaRPr>
          </a:p>
        </p:txBody>
      </p:sp>
      <p:sp>
        <p:nvSpPr>
          <p:cNvPr id="325" name="Shape 19"/>
          <p:cNvSpPr/>
          <p:nvPr/>
        </p:nvSpPr>
        <p:spPr>
          <a:xfrm>
            <a:off x="7068240" y="1600200"/>
            <a:ext cx="1444320" cy="566640"/>
          </a:xfrm>
          <a:prstGeom prst="roundRect">
            <a:avLst>
              <a:gd name="adj" fmla="val 12903"/>
            </a:avLst>
          </a:prstGeom>
          <a:solidFill>
            <a:srgbClr val="f43f5e">
              <a:alpha val="90000"/>
            </a:srgbClr>
          </a:solidFill>
          <a:ln w="10160">
            <a:solidFill>
              <a:srgbClr val="f43f5e">
                <a:alpha val="7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326" name="Text 20"/>
          <p:cNvSpPr/>
          <p:nvPr/>
        </p:nvSpPr>
        <p:spPr>
          <a:xfrm>
            <a:off x="7141320" y="1746360"/>
            <a:ext cx="129816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60" spc="-1" strike="noStrike">
                <a:solidFill>
                  <a:srgbClr val="f8fafc"/>
                </a:solidFill>
                <a:latin typeface="Aptos"/>
                <a:ea typeface="Aptos"/>
              </a:rPr>
              <a:t>Thresholds</a:t>
            </a:r>
            <a:endParaRPr b="0" lang="en-GB" sz="760" spc="-1" strike="noStrike">
              <a:solidFill>
                <a:srgbClr val="ffffff"/>
              </a:solidFill>
              <a:latin typeface="Arial"/>
            </a:endParaRPr>
          </a:p>
        </p:txBody>
      </p:sp>
      <p:sp>
        <p:nvSpPr>
          <p:cNvPr id="327" name="Text 21"/>
          <p:cNvSpPr/>
          <p:nvPr/>
        </p:nvSpPr>
        <p:spPr>
          <a:xfrm>
            <a:off x="8531280" y="1764720"/>
            <a:ext cx="10944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 strike="noStrike">
                <a:solidFill>
                  <a:srgbClr val="94a3b8"/>
                </a:solidFill>
                <a:latin typeface="Aptos"/>
                <a:ea typeface="Aptos"/>
              </a:rPr>
              <a:t>→</a:t>
            </a:r>
            <a:endParaRPr b="0" lang="en-GB" sz="1100" spc="-1" strike="noStrike">
              <a:solidFill>
                <a:srgbClr val="ffffff"/>
              </a:solidFill>
              <a:latin typeface="Arial"/>
            </a:endParaRPr>
          </a:p>
        </p:txBody>
      </p:sp>
      <p:sp>
        <p:nvSpPr>
          <p:cNvPr id="328" name="Shape 22"/>
          <p:cNvSpPr/>
          <p:nvPr/>
        </p:nvSpPr>
        <p:spPr>
          <a:xfrm>
            <a:off x="8641080" y="1600200"/>
            <a:ext cx="1444320" cy="566640"/>
          </a:xfrm>
          <a:prstGeom prst="roundRect">
            <a:avLst>
              <a:gd name="adj" fmla="val 12903"/>
            </a:avLst>
          </a:prstGeom>
          <a:solidFill>
            <a:srgbClr val="38bdf8">
              <a:alpha val="90000"/>
            </a:srgbClr>
          </a:solidFill>
          <a:ln w="10160">
            <a:solidFill>
              <a:srgbClr val="38bdf8">
                <a:alpha val="7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329" name="Text 23"/>
          <p:cNvSpPr/>
          <p:nvPr/>
        </p:nvSpPr>
        <p:spPr>
          <a:xfrm>
            <a:off x="8714160" y="1746360"/>
            <a:ext cx="129816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60" spc="-1" strike="noStrike">
                <a:solidFill>
                  <a:srgbClr val="f8fafc"/>
                </a:solidFill>
                <a:latin typeface="Aptos"/>
                <a:ea typeface="Aptos"/>
              </a:rPr>
              <a:t>Ensembles</a:t>
            </a:r>
            <a:endParaRPr b="0" lang="en-GB" sz="760" spc="-1" strike="noStrike">
              <a:solidFill>
                <a:srgbClr val="ffffff"/>
              </a:solidFill>
              <a:latin typeface="Arial"/>
            </a:endParaRPr>
          </a:p>
        </p:txBody>
      </p:sp>
      <p:sp>
        <p:nvSpPr>
          <p:cNvPr id="330" name="Text 24"/>
          <p:cNvSpPr/>
          <p:nvPr/>
        </p:nvSpPr>
        <p:spPr>
          <a:xfrm>
            <a:off x="10104120" y="1764720"/>
            <a:ext cx="10944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 strike="noStrike">
                <a:solidFill>
                  <a:srgbClr val="94a3b8"/>
                </a:solidFill>
                <a:latin typeface="Aptos"/>
                <a:ea typeface="Aptos"/>
              </a:rPr>
              <a:t>→</a:t>
            </a:r>
            <a:endParaRPr b="0" lang="en-GB" sz="1100" spc="-1" strike="noStrike">
              <a:solidFill>
                <a:srgbClr val="ffffff"/>
              </a:solidFill>
              <a:latin typeface="Arial"/>
            </a:endParaRPr>
          </a:p>
        </p:txBody>
      </p:sp>
      <p:sp>
        <p:nvSpPr>
          <p:cNvPr id="331" name="Shape 25"/>
          <p:cNvSpPr/>
          <p:nvPr/>
        </p:nvSpPr>
        <p:spPr>
          <a:xfrm>
            <a:off x="10213920" y="1600200"/>
            <a:ext cx="1444320" cy="566640"/>
          </a:xfrm>
          <a:prstGeom prst="roundRect">
            <a:avLst>
              <a:gd name="adj" fmla="val 12903"/>
            </a:avLst>
          </a:prstGeom>
          <a:solidFill>
            <a:srgbClr val="22c55e">
              <a:alpha val="90000"/>
            </a:srgbClr>
          </a:solidFill>
          <a:ln w="10160">
            <a:solidFill>
              <a:srgbClr val="22c55e">
                <a:alpha val="7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332" name="Text 26"/>
          <p:cNvSpPr/>
          <p:nvPr/>
        </p:nvSpPr>
        <p:spPr>
          <a:xfrm>
            <a:off x="10287000" y="1746360"/>
            <a:ext cx="129816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60" spc="-1" strike="noStrike">
                <a:solidFill>
                  <a:srgbClr val="f8fafc"/>
                </a:solidFill>
                <a:latin typeface="Aptos"/>
                <a:ea typeface="Aptos"/>
              </a:rPr>
              <a:t>Robustness</a:t>
            </a:r>
            <a:endParaRPr b="0" lang="en-GB" sz="760" spc="-1" strike="noStrike">
              <a:solidFill>
                <a:srgbClr val="ffffff"/>
              </a:solidFill>
              <a:latin typeface="Arial"/>
            </a:endParaRPr>
          </a:p>
        </p:txBody>
      </p:sp>
      <p:sp>
        <p:nvSpPr>
          <p:cNvPr id="333" name="Shape 27"/>
          <p:cNvSpPr/>
          <p:nvPr/>
        </p:nvSpPr>
        <p:spPr>
          <a:xfrm>
            <a:off x="777240" y="2743200"/>
            <a:ext cx="5486040" cy="2477520"/>
          </a:xfrm>
          <a:prstGeom prst="roundRect">
            <a:avLst>
              <a:gd name="adj" fmla="val 2952"/>
            </a:avLst>
          </a:prstGeom>
          <a:solidFill>
            <a:srgbClr val="0b1a2e"/>
          </a:solidFill>
          <a:ln w="1016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334" name="Shape 28"/>
          <p:cNvSpPr/>
          <p:nvPr/>
        </p:nvSpPr>
        <p:spPr>
          <a:xfrm>
            <a:off x="777240" y="2743200"/>
            <a:ext cx="1828440" cy="292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335" name="Text 29"/>
          <p:cNvSpPr/>
          <p:nvPr/>
        </p:nvSpPr>
        <p:spPr>
          <a:xfrm>
            <a:off x="804600" y="2816280"/>
            <a:ext cx="177372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20" spc="-1" strike="noStrike">
                <a:solidFill>
                  <a:srgbClr val="f8fafc"/>
                </a:solidFill>
                <a:latin typeface="Aptos"/>
                <a:ea typeface="Aptos"/>
              </a:rPr>
              <a:t>Model family</a:t>
            </a:r>
            <a:endParaRPr b="0" lang="en-GB" sz="720" spc="-1" strike="noStrike">
              <a:solidFill>
                <a:srgbClr val="ffffff"/>
              </a:solidFill>
              <a:latin typeface="Arial"/>
            </a:endParaRPr>
          </a:p>
        </p:txBody>
      </p:sp>
      <p:sp>
        <p:nvSpPr>
          <p:cNvPr id="336" name="Shape 30"/>
          <p:cNvSpPr/>
          <p:nvPr/>
        </p:nvSpPr>
        <p:spPr>
          <a:xfrm>
            <a:off x="2606040" y="2743200"/>
            <a:ext cx="3657240" cy="292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337" name="Text 31"/>
          <p:cNvSpPr/>
          <p:nvPr/>
        </p:nvSpPr>
        <p:spPr>
          <a:xfrm>
            <a:off x="2633400" y="2816280"/>
            <a:ext cx="360252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20" spc="-1" strike="noStrike">
                <a:solidFill>
                  <a:srgbClr val="f8fafc"/>
                </a:solidFill>
                <a:latin typeface="Aptos"/>
                <a:ea typeface="Aptos"/>
              </a:rPr>
              <a:t>Examples used</a:t>
            </a:r>
            <a:endParaRPr b="0" lang="en-GB" sz="720" spc="-1" strike="noStrike">
              <a:solidFill>
                <a:srgbClr val="ffffff"/>
              </a:solidFill>
              <a:latin typeface="Arial"/>
            </a:endParaRPr>
          </a:p>
        </p:txBody>
      </p:sp>
      <p:sp>
        <p:nvSpPr>
          <p:cNvPr id="338" name="Shape 32"/>
          <p:cNvSpPr/>
          <p:nvPr/>
        </p:nvSpPr>
        <p:spPr>
          <a:xfrm>
            <a:off x="777240" y="3035880"/>
            <a:ext cx="1828440" cy="35640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339" name="Text 33"/>
          <p:cNvSpPr/>
          <p:nvPr/>
        </p:nvSpPr>
        <p:spPr>
          <a:xfrm>
            <a:off x="804600" y="3108960"/>
            <a:ext cx="177372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720" spc="-1" strike="noStrike">
                <a:solidFill>
                  <a:srgbClr val="f8fafc"/>
                </a:solidFill>
                <a:latin typeface="Aptos"/>
                <a:ea typeface="Aptos"/>
              </a:rPr>
              <a:t>Linear models</a:t>
            </a:r>
            <a:endParaRPr b="0" lang="en-GB" sz="720" spc="-1" strike="noStrike">
              <a:solidFill>
                <a:srgbClr val="ffffff"/>
              </a:solidFill>
              <a:latin typeface="Arial"/>
            </a:endParaRPr>
          </a:p>
        </p:txBody>
      </p:sp>
      <p:sp>
        <p:nvSpPr>
          <p:cNvPr id="340" name="Shape 34"/>
          <p:cNvSpPr/>
          <p:nvPr/>
        </p:nvSpPr>
        <p:spPr>
          <a:xfrm>
            <a:off x="2606040" y="3035880"/>
            <a:ext cx="3657240" cy="35640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341" name="Text 35"/>
          <p:cNvSpPr/>
          <p:nvPr/>
        </p:nvSpPr>
        <p:spPr>
          <a:xfrm>
            <a:off x="2633400" y="3108960"/>
            <a:ext cx="3602520" cy="292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20" spc="-1" strike="noStrike">
                <a:solidFill>
                  <a:srgbClr val="f8fafc"/>
                </a:solidFill>
                <a:latin typeface="Aptos"/>
                <a:ea typeface="Aptos"/>
              </a:rPr>
              <a:t>Logistic Regression; baseline LR; tuned LR</a:t>
            </a:r>
            <a:endParaRPr b="0" lang="en-GB" sz="720" spc="-1" strike="noStrike">
              <a:solidFill>
                <a:srgbClr val="ffffff"/>
              </a:solidFill>
              <a:latin typeface="Arial"/>
            </a:endParaRPr>
          </a:p>
        </p:txBody>
      </p:sp>
      <p:sp>
        <p:nvSpPr>
          <p:cNvPr id="342" name="Shape 36"/>
          <p:cNvSpPr/>
          <p:nvPr/>
        </p:nvSpPr>
        <p:spPr>
          <a:xfrm>
            <a:off x="777240" y="3392280"/>
            <a:ext cx="1828440" cy="35640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343" name="Text 37"/>
          <p:cNvSpPr/>
          <p:nvPr/>
        </p:nvSpPr>
        <p:spPr>
          <a:xfrm>
            <a:off x="804600" y="3465720"/>
            <a:ext cx="177372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720" spc="-1" strike="noStrike">
                <a:solidFill>
                  <a:srgbClr val="f8fafc"/>
                </a:solidFill>
                <a:latin typeface="Aptos"/>
                <a:ea typeface="Aptos"/>
              </a:rPr>
              <a:t>Tree models</a:t>
            </a:r>
            <a:endParaRPr b="0" lang="en-GB" sz="720" spc="-1" strike="noStrike">
              <a:solidFill>
                <a:srgbClr val="ffffff"/>
              </a:solidFill>
              <a:latin typeface="Arial"/>
            </a:endParaRPr>
          </a:p>
        </p:txBody>
      </p:sp>
      <p:sp>
        <p:nvSpPr>
          <p:cNvPr id="344" name="Shape 38"/>
          <p:cNvSpPr/>
          <p:nvPr/>
        </p:nvSpPr>
        <p:spPr>
          <a:xfrm>
            <a:off x="2606040" y="3392280"/>
            <a:ext cx="3657240" cy="35640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345" name="Text 39"/>
          <p:cNvSpPr/>
          <p:nvPr/>
        </p:nvSpPr>
        <p:spPr>
          <a:xfrm>
            <a:off x="2633400" y="3465720"/>
            <a:ext cx="3602520" cy="292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20" spc="-1" strike="noStrike">
                <a:solidFill>
                  <a:srgbClr val="f8fafc"/>
                </a:solidFill>
                <a:latin typeface="Aptos"/>
                <a:ea typeface="Aptos"/>
              </a:rPr>
              <a:t>Decision Tree, Random Forest, XGBoost</a:t>
            </a:r>
            <a:endParaRPr b="0" lang="en-GB" sz="720" spc="-1" strike="noStrike">
              <a:solidFill>
                <a:srgbClr val="ffffff"/>
              </a:solidFill>
              <a:latin typeface="Arial"/>
            </a:endParaRPr>
          </a:p>
        </p:txBody>
      </p:sp>
      <p:sp>
        <p:nvSpPr>
          <p:cNvPr id="346" name="Shape 40"/>
          <p:cNvSpPr/>
          <p:nvPr/>
        </p:nvSpPr>
        <p:spPr>
          <a:xfrm>
            <a:off x="777240" y="3749040"/>
            <a:ext cx="1828440" cy="35640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347" name="Text 41"/>
          <p:cNvSpPr/>
          <p:nvPr/>
        </p:nvSpPr>
        <p:spPr>
          <a:xfrm>
            <a:off x="804600" y="3822120"/>
            <a:ext cx="177372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720" spc="-1" strike="noStrike">
                <a:solidFill>
                  <a:srgbClr val="f8fafc"/>
                </a:solidFill>
                <a:latin typeface="Aptos"/>
                <a:ea typeface="Aptos"/>
              </a:rPr>
              <a:t>Kernel / distance</a:t>
            </a:r>
            <a:endParaRPr b="0" lang="en-GB" sz="720" spc="-1" strike="noStrike">
              <a:solidFill>
                <a:srgbClr val="ffffff"/>
              </a:solidFill>
              <a:latin typeface="Arial"/>
            </a:endParaRPr>
          </a:p>
        </p:txBody>
      </p:sp>
      <p:sp>
        <p:nvSpPr>
          <p:cNvPr id="348" name="Shape 42"/>
          <p:cNvSpPr/>
          <p:nvPr/>
        </p:nvSpPr>
        <p:spPr>
          <a:xfrm>
            <a:off x="2606040" y="3749040"/>
            <a:ext cx="3657240" cy="35640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349" name="Text 43"/>
          <p:cNvSpPr/>
          <p:nvPr/>
        </p:nvSpPr>
        <p:spPr>
          <a:xfrm>
            <a:off x="2633400" y="3822120"/>
            <a:ext cx="3602520" cy="292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20" spc="-1" strike="noStrike">
                <a:solidFill>
                  <a:srgbClr val="f8fafc"/>
                </a:solidFill>
                <a:latin typeface="Aptos"/>
                <a:ea typeface="Aptos"/>
              </a:rPr>
              <a:t>SVM, KNN</a:t>
            </a:r>
            <a:endParaRPr b="0" lang="en-GB" sz="720" spc="-1" strike="noStrike">
              <a:solidFill>
                <a:srgbClr val="ffffff"/>
              </a:solidFill>
              <a:latin typeface="Arial"/>
            </a:endParaRPr>
          </a:p>
        </p:txBody>
      </p:sp>
      <p:sp>
        <p:nvSpPr>
          <p:cNvPr id="350" name="Shape 44"/>
          <p:cNvSpPr/>
          <p:nvPr/>
        </p:nvSpPr>
        <p:spPr>
          <a:xfrm>
            <a:off x="777240" y="4105800"/>
            <a:ext cx="1828440" cy="35640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351" name="Text 45"/>
          <p:cNvSpPr/>
          <p:nvPr/>
        </p:nvSpPr>
        <p:spPr>
          <a:xfrm>
            <a:off x="804600" y="4178880"/>
            <a:ext cx="177372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720" spc="-1" strike="noStrike">
                <a:solidFill>
                  <a:srgbClr val="f8fafc"/>
                </a:solidFill>
                <a:latin typeface="Aptos"/>
                <a:ea typeface="Aptos"/>
              </a:rPr>
              <a:t>Probabilistic</a:t>
            </a:r>
            <a:endParaRPr b="0" lang="en-GB" sz="720" spc="-1" strike="noStrike">
              <a:solidFill>
                <a:srgbClr val="ffffff"/>
              </a:solidFill>
              <a:latin typeface="Arial"/>
            </a:endParaRPr>
          </a:p>
        </p:txBody>
      </p:sp>
      <p:sp>
        <p:nvSpPr>
          <p:cNvPr id="352" name="Shape 46"/>
          <p:cNvSpPr/>
          <p:nvPr/>
        </p:nvSpPr>
        <p:spPr>
          <a:xfrm>
            <a:off x="2606040" y="4105800"/>
            <a:ext cx="3657240" cy="35640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353" name="Text 47"/>
          <p:cNvSpPr/>
          <p:nvPr/>
        </p:nvSpPr>
        <p:spPr>
          <a:xfrm>
            <a:off x="2633400" y="4178880"/>
            <a:ext cx="3602520" cy="292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20" spc="-1" strike="noStrike">
                <a:solidFill>
                  <a:srgbClr val="f8fafc"/>
                </a:solidFill>
                <a:latin typeface="Aptos"/>
                <a:ea typeface="Aptos"/>
              </a:rPr>
              <a:t>Naive Bayes</a:t>
            </a:r>
            <a:endParaRPr b="0" lang="en-GB" sz="720" spc="-1" strike="noStrike">
              <a:solidFill>
                <a:srgbClr val="ffffff"/>
              </a:solidFill>
              <a:latin typeface="Arial"/>
            </a:endParaRPr>
          </a:p>
        </p:txBody>
      </p:sp>
      <p:sp>
        <p:nvSpPr>
          <p:cNvPr id="354" name="Shape 48"/>
          <p:cNvSpPr/>
          <p:nvPr/>
        </p:nvSpPr>
        <p:spPr>
          <a:xfrm>
            <a:off x="777240" y="4462200"/>
            <a:ext cx="1828440" cy="35640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355" name="Text 49"/>
          <p:cNvSpPr/>
          <p:nvPr/>
        </p:nvSpPr>
        <p:spPr>
          <a:xfrm>
            <a:off x="804600" y="4535280"/>
            <a:ext cx="177372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720" spc="-1" strike="noStrike">
                <a:solidFill>
                  <a:srgbClr val="f8fafc"/>
                </a:solidFill>
                <a:latin typeface="Aptos"/>
                <a:ea typeface="Aptos"/>
              </a:rPr>
              <a:t>Ensembles</a:t>
            </a:r>
            <a:endParaRPr b="0" lang="en-GB" sz="720" spc="-1" strike="noStrike">
              <a:solidFill>
                <a:srgbClr val="ffffff"/>
              </a:solidFill>
              <a:latin typeface="Arial"/>
            </a:endParaRPr>
          </a:p>
        </p:txBody>
      </p:sp>
      <p:sp>
        <p:nvSpPr>
          <p:cNvPr id="356" name="Shape 50"/>
          <p:cNvSpPr/>
          <p:nvPr/>
        </p:nvSpPr>
        <p:spPr>
          <a:xfrm>
            <a:off x="2606040" y="4462200"/>
            <a:ext cx="3657240" cy="35640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357" name="Text 51"/>
          <p:cNvSpPr/>
          <p:nvPr/>
        </p:nvSpPr>
        <p:spPr>
          <a:xfrm>
            <a:off x="2633400" y="4535280"/>
            <a:ext cx="3602520" cy="292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20" spc="-1" strike="noStrike">
                <a:solidFill>
                  <a:srgbClr val="f8fafc"/>
                </a:solidFill>
                <a:latin typeface="Aptos"/>
                <a:ea typeface="Aptos"/>
              </a:rPr>
              <a:t>Soft Voting, Hard Voting, Stacking</a:t>
            </a:r>
            <a:endParaRPr b="0" lang="en-GB" sz="720" spc="-1" strike="noStrike">
              <a:solidFill>
                <a:srgbClr val="ffffff"/>
              </a:solidFill>
              <a:latin typeface="Arial"/>
            </a:endParaRPr>
          </a:p>
        </p:txBody>
      </p:sp>
      <p:sp>
        <p:nvSpPr>
          <p:cNvPr id="358" name="Shape 52"/>
          <p:cNvSpPr/>
          <p:nvPr/>
        </p:nvSpPr>
        <p:spPr>
          <a:xfrm>
            <a:off x="777240" y="4818960"/>
            <a:ext cx="1828440" cy="35640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359" name="Text 53"/>
          <p:cNvSpPr/>
          <p:nvPr/>
        </p:nvSpPr>
        <p:spPr>
          <a:xfrm>
            <a:off x="804600" y="4892040"/>
            <a:ext cx="177372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720" spc="-1" strike="noStrike">
                <a:solidFill>
                  <a:srgbClr val="f8fafc"/>
                </a:solidFill>
                <a:latin typeface="Aptos"/>
                <a:ea typeface="Aptos"/>
              </a:rPr>
              <a:t>Robustness models</a:t>
            </a:r>
            <a:endParaRPr b="0" lang="en-GB" sz="720" spc="-1" strike="noStrike">
              <a:solidFill>
                <a:srgbClr val="ffffff"/>
              </a:solidFill>
              <a:latin typeface="Arial"/>
            </a:endParaRPr>
          </a:p>
        </p:txBody>
      </p:sp>
      <p:sp>
        <p:nvSpPr>
          <p:cNvPr id="360" name="Shape 54"/>
          <p:cNvSpPr/>
          <p:nvPr/>
        </p:nvSpPr>
        <p:spPr>
          <a:xfrm>
            <a:off x="2606040" y="4818960"/>
            <a:ext cx="3657240" cy="35640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361" name="Text 55"/>
          <p:cNvSpPr/>
          <p:nvPr/>
        </p:nvSpPr>
        <p:spPr>
          <a:xfrm>
            <a:off x="2633400" y="4892040"/>
            <a:ext cx="3602520" cy="292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20" spc="-1" strike="noStrike">
                <a:solidFill>
                  <a:srgbClr val="f8fafc"/>
                </a:solidFill>
                <a:latin typeface="Aptos"/>
                <a:ea typeface="Aptos"/>
              </a:rPr>
              <a:t>Adversarial LR/RF trained on 15% noisy labels</a:t>
            </a:r>
            <a:endParaRPr b="0" lang="en-GB" sz="720" spc="-1" strike="noStrike">
              <a:solidFill>
                <a:srgbClr val="ffffff"/>
              </a:solidFill>
              <a:latin typeface="Arial"/>
            </a:endParaRPr>
          </a:p>
        </p:txBody>
      </p:sp>
      <p:sp>
        <p:nvSpPr>
          <p:cNvPr id="362" name="Shape 56"/>
          <p:cNvSpPr/>
          <p:nvPr/>
        </p:nvSpPr>
        <p:spPr>
          <a:xfrm>
            <a:off x="6629400" y="2706480"/>
            <a:ext cx="4388760" cy="1005480"/>
          </a:xfrm>
          <a:prstGeom prst="roundRect">
            <a:avLst>
              <a:gd name="adj" fmla="val 10909"/>
            </a:avLst>
          </a:prstGeom>
          <a:solidFill>
            <a:srgbClr val="10243d"/>
          </a:solidFill>
          <a:ln w="10160">
            <a:solidFill>
              <a:srgbClr val="334155">
                <a:alpha val="6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363" name="Text 57"/>
          <p:cNvSpPr/>
          <p:nvPr/>
        </p:nvSpPr>
        <p:spPr>
          <a:xfrm>
            <a:off x="6793920" y="2853000"/>
            <a:ext cx="4059720" cy="209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00" spc="-1" strike="noStrike">
                <a:solidFill>
                  <a:srgbClr val="f59e0b"/>
                </a:solidFill>
                <a:latin typeface="Aptos"/>
                <a:ea typeface="Aptos"/>
              </a:rPr>
              <a:t>Linear Regression checkpoint</a:t>
            </a:r>
            <a:endParaRPr b="0" lang="en-GB" sz="900" spc="-1" strike="noStrike">
              <a:solidFill>
                <a:srgbClr val="ffffff"/>
              </a:solidFill>
              <a:latin typeface="Arial"/>
            </a:endParaRPr>
          </a:p>
        </p:txBody>
      </p:sp>
      <p:sp>
        <p:nvSpPr>
          <p:cNvPr id="364" name="Text 58"/>
          <p:cNvSpPr/>
          <p:nvPr/>
        </p:nvSpPr>
        <p:spPr>
          <a:xfrm>
            <a:off x="6793920" y="3154680"/>
            <a:ext cx="4059720" cy="411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1" strike="noStrike">
                <a:solidFill>
                  <a:srgbClr val="f8fafc"/>
                </a:solidFill>
                <a:latin typeface="Aptos"/>
                <a:ea typeface="Aptos"/>
              </a:rPr>
              <a:t>The notebook target is binary mortality (LET_IS). Therefore classic Linear Regression and regression metrics such as R², MAE, MSE, and RMSE are not the correct primary evaluation tools.</a:t>
            </a:r>
            <a:endParaRPr b="0" lang="en-GB" sz="850" spc="-1" strike="noStrike">
              <a:solidFill>
                <a:srgbClr val="ffffff"/>
              </a:solidFill>
              <a:latin typeface="Arial"/>
            </a:endParaRPr>
          </a:p>
        </p:txBody>
      </p:sp>
      <p:sp>
        <p:nvSpPr>
          <p:cNvPr id="365" name="Shape 59"/>
          <p:cNvSpPr/>
          <p:nvPr/>
        </p:nvSpPr>
        <p:spPr>
          <a:xfrm>
            <a:off x="6629400" y="3977640"/>
            <a:ext cx="4388760" cy="1005480"/>
          </a:xfrm>
          <a:prstGeom prst="roundRect">
            <a:avLst>
              <a:gd name="adj" fmla="val 10909"/>
            </a:avLst>
          </a:prstGeom>
          <a:solidFill>
            <a:srgbClr val="10243d"/>
          </a:solidFill>
          <a:ln w="10160">
            <a:solidFill>
              <a:srgbClr val="334155">
                <a:alpha val="6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366" name="Text 60"/>
          <p:cNvSpPr/>
          <p:nvPr/>
        </p:nvSpPr>
        <p:spPr>
          <a:xfrm>
            <a:off x="6793920" y="4123800"/>
            <a:ext cx="4059720" cy="209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00" spc="-1" strike="noStrike">
                <a:solidFill>
                  <a:srgbClr val="14b8a6"/>
                </a:solidFill>
                <a:latin typeface="Aptos"/>
                <a:ea typeface="Aptos"/>
              </a:rPr>
              <a:t>Correct alternative</a:t>
            </a:r>
            <a:endParaRPr b="0" lang="en-GB" sz="900" spc="-1" strike="noStrike">
              <a:solidFill>
                <a:srgbClr val="ffffff"/>
              </a:solidFill>
              <a:latin typeface="Arial"/>
            </a:endParaRPr>
          </a:p>
        </p:txBody>
      </p:sp>
      <p:sp>
        <p:nvSpPr>
          <p:cNvPr id="367" name="Text 61"/>
          <p:cNvSpPr/>
          <p:nvPr/>
        </p:nvSpPr>
        <p:spPr>
          <a:xfrm>
            <a:off x="6793920" y="4425840"/>
            <a:ext cx="4059720" cy="411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1" strike="noStrike">
                <a:solidFill>
                  <a:srgbClr val="f8fafc"/>
                </a:solidFill>
                <a:latin typeface="Aptos"/>
                <a:ea typeface="Aptos"/>
              </a:rPr>
              <a:t>Logistic Regression was used as the interpretable linear classifier, while Precision, Recall, F1-score, ROC-AUC, and confusion matrices were used for evaluation.</a:t>
            </a:r>
            <a:endParaRPr b="0" lang="en-GB" sz="850" spc="-1" strike="noStrike">
              <a:solidFill>
                <a:srgbClr val="ffffff"/>
              </a:solidFill>
              <a:latin typeface="Arial"/>
            </a:endParaRPr>
          </a:p>
        </p:txBody>
      </p:sp>
      <p:sp>
        <p:nvSpPr>
          <p:cNvPr id="368" name="Shape 62"/>
          <p:cNvSpPr/>
          <p:nvPr/>
        </p:nvSpPr>
        <p:spPr>
          <a:xfrm>
            <a:off x="502920" y="6555960"/>
            <a:ext cx="11201400" cy="360"/>
          </a:xfrm>
          <a:prstGeom prst="line">
            <a:avLst/>
          </a:prstGeom>
          <a:ln w="7620">
            <a:solidFill>
              <a:srgbClr val="334155">
                <a:alpha val="60000"/>
              </a:srgbClr>
            </a:solidFill>
            <a:round/>
          </a:ln>
        </p:spPr>
        <p:style>
          <a:lnRef idx="0"/>
          <a:fillRef idx="0"/>
          <a:effectRef idx="0"/>
          <a:fontRef idx="minor"/>
        </p:style>
        <p:txBody>
          <a:bodyPr lIns="90000" rIns="90000" tIns="-44640" bIns="-44640" anchor="t" anchorCtr="1">
            <a:noAutofit/>
          </a:bodyPr>
          <a:p>
            <a:endParaRPr b="0" lang="en-GB" sz="1800" spc="-1" strike="noStrike">
              <a:solidFill>
                <a:srgbClr val="ffffff"/>
              </a:solidFill>
              <a:latin typeface="Arial"/>
            </a:endParaRPr>
          </a:p>
        </p:txBody>
      </p:sp>
      <p:sp>
        <p:nvSpPr>
          <p:cNvPr id="369" name="Text 63"/>
          <p:cNvSpPr/>
          <p:nvPr/>
        </p:nvSpPr>
        <p:spPr>
          <a:xfrm>
            <a:off x="530280" y="6602040"/>
            <a:ext cx="6217560" cy="145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650" spc="-1" strike="noStrike">
                <a:solidFill>
                  <a:srgbClr val="94a3b8"/>
                </a:solidFill>
                <a:latin typeface="Aptos"/>
                <a:ea typeface="Aptos"/>
              </a:rPr>
              <a:t>Clinical Outcome Prediction • Myocardial Infarction Complications</a:t>
            </a:r>
            <a:endParaRPr b="0" lang="en-GB" sz="650" spc="-1" strike="noStrike">
              <a:solidFill>
                <a:srgbClr val="ffffff"/>
              </a:solidFill>
              <a:latin typeface="Arial"/>
            </a:endParaRPr>
          </a:p>
        </p:txBody>
      </p:sp>
      <p:sp>
        <p:nvSpPr>
          <p:cNvPr id="370" name="Text 64"/>
          <p:cNvSpPr/>
          <p:nvPr/>
        </p:nvSpPr>
        <p:spPr>
          <a:xfrm>
            <a:off x="11201400" y="6565320"/>
            <a:ext cx="502560" cy="2282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750" spc="-1" strike="noStrike">
                <a:solidFill>
                  <a:srgbClr val="94a3b8"/>
                </a:solidFill>
                <a:latin typeface="Aptos"/>
                <a:ea typeface="Aptos"/>
              </a:rPr>
              <a:t>07</a:t>
            </a:r>
            <a:endParaRPr b="0" lang="en-GB" sz="7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01f"/>
        </a:solidFill>
      </p:bgPr>
    </p:bg>
    <p:spTree>
      <p:nvGrpSpPr>
        <p:cNvPr id="1" name=""/>
        <p:cNvGrpSpPr/>
        <p:nvPr/>
      </p:nvGrpSpPr>
      <p:grpSpPr>
        <a:xfrm>
          <a:off x="0" y="0"/>
          <a:ext cx="0" cy="0"/>
          <a:chOff x="0" y="0"/>
          <a:chExt cx="0" cy="0"/>
        </a:xfrm>
      </p:grpSpPr>
      <p:sp>
        <p:nvSpPr>
          <p:cNvPr id="371" name="Shape 0"/>
          <p:cNvSpPr/>
          <p:nvPr/>
        </p:nvSpPr>
        <p:spPr>
          <a:xfrm>
            <a:off x="0" y="0"/>
            <a:ext cx="12191400" cy="6857640"/>
          </a:xfrm>
          <a:prstGeom prst="rect">
            <a:avLst/>
          </a:prstGeom>
          <a:solidFill>
            <a:srgbClr val="06101f"/>
          </a:solidFill>
          <a:ln w="12700">
            <a:solidFill>
              <a:srgbClr val="06101f"/>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372" name="Shape 1"/>
          <p:cNvSpPr/>
          <p:nvPr/>
        </p:nvSpPr>
        <p:spPr>
          <a:xfrm>
            <a:off x="0" y="0"/>
            <a:ext cx="12191400" cy="6857640"/>
          </a:xfrm>
          <a:prstGeom prst="rect">
            <a:avLst/>
          </a:prstGeom>
          <a:solidFill>
            <a:srgbClr val="081629">
              <a:alpha val="85000"/>
            </a:srgbClr>
          </a:solidFill>
          <a:ln w="12700">
            <a:solidFill>
              <a:srgbClr val="081629">
                <a:alpha val="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373" name="Shape 2"/>
          <p:cNvSpPr/>
          <p:nvPr/>
        </p:nvSpPr>
        <p:spPr>
          <a:xfrm>
            <a:off x="-1554480" y="-1737360"/>
            <a:ext cx="5486040" cy="5486040"/>
          </a:xfrm>
          <a:prstGeom prst="arc">
            <a:avLst>
              <a:gd name="adj1" fmla="val 16200000"/>
              <a:gd name="adj2" fmla="val 0"/>
            </a:avLst>
          </a:prstGeom>
          <a:noFill/>
          <a:ln w="13970">
            <a:solidFill>
              <a:srgbClr val="14b8a6">
                <a:alpha val="3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374" name="Shape 3"/>
          <p:cNvSpPr/>
          <p:nvPr/>
        </p:nvSpPr>
        <p:spPr>
          <a:xfrm>
            <a:off x="7680960" y="3840480"/>
            <a:ext cx="5486040" cy="5486040"/>
          </a:xfrm>
          <a:prstGeom prst="arc">
            <a:avLst>
              <a:gd name="adj1" fmla="val 16200000"/>
              <a:gd name="adj2" fmla="val 0"/>
            </a:avLst>
          </a:prstGeom>
          <a:noFill/>
          <a:ln w="12700">
            <a:solidFill>
              <a:srgbClr val="f59e0b">
                <a:alpha val="22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375" name="Text 4"/>
          <p:cNvSpPr/>
          <p:nvPr/>
        </p:nvSpPr>
        <p:spPr>
          <a:xfrm>
            <a:off x="567000" y="347400"/>
            <a:ext cx="594324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50" spc="-1" strike="noStrike">
                <a:solidFill>
                  <a:srgbClr val="14b8a6"/>
                </a:solidFill>
                <a:latin typeface="Aptos"/>
                <a:ea typeface="Aptos"/>
              </a:rPr>
              <a:t>PHASE 3 BENCHMARK</a:t>
            </a:r>
            <a:endParaRPr b="0" lang="en-GB" sz="850" spc="-1" strike="noStrike">
              <a:solidFill>
                <a:srgbClr val="ffffff"/>
              </a:solidFill>
              <a:latin typeface="Arial"/>
            </a:endParaRPr>
          </a:p>
        </p:txBody>
      </p:sp>
      <p:sp>
        <p:nvSpPr>
          <p:cNvPr id="376" name="Text 5"/>
          <p:cNvSpPr/>
          <p:nvPr/>
        </p:nvSpPr>
        <p:spPr>
          <a:xfrm>
            <a:off x="548640" y="658440"/>
            <a:ext cx="10926720" cy="5940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400" spc="-1" strike="noStrike">
                <a:solidFill>
                  <a:srgbClr val="f8fafc"/>
                </a:solidFill>
                <a:latin typeface="Aptos Display"/>
                <a:ea typeface="Aptos Display"/>
              </a:rPr>
              <a:t>Initial validation results across 7 classifiers</a:t>
            </a:r>
            <a:endParaRPr b="0" lang="en-GB" sz="2400" spc="-1" strike="noStrike">
              <a:solidFill>
                <a:srgbClr val="ffffff"/>
              </a:solidFill>
              <a:latin typeface="Arial"/>
            </a:endParaRPr>
          </a:p>
        </p:txBody>
      </p:sp>
      <p:sp>
        <p:nvSpPr>
          <p:cNvPr id="377" name="Text 6"/>
          <p:cNvSpPr/>
          <p:nvPr/>
        </p:nvSpPr>
        <p:spPr>
          <a:xfrm>
            <a:off x="567000" y="1216080"/>
            <a:ext cx="1051524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50" spc="-1" strike="noStrike">
                <a:solidFill>
                  <a:srgbClr val="94a3b8"/>
                </a:solidFill>
                <a:latin typeface="Aptos"/>
                <a:ea typeface="Aptos"/>
              </a:rPr>
              <a:t>The first full benchmark shows that model quality depends on the metric chosen.</a:t>
            </a:r>
            <a:endParaRPr b="0" lang="en-GB" sz="1050" spc="-1" strike="noStrike">
              <a:solidFill>
                <a:srgbClr val="ffffff"/>
              </a:solidFill>
              <a:latin typeface="Arial"/>
            </a:endParaRPr>
          </a:p>
        </p:txBody>
      </p:sp>
      <p:sp>
        <p:nvSpPr>
          <p:cNvPr id="378" name="Shape 7"/>
          <p:cNvSpPr/>
          <p:nvPr/>
        </p:nvSpPr>
        <p:spPr>
          <a:xfrm>
            <a:off x="457200" y="1600200"/>
            <a:ext cx="7406280" cy="2642400"/>
          </a:xfrm>
          <a:prstGeom prst="roundRect">
            <a:avLst>
              <a:gd name="adj" fmla="val 2768"/>
            </a:avLst>
          </a:prstGeom>
          <a:solidFill>
            <a:srgbClr val="0b1a2e"/>
          </a:solidFill>
          <a:ln w="1016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379" name="Shape 8"/>
          <p:cNvSpPr/>
          <p:nvPr/>
        </p:nvSpPr>
        <p:spPr>
          <a:xfrm>
            <a:off x="457200" y="1600200"/>
            <a:ext cx="2011320" cy="292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380" name="Text 9"/>
          <p:cNvSpPr/>
          <p:nvPr/>
        </p:nvSpPr>
        <p:spPr>
          <a:xfrm>
            <a:off x="484560" y="1673280"/>
            <a:ext cx="195660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00" spc="-1" strike="noStrike">
                <a:solidFill>
                  <a:srgbClr val="f8fafc"/>
                </a:solidFill>
                <a:latin typeface="Aptos"/>
                <a:ea typeface="Aptos"/>
              </a:rPr>
              <a:t>Model</a:t>
            </a:r>
            <a:endParaRPr b="0" lang="en-GB" sz="700" spc="-1" strike="noStrike">
              <a:solidFill>
                <a:srgbClr val="ffffff"/>
              </a:solidFill>
              <a:latin typeface="Arial"/>
            </a:endParaRPr>
          </a:p>
        </p:txBody>
      </p:sp>
      <p:sp>
        <p:nvSpPr>
          <p:cNvPr id="381" name="Shape 10"/>
          <p:cNvSpPr/>
          <p:nvPr/>
        </p:nvSpPr>
        <p:spPr>
          <a:xfrm>
            <a:off x="2468880" y="1600200"/>
            <a:ext cx="959760" cy="292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382" name="Text 11"/>
          <p:cNvSpPr/>
          <p:nvPr/>
        </p:nvSpPr>
        <p:spPr>
          <a:xfrm>
            <a:off x="2496240" y="1673280"/>
            <a:ext cx="90504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00" spc="-1" strike="noStrike">
                <a:solidFill>
                  <a:srgbClr val="f8fafc"/>
                </a:solidFill>
                <a:latin typeface="Aptos"/>
                <a:ea typeface="Aptos"/>
              </a:rPr>
              <a:t>Acc.</a:t>
            </a:r>
            <a:endParaRPr b="0" lang="en-GB" sz="700" spc="-1" strike="noStrike">
              <a:solidFill>
                <a:srgbClr val="ffffff"/>
              </a:solidFill>
              <a:latin typeface="Arial"/>
            </a:endParaRPr>
          </a:p>
        </p:txBody>
      </p:sp>
      <p:sp>
        <p:nvSpPr>
          <p:cNvPr id="383" name="Shape 12"/>
          <p:cNvSpPr/>
          <p:nvPr/>
        </p:nvSpPr>
        <p:spPr>
          <a:xfrm>
            <a:off x="3429000" y="1600200"/>
            <a:ext cx="1005480" cy="292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384" name="Text 13"/>
          <p:cNvSpPr/>
          <p:nvPr/>
        </p:nvSpPr>
        <p:spPr>
          <a:xfrm>
            <a:off x="3456360" y="1673280"/>
            <a:ext cx="95076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00" spc="-1" strike="noStrike">
                <a:solidFill>
                  <a:srgbClr val="f8fafc"/>
                </a:solidFill>
                <a:latin typeface="Aptos"/>
                <a:ea typeface="Aptos"/>
              </a:rPr>
              <a:t>Prec.</a:t>
            </a:r>
            <a:endParaRPr b="0" lang="en-GB" sz="700" spc="-1" strike="noStrike">
              <a:solidFill>
                <a:srgbClr val="ffffff"/>
              </a:solidFill>
              <a:latin typeface="Arial"/>
            </a:endParaRPr>
          </a:p>
        </p:txBody>
      </p:sp>
      <p:sp>
        <p:nvSpPr>
          <p:cNvPr id="385" name="Shape 14"/>
          <p:cNvSpPr/>
          <p:nvPr/>
        </p:nvSpPr>
        <p:spPr>
          <a:xfrm>
            <a:off x="4434840" y="1600200"/>
            <a:ext cx="1005480" cy="292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386" name="Text 15"/>
          <p:cNvSpPr/>
          <p:nvPr/>
        </p:nvSpPr>
        <p:spPr>
          <a:xfrm>
            <a:off x="4462200" y="1673280"/>
            <a:ext cx="95076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00" spc="-1" strike="noStrike">
                <a:solidFill>
                  <a:srgbClr val="f8fafc"/>
                </a:solidFill>
                <a:latin typeface="Aptos"/>
                <a:ea typeface="Aptos"/>
              </a:rPr>
              <a:t>Recall</a:t>
            </a:r>
            <a:endParaRPr b="0" lang="en-GB" sz="700" spc="-1" strike="noStrike">
              <a:solidFill>
                <a:srgbClr val="ffffff"/>
              </a:solidFill>
              <a:latin typeface="Arial"/>
            </a:endParaRPr>
          </a:p>
        </p:txBody>
      </p:sp>
      <p:sp>
        <p:nvSpPr>
          <p:cNvPr id="387" name="Shape 16"/>
          <p:cNvSpPr/>
          <p:nvPr/>
        </p:nvSpPr>
        <p:spPr>
          <a:xfrm>
            <a:off x="5440680" y="1600200"/>
            <a:ext cx="1005480" cy="292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388" name="Text 17"/>
          <p:cNvSpPr/>
          <p:nvPr/>
        </p:nvSpPr>
        <p:spPr>
          <a:xfrm>
            <a:off x="5468040" y="1673280"/>
            <a:ext cx="95076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00" spc="-1" strike="noStrike">
                <a:solidFill>
                  <a:srgbClr val="f8fafc"/>
                </a:solidFill>
                <a:latin typeface="Aptos"/>
                <a:ea typeface="Aptos"/>
              </a:rPr>
              <a:t>F1</a:t>
            </a:r>
            <a:endParaRPr b="0" lang="en-GB" sz="700" spc="-1" strike="noStrike">
              <a:solidFill>
                <a:srgbClr val="ffffff"/>
              </a:solidFill>
              <a:latin typeface="Arial"/>
            </a:endParaRPr>
          </a:p>
        </p:txBody>
      </p:sp>
      <p:sp>
        <p:nvSpPr>
          <p:cNvPr id="389" name="Shape 18"/>
          <p:cNvSpPr/>
          <p:nvPr/>
        </p:nvSpPr>
        <p:spPr>
          <a:xfrm>
            <a:off x="6446520" y="1600200"/>
            <a:ext cx="1416960" cy="292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390" name="Text 19"/>
          <p:cNvSpPr/>
          <p:nvPr/>
        </p:nvSpPr>
        <p:spPr>
          <a:xfrm>
            <a:off x="6473880" y="1673280"/>
            <a:ext cx="136224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00" spc="-1" strike="noStrike">
                <a:solidFill>
                  <a:srgbClr val="f8fafc"/>
                </a:solidFill>
                <a:latin typeface="Aptos"/>
                <a:ea typeface="Aptos"/>
              </a:rPr>
              <a:t>AUC</a:t>
            </a:r>
            <a:endParaRPr b="0" lang="en-GB" sz="700" spc="-1" strike="noStrike">
              <a:solidFill>
                <a:srgbClr val="ffffff"/>
              </a:solidFill>
              <a:latin typeface="Arial"/>
            </a:endParaRPr>
          </a:p>
        </p:txBody>
      </p:sp>
      <p:sp>
        <p:nvSpPr>
          <p:cNvPr id="391" name="Shape 20"/>
          <p:cNvSpPr/>
          <p:nvPr/>
        </p:nvSpPr>
        <p:spPr>
          <a:xfrm>
            <a:off x="457200" y="1892880"/>
            <a:ext cx="2011320" cy="328680"/>
          </a:xfrm>
          <a:prstGeom prst="rect">
            <a:avLst/>
          </a:prstGeom>
          <a:solidFill>
            <a:srgbClr val="113b4a">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392" name="Text 21"/>
          <p:cNvSpPr/>
          <p:nvPr/>
        </p:nvSpPr>
        <p:spPr>
          <a:xfrm>
            <a:off x="484560" y="1965960"/>
            <a:ext cx="1956600" cy="264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700" spc="-1" strike="noStrike">
                <a:solidFill>
                  <a:srgbClr val="f8fafc"/>
                </a:solidFill>
                <a:latin typeface="Aptos"/>
                <a:ea typeface="Aptos"/>
              </a:rPr>
              <a:t>XGBoost</a:t>
            </a:r>
            <a:endParaRPr b="0" lang="en-GB" sz="700" spc="-1" strike="noStrike">
              <a:solidFill>
                <a:srgbClr val="ffffff"/>
              </a:solidFill>
              <a:latin typeface="Arial"/>
            </a:endParaRPr>
          </a:p>
        </p:txBody>
      </p:sp>
      <p:sp>
        <p:nvSpPr>
          <p:cNvPr id="393" name="Shape 22"/>
          <p:cNvSpPr/>
          <p:nvPr/>
        </p:nvSpPr>
        <p:spPr>
          <a:xfrm>
            <a:off x="2468880" y="1892880"/>
            <a:ext cx="959760" cy="328680"/>
          </a:xfrm>
          <a:prstGeom prst="rect">
            <a:avLst/>
          </a:prstGeom>
          <a:solidFill>
            <a:srgbClr val="113b4a">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394" name="Text 23"/>
          <p:cNvSpPr/>
          <p:nvPr/>
        </p:nvSpPr>
        <p:spPr>
          <a:xfrm>
            <a:off x="2496240" y="1965960"/>
            <a:ext cx="905040" cy="264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00" spc="-1" strike="noStrike">
                <a:solidFill>
                  <a:srgbClr val="f8fafc"/>
                </a:solidFill>
                <a:latin typeface="Aptos"/>
                <a:ea typeface="Aptos"/>
              </a:rPr>
              <a:t>0.8980</a:t>
            </a:r>
            <a:endParaRPr b="0" lang="en-GB" sz="700" spc="-1" strike="noStrike">
              <a:solidFill>
                <a:srgbClr val="ffffff"/>
              </a:solidFill>
              <a:latin typeface="Arial"/>
            </a:endParaRPr>
          </a:p>
        </p:txBody>
      </p:sp>
      <p:sp>
        <p:nvSpPr>
          <p:cNvPr id="395" name="Shape 24"/>
          <p:cNvSpPr/>
          <p:nvPr/>
        </p:nvSpPr>
        <p:spPr>
          <a:xfrm>
            <a:off x="3429000" y="1892880"/>
            <a:ext cx="1005480" cy="328680"/>
          </a:xfrm>
          <a:prstGeom prst="rect">
            <a:avLst/>
          </a:prstGeom>
          <a:solidFill>
            <a:srgbClr val="113b4a">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396" name="Text 25"/>
          <p:cNvSpPr/>
          <p:nvPr/>
        </p:nvSpPr>
        <p:spPr>
          <a:xfrm>
            <a:off x="3456360" y="1965960"/>
            <a:ext cx="950760" cy="264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00" spc="-1" strike="noStrike">
                <a:solidFill>
                  <a:srgbClr val="f8fafc"/>
                </a:solidFill>
                <a:latin typeface="Aptos"/>
                <a:ea typeface="Aptos"/>
              </a:rPr>
              <a:t>0.7586</a:t>
            </a:r>
            <a:endParaRPr b="0" lang="en-GB" sz="700" spc="-1" strike="noStrike">
              <a:solidFill>
                <a:srgbClr val="ffffff"/>
              </a:solidFill>
              <a:latin typeface="Arial"/>
            </a:endParaRPr>
          </a:p>
        </p:txBody>
      </p:sp>
      <p:sp>
        <p:nvSpPr>
          <p:cNvPr id="397" name="Shape 26"/>
          <p:cNvSpPr/>
          <p:nvPr/>
        </p:nvSpPr>
        <p:spPr>
          <a:xfrm>
            <a:off x="4434840" y="1892880"/>
            <a:ext cx="1005480" cy="328680"/>
          </a:xfrm>
          <a:prstGeom prst="rect">
            <a:avLst/>
          </a:prstGeom>
          <a:solidFill>
            <a:srgbClr val="113b4a">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398" name="Text 27"/>
          <p:cNvSpPr/>
          <p:nvPr/>
        </p:nvSpPr>
        <p:spPr>
          <a:xfrm>
            <a:off x="4462200" y="1965960"/>
            <a:ext cx="950760" cy="264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00" spc="-1" strike="noStrike">
                <a:solidFill>
                  <a:srgbClr val="f8fafc"/>
                </a:solidFill>
                <a:latin typeface="Aptos"/>
                <a:ea typeface="Aptos"/>
              </a:rPr>
              <a:t>0.5366</a:t>
            </a:r>
            <a:endParaRPr b="0" lang="en-GB" sz="700" spc="-1" strike="noStrike">
              <a:solidFill>
                <a:srgbClr val="ffffff"/>
              </a:solidFill>
              <a:latin typeface="Arial"/>
            </a:endParaRPr>
          </a:p>
        </p:txBody>
      </p:sp>
      <p:sp>
        <p:nvSpPr>
          <p:cNvPr id="399" name="Shape 28"/>
          <p:cNvSpPr/>
          <p:nvPr/>
        </p:nvSpPr>
        <p:spPr>
          <a:xfrm>
            <a:off x="5440680" y="1892880"/>
            <a:ext cx="1005480" cy="328680"/>
          </a:xfrm>
          <a:prstGeom prst="rect">
            <a:avLst/>
          </a:prstGeom>
          <a:solidFill>
            <a:srgbClr val="113b4a">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400" name="Text 29"/>
          <p:cNvSpPr/>
          <p:nvPr/>
        </p:nvSpPr>
        <p:spPr>
          <a:xfrm>
            <a:off x="5468040" y="1965960"/>
            <a:ext cx="950760" cy="264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00" spc="-1" strike="noStrike">
                <a:solidFill>
                  <a:srgbClr val="f8fafc"/>
                </a:solidFill>
                <a:latin typeface="Aptos"/>
                <a:ea typeface="Aptos"/>
              </a:rPr>
              <a:t>0.6286</a:t>
            </a:r>
            <a:endParaRPr b="0" lang="en-GB" sz="700" spc="-1" strike="noStrike">
              <a:solidFill>
                <a:srgbClr val="ffffff"/>
              </a:solidFill>
              <a:latin typeface="Arial"/>
            </a:endParaRPr>
          </a:p>
        </p:txBody>
      </p:sp>
      <p:sp>
        <p:nvSpPr>
          <p:cNvPr id="401" name="Shape 30"/>
          <p:cNvSpPr/>
          <p:nvPr/>
        </p:nvSpPr>
        <p:spPr>
          <a:xfrm>
            <a:off x="6446520" y="1892880"/>
            <a:ext cx="1416960" cy="328680"/>
          </a:xfrm>
          <a:prstGeom prst="rect">
            <a:avLst/>
          </a:prstGeom>
          <a:solidFill>
            <a:srgbClr val="113b4a">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402" name="Text 31"/>
          <p:cNvSpPr/>
          <p:nvPr/>
        </p:nvSpPr>
        <p:spPr>
          <a:xfrm>
            <a:off x="6473880" y="1965960"/>
            <a:ext cx="1362240" cy="264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00" spc="-1" strike="noStrike">
                <a:solidFill>
                  <a:srgbClr val="f8fafc"/>
                </a:solidFill>
                <a:latin typeface="Aptos"/>
                <a:ea typeface="Aptos"/>
              </a:rPr>
              <a:t>0.9055</a:t>
            </a:r>
            <a:endParaRPr b="0" lang="en-GB" sz="700" spc="-1" strike="noStrike">
              <a:solidFill>
                <a:srgbClr val="ffffff"/>
              </a:solidFill>
              <a:latin typeface="Arial"/>
            </a:endParaRPr>
          </a:p>
        </p:txBody>
      </p:sp>
      <p:sp>
        <p:nvSpPr>
          <p:cNvPr id="403" name="Shape 32"/>
          <p:cNvSpPr/>
          <p:nvPr/>
        </p:nvSpPr>
        <p:spPr>
          <a:xfrm>
            <a:off x="457200" y="2221920"/>
            <a:ext cx="2011320" cy="328680"/>
          </a:xfrm>
          <a:prstGeom prst="rect">
            <a:avLst/>
          </a:prstGeom>
          <a:solidFill>
            <a:srgbClr val="113b4a">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404" name="Text 33"/>
          <p:cNvSpPr/>
          <p:nvPr/>
        </p:nvSpPr>
        <p:spPr>
          <a:xfrm>
            <a:off x="484560" y="2295000"/>
            <a:ext cx="1956600" cy="264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700" spc="-1" strike="noStrike">
                <a:solidFill>
                  <a:srgbClr val="f8fafc"/>
                </a:solidFill>
                <a:latin typeface="Aptos"/>
                <a:ea typeface="Aptos"/>
              </a:rPr>
              <a:t>Logistic Regression</a:t>
            </a:r>
            <a:endParaRPr b="0" lang="en-GB" sz="700" spc="-1" strike="noStrike">
              <a:solidFill>
                <a:srgbClr val="ffffff"/>
              </a:solidFill>
              <a:latin typeface="Arial"/>
            </a:endParaRPr>
          </a:p>
        </p:txBody>
      </p:sp>
      <p:sp>
        <p:nvSpPr>
          <p:cNvPr id="405" name="Shape 34"/>
          <p:cNvSpPr/>
          <p:nvPr/>
        </p:nvSpPr>
        <p:spPr>
          <a:xfrm>
            <a:off x="2468880" y="2221920"/>
            <a:ext cx="959760" cy="328680"/>
          </a:xfrm>
          <a:prstGeom prst="rect">
            <a:avLst/>
          </a:prstGeom>
          <a:solidFill>
            <a:srgbClr val="113b4a">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406" name="Text 35"/>
          <p:cNvSpPr/>
          <p:nvPr/>
        </p:nvSpPr>
        <p:spPr>
          <a:xfrm>
            <a:off x="2496240" y="2295000"/>
            <a:ext cx="905040" cy="264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00" spc="-1" strike="noStrike">
                <a:solidFill>
                  <a:srgbClr val="f8fafc"/>
                </a:solidFill>
                <a:latin typeface="Aptos"/>
                <a:ea typeface="Aptos"/>
              </a:rPr>
              <a:t>0.8078</a:t>
            </a:r>
            <a:endParaRPr b="0" lang="en-GB" sz="700" spc="-1" strike="noStrike">
              <a:solidFill>
                <a:srgbClr val="ffffff"/>
              </a:solidFill>
              <a:latin typeface="Arial"/>
            </a:endParaRPr>
          </a:p>
        </p:txBody>
      </p:sp>
      <p:sp>
        <p:nvSpPr>
          <p:cNvPr id="407" name="Shape 36"/>
          <p:cNvSpPr/>
          <p:nvPr/>
        </p:nvSpPr>
        <p:spPr>
          <a:xfrm>
            <a:off x="3429000" y="2221920"/>
            <a:ext cx="1005480" cy="328680"/>
          </a:xfrm>
          <a:prstGeom prst="rect">
            <a:avLst/>
          </a:prstGeom>
          <a:solidFill>
            <a:srgbClr val="113b4a">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408" name="Text 37"/>
          <p:cNvSpPr/>
          <p:nvPr/>
        </p:nvSpPr>
        <p:spPr>
          <a:xfrm>
            <a:off x="3456360" y="2295000"/>
            <a:ext cx="950760" cy="264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00" spc="-1" strike="noStrike">
                <a:solidFill>
                  <a:srgbClr val="f8fafc"/>
                </a:solidFill>
                <a:latin typeface="Aptos"/>
                <a:ea typeface="Aptos"/>
              </a:rPr>
              <a:t>0.4500</a:t>
            </a:r>
            <a:endParaRPr b="0" lang="en-GB" sz="700" spc="-1" strike="noStrike">
              <a:solidFill>
                <a:srgbClr val="ffffff"/>
              </a:solidFill>
              <a:latin typeface="Arial"/>
            </a:endParaRPr>
          </a:p>
        </p:txBody>
      </p:sp>
      <p:sp>
        <p:nvSpPr>
          <p:cNvPr id="409" name="Shape 38"/>
          <p:cNvSpPr/>
          <p:nvPr/>
        </p:nvSpPr>
        <p:spPr>
          <a:xfrm>
            <a:off x="4434840" y="2221920"/>
            <a:ext cx="1005480" cy="328680"/>
          </a:xfrm>
          <a:prstGeom prst="rect">
            <a:avLst/>
          </a:prstGeom>
          <a:solidFill>
            <a:srgbClr val="113b4a">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410" name="Text 39"/>
          <p:cNvSpPr/>
          <p:nvPr/>
        </p:nvSpPr>
        <p:spPr>
          <a:xfrm>
            <a:off x="4462200" y="2295000"/>
            <a:ext cx="950760" cy="264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00" spc="-1" strike="noStrike">
                <a:solidFill>
                  <a:srgbClr val="f8fafc"/>
                </a:solidFill>
                <a:latin typeface="Aptos"/>
                <a:ea typeface="Aptos"/>
              </a:rPr>
              <a:t>0.8780</a:t>
            </a:r>
            <a:endParaRPr b="0" lang="en-GB" sz="700" spc="-1" strike="noStrike">
              <a:solidFill>
                <a:srgbClr val="ffffff"/>
              </a:solidFill>
              <a:latin typeface="Arial"/>
            </a:endParaRPr>
          </a:p>
        </p:txBody>
      </p:sp>
      <p:sp>
        <p:nvSpPr>
          <p:cNvPr id="411" name="Shape 40"/>
          <p:cNvSpPr/>
          <p:nvPr/>
        </p:nvSpPr>
        <p:spPr>
          <a:xfrm>
            <a:off x="5440680" y="2221920"/>
            <a:ext cx="1005480" cy="328680"/>
          </a:xfrm>
          <a:prstGeom prst="rect">
            <a:avLst/>
          </a:prstGeom>
          <a:solidFill>
            <a:srgbClr val="113b4a">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412" name="Text 41"/>
          <p:cNvSpPr/>
          <p:nvPr/>
        </p:nvSpPr>
        <p:spPr>
          <a:xfrm>
            <a:off x="5468040" y="2295000"/>
            <a:ext cx="950760" cy="264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00" spc="-1" strike="noStrike">
                <a:solidFill>
                  <a:srgbClr val="f8fafc"/>
                </a:solidFill>
                <a:latin typeface="Aptos"/>
                <a:ea typeface="Aptos"/>
              </a:rPr>
              <a:t>0.5950</a:t>
            </a:r>
            <a:endParaRPr b="0" lang="en-GB" sz="700" spc="-1" strike="noStrike">
              <a:solidFill>
                <a:srgbClr val="ffffff"/>
              </a:solidFill>
              <a:latin typeface="Arial"/>
            </a:endParaRPr>
          </a:p>
        </p:txBody>
      </p:sp>
      <p:sp>
        <p:nvSpPr>
          <p:cNvPr id="413" name="Shape 42"/>
          <p:cNvSpPr/>
          <p:nvPr/>
        </p:nvSpPr>
        <p:spPr>
          <a:xfrm>
            <a:off x="6446520" y="2221920"/>
            <a:ext cx="1416960" cy="328680"/>
          </a:xfrm>
          <a:prstGeom prst="rect">
            <a:avLst/>
          </a:prstGeom>
          <a:solidFill>
            <a:srgbClr val="113b4a">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414" name="Text 43"/>
          <p:cNvSpPr/>
          <p:nvPr/>
        </p:nvSpPr>
        <p:spPr>
          <a:xfrm>
            <a:off x="6473880" y="2295000"/>
            <a:ext cx="1362240" cy="264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00" spc="-1" strike="noStrike">
                <a:solidFill>
                  <a:srgbClr val="f8fafc"/>
                </a:solidFill>
                <a:latin typeface="Aptos"/>
                <a:ea typeface="Aptos"/>
              </a:rPr>
              <a:t>0.9053</a:t>
            </a:r>
            <a:endParaRPr b="0" lang="en-GB" sz="700" spc="-1" strike="noStrike">
              <a:solidFill>
                <a:srgbClr val="ffffff"/>
              </a:solidFill>
              <a:latin typeface="Arial"/>
            </a:endParaRPr>
          </a:p>
        </p:txBody>
      </p:sp>
      <p:sp>
        <p:nvSpPr>
          <p:cNvPr id="415" name="Shape 44"/>
          <p:cNvSpPr/>
          <p:nvPr/>
        </p:nvSpPr>
        <p:spPr>
          <a:xfrm>
            <a:off x="457200" y="2551320"/>
            <a:ext cx="2011320" cy="32868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416" name="Text 45"/>
          <p:cNvSpPr/>
          <p:nvPr/>
        </p:nvSpPr>
        <p:spPr>
          <a:xfrm>
            <a:off x="484560" y="2624400"/>
            <a:ext cx="1956600" cy="264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700" spc="-1" strike="noStrike">
                <a:solidFill>
                  <a:srgbClr val="f8fafc"/>
                </a:solidFill>
                <a:latin typeface="Aptos"/>
                <a:ea typeface="Aptos"/>
              </a:rPr>
              <a:t>Random Forest</a:t>
            </a:r>
            <a:endParaRPr b="0" lang="en-GB" sz="700" spc="-1" strike="noStrike">
              <a:solidFill>
                <a:srgbClr val="ffffff"/>
              </a:solidFill>
              <a:latin typeface="Arial"/>
            </a:endParaRPr>
          </a:p>
        </p:txBody>
      </p:sp>
      <p:sp>
        <p:nvSpPr>
          <p:cNvPr id="417" name="Shape 46"/>
          <p:cNvSpPr/>
          <p:nvPr/>
        </p:nvSpPr>
        <p:spPr>
          <a:xfrm>
            <a:off x="2468880" y="2551320"/>
            <a:ext cx="959760" cy="32868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418" name="Text 47"/>
          <p:cNvSpPr/>
          <p:nvPr/>
        </p:nvSpPr>
        <p:spPr>
          <a:xfrm>
            <a:off x="2496240" y="2624400"/>
            <a:ext cx="905040" cy="264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00" spc="-1" strike="noStrike">
                <a:solidFill>
                  <a:srgbClr val="f8fafc"/>
                </a:solidFill>
                <a:latin typeface="Aptos"/>
                <a:ea typeface="Aptos"/>
              </a:rPr>
              <a:t>0.8824</a:t>
            </a:r>
            <a:endParaRPr b="0" lang="en-GB" sz="700" spc="-1" strike="noStrike">
              <a:solidFill>
                <a:srgbClr val="ffffff"/>
              </a:solidFill>
              <a:latin typeface="Arial"/>
            </a:endParaRPr>
          </a:p>
        </p:txBody>
      </p:sp>
      <p:sp>
        <p:nvSpPr>
          <p:cNvPr id="419" name="Shape 48"/>
          <p:cNvSpPr/>
          <p:nvPr/>
        </p:nvSpPr>
        <p:spPr>
          <a:xfrm>
            <a:off x="3429000" y="2551320"/>
            <a:ext cx="1005480" cy="32868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420" name="Text 49"/>
          <p:cNvSpPr/>
          <p:nvPr/>
        </p:nvSpPr>
        <p:spPr>
          <a:xfrm>
            <a:off x="3456360" y="2624400"/>
            <a:ext cx="950760" cy="264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00" spc="-1" strike="noStrike">
                <a:solidFill>
                  <a:srgbClr val="f8fafc"/>
                </a:solidFill>
                <a:latin typeface="Aptos"/>
                <a:ea typeface="Aptos"/>
              </a:rPr>
              <a:t>0.7391</a:t>
            </a:r>
            <a:endParaRPr b="0" lang="en-GB" sz="700" spc="-1" strike="noStrike">
              <a:solidFill>
                <a:srgbClr val="ffffff"/>
              </a:solidFill>
              <a:latin typeface="Arial"/>
            </a:endParaRPr>
          </a:p>
        </p:txBody>
      </p:sp>
      <p:sp>
        <p:nvSpPr>
          <p:cNvPr id="421" name="Shape 50"/>
          <p:cNvSpPr/>
          <p:nvPr/>
        </p:nvSpPr>
        <p:spPr>
          <a:xfrm>
            <a:off x="4434840" y="2551320"/>
            <a:ext cx="1005480" cy="32868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422" name="Text 51"/>
          <p:cNvSpPr/>
          <p:nvPr/>
        </p:nvSpPr>
        <p:spPr>
          <a:xfrm>
            <a:off x="4462200" y="2624400"/>
            <a:ext cx="950760" cy="264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00" spc="-1" strike="noStrike">
                <a:solidFill>
                  <a:srgbClr val="f8fafc"/>
                </a:solidFill>
                <a:latin typeface="Aptos"/>
                <a:ea typeface="Aptos"/>
              </a:rPr>
              <a:t>0.4146</a:t>
            </a:r>
            <a:endParaRPr b="0" lang="en-GB" sz="700" spc="-1" strike="noStrike">
              <a:solidFill>
                <a:srgbClr val="ffffff"/>
              </a:solidFill>
              <a:latin typeface="Arial"/>
            </a:endParaRPr>
          </a:p>
        </p:txBody>
      </p:sp>
      <p:sp>
        <p:nvSpPr>
          <p:cNvPr id="423" name="Shape 52"/>
          <p:cNvSpPr/>
          <p:nvPr/>
        </p:nvSpPr>
        <p:spPr>
          <a:xfrm>
            <a:off x="5440680" y="2551320"/>
            <a:ext cx="1005480" cy="32868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424" name="Text 53"/>
          <p:cNvSpPr/>
          <p:nvPr/>
        </p:nvSpPr>
        <p:spPr>
          <a:xfrm>
            <a:off x="5468040" y="2624400"/>
            <a:ext cx="950760" cy="264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00" spc="-1" strike="noStrike">
                <a:solidFill>
                  <a:srgbClr val="f8fafc"/>
                </a:solidFill>
                <a:latin typeface="Aptos"/>
                <a:ea typeface="Aptos"/>
              </a:rPr>
              <a:t>0.5312</a:t>
            </a:r>
            <a:endParaRPr b="0" lang="en-GB" sz="700" spc="-1" strike="noStrike">
              <a:solidFill>
                <a:srgbClr val="ffffff"/>
              </a:solidFill>
              <a:latin typeface="Arial"/>
            </a:endParaRPr>
          </a:p>
        </p:txBody>
      </p:sp>
      <p:sp>
        <p:nvSpPr>
          <p:cNvPr id="425" name="Shape 54"/>
          <p:cNvSpPr/>
          <p:nvPr/>
        </p:nvSpPr>
        <p:spPr>
          <a:xfrm>
            <a:off x="6446520" y="2551320"/>
            <a:ext cx="1416960" cy="32868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426" name="Text 55"/>
          <p:cNvSpPr/>
          <p:nvPr/>
        </p:nvSpPr>
        <p:spPr>
          <a:xfrm>
            <a:off x="6473880" y="2624400"/>
            <a:ext cx="1362240" cy="264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00" spc="-1" strike="noStrike">
                <a:solidFill>
                  <a:srgbClr val="f8fafc"/>
                </a:solidFill>
                <a:latin typeface="Aptos"/>
                <a:ea typeface="Aptos"/>
              </a:rPr>
              <a:t>0.8786</a:t>
            </a:r>
            <a:endParaRPr b="0" lang="en-GB" sz="700" spc="-1" strike="noStrike">
              <a:solidFill>
                <a:srgbClr val="ffffff"/>
              </a:solidFill>
              <a:latin typeface="Arial"/>
            </a:endParaRPr>
          </a:p>
        </p:txBody>
      </p:sp>
      <p:sp>
        <p:nvSpPr>
          <p:cNvPr id="427" name="Shape 56"/>
          <p:cNvSpPr/>
          <p:nvPr/>
        </p:nvSpPr>
        <p:spPr>
          <a:xfrm>
            <a:off x="457200" y="2880360"/>
            <a:ext cx="2011320" cy="32868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428" name="Text 57"/>
          <p:cNvSpPr/>
          <p:nvPr/>
        </p:nvSpPr>
        <p:spPr>
          <a:xfrm>
            <a:off x="484560" y="2953440"/>
            <a:ext cx="1956600" cy="264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700" spc="-1" strike="noStrike">
                <a:solidFill>
                  <a:srgbClr val="f8fafc"/>
                </a:solidFill>
                <a:latin typeface="Aptos"/>
                <a:ea typeface="Aptos"/>
              </a:rPr>
              <a:t>SVM</a:t>
            </a:r>
            <a:endParaRPr b="0" lang="en-GB" sz="700" spc="-1" strike="noStrike">
              <a:solidFill>
                <a:srgbClr val="ffffff"/>
              </a:solidFill>
              <a:latin typeface="Arial"/>
            </a:endParaRPr>
          </a:p>
        </p:txBody>
      </p:sp>
      <p:sp>
        <p:nvSpPr>
          <p:cNvPr id="429" name="Shape 58"/>
          <p:cNvSpPr/>
          <p:nvPr/>
        </p:nvSpPr>
        <p:spPr>
          <a:xfrm>
            <a:off x="2468880" y="2880360"/>
            <a:ext cx="959760" cy="32868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430" name="Text 59"/>
          <p:cNvSpPr/>
          <p:nvPr/>
        </p:nvSpPr>
        <p:spPr>
          <a:xfrm>
            <a:off x="2496240" y="2953440"/>
            <a:ext cx="905040" cy="264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00" spc="-1" strike="noStrike">
                <a:solidFill>
                  <a:srgbClr val="f8fafc"/>
                </a:solidFill>
                <a:latin typeface="Aptos"/>
                <a:ea typeface="Aptos"/>
              </a:rPr>
              <a:t>0.8196</a:t>
            </a:r>
            <a:endParaRPr b="0" lang="en-GB" sz="700" spc="-1" strike="noStrike">
              <a:solidFill>
                <a:srgbClr val="ffffff"/>
              </a:solidFill>
              <a:latin typeface="Arial"/>
            </a:endParaRPr>
          </a:p>
        </p:txBody>
      </p:sp>
      <p:sp>
        <p:nvSpPr>
          <p:cNvPr id="431" name="Shape 60"/>
          <p:cNvSpPr/>
          <p:nvPr/>
        </p:nvSpPr>
        <p:spPr>
          <a:xfrm>
            <a:off x="3429000" y="2880360"/>
            <a:ext cx="1005480" cy="32868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432" name="Text 61"/>
          <p:cNvSpPr/>
          <p:nvPr/>
        </p:nvSpPr>
        <p:spPr>
          <a:xfrm>
            <a:off x="3456360" y="2953440"/>
            <a:ext cx="950760" cy="264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00" spc="-1" strike="noStrike">
                <a:solidFill>
                  <a:srgbClr val="f8fafc"/>
                </a:solidFill>
                <a:latin typeface="Aptos"/>
                <a:ea typeface="Aptos"/>
              </a:rPr>
              <a:t>0.4545</a:t>
            </a:r>
            <a:endParaRPr b="0" lang="en-GB" sz="700" spc="-1" strike="noStrike">
              <a:solidFill>
                <a:srgbClr val="ffffff"/>
              </a:solidFill>
              <a:latin typeface="Arial"/>
            </a:endParaRPr>
          </a:p>
        </p:txBody>
      </p:sp>
      <p:sp>
        <p:nvSpPr>
          <p:cNvPr id="433" name="Shape 62"/>
          <p:cNvSpPr/>
          <p:nvPr/>
        </p:nvSpPr>
        <p:spPr>
          <a:xfrm>
            <a:off x="4434840" y="2880360"/>
            <a:ext cx="1005480" cy="32868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434" name="Text 63"/>
          <p:cNvSpPr/>
          <p:nvPr/>
        </p:nvSpPr>
        <p:spPr>
          <a:xfrm>
            <a:off x="4462200" y="2953440"/>
            <a:ext cx="950760" cy="264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00" spc="-1" strike="noStrike">
                <a:solidFill>
                  <a:srgbClr val="f8fafc"/>
                </a:solidFill>
                <a:latin typeface="Aptos"/>
                <a:ea typeface="Aptos"/>
              </a:rPr>
              <a:t>0.6098</a:t>
            </a:r>
            <a:endParaRPr b="0" lang="en-GB" sz="700" spc="-1" strike="noStrike">
              <a:solidFill>
                <a:srgbClr val="ffffff"/>
              </a:solidFill>
              <a:latin typeface="Arial"/>
            </a:endParaRPr>
          </a:p>
        </p:txBody>
      </p:sp>
      <p:sp>
        <p:nvSpPr>
          <p:cNvPr id="435" name="Shape 64"/>
          <p:cNvSpPr/>
          <p:nvPr/>
        </p:nvSpPr>
        <p:spPr>
          <a:xfrm>
            <a:off x="5440680" y="2880360"/>
            <a:ext cx="1005480" cy="32868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436" name="Text 65"/>
          <p:cNvSpPr/>
          <p:nvPr/>
        </p:nvSpPr>
        <p:spPr>
          <a:xfrm>
            <a:off x="5468040" y="2953440"/>
            <a:ext cx="950760" cy="264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00" spc="-1" strike="noStrike">
                <a:solidFill>
                  <a:srgbClr val="f8fafc"/>
                </a:solidFill>
                <a:latin typeface="Aptos"/>
                <a:ea typeface="Aptos"/>
              </a:rPr>
              <a:t>0.5208</a:t>
            </a:r>
            <a:endParaRPr b="0" lang="en-GB" sz="700" spc="-1" strike="noStrike">
              <a:solidFill>
                <a:srgbClr val="ffffff"/>
              </a:solidFill>
              <a:latin typeface="Arial"/>
            </a:endParaRPr>
          </a:p>
        </p:txBody>
      </p:sp>
      <p:sp>
        <p:nvSpPr>
          <p:cNvPr id="437" name="Shape 66"/>
          <p:cNvSpPr/>
          <p:nvPr/>
        </p:nvSpPr>
        <p:spPr>
          <a:xfrm>
            <a:off x="6446520" y="2880360"/>
            <a:ext cx="1416960" cy="32868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438" name="Text 67"/>
          <p:cNvSpPr/>
          <p:nvPr/>
        </p:nvSpPr>
        <p:spPr>
          <a:xfrm>
            <a:off x="6473880" y="2953440"/>
            <a:ext cx="1362240" cy="264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00" spc="-1" strike="noStrike">
                <a:solidFill>
                  <a:srgbClr val="f8fafc"/>
                </a:solidFill>
                <a:latin typeface="Aptos"/>
                <a:ea typeface="Aptos"/>
              </a:rPr>
              <a:t>0.8464</a:t>
            </a:r>
            <a:endParaRPr b="0" lang="en-GB" sz="700" spc="-1" strike="noStrike">
              <a:solidFill>
                <a:srgbClr val="ffffff"/>
              </a:solidFill>
              <a:latin typeface="Arial"/>
            </a:endParaRPr>
          </a:p>
        </p:txBody>
      </p:sp>
      <p:sp>
        <p:nvSpPr>
          <p:cNvPr id="439" name="Shape 68"/>
          <p:cNvSpPr/>
          <p:nvPr/>
        </p:nvSpPr>
        <p:spPr>
          <a:xfrm>
            <a:off x="457200" y="3209400"/>
            <a:ext cx="2011320" cy="32868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440" name="Text 69"/>
          <p:cNvSpPr/>
          <p:nvPr/>
        </p:nvSpPr>
        <p:spPr>
          <a:xfrm>
            <a:off x="484560" y="3282840"/>
            <a:ext cx="1956600" cy="264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700" spc="-1" strike="noStrike">
                <a:solidFill>
                  <a:srgbClr val="f8fafc"/>
                </a:solidFill>
                <a:latin typeface="Aptos"/>
                <a:ea typeface="Aptos"/>
              </a:rPr>
              <a:t>Decision Tree</a:t>
            </a:r>
            <a:endParaRPr b="0" lang="en-GB" sz="700" spc="-1" strike="noStrike">
              <a:solidFill>
                <a:srgbClr val="ffffff"/>
              </a:solidFill>
              <a:latin typeface="Arial"/>
            </a:endParaRPr>
          </a:p>
        </p:txBody>
      </p:sp>
      <p:sp>
        <p:nvSpPr>
          <p:cNvPr id="441" name="Shape 70"/>
          <p:cNvSpPr/>
          <p:nvPr/>
        </p:nvSpPr>
        <p:spPr>
          <a:xfrm>
            <a:off x="2468880" y="3209400"/>
            <a:ext cx="959760" cy="32868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442" name="Text 71"/>
          <p:cNvSpPr/>
          <p:nvPr/>
        </p:nvSpPr>
        <p:spPr>
          <a:xfrm>
            <a:off x="2496240" y="3282840"/>
            <a:ext cx="905040" cy="264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00" spc="-1" strike="noStrike">
                <a:solidFill>
                  <a:srgbClr val="f8fafc"/>
                </a:solidFill>
                <a:latin typeface="Aptos"/>
                <a:ea typeface="Aptos"/>
              </a:rPr>
              <a:t>0.8588</a:t>
            </a:r>
            <a:endParaRPr b="0" lang="en-GB" sz="700" spc="-1" strike="noStrike">
              <a:solidFill>
                <a:srgbClr val="ffffff"/>
              </a:solidFill>
              <a:latin typeface="Arial"/>
            </a:endParaRPr>
          </a:p>
        </p:txBody>
      </p:sp>
      <p:sp>
        <p:nvSpPr>
          <p:cNvPr id="443" name="Shape 72"/>
          <p:cNvSpPr/>
          <p:nvPr/>
        </p:nvSpPr>
        <p:spPr>
          <a:xfrm>
            <a:off x="3429000" y="3209400"/>
            <a:ext cx="1005480" cy="32868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444" name="Text 73"/>
          <p:cNvSpPr/>
          <p:nvPr/>
        </p:nvSpPr>
        <p:spPr>
          <a:xfrm>
            <a:off x="3456360" y="3282840"/>
            <a:ext cx="950760" cy="264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00" spc="-1" strike="noStrike">
                <a:solidFill>
                  <a:srgbClr val="f8fafc"/>
                </a:solidFill>
                <a:latin typeface="Aptos"/>
                <a:ea typeface="Aptos"/>
              </a:rPr>
              <a:t>0.5758</a:t>
            </a:r>
            <a:endParaRPr b="0" lang="en-GB" sz="700" spc="-1" strike="noStrike">
              <a:solidFill>
                <a:srgbClr val="ffffff"/>
              </a:solidFill>
              <a:latin typeface="Arial"/>
            </a:endParaRPr>
          </a:p>
        </p:txBody>
      </p:sp>
      <p:sp>
        <p:nvSpPr>
          <p:cNvPr id="445" name="Shape 74"/>
          <p:cNvSpPr/>
          <p:nvPr/>
        </p:nvSpPr>
        <p:spPr>
          <a:xfrm>
            <a:off x="4434840" y="3209400"/>
            <a:ext cx="1005480" cy="32868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446" name="Text 75"/>
          <p:cNvSpPr/>
          <p:nvPr/>
        </p:nvSpPr>
        <p:spPr>
          <a:xfrm>
            <a:off x="4462200" y="3282840"/>
            <a:ext cx="950760" cy="264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00" spc="-1" strike="noStrike">
                <a:solidFill>
                  <a:srgbClr val="f8fafc"/>
                </a:solidFill>
                <a:latin typeface="Aptos"/>
                <a:ea typeface="Aptos"/>
              </a:rPr>
              <a:t>0.4634</a:t>
            </a:r>
            <a:endParaRPr b="0" lang="en-GB" sz="700" spc="-1" strike="noStrike">
              <a:solidFill>
                <a:srgbClr val="ffffff"/>
              </a:solidFill>
              <a:latin typeface="Arial"/>
            </a:endParaRPr>
          </a:p>
        </p:txBody>
      </p:sp>
      <p:sp>
        <p:nvSpPr>
          <p:cNvPr id="447" name="Shape 76"/>
          <p:cNvSpPr/>
          <p:nvPr/>
        </p:nvSpPr>
        <p:spPr>
          <a:xfrm>
            <a:off x="5440680" y="3209400"/>
            <a:ext cx="1005480" cy="32868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448" name="Text 77"/>
          <p:cNvSpPr/>
          <p:nvPr/>
        </p:nvSpPr>
        <p:spPr>
          <a:xfrm>
            <a:off x="5468040" y="3282840"/>
            <a:ext cx="950760" cy="264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00" spc="-1" strike="noStrike">
                <a:solidFill>
                  <a:srgbClr val="f8fafc"/>
                </a:solidFill>
                <a:latin typeface="Aptos"/>
                <a:ea typeface="Aptos"/>
              </a:rPr>
              <a:t>0.5135</a:t>
            </a:r>
            <a:endParaRPr b="0" lang="en-GB" sz="700" spc="-1" strike="noStrike">
              <a:solidFill>
                <a:srgbClr val="ffffff"/>
              </a:solidFill>
              <a:latin typeface="Arial"/>
            </a:endParaRPr>
          </a:p>
        </p:txBody>
      </p:sp>
      <p:sp>
        <p:nvSpPr>
          <p:cNvPr id="449" name="Shape 78"/>
          <p:cNvSpPr/>
          <p:nvPr/>
        </p:nvSpPr>
        <p:spPr>
          <a:xfrm>
            <a:off x="6446520" y="3209400"/>
            <a:ext cx="1416960" cy="32868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450" name="Text 79"/>
          <p:cNvSpPr/>
          <p:nvPr/>
        </p:nvSpPr>
        <p:spPr>
          <a:xfrm>
            <a:off x="6473880" y="3282840"/>
            <a:ext cx="1362240" cy="264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00" spc="-1" strike="noStrike">
                <a:solidFill>
                  <a:srgbClr val="f8fafc"/>
                </a:solidFill>
                <a:latin typeface="Aptos"/>
                <a:ea typeface="Aptos"/>
              </a:rPr>
              <a:t>0.6765</a:t>
            </a:r>
            <a:endParaRPr b="0" lang="en-GB" sz="700" spc="-1" strike="noStrike">
              <a:solidFill>
                <a:srgbClr val="ffffff"/>
              </a:solidFill>
              <a:latin typeface="Arial"/>
            </a:endParaRPr>
          </a:p>
        </p:txBody>
      </p:sp>
      <p:sp>
        <p:nvSpPr>
          <p:cNvPr id="451" name="Shape 80"/>
          <p:cNvSpPr/>
          <p:nvPr/>
        </p:nvSpPr>
        <p:spPr>
          <a:xfrm>
            <a:off x="457200" y="3538800"/>
            <a:ext cx="2011320" cy="32868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452" name="Text 81"/>
          <p:cNvSpPr/>
          <p:nvPr/>
        </p:nvSpPr>
        <p:spPr>
          <a:xfrm>
            <a:off x="484560" y="3611880"/>
            <a:ext cx="1956600" cy="264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700" spc="-1" strike="noStrike">
                <a:solidFill>
                  <a:srgbClr val="f8fafc"/>
                </a:solidFill>
                <a:latin typeface="Aptos"/>
                <a:ea typeface="Aptos"/>
              </a:rPr>
              <a:t>KNN</a:t>
            </a:r>
            <a:endParaRPr b="0" lang="en-GB" sz="700" spc="-1" strike="noStrike">
              <a:solidFill>
                <a:srgbClr val="ffffff"/>
              </a:solidFill>
              <a:latin typeface="Arial"/>
            </a:endParaRPr>
          </a:p>
        </p:txBody>
      </p:sp>
      <p:sp>
        <p:nvSpPr>
          <p:cNvPr id="453" name="Shape 82"/>
          <p:cNvSpPr/>
          <p:nvPr/>
        </p:nvSpPr>
        <p:spPr>
          <a:xfrm>
            <a:off x="2468880" y="3538800"/>
            <a:ext cx="959760" cy="32868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454" name="Text 83"/>
          <p:cNvSpPr/>
          <p:nvPr/>
        </p:nvSpPr>
        <p:spPr>
          <a:xfrm>
            <a:off x="2496240" y="3611880"/>
            <a:ext cx="905040" cy="264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00" spc="-1" strike="noStrike">
                <a:solidFill>
                  <a:srgbClr val="f8fafc"/>
                </a:solidFill>
                <a:latin typeface="Aptos"/>
                <a:ea typeface="Aptos"/>
              </a:rPr>
              <a:t>0.7176</a:t>
            </a:r>
            <a:endParaRPr b="0" lang="en-GB" sz="700" spc="-1" strike="noStrike">
              <a:solidFill>
                <a:srgbClr val="ffffff"/>
              </a:solidFill>
              <a:latin typeface="Arial"/>
            </a:endParaRPr>
          </a:p>
        </p:txBody>
      </p:sp>
      <p:sp>
        <p:nvSpPr>
          <p:cNvPr id="455" name="Shape 84"/>
          <p:cNvSpPr/>
          <p:nvPr/>
        </p:nvSpPr>
        <p:spPr>
          <a:xfrm>
            <a:off x="3429000" y="3538800"/>
            <a:ext cx="1005480" cy="32868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456" name="Text 85"/>
          <p:cNvSpPr/>
          <p:nvPr/>
        </p:nvSpPr>
        <p:spPr>
          <a:xfrm>
            <a:off x="3456360" y="3611880"/>
            <a:ext cx="950760" cy="264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00" spc="-1" strike="noStrike">
                <a:solidFill>
                  <a:srgbClr val="f8fafc"/>
                </a:solidFill>
                <a:latin typeface="Aptos"/>
                <a:ea typeface="Aptos"/>
              </a:rPr>
              <a:t>0.3258</a:t>
            </a:r>
            <a:endParaRPr b="0" lang="en-GB" sz="700" spc="-1" strike="noStrike">
              <a:solidFill>
                <a:srgbClr val="ffffff"/>
              </a:solidFill>
              <a:latin typeface="Arial"/>
            </a:endParaRPr>
          </a:p>
        </p:txBody>
      </p:sp>
      <p:sp>
        <p:nvSpPr>
          <p:cNvPr id="457" name="Shape 86"/>
          <p:cNvSpPr/>
          <p:nvPr/>
        </p:nvSpPr>
        <p:spPr>
          <a:xfrm>
            <a:off x="4434840" y="3538800"/>
            <a:ext cx="1005480" cy="32868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458" name="Text 87"/>
          <p:cNvSpPr/>
          <p:nvPr/>
        </p:nvSpPr>
        <p:spPr>
          <a:xfrm>
            <a:off x="4462200" y="3611880"/>
            <a:ext cx="950760" cy="264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00" spc="-1" strike="noStrike">
                <a:solidFill>
                  <a:srgbClr val="f8fafc"/>
                </a:solidFill>
                <a:latin typeface="Aptos"/>
                <a:ea typeface="Aptos"/>
              </a:rPr>
              <a:t>0.7073</a:t>
            </a:r>
            <a:endParaRPr b="0" lang="en-GB" sz="700" spc="-1" strike="noStrike">
              <a:solidFill>
                <a:srgbClr val="ffffff"/>
              </a:solidFill>
              <a:latin typeface="Arial"/>
            </a:endParaRPr>
          </a:p>
        </p:txBody>
      </p:sp>
      <p:sp>
        <p:nvSpPr>
          <p:cNvPr id="459" name="Shape 88"/>
          <p:cNvSpPr/>
          <p:nvPr/>
        </p:nvSpPr>
        <p:spPr>
          <a:xfrm>
            <a:off x="5440680" y="3538800"/>
            <a:ext cx="1005480" cy="32868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460" name="Text 89"/>
          <p:cNvSpPr/>
          <p:nvPr/>
        </p:nvSpPr>
        <p:spPr>
          <a:xfrm>
            <a:off x="5468040" y="3611880"/>
            <a:ext cx="950760" cy="264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00" spc="-1" strike="noStrike">
                <a:solidFill>
                  <a:srgbClr val="f8fafc"/>
                </a:solidFill>
                <a:latin typeface="Aptos"/>
                <a:ea typeface="Aptos"/>
              </a:rPr>
              <a:t>0.4462</a:t>
            </a:r>
            <a:endParaRPr b="0" lang="en-GB" sz="700" spc="-1" strike="noStrike">
              <a:solidFill>
                <a:srgbClr val="ffffff"/>
              </a:solidFill>
              <a:latin typeface="Arial"/>
            </a:endParaRPr>
          </a:p>
        </p:txBody>
      </p:sp>
      <p:sp>
        <p:nvSpPr>
          <p:cNvPr id="461" name="Shape 90"/>
          <p:cNvSpPr/>
          <p:nvPr/>
        </p:nvSpPr>
        <p:spPr>
          <a:xfrm>
            <a:off x="6446520" y="3538800"/>
            <a:ext cx="1416960" cy="32868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462" name="Text 91"/>
          <p:cNvSpPr/>
          <p:nvPr/>
        </p:nvSpPr>
        <p:spPr>
          <a:xfrm>
            <a:off x="6473880" y="3611880"/>
            <a:ext cx="1362240" cy="264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00" spc="-1" strike="noStrike">
                <a:solidFill>
                  <a:srgbClr val="f8fafc"/>
                </a:solidFill>
                <a:latin typeface="Aptos"/>
                <a:ea typeface="Aptos"/>
              </a:rPr>
              <a:t>0.7703</a:t>
            </a:r>
            <a:endParaRPr b="0" lang="en-GB" sz="700" spc="-1" strike="noStrike">
              <a:solidFill>
                <a:srgbClr val="ffffff"/>
              </a:solidFill>
              <a:latin typeface="Arial"/>
            </a:endParaRPr>
          </a:p>
        </p:txBody>
      </p:sp>
      <p:sp>
        <p:nvSpPr>
          <p:cNvPr id="463" name="Shape 92"/>
          <p:cNvSpPr/>
          <p:nvPr/>
        </p:nvSpPr>
        <p:spPr>
          <a:xfrm>
            <a:off x="457200" y="3867840"/>
            <a:ext cx="2011320" cy="32868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464" name="Text 93"/>
          <p:cNvSpPr/>
          <p:nvPr/>
        </p:nvSpPr>
        <p:spPr>
          <a:xfrm>
            <a:off x="484560" y="3940920"/>
            <a:ext cx="1956600" cy="264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700" spc="-1" strike="noStrike">
                <a:solidFill>
                  <a:srgbClr val="f8fafc"/>
                </a:solidFill>
                <a:latin typeface="Aptos"/>
                <a:ea typeface="Aptos"/>
              </a:rPr>
              <a:t>Naive Bayes</a:t>
            </a:r>
            <a:endParaRPr b="0" lang="en-GB" sz="700" spc="-1" strike="noStrike">
              <a:solidFill>
                <a:srgbClr val="ffffff"/>
              </a:solidFill>
              <a:latin typeface="Arial"/>
            </a:endParaRPr>
          </a:p>
        </p:txBody>
      </p:sp>
      <p:sp>
        <p:nvSpPr>
          <p:cNvPr id="465" name="Shape 94"/>
          <p:cNvSpPr/>
          <p:nvPr/>
        </p:nvSpPr>
        <p:spPr>
          <a:xfrm>
            <a:off x="2468880" y="3867840"/>
            <a:ext cx="959760" cy="32868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466" name="Text 95"/>
          <p:cNvSpPr/>
          <p:nvPr/>
        </p:nvSpPr>
        <p:spPr>
          <a:xfrm>
            <a:off x="2496240" y="3940920"/>
            <a:ext cx="905040" cy="264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00" spc="-1" strike="noStrike">
                <a:solidFill>
                  <a:srgbClr val="f8fafc"/>
                </a:solidFill>
                <a:latin typeface="Aptos"/>
                <a:ea typeface="Aptos"/>
              </a:rPr>
              <a:t>0.2039</a:t>
            </a:r>
            <a:endParaRPr b="0" lang="en-GB" sz="700" spc="-1" strike="noStrike">
              <a:solidFill>
                <a:srgbClr val="ffffff"/>
              </a:solidFill>
              <a:latin typeface="Arial"/>
            </a:endParaRPr>
          </a:p>
        </p:txBody>
      </p:sp>
      <p:sp>
        <p:nvSpPr>
          <p:cNvPr id="467" name="Shape 96"/>
          <p:cNvSpPr/>
          <p:nvPr/>
        </p:nvSpPr>
        <p:spPr>
          <a:xfrm>
            <a:off x="3429000" y="3867840"/>
            <a:ext cx="1005480" cy="32868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468" name="Text 97"/>
          <p:cNvSpPr/>
          <p:nvPr/>
        </p:nvSpPr>
        <p:spPr>
          <a:xfrm>
            <a:off x="3456360" y="3940920"/>
            <a:ext cx="950760" cy="264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00" spc="-1" strike="noStrike">
                <a:solidFill>
                  <a:srgbClr val="f8fafc"/>
                </a:solidFill>
                <a:latin typeface="Aptos"/>
                <a:ea typeface="Aptos"/>
              </a:rPr>
              <a:t>0.1538</a:t>
            </a:r>
            <a:endParaRPr b="0" lang="en-GB" sz="700" spc="-1" strike="noStrike">
              <a:solidFill>
                <a:srgbClr val="ffffff"/>
              </a:solidFill>
              <a:latin typeface="Arial"/>
            </a:endParaRPr>
          </a:p>
        </p:txBody>
      </p:sp>
      <p:sp>
        <p:nvSpPr>
          <p:cNvPr id="469" name="Shape 98"/>
          <p:cNvSpPr/>
          <p:nvPr/>
        </p:nvSpPr>
        <p:spPr>
          <a:xfrm>
            <a:off x="4434840" y="3867840"/>
            <a:ext cx="1005480" cy="32868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470" name="Text 99"/>
          <p:cNvSpPr/>
          <p:nvPr/>
        </p:nvSpPr>
        <p:spPr>
          <a:xfrm>
            <a:off x="4462200" y="3940920"/>
            <a:ext cx="950760" cy="264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00" spc="-1" strike="noStrike">
                <a:solidFill>
                  <a:srgbClr val="f8fafc"/>
                </a:solidFill>
                <a:latin typeface="Aptos"/>
                <a:ea typeface="Aptos"/>
              </a:rPr>
              <a:t>0.8780</a:t>
            </a:r>
            <a:endParaRPr b="0" lang="en-GB" sz="700" spc="-1" strike="noStrike">
              <a:solidFill>
                <a:srgbClr val="ffffff"/>
              </a:solidFill>
              <a:latin typeface="Arial"/>
            </a:endParaRPr>
          </a:p>
        </p:txBody>
      </p:sp>
      <p:sp>
        <p:nvSpPr>
          <p:cNvPr id="471" name="Shape 100"/>
          <p:cNvSpPr/>
          <p:nvPr/>
        </p:nvSpPr>
        <p:spPr>
          <a:xfrm>
            <a:off x="5440680" y="3867840"/>
            <a:ext cx="1005480" cy="32868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472" name="Text 101"/>
          <p:cNvSpPr/>
          <p:nvPr/>
        </p:nvSpPr>
        <p:spPr>
          <a:xfrm>
            <a:off x="5468040" y="3940920"/>
            <a:ext cx="950760" cy="264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00" spc="-1" strike="noStrike">
                <a:solidFill>
                  <a:srgbClr val="f8fafc"/>
                </a:solidFill>
                <a:latin typeface="Aptos"/>
                <a:ea typeface="Aptos"/>
              </a:rPr>
              <a:t>0.2618</a:t>
            </a:r>
            <a:endParaRPr b="0" lang="en-GB" sz="700" spc="-1" strike="noStrike">
              <a:solidFill>
                <a:srgbClr val="ffffff"/>
              </a:solidFill>
              <a:latin typeface="Arial"/>
            </a:endParaRPr>
          </a:p>
        </p:txBody>
      </p:sp>
      <p:sp>
        <p:nvSpPr>
          <p:cNvPr id="473" name="Shape 102"/>
          <p:cNvSpPr/>
          <p:nvPr/>
        </p:nvSpPr>
        <p:spPr>
          <a:xfrm>
            <a:off x="6446520" y="3867840"/>
            <a:ext cx="1416960" cy="32868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474" name="Text 103"/>
          <p:cNvSpPr/>
          <p:nvPr/>
        </p:nvSpPr>
        <p:spPr>
          <a:xfrm>
            <a:off x="6473880" y="3940920"/>
            <a:ext cx="1362240" cy="264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00" spc="-1" strike="noStrike">
                <a:solidFill>
                  <a:srgbClr val="f8fafc"/>
                </a:solidFill>
                <a:latin typeface="Aptos"/>
                <a:ea typeface="Aptos"/>
              </a:rPr>
              <a:t>0.4826</a:t>
            </a:r>
            <a:endParaRPr b="0" lang="en-GB" sz="700" spc="-1" strike="noStrike">
              <a:solidFill>
                <a:srgbClr val="ffffff"/>
              </a:solidFill>
              <a:latin typeface="Arial"/>
            </a:endParaRPr>
          </a:p>
        </p:txBody>
      </p:sp>
      <p:sp>
        <p:nvSpPr>
          <p:cNvPr id="475" name="Shape 104"/>
          <p:cNvSpPr/>
          <p:nvPr/>
        </p:nvSpPr>
        <p:spPr>
          <a:xfrm>
            <a:off x="8138160" y="1673280"/>
            <a:ext cx="3428640" cy="1645560"/>
          </a:xfrm>
          <a:prstGeom prst="roundRect">
            <a:avLst>
              <a:gd name="adj" fmla="val 6667"/>
            </a:avLst>
          </a:prstGeom>
          <a:solidFill>
            <a:srgbClr val="0b1a2e"/>
          </a:solidFill>
          <a:ln w="10160">
            <a:solidFill>
              <a:srgbClr val="334155">
                <a:alpha val="6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476" name="Text 105"/>
          <p:cNvSpPr/>
          <p:nvPr/>
        </p:nvSpPr>
        <p:spPr>
          <a:xfrm>
            <a:off x="8302680" y="1810440"/>
            <a:ext cx="3099600" cy="237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900" spc="-1" strike="noStrike">
                <a:solidFill>
                  <a:srgbClr val="f8fafc"/>
                </a:solidFill>
                <a:latin typeface="Aptos"/>
                <a:ea typeface="Aptos"/>
              </a:rPr>
              <a:t>Validation F1-score</a:t>
            </a:r>
            <a:endParaRPr b="0" lang="en-GB" sz="900" spc="-1" strike="noStrike">
              <a:solidFill>
                <a:srgbClr val="ffffff"/>
              </a:solidFill>
              <a:latin typeface="Arial"/>
            </a:endParaRPr>
          </a:p>
        </p:txBody>
      </p:sp>
      <p:sp>
        <p:nvSpPr>
          <p:cNvPr id="477" name="Text 106"/>
          <p:cNvSpPr/>
          <p:nvPr/>
        </p:nvSpPr>
        <p:spPr>
          <a:xfrm>
            <a:off x="8302680" y="2231280"/>
            <a:ext cx="1416960" cy="145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700" spc="-1" strike="noStrike">
                <a:solidFill>
                  <a:srgbClr val="94a3b8"/>
                </a:solidFill>
                <a:latin typeface="Aptos"/>
                <a:ea typeface="Aptos"/>
              </a:rPr>
              <a:t>XGB</a:t>
            </a:r>
            <a:endParaRPr b="0" lang="en-GB" sz="700" spc="-1" strike="noStrike">
              <a:solidFill>
                <a:srgbClr val="ffffff"/>
              </a:solidFill>
              <a:latin typeface="Arial"/>
            </a:endParaRPr>
          </a:p>
        </p:txBody>
      </p:sp>
      <p:sp>
        <p:nvSpPr>
          <p:cNvPr id="478" name="Shape 107"/>
          <p:cNvSpPr/>
          <p:nvPr/>
        </p:nvSpPr>
        <p:spPr>
          <a:xfrm>
            <a:off x="9829800" y="2258640"/>
            <a:ext cx="1096920" cy="109440"/>
          </a:xfrm>
          <a:prstGeom prst="rect">
            <a:avLst/>
          </a:prstGeom>
          <a:solidFill>
            <a:srgbClr val="334155">
              <a:alpha val="80000"/>
            </a:srgbClr>
          </a:solidFill>
          <a:ln w="12700">
            <a:solidFill>
              <a:srgbClr val="334155">
                <a:alpha val="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479" name="Shape 108"/>
          <p:cNvSpPr/>
          <p:nvPr/>
        </p:nvSpPr>
        <p:spPr>
          <a:xfrm>
            <a:off x="9829800" y="2258640"/>
            <a:ext cx="689400" cy="109440"/>
          </a:xfrm>
          <a:prstGeom prst="rect">
            <a:avLst/>
          </a:prstGeom>
          <a:solidFill>
            <a:srgbClr val="14b8a6"/>
          </a:solidFill>
          <a:ln w="12700">
            <a:solidFill>
              <a:srgbClr val="14b8a6"/>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480" name="Text 109"/>
          <p:cNvSpPr/>
          <p:nvPr/>
        </p:nvSpPr>
        <p:spPr>
          <a:xfrm>
            <a:off x="11036880" y="2217600"/>
            <a:ext cx="383760" cy="1368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680" spc="-1" strike="noStrike">
                <a:solidFill>
                  <a:srgbClr val="f8fafc"/>
                </a:solidFill>
                <a:latin typeface="Aptos"/>
                <a:ea typeface="Aptos"/>
              </a:rPr>
              <a:t>0.629</a:t>
            </a:r>
            <a:endParaRPr b="0" lang="en-GB" sz="680" spc="-1" strike="noStrike">
              <a:solidFill>
                <a:srgbClr val="ffffff"/>
              </a:solidFill>
              <a:latin typeface="Arial"/>
            </a:endParaRPr>
          </a:p>
        </p:txBody>
      </p:sp>
      <p:sp>
        <p:nvSpPr>
          <p:cNvPr id="481" name="Text 110"/>
          <p:cNvSpPr/>
          <p:nvPr/>
        </p:nvSpPr>
        <p:spPr>
          <a:xfrm>
            <a:off x="8302680" y="2364480"/>
            <a:ext cx="1416960" cy="145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700" spc="-1" strike="noStrike">
                <a:solidFill>
                  <a:srgbClr val="94a3b8"/>
                </a:solidFill>
                <a:latin typeface="Aptos"/>
                <a:ea typeface="Aptos"/>
              </a:rPr>
              <a:t>LR</a:t>
            </a:r>
            <a:endParaRPr b="0" lang="en-GB" sz="700" spc="-1" strike="noStrike">
              <a:solidFill>
                <a:srgbClr val="ffffff"/>
              </a:solidFill>
              <a:latin typeface="Arial"/>
            </a:endParaRPr>
          </a:p>
        </p:txBody>
      </p:sp>
      <p:sp>
        <p:nvSpPr>
          <p:cNvPr id="482" name="Shape 111"/>
          <p:cNvSpPr/>
          <p:nvPr/>
        </p:nvSpPr>
        <p:spPr>
          <a:xfrm>
            <a:off x="9829800" y="2391840"/>
            <a:ext cx="1096920" cy="109440"/>
          </a:xfrm>
          <a:prstGeom prst="rect">
            <a:avLst/>
          </a:prstGeom>
          <a:solidFill>
            <a:srgbClr val="334155">
              <a:alpha val="80000"/>
            </a:srgbClr>
          </a:solidFill>
          <a:ln w="12700">
            <a:solidFill>
              <a:srgbClr val="334155">
                <a:alpha val="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483" name="Shape 112"/>
          <p:cNvSpPr/>
          <p:nvPr/>
        </p:nvSpPr>
        <p:spPr>
          <a:xfrm>
            <a:off x="9829800" y="2391840"/>
            <a:ext cx="652680" cy="109440"/>
          </a:xfrm>
          <a:prstGeom prst="rect">
            <a:avLst/>
          </a:prstGeom>
          <a:solidFill>
            <a:srgbClr val="14b8a6"/>
          </a:solidFill>
          <a:ln w="12700">
            <a:solidFill>
              <a:srgbClr val="14b8a6"/>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484" name="Text 113"/>
          <p:cNvSpPr/>
          <p:nvPr/>
        </p:nvSpPr>
        <p:spPr>
          <a:xfrm>
            <a:off x="11036880" y="2350800"/>
            <a:ext cx="383760" cy="1368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680" spc="-1" strike="noStrike">
                <a:solidFill>
                  <a:srgbClr val="f8fafc"/>
                </a:solidFill>
                <a:latin typeface="Aptos"/>
                <a:ea typeface="Aptos"/>
              </a:rPr>
              <a:t>0.595</a:t>
            </a:r>
            <a:endParaRPr b="0" lang="en-GB" sz="680" spc="-1" strike="noStrike">
              <a:solidFill>
                <a:srgbClr val="ffffff"/>
              </a:solidFill>
              <a:latin typeface="Arial"/>
            </a:endParaRPr>
          </a:p>
        </p:txBody>
      </p:sp>
      <p:sp>
        <p:nvSpPr>
          <p:cNvPr id="485" name="Text 114"/>
          <p:cNvSpPr/>
          <p:nvPr/>
        </p:nvSpPr>
        <p:spPr>
          <a:xfrm>
            <a:off x="8302680" y="2497680"/>
            <a:ext cx="1416960" cy="145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700" spc="-1" strike="noStrike">
                <a:solidFill>
                  <a:srgbClr val="94a3b8"/>
                </a:solidFill>
                <a:latin typeface="Aptos"/>
                <a:ea typeface="Aptos"/>
              </a:rPr>
              <a:t>RF</a:t>
            </a:r>
            <a:endParaRPr b="0" lang="en-GB" sz="700" spc="-1" strike="noStrike">
              <a:solidFill>
                <a:srgbClr val="ffffff"/>
              </a:solidFill>
              <a:latin typeface="Arial"/>
            </a:endParaRPr>
          </a:p>
        </p:txBody>
      </p:sp>
      <p:sp>
        <p:nvSpPr>
          <p:cNvPr id="486" name="Shape 115"/>
          <p:cNvSpPr/>
          <p:nvPr/>
        </p:nvSpPr>
        <p:spPr>
          <a:xfrm>
            <a:off x="9829800" y="2525040"/>
            <a:ext cx="1096920" cy="109440"/>
          </a:xfrm>
          <a:prstGeom prst="rect">
            <a:avLst/>
          </a:prstGeom>
          <a:solidFill>
            <a:srgbClr val="334155">
              <a:alpha val="80000"/>
            </a:srgbClr>
          </a:solidFill>
          <a:ln w="12700">
            <a:solidFill>
              <a:srgbClr val="334155">
                <a:alpha val="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487" name="Shape 116"/>
          <p:cNvSpPr/>
          <p:nvPr/>
        </p:nvSpPr>
        <p:spPr>
          <a:xfrm>
            <a:off x="9829800" y="2525040"/>
            <a:ext cx="582480" cy="109440"/>
          </a:xfrm>
          <a:prstGeom prst="rect">
            <a:avLst/>
          </a:prstGeom>
          <a:solidFill>
            <a:srgbClr val="14b8a6"/>
          </a:solidFill>
          <a:ln w="12700">
            <a:solidFill>
              <a:srgbClr val="14b8a6"/>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488" name="Text 117"/>
          <p:cNvSpPr/>
          <p:nvPr/>
        </p:nvSpPr>
        <p:spPr>
          <a:xfrm>
            <a:off x="11036880" y="2484000"/>
            <a:ext cx="383760" cy="1368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680" spc="-1" strike="noStrike">
                <a:solidFill>
                  <a:srgbClr val="f8fafc"/>
                </a:solidFill>
                <a:latin typeface="Aptos"/>
                <a:ea typeface="Aptos"/>
              </a:rPr>
              <a:t>0.531</a:t>
            </a:r>
            <a:endParaRPr b="0" lang="en-GB" sz="680" spc="-1" strike="noStrike">
              <a:solidFill>
                <a:srgbClr val="ffffff"/>
              </a:solidFill>
              <a:latin typeface="Arial"/>
            </a:endParaRPr>
          </a:p>
        </p:txBody>
      </p:sp>
      <p:sp>
        <p:nvSpPr>
          <p:cNvPr id="489" name="Text 118"/>
          <p:cNvSpPr/>
          <p:nvPr/>
        </p:nvSpPr>
        <p:spPr>
          <a:xfrm>
            <a:off x="8302680" y="2630880"/>
            <a:ext cx="1416960" cy="145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700" spc="-1" strike="noStrike">
                <a:solidFill>
                  <a:srgbClr val="94a3b8"/>
                </a:solidFill>
                <a:latin typeface="Aptos"/>
                <a:ea typeface="Aptos"/>
              </a:rPr>
              <a:t>SVM</a:t>
            </a:r>
            <a:endParaRPr b="0" lang="en-GB" sz="700" spc="-1" strike="noStrike">
              <a:solidFill>
                <a:srgbClr val="ffffff"/>
              </a:solidFill>
              <a:latin typeface="Arial"/>
            </a:endParaRPr>
          </a:p>
        </p:txBody>
      </p:sp>
      <p:sp>
        <p:nvSpPr>
          <p:cNvPr id="490" name="Shape 119"/>
          <p:cNvSpPr/>
          <p:nvPr/>
        </p:nvSpPr>
        <p:spPr>
          <a:xfrm>
            <a:off x="9829800" y="2658240"/>
            <a:ext cx="1096920" cy="109440"/>
          </a:xfrm>
          <a:prstGeom prst="rect">
            <a:avLst/>
          </a:prstGeom>
          <a:solidFill>
            <a:srgbClr val="334155">
              <a:alpha val="80000"/>
            </a:srgbClr>
          </a:solidFill>
          <a:ln w="12700">
            <a:solidFill>
              <a:srgbClr val="334155">
                <a:alpha val="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491" name="Shape 120"/>
          <p:cNvSpPr/>
          <p:nvPr/>
        </p:nvSpPr>
        <p:spPr>
          <a:xfrm>
            <a:off x="9829800" y="2658240"/>
            <a:ext cx="570960" cy="109440"/>
          </a:xfrm>
          <a:prstGeom prst="rect">
            <a:avLst/>
          </a:prstGeom>
          <a:solidFill>
            <a:srgbClr val="14b8a6"/>
          </a:solidFill>
          <a:ln w="12700">
            <a:solidFill>
              <a:srgbClr val="14b8a6"/>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492" name="Text 121"/>
          <p:cNvSpPr/>
          <p:nvPr/>
        </p:nvSpPr>
        <p:spPr>
          <a:xfrm>
            <a:off x="11036880" y="2617200"/>
            <a:ext cx="383760" cy="1368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680" spc="-1" strike="noStrike">
                <a:solidFill>
                  <a:srgbClr val="f8fafc"/>
                </a:solidFill>
                <a:latin typeface="Aptos"/>
                <a:ea typeface="Aptos"/>
              </a:rPr>
              <a:t>0.521</a:t>
            </a:r>
            <a:endParaRPr b="0" lang="en-GB" sz="680" spc="-1" strike="noStrike">
              <a:solidFill>
                <a:srgbClr val="ffffff"/>
              </a:solidFill>
              <a:latin typeface="Arial"/>
            </a:endParaRPr>
          </a:p>
        </p:txBody>
      </p:sp>
      <p:sp>
        <p:nvSpPr>
          <p:cNvPr id="493" name="Text 122"/>
          <p:cNvSpPr/>
          <p:nvPr/>
        </p:nvSpPr>
        <p:spPr>
          <a:xfrm>
            <a:off x="8302680" y="2764080"/>
            <a:ext cx="1416960" cy="145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700" spc="-1" strike="noStrike">
                <a:solidFill>
                  <a:srgbClr val="94a3b8"/>
                </a:solidFill>
                <a:latin typeface="Aptos"/>
                <a:ea typeface="Aptos"/>
              </a:rPr>
              <a:t>DT</a:t>
            </a:r>
            <a:endParaRPr b="0" lang="en-GB" sz="700" spc="-1" strike="noStrike">
              <a:solidFill>
                <a:srgbClr val="ffffff"/>
              </a:solidFill>
              <a:latin typeface="Arial"/>
            </a:endParaRPr>
          </a:p>
        </p:txBody>
      </p:sp>
      <p:sp>
        <p:nvSpPr>
          <p:cNvPr id="494" name="Shape 123"/>
          <p:cNvSpPr/>
          <p:nvPr/>
        </p:nvSpPr>
        <p:spPr>
          <a:xfrm>
            <a:off x="9829800" y="2791440"/>
            <a:ext cx="1096920" cy="109440"/>
          </a:xfrm>
          <a:prstGeom prst="rect">
            <a:avLst/>
          </a:prstGeom>
          <a:solidFill>
            <a:srgbClr val="334155">
              <a:alpha val="80000"/>
            </a:srgbClr>
          </a:solidFill>
          <a:ln w="12700">
            <a:solidFill>
              <a:srgbClr val="334155">
                <a:alpha val="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495" name="Shape 124"/>
          <p:cNvSpPr/>
          <p:nvPr/>
        </p:nvSpPr>
        <p:spPr>
          <a:xfrm>
            <a:off x="9829800" y="2791440"/>
            <a:ext cx="563040" cy="109440"/>
          </a:xfrm>
          <a:prstGeom prst="rect">
            <a:avLst/>
          </a:prstGeom>
          <a:solidFill>
            <a:srgbClr val="14b8a6"/>
          </a:solidFill>
          <a:ln w="12700">
            <a:solidFill>
              <a:srgbClr val="14b8a6"/>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496" name="Text 125"/>
          <p:cNvSpPr/>
          <p:nvPr/>
        </p:nvSpPr>
        <p:spPr>
          <a:xfrm>
            <a:off x="11036880" y="2750400"/>
            <a:ext cx="383760" cy="1368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680" spc="-1" strike="noStrike">
                <a:solidFill>
                  <a:srgbClr val="f8fafc"/>
                </a:solidFill>
                <a:latin typeface="Aptos"/>
                <a:ea typeface="Aptos"/>
              </a:rPr>
              <a:t>0.513</a:t>
            </a:r>
            <a:endParaRPr b="0" lang="en-GB" sz="680" spc="-1" strike="noStrike">
              <a:solidFill>
                <a:srgbClr val="ffffff"/>
              </a:solidFill>
              <a:latin typeface="Arial"/>
            </a:endParaRPr>
          </a:p>
        </p:txBody>
      </p:sp>
      <p:sp>
        <p:nvSpPr>
          <p:cNvPr id="497" name="Text 126"/>
          <p:cNvSpPr/>
          <p:nvPr/>
        </p:nvSpPr>
        <p:spPr>
          <a:xfrm>
            <a:off x="8302680" y="2897280"/>
            <a:ext cx="1416960" cy="145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700" spc="-1" strike="noStrike">
                <a:solidFill>
                  <a:srgbClr val="94a3b8"/>
                </a:solidFill>
                <a:latin typeface="Aptos"/>
                <a:ea typeface="Aptos"/>
              </a:rPr>
              <a:t>KNN</a:t>
            </a:r>
            <a:endParaRPr b="0" lang="en-GB" sz="700" spc="-1" strike="noStrike">
              <a:solidFill>
                <a:srgbClr val="ffffff"/>
              </a:solidFill>
              <a:latin typeface="Arial"/>
            </a:endParaRPr>
          </a:p>
        </p:txBody>
      </p:sp>
      <p:sp>
        <p:nvSpPr>
          <p:cNvPr id="498" name="Shape 127"/>
          <p:cNvSpPr/>
          <p:nvPr/>
        </p:nvSpPr>
        <p:spPr>
          <a:xfrm>
            <a:off x="9829800" y="2924640"/>
            <a:ext cx="1096920" cy="109440"/>
          </a:xfrm>
          <a:prstGeom prst="rect">
            <a:avLst/>
          </a:prstGeom>
          <a:solidFill>
            <a:srgbClr val="334155">
              <a:alpha val="80000"/>
            </a:srgbClr>
          </a:solidFill>
          <a:ln w="12700">
            <a:solidFill>
              <a:srgbClr val="334155">
                <a:alpha val="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499" name="Shape 128"/>
          <p:cNvSpPr/>
          <p:nvPr/>
        </p:nvSpPr>
        <p:spPr>
          <a:xfrm>
            <a:off x="9829800" y="2924640"/>
            <a:ext cx="489240" cy="109440"/>
          </a:xfrm>
          <a:prstGeom prst="rect">
            <a:avLst/>
          </a:prstGeom>
          <a:solidFill>
            <a:srgbClr val="14b8a6"/>
          </a:solidFill>
          <a:ln w="12700">
            <a:solidFill>
              <a:srgbClr val="14b8a6"/>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500" name="Text 129"/>
          <p:cNvSpPr/>
          <p:nvPr/>
        </p:nvSpPr>
        <p:spPr>
          <a:xfrm>
            <a:off x="11036880" y="2883600"/>
            <a:ext cx="383760" cy="1368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680" spc="-1" strike="noStrike">
                <a:solidFill>
                  <a:srgbClr val="f8fafc"/>
                </a:solidFill>
                <a:latin typeface="Aptos"/>
                <a:ea typeface="Aptos"/>
              </a:rPr>
              <a:t>0.446</a:t>
            </a:r>
            <a:endParaRPr b="0" lang="en-GB" sz="680" spc="-1" strike="noStrike">
              <a:solidFill>
                <a:srgbClr val="ffffff"/>
              </a:solidFill>
              <a:latin typeface="Arial"/>
            </a:endParaRPr>
          </a:p>
        </p:txBody>
      </p:sp>
      <p:sp>
        <p:nvSpPr>
          <p:cNvPr id="501" name="Text 130"/>
          <p:cNvSpPr/>
          <p:nvPr/>
        </p:nvSpPr>
        <p:spPr>
          <a:xfrm>
            <a:off x="8302680" y="3030480"/>
            <a:ext cx="1416960" cy="145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700" spc="-1" strike="noStrike">
                <a:solidFill>
                  <a:srgbClr val="94a3b8"/>
                </a:solidFill>
                <a:latin typeface="Aptos"/>
                <a:ea typeface="Aptos"/>
              </a:rPr>
              <a:t>NB</a:t>
            </a:r>
            <a:endParaRPr b="0" lang="en-GB" sz="700" spc="-1" strike="noStrike">
              <a:solidFill>
                <a:srgbClr val="ffffff"/>
              </a:solidFill>
              <a:latin typeface="Arial"/>
            </a:endParaRPr>
          </a:p>
        </p:txBody>
      </p:sp>
      <p:sp>
        <p:nvSpPr>
          <p:cNvPr id="502" name="Shape 131"/>
          <p:cNvSpPr/>
          <p:nvPr/>
        </p:nvSpPr>
        <p:spPr>
          <a:xfrm>
            <a:off x="9829800" y="3057840"/>
            <a:ext cx="1096920" cy="109440"/>
          </a:xfrm>
          <a:prstGeom prst="rect">
            <a:avLst/>
          </a:prstGeom>
          <a:solidFill>
            <a:srgbClr val="334155">
              <a:alpha val="80000"/>
            </a:srgbClr>
          </a:solidFill>
          <a:ln w="12700">
            <a:solidFill>
              <a:srgbClr val="334155">
                <a:alpha val="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503" name="Shape 132"/>
          <p:cNvSpPr/>
          <p:nvPr/>
        </p:nvSpPr>
        <p:spPr>
          <a:xfrm>
            <a:off x="9829800" y="3057840"/>
            <a:ext cx="286920" cy="109440"/>
          </a:xfrm>
          <a:prstGeom prst="rect">
            <a:avLst/>
          </a:prstGeom>
          <a:solidFill>
            <a:srgbClr val="14b8a6"/>
          </a:solidFill>
          <a:ln w="12700">
            <a:solidFill>
              <a:srgbClr val="14b8a6"/>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504" name="Text 133"/>
          <p:cNvSpPr/>
          <p:nvPr/>
        </p:nvSpPr>
        <p:spPr>
          <a:xfrm>
            <a:off x="11036880" y="3016800"/>
            <a:ext cx="383760" cy="1368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680" spc="-1" strike="noStrike">
                <a:solidFill>
                  <a:srgbClr val="f8fafc"/>
                </a:solidFill>
                <a:latin typeface="Aptos"/>
                <a:ea typeface="Aptos"/>
              </a:rPr>
              <a:t>0.262</a:t>
            </a:r>
            <a:endParaRPr b="0" lang="en-GB" sz="680" spc="-1" strike="noStrike">
              <a:solidFill>
                <a:srgbClr val="ffffff"/>
              </a:solidFill>
              <a:latin typeface="Arial"/>
            </a:endParaRPr>
          </a:p>
        </p:txBody>
      </p:sp>
      <p:sp>
        <p:nvSpPr>
          <p:cNvPr id="505" name="Shape 134"/>
          <p:cNvSpPr/>
          <p:nvPr/>
        </p:nvSpPr>
        <p:spPr>
          <a:xfrm>
            <a:off x="8138160" y="3675960"/>
            <a:ext cx="3428640" cy="1645560"/>
          </a:xfrm>
          <a:prstGeom prst="roundRect">
            <a:avLst>
              <a:gd name="adj" fmla="val 6667"/>
            </a:avLst>
          </a:prstGeom>
          <a:solidFill>
            <a:srgbClr val="0b1a2e"/>
          </a:solidFill>
          <a:ln w="10160">
            <a:solidFill>
              <a:srgbClr val="334155">
                <a:alpha val="6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506" name="Text 135"/>
          <p:cNvSpPr/>
          <p:nvPr/>
        </p:nvSpPr>
        <p:spPr>
          <a:xfrm>
            <a:off x="8302680" y="3813120"/>
            <a:ext cx="3099600" cy="237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900" spc="-1" strike="noStrike">
                <a:solidFill>
                  <a:srgbClr val="f8fafc"/>
                </a:solidFill>
                <a:latin typeface="Aptos"/>
                <a:ea typeface="Aptos"/>
              </a:rPr>
              <a:t>Validation Recall</a:t>
            </a:r>
            <a:endParaRPr b="0" lang="en-GB" sz="900" spc="-1" strike="noStrike">
              <a:solidFill>
                <a:srgbClr val="ffffff"/>
              </a:solidFill>
              <a:latin typeface="Arial"/>
            </a:endParaRPr>
          </a:p>
        </p:txBody>
      </p:sp>
      <p:sp>
        <p:nvSpPr>
          <p:cNvPr id="507" name="Text 136"/>
          <p:cNvSpPr/>
          <p:nvPr/>
        </p:nvSpPr>
        <p:spPr>
          <a:xfrm>
            <a:off x="8302680" y="4233600"/>
            <a:ext cx="1416960" cy="145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700" spc="-1" strike="noStrike">
                <a:solidFill>
                  <a:srgbClr val="94a3b8"/>
                </a:solidFill>
                <a:latin typeface="Aptos"/>
                <a:ea typeface="Aptos"/>
              </a:rPr>
              <a:t>LR</a:t>
            </a:r>
            <a:endParaRPr b="0" lang="en-GB" sz="700" spc="-1" strike="noStrike">
              <a:solidFill>
                <a:srgbClr val="ffffff"/>
              </a:solidFill>
              <a:latin typeface="Arial"/>
            </a:endParaRPr>
          </a:p>
        </p:txBody>
      </p:sp>
      <p:sp>
        <p:nvSpPr>
          <p:cNvPr id="508" name="Shape 137"/>
          <p:cNvSpPr/>
          <p:nvPr/>
        </p:nvSpPr>
        <p:spPr>
          <a:xfrm>
            <a:off x="9829800" y="4260960"/>
            <a:ext cx="1096920" cy="109440"/>
          </a:xfrm>
          <a:prstGeom prst="rect">
            <a:avLst/>
          </a:prstGeom>
          <a:solidFill>
            <a:srgbClr val="334155">
              <a:alpha val="80000"/>
            </a:srgbClr>
          </a:solidFill>
          <a:ln w="12700">
            <a:solidFill>
              <a:srgbClr val="334155">
                <a:alpha val="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509" name="Shape 138"/>
          <p:cNvSpPr/>
          <p:nvPr/>
        </p:nvSpPr>
        <p:spPr>
          <a:xfrm>
            <a:off x="9829800" y="4260960"/>
            <a:ext cx="963000" cy="109440"/>
          </a:xfrm>
          <a:prstGeom prst="rect">
            <a:avLst/>
          </a:prstGeom>
          <a:solidFill>
            <a:srgbClr val="f59e0b"/>
          </a:solidFill>
          <a:ln w="12700">
            <a:solidFill>
              <a:srgbClr val="f59e0b"/>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510" name="Text 139"/>
          <p:cNvSpPr/>
          <p:nvPr/>
        </p:nvSpPr>
        <p:spPr>
          <a:xfrm>
            <a:off x="11036880" y="4219920"/>
            <a:ext cx="383760" cy="1368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680" spc="-1" strike="noStrike">
                <a:solidFill>
                  <a:srgbClr val="f8fafc"/>
                </a:solidFill>
                <a:latin typeface="Aptos"/>
                <a:ea typeface="Aptos"/>
              </a:rPr>
              <a:t>0.878</a:t>
            </a:r>
            <a:endParaRPr b="0" lang="en-GB" sz="680" spc="-1" strike="noStrike">
              <a:solidFill>
                <a:srgbClr val="ffffff"/>
              </a:solidFill>
              <a:latin typeface="Arial"/>
            </a:endParaRPr>
          </a:p>
        </p:txBody>
      </p:sp>
      <p:sp>
        <p:nvSpPr>
          <p:cNvPr id="511" name="Text 140"/>
          <p:cNvSpPr/>
          <p:nvPr/>
        </p:nvSpPr>
        <p:spPr>
          <a:xfrm>
            <a:off x="8302680" y="4366800"/>
            <a:ext cx="1416960" cy="145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700" spc="-1" strike="noStrike">
                <a:solidFill>
                  <a:srgbClr val="94a3b8"/>
                </a:solidFill>
                <a:latin typeface="Aptos"/>
                <a:ea typeface="Aptos"/>
              </a:rPr>
              <a:t>NB</a:t>
            </a:r>
            <a:endParaRPr b="0" lang="en-GB" sz="700" spc="-1" strike="noStrike">
              <a:solidFill>
                <a:srgbClr val="ffffff"/>
              </a:solidFill>
              <a:latin typeface="Arial"/>
            </a:endParaRPr>
          </a:p>
        </p:txBody>
      </p:sp>
      <p:sp>
        <p:nvSpPr>
          <p:cNvPr id="512" name="Shape 141"/>
          <p:cNvSpPr/>
          <p:nvPr/>
        </p:nvSpPr>
        <p:spPr>
          <a:xfrm>
            <a:off x="9829800" y="4394520"/>
            <a:ext cx="1096920" cy="109440"/>
          </a:xfrm>
          <a:prstGeom prst="rect">
            <a:avLst/>
          </a:prstGeom>
          <a:solidFill>
            <a:srgbClr val="334155">
              <a:alpha val="80000"/>
            </a:srgbClr>
          </a:solidFill>
          <a:ln w="12700">
            <a:solidFill>
              <a:srgbClr val="334155">
                <a:alpha val="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513" name="Shape 142"/>
          <p:cNvSpPr/>
          <p:nvPr/>
        </p:nvSpPr>
        <p:spPr>
          <a:xfrm>
            <a:off x="9829800" y="4394520"/>
            <a:ext cx="963000" cy="109440"/>
          </a:xfrm>
          <a:prstGeom prst="rect">
            <a:avLst/>
          </a:prstGeom>
          <a:solidFill>
            <a:srgbClr val="f59e0b"/>
          </a:solidFill>
          <a:ln w="12700">
            <a:solidFill>
              <a:srgbClr val="f59e0b"/>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514" name="Text 143"/>
          <p:cNvSpPr/>
          <p:nvPr/>
        </p:nvSpPr>
        <p:spPr>
          <a:xfrm>
            <a:off x="11036880" y="4353120"/>
            <a:ext cx="383760" cy="1368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680" spc="-1" strike="noStrike">
                <a:solidFill>
                  <a:srgbClr val="f8fafc"/>
                </a:solidFill>
                <a:latin typeface="Aptos"/>
                <a:ea typeface="Aptos"/>
              </a:rPr>
              <a:t>0.878</a:t>
            </a:r>
            <a:endParaRPr b="0" lang="en-GB" sz="680" spc="-1" strike="noStrike">
              <a:solidFill>
                <a:srgbClr val="ffffff"/>
              </a:solidFill>
              <a:latin typeface="Arial"/>
            </a:endParaRPr>
          </a:p>
        </p:txBody>
      </p:sp>
      <p:sp>
        <p:nvSpPr>
          <p:cNvPr id="515" name="Text 144"/>
          <p:cNvSpPr/>
          <p:nvPr/>
        </p:nvSpPr>
        <p:spPr>
          <a:xfrm>
            <a:off x="8302680" y="4500000"/>
            <a:ext cx="1416960" cy="145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700" spc="-1" strike="noStrike">
                <a:solidFill>
                  <a:srgbClr val="94a3b8"/>
                </a:solidFill>
                <a:latin typeface="Aptos"/>
                <a:ea typeface="Aptos"/>
              </a:rPr>
              <a:t>KNN</a:t>
            </a:r>
            <a:endParaRPr b="0" lang="en-GB" sz="700" spc="-1" strike="noStrike">
              <a:solidFill>
                <a:srgbClr val="ffffff"/>
              </a:solidFill>
              <a:latin typeface="Arial"/>
            </a:endParaRPr>
          </a:p>
        </p:txBody>
      </p:sp>
      <p:sp>
        <p:nvSpPr>
          <p:cNvPr id="516" name="Shape 145"/>
          <p:cNvSpPr/>
          <p:nvPr/>
        </p:nvSpPr>
        <p:spPr>
          <a:xfrm>
            <a:off x="9829800" y="4527720"/>
            <a:ext cx="1096920" cy="109440"/>
          </a:xfrm>
          <a:prstGeom prst="rect">
            <a:avLst/>
          </a:prstGeom>
          <a:solidFill>
            <a:srgbClr val="334155">
              <a:alpha val="80000"/>
            </a:srgbClr>
          </a:solidFill>
          <a:ln w="12700">
            <a:solidFill>
              <a:srgbClr val="334155">
                <a:alpha val="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517" name="Shape 146"/>
          <p:cNvSpPr/>
          <p:nvPr/>
        </p:nvSpPr>
        <p:spPr>
          <a:xfrm>
            <a:off x="9829800" y="4527720"/>
            <a:ext cx="775800" cy="109440"/>
          </a:xfrm>
          <a:prstGeom prst="rect">
            <a:avLst/>
          </a:prstGeom>
          <a:solidFill>
            <a:srgbClr val="f59e0b"/>
          </a:solidFill>
          <a:ln w="12700">
            <a:solidFill>
              <a:srgbClr val="f59e0b"/>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518" name="Text 147"/>
          <p:cNvSpPr/>
          <p:nvPr/>
        </p:nvSpPr>
        <p:spPr>
          <a:xfrm>
            <a:off x="11036880" y="4486320"/>
            <a:ext cx="383760" cy="1368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680" spc="-1" strike="noStrike">
                <a:solidFill>
                  <a:srgbClr val="f8fafc"/>
                </a:solidFill>
                <a:latin typeface="Aptos"/>
                <a:ea typeface="Aptos"/>
              </a:rPr>
              <a:t>0.707</a:t>
            </a:r>
            <a:endParaRPr b="0" lang="en-GB" sz="680" spc="-1" strike="noStrike">
              <a:solidFill>
                <a:srgbClr val="ffffff"/>
              </a:solidFill>
              <a:latin typeface="Arial"/>
            </a:endParaRPr>
          </a:p>
        </p:txBody>
      </p:sp>
      <p:sp>
        <p:nvSpPr>
          <p:cNvPr id="519" name="Text 148"/>
          <p:cNvSpPr/>
          <p:nvPr/>
        </p:nvSpPr>
        <p:spPr>
          <a:xfrm>
            <a:off x="8302680" y="4633560"/>
            <a:ext cx="1416960" cy="145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700" spc="-1" strike="noStrike">
                <a:solidFill>
                  <a:srgbClr val="94a3b8"/>
                </a:solidFill>
                <a:latin typeface="Aptos"/>
                <a:ea typeface="Aptos"/>
              </a:rPr>
              <a:t>SVM</a:t>
            </a:r>
            <a:endParaRPr b="0" lang="en-GB" sz="700" spc="-1" strike="noStrike">
              <a:solidFill>
                <a:srgbClr val="ffffff"/>
              </a:solidFill>
              <a:latin typeface="Arial"/>
            </a:endParaRPr>
          </a:p>
        </p:txBody>
      </p:sp>
      <p:sp>
        <p:nvSpPr>
          <p:cNvPr id="520" name="Shape 149"/>
          <p:cNvSpPr/>
          <p:nvPr/>
        </p:nvSpPr>
        <p:spPr>
          <a:xfrm>
            <a:off x="9829800" y="4660920"/>
            <a:ext cx="1096920" cy="109440"/>
          </a:xfrm>
          <a:prstGeom prst="rect">
            <a:avLst/>
          </a:prstGeom>
          <a:solidFill>
            <a:srgbClr val="334155">
              <a:alpha val="80000"/>
            </a:srgbClr>
          </a:solidFill>
          <a:ln w="12700">
            <a:solidFill>
              <a:srgbClr val="334155">
                <a:alpha val="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521" name="Shape 150"/>
          <p:cNvSpPr/>
          <p:nvPr/>
        </p:nvSpPr>
        <p:spPr>
          <a:xfrm>
            <a:off x="9829800" y="4660920"/>
            <a:ext cx="668880" cy="109440"/>
          </a:xfrm>
          <a:prstGeom prst="rect">
            <a:avLst/>
          </a:prstGeom>
          <a:solidFill>
            <a:srgbClr val="f59e0b"/>
          </a:solidFill>
          <a:ln w="12700">
            <a:solidFill>
              <a:srgbClr val="f59e0b"/>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522" name="Text 151"/>
          <p:cNvSpPr/>
          <p:nvPr/>
        </p:nvSpPr>
        <p:spPr>
          <a:xfrm>
            <a:off x="11036880" y="4619520"/>
            <a:ext cx="383760" cy="1368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680" spc="-1" strike="noStrike">
                <a:solidFill>
                  <a:srgbClr val="f8fafc"/>
                </a:solidFill>
                <a:latin typeface="Aptos"/>
                <a:ea typeface="Aptos"/>
              </a:rPr>
              <a:t>0.610</a:t>
            </a:r>
            <a:endParaRPr b="0" lang="en-GB" sz="680" spc="-1" strike="noStrike">
              <a:solidFill>
                <a:srgbClr val="ffffff"/>
              </a:solidFill>
              <a:latin typeface="Arial"/>
            </a:endParaRPr>
          </a:p>
        </p:txBody>
      </p:sp>
      <p:sp>
        <p:nvSpPr>
          <p:cNvPr id="523" name="Text 152"/>
          <p:cNvSpPr/>
          <p:nvPr/>
        </p:nvSpPr>
        <p:spPr>
          <a:xfrm>
            <a:off x="8302680" y="4766760"/>
            <a:ext cx="1416960" cy="145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700" spc="-1" strike="noStrike">
                <a:solidFill>
                  <a:srgbClr val="94a3b8"/>
                </a:solidFill>
                <a:latin typeface="Aptos"/>
                <a:ea typeface="Aptos"/>
              </a:rPr>
              <a:t>XGB</a:t>
            </a:r>
            <a:endParaRPr b="0" lang="en-GB" sz="700" spc="-1" strike="noStrike">
              <a:solidFill>
                <a:srgbClr val="ffffff"/>
              </a:solidFill>
              <a:latin typeface="Arial"/>
            </a:endParaRPr>
          </a:p>
        </p:txBody>
      </p:sp>
      <p:sp>
        <p:nvSpPr>
          <p:cNvPr id="524" name="Shape 153"/>
          <p:cNvSpPr/>
          <p:nvPr/>
        </p:nvSpPr>
        <p:spPr>
          <a:xfrm>
            <a:off x="9829800" y="4794120"/>
            <a:ext cx="1096920" cy="109440"/>
          </a:xfrm>
          <a:prstGeom prst="rect">
            <a:avLst/>
          </a:prstGeom>
          <a:solidFill>
            <a:srgbClr val="334155">
              <a:alpha val="80000"/>
            </a:srgbClr>
          </a:solidFill>
          <a:ln w="12700">
            <a:solidFill>
              <a:srgbClr val="334155">
                <a:alpha val="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525" name="Shape 154"/>
          <p:cNvSpPr/>
          <p:nvPr/>
        </p:nvSpPr>
        <p:spPr>
          <a:xfrm>
            <a:off x="9829800" y="4794120"/>
            <a:ext cx="588600" cy="109440"/>
          </a:xfrm>
          <a:prstGeom prst="rect">
            <a:avLst/>
          </a:prstGeom>
          <a:solidFill>
            <a:srgbClr val="f59e0b"/>
          </a:solidFill>
          <a:ln w="12700">
            <a:solidFill>
              <a:srgbClr val="f59e0b"/>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526" name="Text 155"/>
          <p:cNvSpPr/>
          <p:nvPr/>
        </p:nvSpPr>
        <p:spPr>
          <a:xfrm>
            <a:off x="11036880" y="4753080"/>
            <a:ext cx="383760" cy="1368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680" spc="-1" strike="noStrike">
                <a:solidFill>
                  <a:srgbClr val="f8fafc"/>
                </a:solidFill>
                <a:latin typeface="Aptos"/>
                <a:ea typeface="Aptos"/>
              </a:rPr>
              <a:t>0.537</a:t>
            </a:r>
            <a:endParaRPr b="0" lang="en-GB" sz="680" spc="-1" strike="noStrike">
              <a:solidFill>
                <a:srgbClr val="ffffff"/>
              </a:solidFill>
              <a:latin typeface="Arial"/>
            </a:endParaRPr>
          </a:p>
        </p:txBody>
      </p:sp>
      <p:sp>
        <p:nvSpPr>
          <p:cNvPr id="527" name="Text 156"/>
          <p:cNvSpPr/>
          <p:nvPr/>
        </p:nvSpPr>
        <p:spPr>
          <a:xfrm>
            <a:off x="8302680" y="4899960"/>
            <a:ext cx="1416960" cy="145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700" spc="-1" strike="noStrike">
                <a:solidFill>
                  <a:srgbClr val="94a3b8"/>
                </a:solidFill>
                <a:latin typeface="Aptos"/>
                <a:ea typeface="Aptos"/>
              </a:rPr>
              <a:t>DT</a:t>
            </a:r>
            <a:endParaRPr b="0" lang="en-GB" sz="700" spc="-1" strike="noStrike">
              <a:solidFill>
                <a:srgbClr val="ffffff"/>
              </a:solidFill>
              <a:latin typeface="Arial"/>
            </a:endParaRPr>
          </a:p>
        </p:txBody>
      </p:sp>
      <p:sp>
        <p:nvSpPr>
          <p:cNvPr id="528" name="Shape 157"/>
          <p:cNvSpPr/>
          <p:nvPr/>
        </p:nvSpPr>
        <p:spPr>
          <a:xfrm>
            <a:off x="9829800" y="4927320"/>
            <a:ext cx="1096920" cy="109440"/>
          </a:xfrm>
          <a:prstGeom prst="rect">
            <a:avLst/>
          </a:prstGeom>
          <a:solidFill>
            <a:srgbClr val="334155">
              <a:alpha val="80000"/>
            </a:srgbClr>
          </a:solidFill>
          <a:ln w="12700">
            <a:solidFill>
              <a:srgbClr val="334155">
                <a:alpha val="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529" name="Shape 158"/>
          <p:cNvSpPr/>
          <p:nvPr/>
        </p:nvSpPr>
        <p:spPr>
          <a:xfrm>
            <a:off x="9829800" y="4927320"/>
            <a:ext cx="507960" cy="109440"/>
          </a:xfrm>
          <a:prstGeom prst="rect">
            <a:avLst/>
          </a:prstGeom>
          <a:solidFill>
            <a:srgbClr val="f59e0b"/>
          </a:solidFill>
          <a:ln w="12700">
            <a:solidFill>
              <a:srgbClr val="f59e0b"/>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530" name="Text 159"/>
          <p:cNvSpPr/>
          <p:nvPr/>
        </p:nvSpPr>
        <p:spPr>
          <a:xfrm>
            <a:off x="11036880" y="4886280"/>
            <a:ext cx="383760" cy="1368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680" spc="-1" strike="noStrike">
                <a:solidFill>
                  <a:srgbClr val="f8fafc"/>
                </a:solidFill>
                <a:latin typeface="Aptos"/>
                <a:ea typeface="Aptos"/>
              </a:rPr>
              <a:t>0.463</a:t>
            </a:r>
            <a:endParaRPr b="0" lang="en-GB" sz="680" spc="-1" strike="noStrike">
              <a:solidFill>
                <a:srgbClr val="ffffff"/>
              </a:solidFill>
              <a:latin typeface="Arial"/>
            </a:endParaRPr>
          </a:p>
        </p:txBody>
      </p:sp>
      <p:sp>
        <p:nvSpPr>
          <p:cNvPr id="531" name="Text 160"/>
          <p:cNvSpPr/>
          <p:nvPr/>
        </p:nvSpPr>
        <p:spPr>
          <a:xfrm>
            <a:off x="8302680" y="5033160"/>
            <a:ext cx="1416960" cy="145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700" spc="-1" strike="noStrike">
                <a:solidFill>
                  <a:srgbClr val="94a3b8"/>
                </a:solidFill>
                <a:latin typeface="Aptos"/>
                <a:ea typeface="Aptos"/>
              </a:rPr>
              <a:t>RF</a:t>
            </a:r>
            <a:endParaRPr b="0" lang="en-GB" sz="700" spc="-1" strike="noStrike">
              <a:solidFill>
                <a:srgbClr val="ffffff"/>
              </a:solidFill>
              <a:latin typeface="Arial"/>
            </a:endParaRPr>
          </a:p>
        </p:txBody>
      </p:sp>
      <p:sp>
        <p:nvSpPr>
          <p:cNvPr id="532" name="Shape 161"/>
          <p:cNvSpPr/>
          <p:nvPr/>
        </p:nvSpPr>
        <p:spPr>
          <a:xfrm>
            <a:off x="9829800" y="5060520"/>
            <a:ext cx="1096920" cy="109440"/>
          </a:xfrm>
          <a:prstGeom prst="rect">
            <a:avLst/>
          </a:prstGeom>
          <a:solidFill>
            <a:srgbClr val="334155">
              <a:alpha val="80000"/>
            </a:srgbClr>
          </a:solidFill>
          <a:ln w="12700">
            <a:solidFill>
              <a:srgbClr val="334155">
                <a:alpha val="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533" name="Shape 162"/>
          <p:cNvSpPr/>
          <p:nvPr/>
        </p:nvSpPr>
        <p:spPr>
          <a:xfrm>
            <a:off x="9829800" y="5060520"/>
            <a:ext cx="454680" cy="109440"/>
          </a:xfrm>
          <a:prstGeom prst="rect">
            <a:avLst/>
          </a:prstGeom>
          <a:solidFill>
            <a:srgbClr val="f59e0b"/>
          </a:solidFill>
          <a:ln w="12700">
            <a:solidFill>
              <a:srgbClr val="f59e0b"/>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534" name="Text 163"/>
          <p:cNvSpPr/>
          <p:nvPr/>
        </p:nvSpPr>
        <p:spPr>
          <a:xfrm>
            <a:off x="11036880" y="5019480"/>
            <a:ext cx="383760" cy="1368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680" spc="-1" strike="noStrike">
                <a:solidFill>
                  <a:srgbClr val="f8fafc"/>
                </a:solidFill>
                <a:latin typeface="Aptos"/>
                <a:ea typeface="Aptos"/>
              </a:rPr>
              <a:t>0.415</a:t>
            </a:r>
            <a:endParaRPr b="0" lang="en-GB" sz="680" spc="-1" strike="noStrike">
              <a:solidFill>
                <a:srgbClr val="ffffff"/>
              </a:solidFill>
              <a:latin typeface="Arial"/>
            </a:endParaRPr>
          </a:p>
        </p:txBody>
      </p:sp>
      <p:sp>
        <p:nvSpPr>
          <p:cNvPr id="535" name="Shape 164"/>
          <p:cNvSpPr/>
          <p:nvPr/>
        </p:nvSpPr>
        <p:spPr>
          <a:xfrm>
            <a:off x="502920" y="6555960"/>
            <a:ext cx="11201400" cy="360"/>
          </a:xfrm>
          <a:prstGeom prst="line">
            <a:avLst/>
          </a:prstGeom>
          <a:ln w="7620">
            <a:solidFill>
              <a:srgbClr val="334155">
                <a:alpha val="60000"/>
              </a:srgbClr>
            </a:solidFill>
            <a:round/>
          </a:ln>
        </p:spPr>
        <p:style>
          <a:lnRef idx="0"/>
          <a:fillRef idx="0"/>
          <a:effectRef idx="0"/>
          <a:fontRef idx="minor"/>
        </p:style>
        <p:txBody>
          <a:bodyPr lIns="90000" rIns="90000" tIns="-44640" bIns="-44640" anchor="t" anchorCtr="1">
            <a:noAutofit/>
          </a:bodyPr>
          <a:p>
            <a:endParaRPr b="0" lang="en-GB" sz="1800" spc="-1" strike="noStrike">
              <a:solidFill>
                <a:srgbClr val="ffffff"/>
              </a:solidFill>
              <a:latin typeface="Arial"/>
            </a:endParaRPr>
          </a:p>
        </p:txBody>
      </p:sp>
      <p:sp>
        <p:nvSpPr>
          <p:cNvPr id="536" name="Text 165"/>
          <p:cNvSpPr/>
          <p:nvPr/>
        </p:nvSpPr>
        <p:spPr>
          <a:xfrm>
            <a:off x="530280" y="6602040"/>
            <a:ext cx="6217560" cy="145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650" spc="-1" strike="noStrike">
                <a:solidFill>
                  <a:srgbClr val="94a3b8"/>
                </a:solidFill>
                <a:latin typeface="Aptos"/>
                <a:ea typeface="Aptos"/>
              </a:rPr>
              <a:t>Clinical Outcome Prediction • Myocardial Infarction Complications</a:t>
            </a:r>
            <a:endParaRPr b="0" lang="en-GB" sz="650" spc="-1" strike="noStrike">
              <a:solidFill>
                <a:srgbClr val="ffffff"/>
              </a:solidFill>
              <a:latin typeface="Arial"/>
            </a:endParaRPr>
          </a:p>
        </p:txBody>
      </p:sp>
      <p:sp>
        <p:nvSpPr>
          <p:cNvPr id="537" name="Text 166"/>
          <p:cNvSpPr/>
          <p:nvPr/>
        </p:nvSpPr>
        <p:spPr>
          <a:xfrm>
            <a:off x="11201400" y="6565320"/>
            <a:ext cx="502560" cy="2282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750" spc="-1" strike="noStrike">
                <a:solidFill>
                  <a:srgbClr val="94a3b8"/>
                </a:solidFill>
                <a:latin typeface="Aptos"/>
                <a:ea typeface="Aptos"/>
              </a:rPr>
              <a:t>08</a:t>
            </a:r>
            <a:endParaRPr b="0" lang="en-GB" sz="7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01f"/>
        </a:solidFill>
      </p:bgPr>
    </p:bg>
    <p:spTree>
      <p:nvGrpSpPr>
        <p:cNvPr id="1" name=""/>
        <p:cNvGrpSpPr/>
        <p:nvPr/>
      </p:nvGrpSpPr>
      <p:grpSpPr>
        <a:xfrm>
          <a:off x="0" y="0"/>
          <a:ext cx="0" cy="0"/>
          <a:chOff x="0" y="0"/>
          <a:chExt cx="0" cy="0"/>
        </a:xfrm>
      </p:grpSpPr>
      <p:sp>
        <p:nvSpPr>
          <p:cNvPr id="538" name="Shape 0"/>
          <p:cNvSpPr/>
          <p:nvPr/>
        </p:nvSpPr>
        <p:spPr>
          <a:xfrm>
            <a:off x="0" y="0"/>
            <a:ext cx="12191400" cy="6857640"/>
          </a:xfrm>
          <a:prstGeom prst="rect">
            <a:avLst/>
          </a:prstGeom>
          <a:solidFill>
            <a:srgbClr val="06101f"/>
          </a:solidFill>
          <a:ln w="12700">
            <a:solidFill>
              <a:srgbClr val="06101f"/>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539" name="Shape 1"/>
          <p:cNvSpPr/>
          <p:nvPr/>
        </p:nvSpPr>
        <p:spPr>
          <a:xfrm>
            <a:off x="0" y="0"/>
            <a:ext cx="12191400" cy="6857640"/>
          </a:xfrm>
          <a:prstGeom prst="rect">
            <a:avLst/>
          </a:prstGeom>
          <a:solidFill>
            <a:srgbClr val="081629">
              <a:alpha val="85000"/>
            </a:srgbClr>
          </a:solidFill>
          <a:ln w="12700">
            <a:solidFill>
              <a:srgbClr val="081629">
                <a:alpha val="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540" name="Shape 2"/>
          <p:cNvSpPr/>
          <p:nvPr/>
        </p:nvSpPr>
        <p:spPr>
          <a:xfrm>
            <a:off x="-1554480" y="-1737360"/>
            <a:ext cx="5486040" cy="5486040"/>
          </a:xfrm>
          <a:prstGeom prst="arc">
            <a:avLst>
              <a:gd name="adj1" fmla="val 16200000"/>
              <a:gd name="adj2" fmla="val 0"/>
            </a:avLst>
          </a:prstGeom>
          <a:noFill/>
          <a:ln w="13970">
            <a:solidFill>
              <a:srgbClr val="14b8a6">
                <a:alpha val="3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541" name="Shape 3"/>
          <p:cNvSpPr/>
          <p:nvPr/>
        </p:nvSpPr>
        <p:spPr>
          <a:xfrm>
            <a:off x="7680960" y="3840480"/>
            <a:ext cx="5486040" cy="5486040"/>
          </a:xfrm>
          <a:prstGeom prst="arc">
            <a:avLst>
              <a:gd name="adj1" fmla="val 16200000"/>
              <a:gd name="adj2" fmla="val 0"/>
            </a:avLst>
          </a:prstGeom>
          <a:noFill/>
          <a:ln w="12700">
            <a:solidFill>
              <a:srgbClr val="f59e0b">
                <a:alpha val="22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542" name="Text 4"/>
          <p:cNvSpPr/>
          <p:nvPr/>
        </p:nvSpPr>
        <p:spPr>
          <a:xfrm>
            <a:off x="567000" y="347400"/>
            <a:ext cx="594324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50" spc="-1" strike="noStrike">
                <a:solidFill>
                  <a:srgbClr val="14b8a6"/>
                </a:solidFill>
                <a:latin typeface="Aptos"/>
                <a:ea typeface="Aptos"/>
              </a:rPr>
              <a:t>MODEL SELECTION</a:t>
            </a:r>
            <a:endParaRPr b="0" lang="en-GB" sz="850" spc="-1" strike="noStrike">
              <a:solidFill>
                <a:srgbClr val="ffffff"/>
              </a:solidFill>
              <a:latin typeface="Arial"/>
            </a:endParaRPr>
          </a:p>
        </p:txBody>
      </p:sp>
      <p:sp>
        <p:nvSpPr>
          <p:cNvPr id="543" name="Text 5"/>
          <p:cNvSpPr/>
          <p:nvPr/>
        </p:nvSpPr>
        <p:spPr>
          <a:xfrm>
            <a:off x="548640" y="658440"/>
            <a:ext cx="10926720" cy="594000"/>
          </a:xfrm>
          <a:prstGeom prst="rect">
            <a:avLst/>
          </a:prstGeom>
          <a:noFill/>
          <a:ln w="0">
            <a:noFill/>
          </a:ln>
        </p:spPr>
        <p:style>
          <a:lnRef idx="0"/>
          <a:fillRef idx="0"/>
          <a:effectRef idx="0"/>
          <a:fontRef idx="minor"/>
        </p:style>
        <p:txBody>
          <a:bodyPr lIns="0" rIns="0" tIns="0" bIns="0" anchor="ctr">
            <a:normAutofit fontScale="98333" lnSpcReduction="20000"/>
          </a:bodyPr>
          <a:p>
            <a:pPr defTabSz="914400">
              <a:lnSpc>
                <a:spcPct val="100000"/>
              </a:lnSpc>
              <a:tabLst>
                <a:tab algn="l" pos="0"/>
              </a:tabLst>
            </a:pPr>
            <a:r>
              <a:rPr b="1" lang="en-US" sz="2400" spc="-1" strike="noStrike">
                <a:solidFill>
                  <a:srgbClr val="f8fafc"/>
                </a:solidFill>
                <a:latin typeface="Aptos Display"/>
                <a:ea typeface="Aptos Display"/>
              </a:rPr>
              <a:t>Cross-validation and composite score prevent one-split overfitting</a:t>
            </a:r>
            <a:endParaRPr b="0" lang="en-GB" sz="2400" spc="-1" strike="noStrike">
              <a:solidFill>
                <a:srgbClr val="ffffff"/>
              </a:solidFill>
              <a:latin typeface="Arial"/>
            </a:endParaRPr>
          </a:p>
        </p:txBody>
      </p:sp>
      <p:sp>
        <p:nvSpPr>
          <p:cNvPr id="544" name="Text 6"/>
          <p:cNvSpPr/>
          <p:nvPr/>
        </p:nvSpPr>
        <p:spPr>
          <a:xfrm>
            <a:off x="567000" y="1216080"/>
            <a:ext cx="1051524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50" spc="-1" strike="noStrike">
                <a:solidFill>
                  <a:srgbClr val="94a3b8"/>
                </a:solidFill>
                <a:latin typeface="Aptos"/>
                <a:ea typeface="Aptos"/>
              </a:rPr>
              <a:t>The top three selected models were Logistic Regression, XGBoost, and SVM.</a:t>
            </a:r>
            <a:endParaRPr b="0" lang="en-GB" sz="1050" spc="-1" strike="noStrike">
              <a:solidFill>
                <a:srgbClr val="ffffff"/>
              </a:solidFill>
              <a:latin typeface="Arial"/>
            </a:endParaRPr>
          </a:p>
        </p:txBody>
      </p:sp>
      <p:sp>
        <p:nvSpPr>
          <p:cNvPr id="545" name="Shape 7"/>
          <p:cNvSpPr/>
          <p:nvPr/>
        </p:nvSpPr>
        <p:spPr>
          <a:xfrm>
            <a:off x="567000" y="1618560"/>
            <a:ext cx="5897520" cy="2304000"/>
          </a:xfrm>
          <a:prstGeom prst="roundRect">
            <a:avLst>
              <a:gd name="adj" fmla="val 3175"/>
            </a:avLst>
          </a:prstGeom>
          <a:solidFill>
            <a:srgbClr val="0b1a2e"/>
          </a:solidFill>
          <a:ln w="1016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546" name="Shape 8"/>
          <p:cNvSpPr/>
          <p:nvPr/>
        </p:nvSpPr>
        <p:spPr>
          <a:xfrm>
            <a:off x="567000" y="1618560"/>
            <a:ext cx="1828440" cy="292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547" name="Text 9"/>
          <p:cNvSpPr/>
          <p:nvPr/>
        </p:nvSpPr>
        <p:spPr>
          <a:xfrm>
            <a:off x="594360" y="1691640"/>
            <a:ext cx="177372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10" spc="-1" strike="noStrike">
                <a:solidFill>
                  <a:srgbClr val="f8fafc"/>
                </a:solidFill>
                <a:latin typeface="Aptos"/>
                <a:ea typeface="Aptos"/>
              </a:rPr>
              <a:t>Model</a:t>
            </a:r>
            <a:endParaRPr b="0" lang="en-GB" sz="710" spc="-1" strike="noStrike">
              <a:solidFill>
                <a:srgbClr val="ffffff"/>
              </a:solidFill>
              <a:latin typeface="Arial"/>
            </a:endParaRPr>
          </a:p>
        </p:txBody>
      </p:sp>
      <p:sp>
        <p:nvSpPr>
          <p:cNvPr id="548" name="Shape 10"/>
          <p:cNvSpPr/>
          <p:nvPr/>
        </p:nvSpPr>
        <p:spPr>
          <a:xfrm>
            <a:off x="2395800" y="1618560"/>
            <a:ext cx="1234080" cy="292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549" name="Text 11"/>
          <p:cNvSpPr/>
          <p:nvPr/>
        </p:nvSpPr>
        <p:spPr>
          <a:xfrm>
            <a:off x="2423160" y="1691640"/>
            <a:ext cx="117936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10" spc="-1" strike="noStrike">
                <a:solidFill>
                  <a:srgbClr val="f8fafc"/>
                </a:solidFill>
                <a:latin typeface="Aptos"/>
                <a:ea typeface="Aptos"/>
              </a:rPr>
              <a:t>CV F1</a:t>
            </a:r>
            <a:endParaRPr b="0" lang="en-GB" sz="710" spc="-1" strike="noStrike">
              <a:solidFill>
                <a:srgbClr val="ffffff"/>
              </a:solidFill>
              <a:latin typeface="Arial"/>
            </a:endParaRPr>
          </a:p>
        </p:txBody>
      </p:sp>
      <p:sp>
        <p:nvSpPr>
          <p:cNvPr id="550" name="Shape 12"/>
          <p:cNvSpPr/>
          <p:nvPr/>
        </p:nvSpPr>
        <p:spPr>
          <a:xfrm>
            <a:off x="3630240" y="1618560"/>
            <a:ext cx="1234080" cy="292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551" name="Text 13"/>
          <p:cNvSpPr/>
          <p:nvPr/>
        </p:nvSpPr>
        <p:spPr>
          <a:xfrm>
            <a:off x="3657600" y="1691640"/>
            <a:ext cx="117936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10" spc="-1" strike="noStrike">
                <a:solidFill>
                  <a:srgbClr val="f8fafc"/>
                </a:solidFill>
                <a:latin typeface="Aptos"/>
                <a:ea typeface="Aptos"/>
              </a:rPr>
              <a:t>CV AUC</a:t>
            </a:r>
            <a:endParaRPr b="0" lang="en-GB" sz="710" spc="-1" strike="noStrike">
              <a:solidFill>
                <a:srgbClr val="ffffff"/>
              </a:solidFill>
              <a:latin typeface="Arial"/>
            </a:endParaRPr>
          </a:p>
        </p:txBody>
      </p:sp>
      <p:sp>
        <p:nvSpPr>
          <p:cNvPr id="552" name="Shape 14"/>
          <p:cNvSpPr/>
          <p:nvPr/>
        </p:nvSpPr>
        <p:spPr>
          <a:xfrm>
            <a:off x="4864680" y="1618560"/>
            <a:ext cx="822600" cy="292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553" name="Text 15"/>
          <p:cNvSpPr/>
          <p:nvPr/>
        </p:nvSpPr>
        <p:spPr>
          <a:xfrm>
            <a:off x="4892040" y="1691640"/>
            <a:ext cx="76788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10" spc="-1" strike="noStrike">
                <a:solidFill>
                  <a:srgbClr val="f8fafc"/>
                </a:solidFill>
                <a:latin typeface="Aptos"/>
                <a:ea typeface="Aptos"/>
              </a:rPr>
              <a:t>Val Recall</a:t>
            </a:r>
            <a:endParaRPr b="0" lang="en-GB" sz="710" spc="-1" strike="noStrike">
              <a:solidFill>
                <a:srgbClr val="ffffff"/>
              </a:solidFill>
              <a:latin typeface="Arial"/>
            </a:endParaRPr>
          </a:p>
        </p:txBody>
      </p:sp>
      <p:sp>
        <p:nvSpPr>
          <p:cNvPr id="554" name="Shape 16"/>
          <p:cNvSpPr/>
          <p:nvPr/>
        </p:nvSpPr>
        <p:spPr>
          <a:xfrm>
            <a:off x="5687640" y="1618560"/>
            <a:ext cx="776880" cy="292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555" name="Text 17"/>
          <p:cNvSpPr/>
          <p:nvPr/>
        </p:nvSpPr>
        <p:spPr>
          <a:xfrm>
            <a:off x="5715000" y="1691640"/>
            <a:ext cx="72216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10" spc="-1" strike="noStrike">
                <a:solidFill>
                  <a:srgbClr val="f8fafc"/>
                </a:solidFill>
                <a:latin typeface="Aptos"/>
                <a:ea typeface="Aptos"/>
              </a:rPr>
              <a:t>Val F1</a:t>
            </a:r>
            <a:endParaRPr b="0" lang="en-GB" sz="710" spc="-1" strike="noStrike">
              <a:solidFill>
                <a:srgbClr val="ffffff"/>
              </a:solidFill>
              <a:latin typeface="Arial"/>
            </a:endParaRPr>
          </a:p>
        </p:txBody>
      </p:sp>
      <p:sp>
        <p:nvSpPr>
          <p:cNvPr id="556" name="Shape 18"/>
          <p:cNvSpPr/>
          <p:nvPr/>
        </p:nvSpPr>
        <p:spPr>
          <a:xfrm>
            <a:off x="567000" y="1911240"/>
            <a:ext cx="1828440" cy="39276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557" name="Text 19"/>
          <p:cNvSpPr/>
          <p:nvPr/>
        </p:nvSpPr>
        <p:spPr>
          <a:xfrm>
            <a:off x="594360" y="1984320"/>
            <a:ext cx="1773720" cy="328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710" spc="-1" strike="noStrike">
                <a:solidFill>
                  <a:srgbClr val="f8fafc"/>
                </a:solidFill>
                <a:latin typeface="Aptos"/>
                <a:ea typeface="Aptos"/>
              </a:rPr>
              <a:t>XGBoost</a:t>
            </a:r>
            <a:endParaRPr b="0" lang="en-GB" sz="710" spc="-1" strike="noStrike">
              <a:solidFill>
                <a:srgbClr val="ffffff"/>
              </a:solidFill>
              <a:latin typeface="Arial"/>
            </a:endParaRPr>
          </a:p>
        </p:txBody>
      </p:sp>
      <p:sp>
        <p:nvSpPr>
          <p:cNvPr id="558" name="Shape 20"/>
          <p:cNvSpPr/>
          <p:nvPr/>
        </p:nvSpPr>
        <p:spPr>
          <a:xfrm>
            <a:off x="2395800" y="1911240"/>
            <a:ext cx="1234080" cy="39276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559" name="Text 21"/>
          <p:cNvSpPr/>
          <p:nvPr/>
        </p:nvSpPr>
        <p:spPr>
          <a:xfrm>
            <a:off x="2423160" y="1984320"/>
            <a:ext cx="1179360" cy="328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10" spc="-1" strike="noStrike">
                <a:solidFill>
                  <a:srgbClr val="f8fafc"/>
                </a:solidFill>
                <a:latin typeface="Aptos"/>
                <a:ea typeface="Aptos"/>
              </a:rPr>
              <a:t>0.5498±0.0528</a:t>
            </a:r>
            <a:endParaRPr b="0" lang="en-GB" sz="710" spc="-1" strike="noStrike">
              <a:solidFill>
                <a:srgbClr val="ffffff"/>
              </a:solidFill>
              <a:latin typeface="Arial"/>
            </a:endParaRPr>
          </a:p>
        </p:txBody>
      </p:sp>
      <p:sp>
        <p:nvSpPr>
          <p:cNvPr id="560" name="Shape 22"/>
          <p:cNvSpPr/>
          <p:nvPr/>
        </p:nvSpPr>
        <p:spPr>
          <a:xfrm>
            <a:off x="3630240" y="1911240"/>
            <a:ext cx="1234080" cy="39276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561" name="Text 23"/>
          <p:cNvSpPr/>
          <p:nvPr/>
        </p:nvSpPr>
        <p:spPr>
          <a:xfrm>
            <a:off x="3657600" y="1984320"/>
            <a:ext cx="1179360" cy="328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10" spc="-1" strike="noStrike">
                <a:solidFill>
                  <a:srgbClr val="f8fafc"/>
                </a:solidFill>
                <a:latin typeface="Aptos"/>
                <a:ea typeface="Aptos"/>
              </a:rPr>
              <a:t>0.8808±0.0249</a:t>
            </a:r>
            <a:endParaRPr b="0" lang="en-GB" sz="710" spc="-1" strike="noStrike">
              <a:solidFill>
                <a:srgbClr val="ffffff"/>
              </a:solidFill>
              <a:latin typeface="Arial"/>
            </a:endParaRPr>
          </a:p>
        </p:txBody>
      </p:sp>
      <p:sp>
        <p:nvSpPr>
          <p:cNvPr id="562" name="Shape 24"/>
          <p:cNvSpPr/>
          <p:nvPr/>
        </p:nvSpPr>
        <p:spPr>
          <a:xfrm>
            <a:off x="4864680" y="1911240"/>
            <a:ext cx="822600" cy="39276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563" name="Text 25"/>
          <p:cNvSpPr/>
          <p:nvPr/>
        </p:nvSpPr>
        <p:spPr>
          <a:xfrm>
            <a:off x="4892040" y="1984320"/>
            <a:ext cx="767880" cy="328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10" spc="-1" strike="noStrike">
                <a:solidFill>
                  <a:srgbClr val="f8fafc"/>
                </a:solidFill>
                <a:latin typeface="Aptos"/>
                <a:ea typeface="Aptos"/>
              </a:rPr>
              <a:t>0.5366</a:t>
            </a:r>
            <a:endParaRPr b="0" lang="en-GB" sz="710" spc="-1" strike="noStrike">
              <a:solidFill>
                <a:srgbClr val="ffffff"/>
              </a:solidFill>
              <a:latin typeface="Arial"/>
            </a:endParaRPr>
          </a:p>
        </p:txBody>
      </p:sp>
      <p:sp>
        <p:nvSpPr>
          <p:cNvPr id="564" name="Shape 26"/>
          <p:cNvSpPr/>
          <p:nvPr/>
        </p:nvSpPr>
        <p:spPr>
          <a:xfrm>
            <a:off x="5687640" y="1911240"/>
            <a:ext cx="776880" cy="39276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565" name="Text 27"/>
          <p:cNvSpPr/>
          <p:nvPr/>
        </p:nvSpPr>
        <p:spPr>
          <a:xfrm>
            <a:off x="5715000" y="1984320"/>
            <a:ext cx="722160" cy="328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10" spc="-1" strike="noStrike">
                <a:solidFill>
                  <a:srgbClr val="f8fafc"/>
                </a:solidFill>
                <a:latin typeface="Aptos"/>
                <a:ea typeface="Aptos"/>
              </a:rPr>
              <a:t>0.6286</a:t>
            </a:r>
            <a:endParaRPr b="0" lang="en-GB" sz="710" spc="-1" strike="noStrike">
              <a:solidFill>
                <a:srgbClr val="ffffff"/>
              </a:solidFill>
              <a:latin typeface="Arial"/>
            </a:endParaRPr>
          </a:p>
        </p:txBody>
      </p:sp>
      <p:sp>
        <p:nvSpPr>
          <p:cNvPr id="566" name="Shape 28"/>
          <p:cNvSpPr/>
          <p:nvPr/>
        </p:nvSpPr>
        <p:spPr>
          <a:xfrm>
            <a:off x="567000" y="2304360"/>
            <a:ext cx="1828440" cy="39276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567" name="Text 29"/>
          <p:cNvSpPr/>
          <p:nvPr/>
        </p:nvSpPr>
        <p:spPr>
          <a:xfrm>
            <a:off x="594360" y="2377440"/>
            <a:ext cx="1773720" cy="328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710" spc="-1" strike="noStrike">
                <a:solidFill>
                  <a:srgbClr val="f8fafc"/>
                </a:solidFill>
                <a:latin typeface="Aptos"/>
                <a:ea typeface="Aptos"/>
              </a:rPr>
              <a:t>Logistic Regression</a:t>
            </a:r>
            <a:endParaRPr b="0" lang="en-GB" sz="710" spc="-1" strike="noStrike">
              <a:solidFill>
                <a:srgbClr val="ffffff"/>
              </a:solidFill>
              <a:latin typeface="Arial"/>
            </a:endParaRPr>
          </a:p>
        </p:txBody>
      </p:sp>
      <p:sp>
        <p:nvSpPr>
          <p:cNvPr id="568" name="Shape 30"/>
          <p:cNvSpPr/>
          <p:nvPr/>
        </p:nvSpPr>
        <p:spPr>
          <a:xfrm>
            <a:off x="2395800" y="2304360"/>
            <a:ext cx="1234080" cy="39276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569" name="Text 31"/>
          <p:cNvSpPr/>
          <p:nvPr/>
        </p:nvSpPr>
        <p:spPr>
          <a:xfrm>
            <a:off x="2423160" y="2377440"/>
            <a:ext cx="1179360" cy="328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10" spc="-1" strike="noStrike">
                <a:solidFill>
                  <a:srgbClr val="f8fafc"/>
                </a:solidFill>
                <a:latin typeface="Aptos"/>
                <a:ea typeface="Aptos"/>
              </a:rPr>
              <a:t>0.5419±0.0318</a:t>
            </a:r>
            <a:endParaRPr b="0" lang="en-GB" sz="710" spc="-1" strike="noStrike">
              <a:solidFill>
                <a:srgbClr val="ffffff"/>
              </a:solidFill>
              <a:latin typeface="Arial"/>
            </a:endParaRPr>
          </a:p>
        </p:txBody>
      </p:sp>
      <p:sp>
        <p:nvSpPr>
          <p:cNvPr id="570" name="Shape 32"/>
          <p:cNvSpPr/>
          <p:nvPr/>
        </p:nvSpPr>
        <p:spPr>
          <a:xfrm>
            <a:off x="3630240" y="2304360"/>
            <a:ext cx="1234080" cy="39276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571" name="Text 33"/>
          <p:cNvSpPr/>
          <p:nvPr/>
        </p:nvSpPr>
        <p:spPr>
          <a:xfrm>
            <a:off x="3657600" y="2377440"/>
            <a:ext cx="1179360" cy="328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10" spc="-1" strike="noStrike">
                <a:solidFill>
                  <a:srgbClr val="f8fafc"/>
                </a:solidFill>
                <a:latin typeface="Aptos"/>
                <a:ea typeface="Aptos"/>
              </a:rPr>
              <a:t>0.8550±0.0217</a:t>
            </a:r>
            <a:endParaRPr b="0" lang="en-GB" sz="710" spc="-1" strike="noStrike">
              <a:solidFill>
                <a:srgbClr val="ffffff"/>
              </a:solidFill>
              <a:latin typeface="Arial"/>
            </a:endParaRPr>
          </a:p>
        </p:txBody>
      </p:sp>
      <p:sp>
        <p:nvSpPr>
          <p:cNvPr id="572" name="Shape 34"/>
          <p:cNvSpPr/>
          <p:nvPr/>
        </p:nvSpPr>
        <p:spPr>
          <a:xfrm>
            <a:off x="4864680" y="2304360"/>
            <a:ext cx="822600" cy="39276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573" name="Text 35"/>
          <p:cNvSpPr/>
          <p:nvPr/>
        </p:nvSpPr>
        <p:spPr>
          <a:xfrm>
            <a:off x="4892040" y="2377440"/>
            <a:ext cx="767880" cy="328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10" spc="-1" strike="noStrike">
                <a:solidFill>
                  <a:srgbClr val="f8fafc"/>
                </a:solidFill>
                <a:latin typeface="Aptos"/>
                <a:ea typeface="Aptos"/>
              </a:rPr>
              <a:t>0.8780</a:t>
            </a:r>
            <a:endParaRPr b="0" lang="en-GB" sz="710" spc="-1" strike="noStrike">
              <a:solidFill>
                <a:srgbClr val="ffffff"/>
              </a:solidFill>
              <a:latin typeface="Arial"/>
            </a:endParaRPr>
          </a:p>
        </p:txBody>
      </p:sp>
      <p:sp>
        <p:nvSpPr>
          <p:cNvPr id="574" name="Shape 36"/>
          <p:cNvSpPr/>
          <p:nvPr/>
        </p:nvSpPr>
        <p:spPr>
          <a:xfrm>
            <a:off x="5687640" y="2304360"/>
            <a:ext cx="776880" cy="39276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575" name="Text 37"/>
          <p:cNvSpPr/>
          <p:nvPr/>
        </p:nvSpPr>
        <p:spPr>
          <a:xfrm>
            <a:off x="5715000" y="2377440"/>
            <a:ext cx="722160" cy="328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10" spc="-1" strike="noStrike">
                <a:solidFill>
                  <a:srgbClr val="f8fafc"/>
                </a:solidFill>
                <a:latin typeface="Aptos"/>
                <a:ea typeface="Aptos"/>
              </a:rPr>
              <a:t>0.5950</a:t>
            </a:r>
            <a:endParaRPr b="0" lang="en-GB" sz="710" spc="-1" strike="noStrike">
              <a:solidFill>
                <a:srgbClr val="ffffff"/>
              </a:solidFill>
              <a:latin typeface="Arial"/>
            </a:endParaRPr>
          </a:p>
        </p:txBody>
      </p:sp>
      <p:sp>
        <p:nvSpPr>
          <p:cNvPr id="576" name="Shape 38"/>
          <p:cNvSpPr/>
          <p:nvPr/>
        </p:nvSpPr>
        <p:spPr>
          <a:xfrm>
            <a:off x="567000" y="2697480"/>
            <a:ext cx="1828440" cy="39276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577" name="Text 39"/>
          <p:cNvSpPr/>
          <p:nvPr/>
        </p:nvSpPr>
        <p:spPr>
          <a:xfrm>
            <a:off x="594360" y="2770560"/>
            <a:ext cx="1773720" cy="328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710" spc="-1" strike="noStrike">
                <a:solidFill>
                  <a:srgbClr val="f8fafc"/>
                </a:solidFill>
                <a:latin typeface="Aptos"/>
                <a:ea typeface="Aptos"/>
              </a:rPr>
              <a:t>SVM</a:t>
            </a:r>
            <a:endParaRPr b="0" lang="en-GB" sz="710" spc="-1" strike="noStrike">
              <a:solidFill>
                <a:srgbClr val="ffffff"/>
              </a:solidFill>
              <a:latin typeface="Arial"/>
            </a:endParaRPr>
          </a:p>
        </p:txBody>
      </p:sp>
      <p:sp>
        <p:nvSpPr>
          <p:cNvPr id="578" name="Shape 40"/>
          <p:cNvSpPr/>
          <p:nvPr/>
        </p:nvSpPr>
        <p:spPr>
          <a:xfrm>
            <a:off x="2395800" y="2697480"/>
            <a:ext cx="1234080" cy="39276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579" name="Text 41"/>
          <p:cNvSpPr/>
          <p:nvPr/>
        </p:nvSpPr>
        <p:spPr>
          <a:xfrm>
            <a:off x="2423160" y="2770560"/>
            <a:ext cx="1179360" cy="328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10" spc="-1" strike="noStrike">
                <a:solidFill>
                  <a:srgbClr val="f8fafc"/>
                </a:solidFill>
                <a:latin typeface="Aptos"/>
                <a:ea typeface="Aptos"/>
              </a:rPr>
              <a:t>0.5458±0.0551</a:t>
            </a:r>
            <a:endParaRPr b="0" lang="en-GB" sz="710" spc="-1" strike="noStrike">
              <a:solidFill>
                <a:srgbClr val="ffffff"/>
              </a:solidFill>
              <a:latin typeface="Arial"/>
            </a:endParaRPr>
          </a:p>
        </p:txBody>
      </p:sp>
      <p:sp>
        <p:nvSpPr>
          <p:cNvPr id="580" name="Shape 42"/>
          <p:cNvSpPr/>
          <p:nvPr/>
        </p:nvSpPr>
        <p:spPr>
          <a:xfrm>
            <a:off x="3630240" y="2697480"/>
            <a:ext cx="1234080" cy="39276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581" name="Text 43"/>
          <p:cNvSpPr/>
          <p:nvPr/>
        </p:nvSpPr>
        <p:spPr>
          <a:xfrm>
            <a:off x="3657600" y="2770560"/>
            <a:ext cx="1179360" cy="328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10" spc="-1" strike="noStrike">
                <a:solidFill>
                  <a:srgbClr val="f8fafc"/>
                </a:solidFill>
                <a:latin typeface="Aptos"/>
                <a:ea typeface="Aptos"/>
              </a:rPr>
              <a:t>0.8469±0.0297</a:t>
            </a:r>
            <a:endParaRPr b="0" lang="en-GB" sz="710" spc="-1" strike="noStrike">
              <a:solidFill>
                <a:srgbClr val="ffffff"/>
              </a:solidFill>
              <a:latin typeface="Arial"/>
            </a:endParaRPr>
          </a:p>
        </p:txBody>
      </p:sp>
      <p:sp>
        <p:nvSpPr>
          <p:cNvPr id="582" name="Shape 44"/>
          <p:cNvSpPr/>
          <p:nvPr/>
        </p:nvSpPr>
        <p:spPr>
          <a:xfrm>
            <a:off x="4864680" y="2697480"/>
            <a:ext cx="822600" cy="39276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583" name="Text 45"/>
          <p:cNvSpPr/>
          <p:nvPr/>
        </p:nvSpPr>
        <p:spPr>
          <a:xfrm>
            <a:off x="4892040" y="2770560"/>
            <a:ext cx="767880" cy="328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10" spc="-1" strike="noStrike">
                <a:solidFill>
                  <a:srgbClr val="f8fafc"/>
                </a:solidFill>
                <a:latin typeface="Aptos"/>
                <a:ea typeface="Aptos"/>
              </a:rPr>
              <a:t>0.6098</a:t>
            </a:r>
            <a:endParaRPr b="0" lang="en-GB" sz="710" spc="-1" strike="noStrike">
              <a:solidFill>
                <a:srgbClr val="ffffff"/>
              </a:solidFill>
              <a:latin typeface="Arial"/>
            </a:endParaRPr>
          </a:p>
        </p:txBody>
      </p:sp>
      <p:sp>
        <p:nvSpPr>
          <p:cNvPr id="584" name="Shape 46"/>
          <p:cNvSpPr/>
          <p:nvPr/>
        </p:nvSpPr>
        <p:spPr>
          <a:xfrm>
            <a:off x="5687640" y="2697480"/>
            <a:ext cx="776880" cy="39276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585" name="Text 47"/>
          <p:cNvSpPr/>
          <p:nvPr/>
        </p:nvSpPr>
        <p:spPr>
          <a:xfrm>
            <a:off x="5715000" y="2770560"/>
            <a:ext cx="722160" cy="328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10" spc="-1" strike="noStrike">
                <a:solidFill>
                  <a:srgbClr val="f8fafc"/>
                </a:solidFill>
                <a:latin typeface="Aptos"/>
                <a:ea typeface="Aptos"/>
              </a:rPr>
              <a:t>0.5208</a:t>
            </a:r>
            <a:endParaRPr b="0" lang="en-GB" sz="710" spc="-1" strike="noStrike">
              <a:solidFill>
                <a:srgbClr val="ffffff"/>
              </a:solidFill>
              <a:latin typeface="Arial"/>
            </a:endParaRPr>
          </a:p>
        </p:txBody>
      </p:sp>
      <p:sp>
        <p:nvSpPr>
          <p:cNvPr id="586" name="Shape 48"/>
          <p:cNvSpPr/>
          <p:nvPr/>
        </p:nvSpPr>
        <p:spPr>
          <a:xfrm>
            <a:off x="567000" y="3090600"/>
            <a:ext cx="1828440" cy="39276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587" name="Text 49"/>
          <p:cNvSpPr/>
          <p:nvPr/>
        </p:nvSpPr>
        <p:spPr>
          <a:xfrm>
            <a:off x="594360" y="3163680"/>
            <a:ext cx="1773720" cy="328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710" spc="-1" strike="noStrike">
                <a:solidFill>
                  <a:srgbClr val="f8fafc"/>
                </a:solidFill>
                <a:latin typeface="Aptos"/>
                <a:ea typeface="Aptos"/>
              </a:rPr>
              <a:t>Random Forest</a:t>
            </a:r>
            <a:endParaRPr b="0" lang="en-GB" sz="710" spc="-1" strike="noStrike">
              <a:solidFill>
                <a:srgbClr val="ffffff"/>
              </a:solidFill>
              <a:latin typeface="Arial"/>
            </a:endParaRPr>
          </a:p>
        </p:txBody>
      </p:sp>
      <p:sp>
        <p:nvSpPr>
          <p:cNvPr id="588" name="Shape 50"/>
          <p:cNvSpPr/>
          <p:nvPr/>
        </p:nvSpPr>
        <p:spPr>
          <a:xfrm>
            <a:off x="2395800" y="3090600"/>
            <a:ext cx="1234080" cy="39276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589" name="Text 51"/>
          <p:cNvSpPr/>
          <p:nvPr/>
        </p:nvSpPr>
        <p:spPr>
          <a:xfrm>
            <a:off x="2423160" y="3163680"/>
            <a:ext cx="1179360" cy="328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10" spc="-1" strike="noStrike">
                <a:solidFill>
                  <a:srgbClr val="f8fafc"/>
                </a:solidFill>
                <a:latin typeface="Aptos"/>
                <a:ea typeface="Aptos"/>
              </a:rPr>
              <a:t>0.4160±0.0545</a:t>
            </a:r>
            <a:endParaRPr b="0" lang="en-GB" sz="710" spc="-1" strike="noStrike">
              <a:solidFill>
                <a:srgbClr val="ffffff"/>
              </a:solidFill>
              <a:latin typeface="Arial"/>
            </a:endParaRPr>
          </a:p>
        </p:txBody>
      </p:sp>
      <p:sp>
        <p:nvSpPr>
          <p:cNvPr id="590" name="Shape 52"/>
          <p:cNvSpPr/>
          <p:nvPr/>
        </p:nvSpPr>
        <p:spPr>
          <a:xfrm>
            <a:off x="3630240" y="3090600"/>
            <a:ext cx="1234080" cy="39276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591" name="Text 53"/>
          <p:cNvSpPr/>
          <p:nvPr/>
        </p:nvSpPr>
        <p:spPr>
          <a:xfrm>
            <a:off x="3657600" y="3163680"/>
            <a:ext cx="1179360" cy="328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10" spc="-1" strike="noStrike">
                <a:solidFill>
                  <a:srgbClr val="f8fafc"/>
                </a:solidFill>
                <a:latin typeface="Aptos"/>
                <a:ea typeface="Aptos"/>
              </a:rPr>
              <a:t>0.8696±0.0293</a:t>
            </a:r>
            <a:endParaRPr b="0" lang="en-GB" sz="710" spc="-1" strike="noStrike">
              <a:solidFill>
                <a:srgbClr val="ffffff"/>
              </a:solidFill>
              <a:latin typeface="Arial"/>
            </a:endParaRPr>
          </a:p>
        </p:txBody>
      </p:sp>
      <p:sp>
        <p:nvSpPr>
          <p:cNvPr id="592" name="Shape 54"/>
          <p:cNvSpPr/>
          <p:nvPr/>
        </p:nvSpPr>
        <p:spPr>
          <a:xfrm>
            <a:off x="4864680" y="3090600"/>
            <a:ext cx="822600" cy="39276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593" name="Text 55"/>
          <p:cNvSpPr/>
          <p:nvPr/>
        </p:nvSpPr>
        <p:spPr>
          <a:xfrm>
            <a:off x="4892040" y="3163680"/>
            <a:ext cx="767880" cy="328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10" spc="-1" strike="noStrike">
                <a:solidFill>
                  <a:srgbClr val="f8fafc"/>
                </a:solidFill>
                <a:latin typeface="Aptos"/>
                <a:ea typeface="Aptos"/>
              </a:rPr>
              <a:t>0.4146</a:t>
            </a:r>
            <a:endParaRPr b="0" lang="en-GB" sz="710" spc="-1" strike="noStrike">
              <a:solidFill>
                <a:srgbClr val="ffffff"/>
              </a:solidFill>
              <a:latin typeface="Arial"/>
            </a:endParaRPr>
          </a:p>
        </p:txBody>
      </p:sp>
      <p:sp>
        <p:nvSpPr>
          <p:cNvPr id="594" name="Shape 56"/>
          <p:cNvSpPr/>
          <p:nvPr/>
        </p:nvSpPr>
        <p:spPr>
          <a:xfrm>
            <a:off x="5687640" y="3090600"/>
            <a:ext cx="776880" cy="39276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595" name="Text 57"/>
          <p:cNvSpPr/>
          <p:nvPr/>
        </p:nvSpPr>
        <p:spPr>
          <a:xfrm>
            <a:off x="5715000" y="3163680"/>
            <a:ext cx="722160" cy="328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10" spc="-1" strike="noStrike">
                <a:solidFill>
                  <a:srgbClr val="f8fafc"/>
                </a:solidFill>
                <a:latin typeface="Aptos"/>
                <a:ea typeface="Aptos"/>
              </a:rPr>
              <a:t>0.5312</a:t>
            </a:r>
            <a:endParaRPr b="0" lang="en-GB" sz="710" spc="-1" strike="noStrike">
              <a:solidFill>
                <a:srgbClr val="ffffff"/>
              </a:solidFill>
              <a:latin typeface="Arial"/>
            </a:endParaRPr>
          </a:p>
        </p:txBody>
      </p:sp>
      <p:sp>
        <p:nvSpPr>
          <p:cNvPr id="596" name="Shape 58"/>
          <p:cNvSpPr/>
          <p:nvPr/>
        </p:nvSpPr>
        <p:spPr>
          <a:xfrm>
            <a:off x="567000" y="3483720"/>
            <a:ext cx="1828440" cy="39276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597" name="Text 59"/>
          <p:cNvSpPr/>
          <p:nvPr/>
        </p:nvSpPr>
        <p:spPr>
          <a:xfrm>
            <a:off x="594360" y="3557160"/>
            <a:ext cx="1773720" cy="328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710" spc="-1" strike="noStrike">
                <a:solidFill>
                  <a:srgbClr val="f8fafc"/>
                </a:solidFill>
                <a:latin typeface="Aptos"/>
                <a:ea typeface="Aptos"/>
              </a:rPr>
              <a:t>Decision Tree</a:t>
            </a:r>
            <a:endParaRPr b="0" lang="en-GB" sz="710" spc="-1" strike="noStrike">
              <a:solidFill>
                <a:srgbClr val="ffffff"/>
              </a:solidFill>
              <a:latin typeface="Arial"/>
            </a:endParaRPr>
          </a:p>
        </p:txBody>
      </p:sp>
      <p:sp>
        <p:nvSpPr>
          <p:cNvPr id="598" name="Shape 60"/>
          <p:cNvSpPr/>
          <p:nvPr/>
        </p:nvSpPr>
        <p:spPr>
          <a:xfrm>
            <a:off x="2395800" y="3483720"/>
            <a:ext cx="1234080" cy="39276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599" name="Text 61"/>
          <p:cNvSpPr/>
          <p:nvPr/>
        </p:nvSpPr>
        <p:spPr>
          <a:xfrm>
            <a:off x="2423160" y="3557160"/>
            <a:ext cx="1179360" cy="328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10" spc="-1" strike="noStrike">
                <a:solidFill>
                  <a:srgbClr val="f8fafc"/>
                </a:solidFill>
                <a:latin typeface="Aptos"/>
                <a:ea typeface="Aptos"/>
              </a:rPr>
              <a:t>0.4431±0.0508</a:t>
            </a:r>
            <a:endParaRPr b="0" lang="en-GB" sz="710" spc="-1" strike="noStrike">
              <a:solidFill>
                <a:srgbClr val="ffffff"/>
              </a:solidFill>
              <a:latin typeface="Arial"/>
            </a:endParaRPr>
          </a:p>
        </p:txBody>
      </p:sp>
      <p:sp>
        <p:nvSpPr>
          <p:cNvPr id="600" name="Shape 62"/>
          <p:cNvSpPr/>
          <p:nvPr/>
        </p:nvSpPr>
        <p:spPr>
          <a:xfrm>
            <a:off x="3630240" y="3483720"/>
            <a:ext cx="1234080" cy="39276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601" name="Text 63"/>
          <p:cNvSpPr/>
          <p:nvPr/>
        </p:nvSpPr>
        <p:spPr>
          <a:xfrm>
            <a:off x="3657600" y="3557160"/>
            <a:ext cx="1179360" cy="328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10" spc="-1" strike="noStrike">
                <a:solidFill>
                  <a:srgbClr val="f8fafc"/>
                </a:solidFill>
                <a:latin typeface="Aptos"/>
                <a:ea typeface="Aptos"/>
              </a:rPr>
              <a:t>0.6976±0.0479</a:t>
            </a:r>
            <a:endParaRPr b="0" lang="en-GB" sz="710" spc="-1" strike="noStrike">
              <a:solidFill>
                <a:srgbClr val="ffffff"/>
              </a:solidFill>
              <a:latin typeface="Arial"/>
            </a:endParaRPr>
          </a:p>
        </p:txBody>
      </p:sp>
      <p:sp>
        <p:nvSpPr>
          <p:cNvPr id="602" name="Shape 64"/>
          <p:cNvSpPr/>
          <p:nvPr/>
        </p:nvSpPr>
        <p:spPr>
          <a:xfrm>
            <a:off x="4864680" y="3483720"/>
            <a:ext cx="822600" cy="39276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603" name="Text 65"/>
          <p:cNvSpPr/>
          <p:nvPr/>
        </p:nvSpPr>
        <p:spPr>
          <a:xfrm>
            <a:off x="4892040" y="3557160"/>
            <a:ext cx="767880" cy="328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10" spc="-1" strike="noStrike">
                <a:solidFill>
                  <a:srgbClr val="f8fafc"/>
                </a:solidFill>
                <a:latin typeface="Aptos"/>
                <a:ea typeface="Aptos"/>
              </a:rPr>
              <a:t>0.4634</a:t>
            </a:r>
            <a:endParaRPr b="0" lang="en-GB" sz="710" spc="-1" strike="noStrike">
              <a:solidFill>
                <a:srgbClr val="ffffff"/>
              </a:solidFill>
              <a:latin typeface="Arial"/>
            </a:endParaRPr>
          </a:p>
        </p:txBody>
      </p:sp>
      <p:sp>
        <p:nvSpPr>
          <p:cNvPr id="604" name="Shape 66"/>
          <p:cNvSpPr/>
          <p:nvPr/>
        </p:nvSpPr>
        <p:spPr>
          <a:xfrm>
            <a:off x="5687640" y="3483720"/>
            <a:ext cx="776880" cy="39276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605" name="Text 67"/>
          <p:cNvSpPr/>
          <p:nvPr/>
        </p:nvSpPr>
        <p:spPr>
          <a:xfrm>
            <a:off x="5715000" y="3557160"/>
            <a:ext cx="722160" cy="328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10" spc="-1" strike="noStrike">
                <a:solidFill>
                  <a:srgbClr val="f8fafc"/>
                </a:solidFill>
                <a:latin typeface="Aptos"/>
                <a:ea typeface="Aptos"/>
              </a:rPr>
              <a:t>0.5135</a:t>
            </a:r>
            <a:endParaRPr b="0" lang="en-GB" sz="710" spc="-1" strike="noStrike">
              <a:solidFill>
                <a:srgbClr val="ffffff"/>
              </a:solidFill>
              <a:latin typeface="Arial"/>
            </a:endParaRPr>
          </a:p>
        </p:txBody>
      </p:sp>
      <p:sp>
        <p:nvSpPr>
          <p:cNvPr id="606" name="Shape 68"/>
          <p:cNvSpPr/>
          <p:nvPr/>
        </p:nvSpPr>
        <p:spPr>
          <a:xfrm>
            <a:off x="6903720" y="1710000"/>
            <a:ext cx="4297320" cy="868320"/>
          </a:xfrm>
          <a:prstGeom prst="roundRect">
            <a:avLst>
              <a:gd name="adj" fmla="val 12632"/>
            </a:avLst>
          </a:prstGeom>
          <a:solidFill>
            <a:srgbClr val="10243d"/>
          </a:solidFill>
          <a:ln w="10160">
            <a:solidFill>
              <a:srgbClr val="334155">
                <a:alpha val="6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607" name="Text 69"/>
          <p:cNvSpPr/>
          <p:nvPr/>
        </p:nvSpPr>
        <p:spPr>
          <a:xfrm>
            <a:off x="7068240" y="1856160"/>
            <a:ext cx="3968280" cy="209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00" spc="-1" strike="noStrike">
                <a:solidFill>
                  <a:srgbClr val="38bdf8"/>
                </a:solidFill>
                <a:latin typeface="Aptos"/>
                <a:ea typeface="Aptos"/>
              </a:rPr>
              <a:t>Composite score formula</a:t>
            </a:r>
            <a:endParaRPr b="0" lang="en-GB" sz="900" spc="-1" strike="noStrike">
              <a:solidFill>
                <a:srgbClr val="ffffff"/>
              </a:solidFill>
              <a:latin typeface="Arial"/>
            </a:endParaRPr>
          </a:p>
        </p:txBody>
      </p:sp>
      <p:sp>
        <p:nvSpPr>
          <p:cNvPr id="608" name="Text 70"/>
          <p:cNvSpPr/>
          <p:nvPr/>
        </p:nvSpPr>
        <p:spPr>
          <a:xfrm>
            <a:off x="7068240" y="2157840"/>
            <a:ext cx="396828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1" strike="noStrike">
                <a:solidFill>
                  <a:srgbClr val="f8fafc"/>
                </a:solidFill>
                <a:latin typeface="Aptos"/>
                <a:ea typeface="Aptos"/>
              </a:rPr>
              <a:t>0.40×Recall + 0.35×F1 + 0.25×AUC − 0.10×CV_F1_Std</a:t>
            </a:r>
            <a:endParaRPr b="0" lang="en-GB" sz="850" spc="-1" strike="noStrike">
              <a:solidFill>
                <a:srgbClr val="ffffff"/>
              </a:solidFill>
              <a:latin typeface="Arial"/>
            </a:endParaRPr>
          </a:p>
        </p:txBody>
      </p:sp>
      <p:sp>
        <p:nvSpPr>
          <p:cNvPr id="609" name="Shape 71"/>
          <p:cNvSpPr/>
          <p:nvPr/>
        </p:nvSpPr>
        <p:spPr>
          <a:xfrm>
            <a:off x="6903720" y="2853000"/>
            <a:ext cx="4297320" cy="2121120"/>
          </a:xfrm>
          <a:prstGeom prst="roundRect">
            <a:avLst>
              <a:gd name="adj" fmla="val 3448"/>
            </a:avLst>
          </a:prstGeom>
          <a:solidFill>
            <a:srgbClr val="0b1a2e"/>
          </a:solidFill>
          <a:ln w="1016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610" name="Shape 72"/>
          <p:cNvSpPr/>
          <p:nvPr/>
        </p:nvSpPr>
        <p:spPr>
          <a:xfrm>
            <a:off x="6903720" y="2853000"/>
            <a:ext cx="639720" cy="292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611" name="Text 73"/>
          <p:cNvSpPr/>
          <p:nvPr/>
        </p:nvSpPr>
        <p:spPr>
          <a:xfrm>
            <a:off x="6931080" y="2926080"/>
            <a:ext cx="58500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30" spc="-1" strike="noStrike">
                <a:solidFill>
                  <a:srgbClr val="f8fafc"/>
                </a:solidFill>
                <a:latin typeface="Aptos"/>
                <a:ea typeface="Aptos"/>
              </a:rPr>
              <a:t>Rank</a:t>
            </a:r>
            <a:endParaRPr b="0" lang="en-GB" sz="730" spc="-1" strike="noStrike">
              <a:solidFill>
                <a:srgbClr val="ffffff"/>
              </a:solidFill>
              <a:latin typeface="Arial"/>
            </a:endParaRPr>
          </a:p>
        </p:txBody>
      </p:sp>
      <p:sp>
        <p:nvSpPr>
          <p:cNvPr id="612" name="Shape 74"/>
          <p:cNvSpPr/>
          <p:nvPr/>
        </p:nvSpPr>
        <p:spPr>
          <a:xfrm>
            <a:off x="7543800" y="2853000"/>
            <a:ext cx="2377080" cy="292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613" name="Text 75"/>
          <p:cNvSpPr/>
          <p:nvPr/>
        </p:nvSpPr>
        <p:spPr>
          <a:xfrm>
            <a:off x="7571160" y="2926080"/>
            <a:ext cx="232236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30" spc="-1" strike="noStrike">
                <a:solidFill>
                  <a:srgbClr val="f8fafc"/>
                </a:solidFill>
                <a:latin typeface="Aptos"/>
                <a:ea typeface="Aptos"/>
              </a:rPr>
              <a:t>Model</a:t>
            </a:r>
            <a:endParaRPr b="0" lang="en-GB" sz="730" spc="-1" strike="noStrike">
              <a:solidFill>
                <a:srgbClr val="ffffff"/>
              </a:solidFill>
              <a:latin typeface="Arial"/>
            </a:endParaRPr>
          </a:p>
        </p:txBody>
      </p:sp>
      <p:sp>
        <p:nvSpPr>
          <p:cNvPr id="614" name="Shape 76"/>
          <p:cNvSpPr/>
          <p:nvPr/>
        </p:nvSpPr>
        <p:spPr>
          <a:xfrm>
            <a:off x="9921240" y="2853000"/>
            <a:ext cx="1279800" cy="292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615" name="Text 77"/>
          <p:cNvSpPr/>
          <p:nvPr/>
        </p:nvSpPr>
        <p:spPr>
          <a:xfrm>
            <a:off x="9948600" y="2926080"/>
            <a:ext cx="122508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30" spc="-1" strike="noStrike">
                <a:solidFill>
                  <a:srgbClr val="f8fafc"/>
                </a:solidFill>
                <a:latin typeface="Aptos"/>
                <a:ea typeface="Aptos"/>
              </a:rPr>
              <a:t>Composite</a:t>
            </a:r>
            <a:endParaRPr b="0" lang="en-GB" sz="730" spc="-1" strike="noStrike">
              <a:solidFill>
                <a:srgbClr val="ffffff"/>
              </a:solidFill>
              <a:latin typeface="Arial"/>
            </a:endParaRPr>
          </a:p>
        </p:txBody>
      </p:sp>
      <p:sp>
        <p:nvSpPr>
          <p:cNvPr id="616" name="Shape 78"/>
          <p:cNvSpPr/>
          <p:nvPr/>
        </p:nvSpPr>
        <p:spPr>
          <a:xfrm>
            <a:off x="6903720" y="3145680"/>
            <a:ext cx="639720" cy="35640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617" name="Text 79"/>
          <p:cNvSpPr/>
          <p:nvPr/>
        </p:nvSpPr>
        <p:spPr>
          <a:xfrm>
            <a:off x="6931080" y="3218760"/>
            <a:ext cx="58500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730" spc="-1" strike="noStrike">
                <a:solidFill>
                  <a:srgbClr val="f8fafc"/>
                </a:solidFill>
                <a:latin typeface="Aptos"/>
                <a:ea typeface="Aptos"/>
              </a:rPr>
              <a:t>1</a:t>
            </a:r>
            <a:endParaRPr b="0" lang="en-GB" sz="730" spc="-1" strike="noStrike">
              <a:solidFill>
                <a:srgbClr val="ffffff"/>
              </a:solidFill>
              <a:latin typeface="Arial"/>
            </a:endParaRPr>
          </a:p>
        </p:txBody>
      </p:sp>
      <p:sp>
        <p:nvSpPr>
          <p:cNvPr id="618" name="Shape 80"/>
          <p:cNvSpPr/>
          <p:nvPr/>
        </p:nvSpPr>
        <p:spPr>
          <a:xfrm>
            <a:off x="7543800" y="3145680"/>
            <a:ext cx="2377080" cy="35640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619" name="Text 81"/>
          <p:cNvSpPr/>
          <p:nvPr/>
        </p:nvSpPr>
        <p:spPr>
          <a:xfrm>
            <a:off x="7571160" y="3218760"/>
            <a:ext cx="2322360" cy="292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30" spc="-1" strike="noStrike">
                <a:solidFill>
                  <a:srgbClr val="f8fafc"/>
                </a:solidFill>
                <a:latin typeface="Aptos"/>
                <a:ea typeface="Aptos"/>
              </a:rPr>
              <a:t>Logistic Regression</a:t>
            </a:r>
            <a:endParaRPr b="0" lang="en-GB" sz="730" spc="-1" strike="noStrike">
              <a:solidFill>
                <a:srgbClr val="ffffff"/>
              </a:solidFill>
              <a:latin typeface="Arial"/>
            </a:endParaRPr>
          </a:p>
        </p:txBody>
      </p:sp>
      <p:sp>
        <p:nvSpPr>
          <p:cNvPr id="620" name="Shape 82"/>
          <p:cNvSpPr/>
          <p:nvPr/>
        </p:nvSpPr>
        <p:spPr>
          <a:xfrm>
            <a:off x="9921240" y="3145680"/>
            <a:ext cx="1279800" cy="35640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621" name="Text 83"/>
          <p:cNvSpPr/>
          <p:nvPr/>
        </p:nvSpPr>
        <p:spPr>
          <a:xfrm>
            <a:off x="9948600" y="3218760"/>
            <a:ext cx="1225080" cy="292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30" spc="-1" strike="noStrike">
                <a:solidFill>
                  <a:srgbClr val="f8fafc"/>
                </a:solidFill>
                <a:latin typeface="Aptos"/>
                <a:ea typeface="Aptos"/>
              </a:rPr>
              <a:t>0.7826</a:t>
            </a:r>
            <a:endParaRPr b="0" lang="en-GB" sz="730" spc="-1" strike="noStrike">
              <a:solidFill>
                <a:srgbClr val="ffffff"/>
              </a:solidFill>
              <a:latin typeface="Arial"/>
            </a:endParaRPr>
          </a:p>
        </p:txBody>
      </p:sp>
      <p:sp>
        <p:nvSpPr>
          <p:cNvPr id="622" name="Shape 84"/>
          <p:cNvSpPr/>
          <p:nvPr/>
        </p:nvSpPr>
        <p:spPr>
          <a:xfrm>
            <a:off x="6903720" y="3502080"/>
            <a:ext cx="639720" cy="35640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623" name="Text 85"/>
          <p:cNvSpPr/>
          <p:nvPr/>
        </p:nvSpPr>
        <p:spPr>
          <a:xfrm>
            <a:off x="6931080" y="3575160"/>
            <a:ext cx="58500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730" spc="-1" strike="noStrike">
                <a:solidFill>
                  <a:srgbClr val="f8fafc"/>
                </a:solidFill>
                <a:latin typeface="Aptos"/>
                <a:ea typeface="Aptos"/>
              </a:rPr>
              <a:t>2</a:t>
            </a:r>
            <a:endParaRPr b="0" lang="en-GB" sz="730" spc="-1" strike="noStrike">
              <a:solidFill>
                <a:srgbClr val="ffffff"/>
              </a:solidFill>
              <a:latin typeface="Arial"/>
            </a:endParaRPr>
          </a:p>
        </p:txBody>
      </p:sp>
      <p:sp>
        <p:nvSpPr>
          <p:cNvPr id="624" name="Shape 86"/>
          <p:cNvSpPr/>
          <p:nvPr/>
        </p:nvSpPr>
        <p:spPr>
          <a:xfrm>
            <a:off x="7543800" y="3502080"/>
            <a:ext cx="2377080" cy="35640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625" name="Text 87"/>
          <p:cNvSpPr/>
          <p:nvPr/>
        </p:nvSpPr>
        <p:spPr>
          <a:xfrm>
            <a:off x="7571160" y="3575160"/>
            <a:ext cx="2322360" cy="292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30" spc="-1" strike="noStrike">
                <a:solidFill>
                  <a:srgbClr val="f8fafc"/>
                </a:solidFill>
                <a:latin typeface="Aptos"/>
                <a:ea typeface="Aptos"/>
              </a:rPr>
              <a:t>XGBoost</a:t>
            </a:r>
            <a:endParaRPr b="0" lang="en-GB" sz="730" spc="-1" strike="noStrike">
              <a:solidFill>
                <a:srgbClr val="ffffff"/>
              </a:solidFill>
              <a:latin typeface="Arial"/>
            </a:endParaRPr>
          </a:p>
        </p:txBody>
      </p:sp>
      <p:sp>
        <p:nvSpPr>
          <p:cNvPr id="626" name="Shape 88"/>
          <p:cNvSpPr/>
          <p:nvPr/>
        </p:nvSpPr>
        <p:spPr>
          <a:xfrm>
            <a:off x="9921240" y="3502080"/>
            <a:ext cx="1279800" cy="35640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627" name="Text 89"/>
          <p:cNvSpPr/>
          <p:nvPr/>
        </p:nvSpPr>
        <p:spPr>
          <a:xfrm>
            <a:off x="9948600" y="3575160"/>
            <a:ext cx="1225080" cy="292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30" spc="-1" strike="noStrike">
                <a:solidFill>
                  <a:srgbClr val="f8fafc"/>
                </a:solidFill>
                <a:latin typeface="Aptos"/>
                <a:ea typeface="Aptos"/>
              </a:rPr>
              <a:t>0.6557</a:t>
            </a:r>
            <a:endParaRPr b="0" lang="en-GB" sz="730" spc="-1" strike="noStrike">
              <a:solidFill>
                <a:srgbClr val="ffffff"/>
              </a:solidFill>
              <a:latin typeface="Arial"/>
            </a:endParaRPr>
          </a:p>
        </p:txBody>
      </p:sp>
      <p:sp>
        <p:nvSpPr>
          <p:cNvPr id="628" name="Shape 90"/>
          <p:cNvSpPr/>
          <p:nvPr/>
        </p:nvSpPr>
        <p:spPr>
          <a:xfrm>
            <a:off x="6903720" y="3858840"/>
            <a:ext cx="639720" cy="35640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629" name="Text 91"/>
          <p:cNvSpPr/>
          <p:nvPr/>
        </p:nvSpPr>
        <p:spPr>
          <a:xfrm>
            <a:off x="6931080" y="3931920"/>
            <a:ext cx="58500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730" spc="-1" strike="noStrike">
                <a:solidFill>
                  <a:srgbClr val="f8fafc"/>
                </a:solidFill>
                <a:latin typeface="Aptos"/>
                <a:ea typeface="Aptos"/>
              </a:rPr>
              <a:t>3</a:t>
            </a:r>
            <a:endParaRPr b="0" lang="en-GB" sz="730" spc="-1" strike="noStrike">
              <a:solidFill>
                <a:srgbClr val="ffffff"/>
              </a:solidFill>
              <a:latin typeface="Arial"/>
            </a:endParaRPr>
          </a:p>
        </p:txBody>
      </p:sp>
      <p:sp>
        <p:nvSpPr>
          <p:cNvPr id="630" name="Shape 92"/>
          <p:cNvSpPr/>
          <p:nvPr/>
        </p:nvSpPr>
        <p:spPr>
          <a:xfrm>
            <a:off x="7543800" y="3858840"/>
            <a:ext cx="2377080" cy="35640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631" name="Text 93"/>
          <p:cNvSpPr/>
          <p:nvPr/>
        </p:nvSpPr>
        <p:spPr>
          <a:xfrm>
            <a:off x="7571160" y="3931920"/>
            <a:ext cx="2322360" cy="292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30" spc="-1" strike="noStrike">
                <a:solidFill>
                  <a:srgbClr val="f8fafc"/>
                </a:solidFill>
                <a:latin typeface="Aptos"/>
                <a:ea typeface="Aptos"/>
              </a:rPr>
              <a:t>SVM</a:t>
            </a:r>
            <a:endParaRPr b="0" lang="en-GB" sz="730" spc="-1" strike="noStrike">
              <a:solidFill>
                <a:srgbClr val="ffffff"/>
              </a:solidFill>
              <a:latin typeface="Arial"/>
            </a:endParaRPr>
          </a:p>
        </p:txBody>
      </p:sp>
      <p:sp>
        <p:nvSpPr>
          <p:cNvPr id="632" name="Shape 94"/>
          <p:cNvSpPr/>
          <p:nvPr/>
        </p:nvSpPr>
        <p:spPr>
          <a:xfrm>
            <a:off x="9921240" y="3858840"/>
            <a:ext cx="1279800" cy="35640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633" name="Text 95"/>
          <p:cNvSpPr/>
          <p:nvPr/>
        </p:nvSpPr>
        <p:spPr>
          <a:xfrm>
            <a:off x="9948600" y="3931920"/>
            <a:ext cx="1225080" cy="292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30" spc="-1" strike="noStrike">
                <a:solidFill>
                  <a:srgbClr val="f8fafc"/>
                </a:solidFill>
                <a:latin typeface="Aptos"/>
                <a:ea typeface="Aptos"/>
              </a:rPr>
              <a:t>0.6323</a:t>
            </a:r>
            <a:endParaRPr b="0" lang="en-GB" sz="730" spc="-1" strike="noStrike">
              <a:solidFill>
                <a:srgbClr val="ffffff"/>
              </a:solidFill>
              <a:latin typeface="Arial"/>
            </a:endParaRPr>
          </a:p>
        </p:txBody>
      </p:sp>
      <p:sp>
        <p:nvSpPr>
          <p:cNvPr id="634" name="Shape 96"/>
          <p:cNvSpPr/>
          <p:nvPr/>
        </p:nvSpPr>
        <p:spPr>
          <a:xfrm>
            <a:off x="6903720" y="4215240"/>
            <a:ext cx="639720" cy="35640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635" name="Text 97"/>
          <p:cNvSpPr/>
          <p:nvPr/>
        </p:nvSpPr>
        <p:spPr>
          <a:xfrm>
            <a:off x="6931080" y="4288680"/>
            <a:ext cx="58500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730" spc="-1" strike="noStrike">
                <a:solidFill>
                  <a:srgbClr val="f8fafc"/>
                </a:solidFill>
                <a:latin typeface="Aptos"/>
                <a:ea typeface="Aptos"/>
              </a:rPr>
              <a:t>4</a:t>
            </a:r>
            <a:endParaRPr b="0" lang="en-GB" sz="730" spc="-1" strike="noStrike">
              <a:solidFill>
                <a:srgbClr val="ffffff"/>
              </a:solidFill>
              <a:latin typeface="Arial"/>
            </a:endParaRPr>
          </a:p>
        </p:txBody>
      </p:sp>
      <p:sp>
        <p:nvSpPr>
          <p:cNvPr id="636" name="Shape 98"/>
          <p:cNvSpPr/>
          <p:nvPr/>
        </p:nvSpPr>
        <p:spPr>
          <a:xfrm>
            <a:off x="7543800" y="4215240"/>
            <a:ext cx="2377080" cy="35640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637" name="Text 99"/>
          <p:cNvSpPr/>
          <p:nvPr/>
        </p:nvSpPr>
        <p:spPr>
          <a:xfrm>
            <a:off x="7571160" y="4288680"/>
            <a:ext cx="2322360" cy="292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30" spc="-1" strike="noStrike">
                <a:solidFill>
                  <a:srgbClr val="f8fafc"/>
                </a:solidFill>
                <a:latin typeface="Aptos"/>
                <a:ea typeface="Aptos"/>
              </a:rPr>
              <a:t>KNN</a:t>
            </a:r>
            <a:endParaRPr b="0" lang="en-GB" sz="730" spc="-1" strike="noStrike">
              <a:solidFill>
                <a:srgbClr val="ffffff"/>
              </a:solidFill>
              <a:latin typeface="Arial"/>
            </a:endParaRPr>
          </a:p>
        </p:txBody>
      </p:sp>
      <p:sp>
        <p:nvSpPr>
          <p:cNvPr id="638" name="Shape 100"/>
          <p:cNvSpPr/>
          <p:nvPr/>
        </p:nvSpPr>
        <p:spPr>
          <a:xfrm>
            <a:off x="9921240" y="4215240"/>
            <a:ext cx="1279800" cy="35640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639" name="Text 101"/>
          <p:cNvSpPr/>
          <p:nvPr/>
        </p:nvSpPr>
        <p:spPr>
          <a:xfrm>
            <a:off x="9948600" y="4288680"/>
            <a:ext cx="1225080" cy="292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30" spc="-1" strike="noStrike">
                <a:solidFill>
                  <a:srgbClr val="f8fafc"/>
                </a:solidFill>
                <a:latin typeface="Aptos"/>
                <a:ea typeface="Aptos"/>
              </a:rPr>
              <a:t>0.6261</a:t>
            </a:r>
            <a:endParaRPr b="0" lang="en-GB" sz="730" spc="-1" strike="noStrike">
              <a:solidFill>
                <a:srgbClr val="ffffff"/>
              </a:solidFill>
              <a:latin typeface="Arial"/>
            </a:endParaRPr>
          </a:p>
        </p:txBody>
      </p:sp>
      <p:sp>
        <p:nvSpPr>
          <p:cNvPr id="640" name="Shape 102"/>
          <p:cNvSpPr/>
          <p:nvPr/>
        </p:nvSpPr>
        <p:spPr>
          <a:xfrm>
            <a:off x="6903720" y="4572000"/>
            <a:ext cx="639720" cy="35640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641" name="Text 103"/>
          <p:cNvSpPr/>
          <p:nvPr/>
        </p:nvSpPr>
        <p:spPr>
          <a:xfrm>
            <a:off x="6931080" y="4645080"/>
            <a:ext cx="58500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730" spc="-1" strike="noStrike">
                <a:solidFill>
                  <a:srgbClr val="f8fafc"/>
                </a:solidFill>
                <a:latin typeface="Aptos"/>
                <a:ea typeface="Aptos"/>
              </a:rPr>
              <a:t>5</a:t>
            </a:r>
            <a:endParaRPr b="0" lang="en-GB" sz="730" spc="-1" strike="noStrike">
              <a:solidFill>
                <a:srgbClr val="ffffff"/>
              </a:solidFill>
              <a:latin typeface="Arial"/>
            </a:endParaRPr>
          </a:p>
        </p:txBody>
      </p:sp>
      <p:sp>
        <p:nvSpPr>
          <p:cNvPr id="642" name="Shape 104"/>
          <p:cNvSpPr/>
          <p:nvPr/>
        </p:nvSpPr>
        <p:spPr>
          <a:xfrm>
            <a:off x="7543800" y="4572000"/>
            <a:ext cx="2377080" cy="35640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643" name="Text 105"/>
          <p:cNvSpPr/>
          <p:nvPr/>
        </p:nvSpPr>
        <p:spPr>
          <a:xfrm>
            <a:off x="7571160" y="4645080"/>
            <a:ext cx="2322360" cy="292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30" spc="-1" strike="noStrike">
                <a:solidFill>
                  <a:srgbClr val="f8fafc"/>
                </a:solidFill>
                <a:latin typeface="Aptos"/>
                <a:ea typeface="Aptos"/>
              </a:rPr>
              <a:t>Random Forest</a:t>
            </a:r>
            <a:endParaRPr b="0" lang="en-GB" sz="730" spc="-1" strike="noStrike">
              <a:solidFill>
                <a:srgbClr val="ffffff"/>
              </a:solidFill>
              <a:latin typeface="Arial"/>
            </a:endParaRPr>
          </a:p>
        </p:txBody>
      </p:sp>
      <p:sp>
        <p:nvSpPr>
          <p:cNvPr id="644" name="Shape 106"/>
          <p:cNvSpPr/>
          <p:nvPr/>
        </p:nvSpPr>
        <p:spPr>
          <a:xfrm>
            <a:off x="9921240" y="4572000"/>
            <a:ext cx="1279800" cy="35640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645" name="Text 107"/>
          <p:cNvSpPr/>
          <p:nvPr/>
        </p:nvSpPr>
        <p:spPr>
          <a:xfrm>
            <a:off x="9948600" y="4645080"/>
            <a:ext cx="1225080" cy="292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30" spc="-1" strike="noStrike">
                <a:solidFill>
                  <a:srgbClr val="f8fafc"/>
                </a:solidFill>
                <a:latin typeface="Aptos"/>
                <a:ea typeface="Aptos"/>
              </a:rPr>
              <a:t>0.5660</a:t>
            </a:r>
            <a:endParaRPr b="0" lang="en-GB" sz="730" spc="-1" strike="noStrike">
              <a:solidFill>
                <a:srgbClr val="ffffff"/>
              </a:solidFill>
              <a:latin typeface="Arial"/>
            </a:endParaRPr>
          </a:p>
        </p:txBody>
      </p:sp>
      <p:sp>
        <p:nvSpPr>
          <p:cNvPr id="646" name="Shape 108"/>
          <p:cNvSpPr/>
          <p:nvPr/>
        </p:nvSpPr>
        <p:spPr>
          <a:xfrm>
            <a:off x="502920" y="6555960"/>
            <a:ext cx="11201400" cy="360"/>
          </a:xfrm>
          <a:prstGeom prst="line">
            <a:avLst/>
          </a:prstGeom>
          <a:ln w="7620">
            <a:solidFill>
              <a:srgbClr val="334155">
                <a:alpha val="60000"/>
              </a:srgbClr>
            </a:solidFill>
            <a:round/>
          </a:ln>
        </p:spPr>
        <p:style>
          <a:lnRef idx="0"/>
          <a:fillRef idx="0"/>
          <a:effectRef idx="0"/>
          <a:fontRef idx="minor"/>
        </p:style>
        <p:txBody>
          <a:bodyPr lIns="90000" rIns="90000" tIns="-44640" bIns="-44640" anchor="t" anchorCtr="1">
            <a:noAutofit/>
          </a:bodyPr>
          <a:p>
            <a:endParaRPr b="0" lang="en-GB" sz="1800" spc="-1" strike="noStrike">
              <a:solidFill>
                <a:srgbClr val="ffffff"/>
              </a:solidFill>
              <a:latin typeface="Arial"/>
            </a:endParaRPr>
          </a:p>
        </p:txBody>
      </p:sp>
      <p:sp>
        <p:nvSpPr>
          <p:cNvPr id="647" name="Text 109"/>
          <p:cNvSpPr/>
          <p:nvPr/>
        </p:nvSpPr>
        <p:spPr>
          <a:xfrm>
            <a:off x="530280" y="6602040"/>
            <a:ext cx="6217560" cy="145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650" spc="-1" strike="noStrike">
                <a:solidFill>
                  <a:srgbClr val="94a3b8"/>
                </a:solidFill>
                <a:latin typeface="Aptos"/>
                <a:ea typeface="Aptos"/>
              </a:rPr>
              <a:t>Clinical Outcome Prediction • Myocardial Infarction Complications</a:t>
            </a:r>
            <a:endParaRPr b="0" lang="en-GB" sz="650" spc="-1" strike="noStrike">
              <a:solidFill>
                <a:srgbClr val="ffffff"/>
              </a:solidFill>
              <a:latin typeface="Arial"/>
            </a:endParaRPr>
          </a:p>
        </p:txBody>
      </p:sp>
      <p:sp>
        <p:nvSpPr>
          <p:cNvPr id="648" name="Text 110"/>
          <p:cNvSpPr/>
          <p:nvPr/>
        </p:nvSpPr>
        <p:spPr>
          <a:xfrm>
            <a:off x="11201400" y="6565320"/>
            <a:ext cx="502560" cy="2282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750" spc="-1" strike="noStrike">
                <a:solidFill>
                  <a:srgbClr val="94a3b8"/>
                </a:solidFill>
                <a:latin typeface="Aptos"/>
                <a:ea typeface="Aptos"/>
              </a:rPr>
              <a:t>09</a:t>
            </a:r>
            <a:endParaRPr b="0" lang="en-GB" sz="7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01f"/>
        </a:solidFill>
      </p:bgPr>
    </p:bg>
    <p:spTree>
      <p:nvGrpSpPr>
        <p:cNvPr id="1" name=""/>
        <p:cNvGrpSpPr/>
        <p:nvPr/>
      </p:nvGrpSpPr>
      <p:grpSpPr>
        <a:xfrm>
          <a:off x="0" y="0"/>
          <a:ext cx="0" cy="0"/>
          <a:chOff x="0" y="0"/>
          <a:chExt cx="0" cy="0"/>
        </a:xfrm>
      </p:grpSpPr>
      <p:sp>
        <p:nvSpPr>
          <p:cNvPr id="649" name="Shape 0"/>
          <p:cNvSpPr/>
          <p:nvPr/>
        </p:nvSpPr>
        <p:spPr>
          <a:xfrm>
            <a:off x="0" y="0"/>
            <a:ext cx="12191400" cy="6857640"/>
          </a:xfrm>
          <a:prstGeom prst="rect">
            <a:avLst/>
          </a:prstGeom>
          <a:solidFill>
            <a:srgbClr val="06101f"/>
          </a:solidFill>
          <a:ln w="12700">
            <a:solidFill>
              <a:srgbClr val="06101f"/>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650" name="Shape 1"/>
          <p:cNvSpPr/>
          <p:nvPr/>
        </p:nvSpPr>
        <p:spPr>
          <a:xfrm>
            <a:off x="0" y="0"/>
            <a:ext cx="12191400" cy="6857640"/>
          </a:xfrm>
          <a:prstGeom prst="rect">
            <a:avLst/>
          </a:prstGeom>
          <a:solidFill>
            <a:srgbClr val="081629">
              <a:alpha val="85000"/>
            </a:srgbClr>
          </a:solidFill>
          <a:ln w="12700">
            <a:solidFill>
              <a:srgbClr val="081629">
                <a:alpha val="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651" name="Shape 2"/>
          <p:cNvSpPr/>
          <p:nvPr/>
        </p:nvSpPr>
        <p:spPr>
          <a:xfrm>
            <a:off x="-1554480" y="-1737360"/>
            <a:ext cx="5486040" cy="5486040"/>
          </a:xfrm>
          <a:prstGeom prst="arc">
            <a:avLst>
              <a:gd name="adj1" fmla="val 16200000"/>
              <a:gd name="adj2" fmla="val 0"/>
            </a:avLst>
          </a:prstGeom>
          <a:noFill/>
          <a:ln w="13970">
            <a:solidFill>
              <a:srgbClr val="14b8a6">
                <a:alpha val="3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652" name="Shape 3"/>
          <p:cNvSpPr/>
          <p:nvPr/>
        </p:nvSpPr>
        <p:spPr>
          <a:xfrm>
            <a:off x="7680960" y="3840480"/>
            <a:ext cx="5486040" cy="5486040"/>
          </a:xfrm>
          <a:prstGeom prst="arc">
            <a:avLst>
              <a:gd name="adj1" fmla="val 16200000"/>
              <a:gd name="adj2" fmla="val 0"/>
            </a:avLst>
          </a:prstGeom>
          <a:noFill/>
          <a:ln w="12700">
            <a:solidFill>
              <a:srgbClr val="f59e0b">
                <a:alpha val="22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653" name="Text 4"/>
          <p:cNvSpPr/>
          <p:nvPr/>
        </p:nvSpPr>
        <p:spPr>
          <a:xfrm>
            <a:off x="567000" y="347400"/>
            <a:ext cx="594324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50" spc="-1" strike="noStrike">
                <a:solidFill>
                  <a:srgbClr val="14b8a6"/>
                </a:solidFill>
                <a:latin typeface="Aptos"/>
                <a:ea typeface="Aptos"/>
              </a:rPr>
              <a:t>PHASE 4.1</a:t>
            </a:r>
            <a:endParaRPr b="0" lang="en-GB" sz="850" spc="-1" strike="noStrike">
              <a:solidFill>
                <a:srgbClr val="ffffff"/>
              </a:solidFill>
              <a:latin typeface="Arial"/>
            </a:endParaRPr>
          </a:p>
        </p:txBody>
      </p:sp>
      <p:sp>
        <p:nvSpPr>
          <p:cNvPr id="654" name="Text 5"/>
          <p:cNvSpPr/>
          <p:nvPr/>
        </p:nvSpPr>
        <p:spPr>
          <a:xfrm>
            <a:off x="548640" y="658440"/>
            <a:ext cx="10926720" cy="5940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400" spc="-1" strike="noStrike">
                <a:solidFill>
                  <a:srgbClr val="f8fafc"/>
                </a:solidFill>
                <a:latin typeface="Aptos Display"/>
                <a:ea typeface="Aptos Display"/>
              </a:rPr>
              <a:t>Hyperparameter tuning: improvement is not guaranteed</a:t>
            </a:r>
            <a:endParaRPr b="0" lang="en-GB" sz="2400" spc="-1" strike="noStrike">
              <a:solidFill>
                <a:srgbClr val="ffffff"/>
              </a:solidFill>
              <a:latin typeface="Arial"/>
            </a:endParaRPr>
          </a:p>
        </p:txBody>
      </p:sp>
      <p:sp>
        <p:nvSpPr>
          <p:cNvPr id="655" name="Text 6"/>
          <p:cNvSpPr/>
          <p:nvPr/>
        </p:nvSpPr>
        <p:spPr>
          <a:xfrm>
            <a:off x="567000" y="1216080"/>
            <a:ext cx="1051524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50" spc="-1" strike="noStrike">
                <a:solidFill>
                  <a:srgbClr val="94a3b8"/>
                </a:solidFill>
                <a:latin typeface="Aptos"/>
                <a:ea typeface="Aptos"/>
              </a:rPr>
              <a:t>Tuning exposed a key lesson: optimizing one objective can harm clinical recall.</a:t>
            </a:r>
            <a:endParaRPr b="0" lang="en-GB" sz="1050" spc="-1" strike="noStrike">
              <a:solidFill>
                <a:srgbClr val="ffffff"/>
              </a:solidFill>
              <a:latin typeface="Arial"/>
            </a:endParaRPr>
          </a:p>
        </p:txBody>
      </p:sp>
      <p:sp>
        <p:nvSpPr>
          <p:cNvPr id="656" name="Shape 7"/>
          <p:cNvSpPr/>
          <p:nvPr/>
        </p:nvSpPr>
        <p:spPr>
          <a:xfrm>
            <a:off x="502920" y="1600200"/>
            <a:ext cx="7497720" cy="1709640"/>
          </a:xfrm>
          <a:prstGeom prst="roundRect">
            <a:avLst>
              <a:gd name="adj" fmla="val 4278"/>
            </a:avLst>
          </a:prstGeom>
          <a:solidFill>
            <a:srgbClr val="0b1a2e"/>
          </a:solidFill>
          <a:ln w="1016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657" name="Shape 8"/>
          <p:cNvSpPr/>
          <p:nvPr/>
        </p:nvSpPr>
        <p:spPr>
          <a:xfrm>
            <a:off x="502920" y="1600200"/>
            <a:ext cx="1416960" cy="292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658" name="Text 9"/>
          <p:cNvSpPr/>
          <p:nvPr/>
        </p:nvSpPr>
        <p:spPr>
          <a:xfrm>
            <a:off x="530280" y="1673280"/>
            <a:ext cx="136224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680" spc="-1" strike="noStrike">
                <a:solidFill>
                  <a:srgbClr val="f8fafc"/>
                </a:solidFill>
                <a:latin typeface="Aptos"/>
                <a:ea typeface="Aptos"/>
              </a:rPr>
              <a:t>Model</a:t>
            </a:r>
            <a:endParaRPr b="0" lang="en-GB" sz="680" spc="-1" strike="noStrike">
              <a:solidFill>
                <a:srgbClr val="ffffff"/>
              </a:solidFill>
              <a:latin typeface="Arial"/>
            </a:endParaRPr>
          </a:p>
        </p:txBody>
      </p:sp>
      <p:sp>
        <p:nvSpPr>
          <p:cNvPr id="659" name="Shape 10"/>
          <p:cNvSpPr/>
          <p:nvPr/>
        </p:nvSpPr>
        <p:spPr>
          <a:xfrm>
            <a:off x="1920240" y="1600200"/>
            <a:ext cx="1005480" cy="292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660" name="Text 11"/>
          <p:cNvSpPr/>
          <p:nvPr/>
        </p:nvSpPr>
        <p:spPr>
          <a:xfrm>
            <a:off x="1947600" y="1673280"/>
            <a:ext cx="95076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680" spc="-1" strike="noStrike">
                <a:solidFill>
                  <a:srgbClr val="f8fafc"/>
                </a:solidFill>
                <a:latin typeface="Aptos"/>
                <a:ea typeface="Aptos"/>
              </a:rPr>
              <a:t>Recall before</a:t>
            </a:r>
            <a:endParaRPr b="0" lang="en-GB" sz="680" spc="-1" strike="noStrike">
              <a:solidFill>
                <a:srgbClr val="ffffff"/>
              </a:solidFill>
              <a:latin typeface="Arial"/>
            </a:endParaRPr>
          </a:p>
        </p:txBody>
      </p:sp>
      <p:sp>
        <p:nvSpPr>
          <p:cNvPr id="661" name="Shape 12"/>
          <p:cNvSpPr/>
          <p:nvPr/>
        </p:nvSpPr>
        <p:spPr>
          <a:xfrm>
            <a:off x="2926080" y="1600200"/>
            <a:ext cx="1005480" cy="292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662" name="Text 13"/>
          <p:cNvSpPr/>
          <p:nvPr/>
        </p:nvSpPr>
        <p:spPr>
          <a:xfrm>
            <a:off x="2953440" y="1673280"/>
            <a:ext cx="95076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680" spc="-1" strike="noStrike">
                <a:solidFill>
                  <a:srgbClr val="f8fafc"/>
                </a:solidFill>
                <a:latin typeface="Aptos"/>
                <a:ea typeface="Aptos"/>
              </a:rPr>
              <a:t>F1 before</a:t>
            </a:r>
            <a:endParaRPr b="0" lang="en-GB" sz="680" spc="-1" strike="noStrike">
              <a:solidFill>
                <a:srgbClr val="ffffff"/>
              </a:solidFill>
              <a:latin typeface="Arial"/>
            </a:endParaRPr>
          </a:p>
        </p:txBody>
      </p:sp>
      <p:sp>
        <p:nvSpPr>
          <p:cNvPr id="663" name="Shape 14"/>
          <p:cNvSpPr/>
          <p:nvPr/>
        </p:nvSpPr>
        <p:spPr>
          <a:xfrm>
            <a:off x="3931920" y="1600200"/>
            <a:ext cx="1005480" cy="292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664" name="Text 15"/>
          <p:cNvSpPr/>
          <p:nvPr/>
        </p:nvSpPr>
        <p:spPr>
          <a:xfrm>
            <a:off x="3959280" y="1673280"/>
            <a:ext cx="95076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680" spc="-1" strike="noStrike">
                <a:solidFill>
                  <a:srgbClr val="f8fafc"/>
                </a:solidFill>
                <a:latin typeface="Aptos"/>
                <a:ea typeface="Aptos"/>
              </a:rPr>
              <a:t>AUC before</a:t>
            </a:r>
            <a:endParaRPr b="0" lang="en-GB" sz="680" spc="-1" strike="noStrike">
              <a:solidFill>
                <a:srgbClr val="ffffff"/>
              </a:solidFill>
              <a:latin typeface="Arial"/>
            </a:endParaRPr>
          </a:p>
        </p:txBody>
      </p:sp>
      <p:sp>
        <p:nvSpPr>
          <p:cNvPr id="665" name="Shape 16"/>
          <p:cNvSpPr/>
          <p:nvPr/>
        </p:nvSpPr>
        <p:spPr>
          <a:xfrm>
            <a:off x="4937760" y="1600200"/>
            <a:ext cx="1005480" cy="292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666" name="Text 17"/>
          <p:cNvSpPr/>
          <p:nvPr/>
        </p:nvSpPr>
        <p:spPr>
          <a:xfrm>
            <a:off x="4965120" y="1673280"/>
            <a:ext cx="95076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680" spc="-1" strike="noStrike">
                <a:solidFill>
                  <a:srgbClr val="f8fafc"/>
                </a:solidFill>
                <a:latin typeface="Aptos"/>
                <a:ea typeface="Aptos"/>
              </a:rPr>
              <a:t>Recall after</a:t>
            </a:r>
            <a:endParaRPr b="0" lang="en-GB" sz="680" spc="-1" strike="noStrike">
              <a:solidFill>
                <a:srgbClr val="ffffff"/>
              </a:solidFill>
              <a:latin typeface="Arial"/>
            </a:endParaRPr>
          </a:p>
        </p:txBody>
      </p:sp>
      <p:sp>
        <p:nvSpPr>
          <p:cNvPr id="667" name="Shape 18"/>
          <p:cNvSpPr/>
          <p:nvPr/>
        </p:nvSpPr>
        <p:spPr>
          <a:xfrm>
            <a:off x="5943600" y="1600200"/>
            <a:ext cx="1005480" cy="292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668" name="Text 19"/>
          <p:cNvSpPr/>
          <p:nvPr/>
        </p:nvSpPr>
        <p:spPr>
          <a:xfrm>
            <a:off x="5970960" y="1673280"/>
            <a:ext cx="95076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680" spc="-1" strike="noStrike">
                <a:solidFill>
                  <a:srgbClr val="f8fafc"/>
                </a:solidFill>
                <a:latin typeface="Aptos"/>
                <a:ea typeface="Aptos"/>
              </a:rPr>
              <a:t>F1 after</a:t>
            </a:r>
            <a:endParaRPr b="0" lang="en-GB" sz="680" spc="-1" strike="noStrike">
              <a:solidFill>
                <a:srgbClr val="ffffff"/>
              </a:solidFill>
              <a:latin typeface="Arial"/>
            </a:endParaRPr>
          </a:p>
        </p:txBody>
      </p:sp>
      <p:sp>
        <p:nvSpPr>
          <p:cNvPr id="669" name="Shape 20"/>
          <p:cNvSpPr/>
          <p:nvPr/>
        </p:nvSpPr>
        <p:spPr>
          <a:xfrm>
            <a:off x="6949440" y="1600200"/>
            <a:ext cx="1051200" cy="292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670" name="Text 21"/>
          <p:cNvSpPr/>
          <p:nvPr/>
        </p:nvSpPr>
        <p:spPr>
          <a:xfrm>
            <a:off x="6976800" y="1673280"/>
            <a:ext cx="99648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680" spc="-1" strike="noStrike">
                <a:solidFill>
                  <a:srgbClr val="f8fafc"/>
                </a:solidFill>
                <a:latin typeface="Aptos"/>
                <a:ea typeface="Aptos"/>
              </a:rPr>
              <a:t>AUC after</a:t>
            </a:r>
            <a:endParaRPr b="0" lang="en-GB" sz="680" spc="-1" strike="noStrike">
              <a:solidFill>
                <a:srgbClr val="ffffff"/>
              </a:solidFill>
              <a:latin typeface="Arial"/>
            </a:endParaRPr>
          </a:p>
        </p:txBody>
      </p:sp>
      <p:sp>
        <p:nvSpPr>
          <p:cNvPr id="671" name="Shape 22"/>
          <p:cNvSpPr/>
          <p:nvPr/>
        </p:nvSpPr>
        <p:spPr>
          <a:xfrm>
            <a:off x="502920" y="1892880"/>
            <a:ext cx="1416960" cy="45684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672" name="Text 23"/>
          <p:cNvSpPr/>
          <p:nvPr/>
        </p:nvSpPr>
        <p:spPr>
          <a:xfrm>
            <a:off x="530280" y="1965960"/>
            <a:ext cx="1362240" cy="392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680" spc="-1" strike="noStrike">
                <a:solidFill>
                  <a:srgbClr val="f8fafc"/>
                </a:solidFill>
                <a:latin typeface="Aptos"/>
                <a:ea typeface="Aptos"/>
              </a:rPr>
              <a:t>Logistic Regression</a:t>
            </a:r>
            <a:endParaRPr b="0" lang="en-GB" sz="680" spc="-1" strike="noStrike">
              <a:solidFill>
                <a:srgbClr val="ffffff"/>
              </a:solidFill>
              <a:latin typeface="Arial"/>
            </a:endParaRPr>
          </a:p>
        </p:txBody>
      </p:sp>
      <p:sp>
        <p:nvSpPr>
          <p:cNvPr id="673" name="Shape 24"/>
          <p:cNvSpPr/>
          <p:nvPr/>
        </p:nvSpPr>
        <p:spPr>
          <a:xfrm>
            <a:off x="1920240" y="1892880"/>
            <a:ext cx="1005480" cy="45684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674" name="Text 25"/>
          <p:cNvSpPr/>
          <p:nvPr/>
        </p:nvSpPr>
        <p:spPr>
          <a:xfrm>
            <a:off x="1947600" y="1965960"/>
            <a:ext cx="950760" cy="3927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80" spc="-1" strike="noStrike">
                <a:solidFill>
                  <a:srgbClr val="f8fafc"/>
                </a:solidFill>
                <a:latin typeface="Aptos"/>
                <a:ea typeface="Aptos"/>
              </a:rPr>
              <a:t>0.8780</a:t>
            </a:r>
            <a:endParaRPr b="0" lang="en-GB" sz="680" spc="-1" strike="noStrike">
              <a:solidFill>
                <a:srgbClr val="ffffff"/>
              </a:solidFill>
              <a:latin typeface="Arial"/>
            </a:endParaRPr>
          </a:p>
        </p:txBody>
      </p:sp>
      <p:sp>
        <p:nvSpPr>
          <p:cNvPr id="675" name="Shape 26"/>
          <p:cNvSpPr/>
          <p:nvPr/>
        </p:nvSpPr>
        <p:spPr>
          <a:xfrm>
            <a:off x="2926080" y="1892880"/>
            <a:ext cx="1005480" cy="45684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676" name="Text 27"/>
          <p:cNvSpPr/>
          <p:nvPr/>
        </p:nvSpPr>
        <p:spPr>
          <a:xfrm>
            <a:off x="2953440" y="1965960"/>
            <a:ext cx="950760" cy="3927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80" spc="-1" strike="noStrike">
                <a:solidFill>
                  <a:srgbClr val="f8fafc"/>
                </a:solidFill>
                <a:latin typeface="Aptos"/>
                <a:ea typeface="Aptos"/>
              </a:rPr>
              <a:t>0.5950</a:t>
            </a:r>
            <a:endParaRPr b="0" lang="en-GB" sz="680" spc="-1" strike="noStrike">
              <a:solidFill>
                <a:srgbClr val="ffffff"/>
              </a:solidFill>
              <a:latin typeface="Arial"/>
            </a:endParaRPr>
          </a:p>
        </p:txBody>
      </p:sp>
      <p:sp>
        <p:nvSpPr>
          <p:cNvPr id="677" name="Shape 28"/>
          <p:cNvSpPr/>
          <p:nvPr/>
        </p:nvSpPr>
        <p:spPr>
          <a:xfrm>
            <a:off x="3931920" y="1892880"/>
            <a:ext cx="1005480" cy="45684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678" name="Text 29"/>
          <p:cNvSpPr/>
          <p:nvPr/>
        </p:nvSpPr>
        <p:spPr>
          <a:xfrm>
            <a:off x="3959280" y="1965960"/>
            <a:ext cx="950760" cy="3927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80" spc="-1" strike="noStrike">
                <a:solidFill>
                  <a:srgbClr val="f8fafc"/>
                </a:solidFill>
                <a:latin typeface="Aptos"/>
                <a:ea typeface="Aptos"/>
              </a:rPr>
              <a:t>0.9053</a:t>
            </a:r>
            <a:endParaRPr b="0" lang="en-GB" sz="680" spc="-1" strike="noStrike">
              <a:solidFill>
                <a:srgbClr val="ffffff"/>
              </a:solidFill>
              <a:latin typeface="Arial"/>
            </a:endParaRPr>
          </a:p>
        </p:txBody>
      </p:sp>
      <p:sp>
        <p:nvSpPr>
          <p:cNvPr id="679" name="Shape 30"/>
          <p:cNvSpPr/>
          <p:nvPr/>
        </p:nvSpPr>
        <p:spPr>
          <a:xfrm>
            <a:off x="4937760" y="1892880"/>
            <a:ext cx="1005480" cy="45684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680" name="Text 31"/>
          <p:cNvSpPr/>
          <p:nvPr/>
        </p:nvSpPr>
        <p:spPr>
          <a:xfrm>
            <a:off x="4965120" y="1965960"/>
            <a:ext cx="950760" cy="3927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80" spc="-1" strike="noStrike">
                <a:solidFill>
                  <a:srgbClr val="f8fafc"/>
                </a:solidFill>
                <a:latin typeface="Aptos"/>
                <a:ea typeface="Aptos"/>
              </a:rPr>
              <a:t>0.8780</a:t>
            </a:r>
            <a:endParaRPr b="0" lang="en-GB" sz="680" spc="-1" strike="noStrike">
              <a:solidFill>
                <a:srgbClr val="ffffff"/>
              </a:solidFill>
              <a:latin typeface="Arial"/>
            </a:endParaRPr>
          </a:p>
        </p:txBody>
      </p:sp>
      <p:sp>
        <p:nvSpPr>
          <p:cNvPr id="681" name="Shape 32"/>
          <p:cNvSpPr/>
          <p:nvPr/>
        </p:nvSpPr>
        <p:spPr>
          <a:xfrm>
            <a:off x="5943600" y="1892880"/>
            <a:ext cx="1005480" cy="45684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682" name="Text 33"/>
          <p:cNvSpPr/>
          <p:nvPr/>
        </p:nvSpPr>
        <p:spPr>
          <a:xfrm>
            <a:off x="5970960" y="1965960"/>
            <a:ext cx="950760" cy="3927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80" spc="-1" strike="noStrike">
                <a:solidFill>
                  <a:srgbClr val="f8fafc"/>
                </a:solidFill>
                <a:latin typeface="Aptos"/>
                <a:ea typeface="Aptos"/>
              </a:rPr>
              <a:t>0.5950</a:t>
            </a:r>
            <a:endParaRPr b="0" lang="en-GB" sz="680" spc="-1" strike="noStrike">
              <a:solidFill>
                <a:srgbClr val="ffffff"/>
              </a:solidFill>
              <a:latin typeface="Arial"/>
            </a:endParaRPr>
          </a:p>
        </p:txBody>
      </p:sp>
      <p:sp>
        <p:nvSpPr>
          <p:cNvPr id="683" name="Shape 34"/>
          <p:cNvSpPr/>
          <p:nvPr/>
        </p:nvSpPr>
        <p:spPr>
          <a:xfrm>
            <a:off x="6949440" y="1892880"/>
            <a:ext cx="1051200" cy="45684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684" name="Text 35"/>
          <p:cNvSpPr/>
          <p:nvPr/>
        </p:nvSpPr>
        <p:spPr>
          <a:xfrm>
            <a:off x="6976800" y="1965960"/>
            <a:ext cx="996480" cy="3927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80" spc="-1" strike="noStrike">
                <a:solidFill>
                  <a:srgbClr val="f8fafc"/>
                </a:solidFill>
                <a:latin typeface="Aptos"/>
                <a:ea typeface="Aptos"/>
              </a:rPr>
              <a:t>0.8869</a:t>
            </a:r>
            <a:endParaRPr b="0" lang="en-GB" sz="680" spc="-1" strike="noStrike">
              <a:solidFill>
                <a:srgbClr val="ffffff"/>
              </a:solidFill>
              <a:latin typeface="Arial"/>
            </a:endParaRPr>
          </a:p>
        </p:txBody>
      </p:sp>
      <p:sp>
        <p:nvSpPr>
          <p:cNvPr id="685" name="Shape 36"/>
          <p:cNvSpPr/>
          <p:nvPr/>
        </p:nvSpPr>
        <p:spPr>
          <a:xfrm>
            <a:off x="502920" y="2350080"/>
            <a:ext cx="1416960" cy="456840"/>
          </a:xfrm>
          <a:prstGeom prst="rect">
            <a:avLst/>
          </a:prstGeom>
          <a:solidFill>
            <a:srgbClr val="3c2a12">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686" name="Text 37"/>
          <p:cNvSpPr/>
          <p:nvPr/>
        </p:nvSpPr>
        <p:spPr>
          <a:xfrm>
            <a:off x="530280" y="2423160"/>
            <a:ext cx="1362240" cy="392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680" spc="-1" strike="noStrike">
                <a:solidFill>
                  <a:srgbClr val="f8fafc"/>
                </a:solidFill>
                <a:latin typeface="Aptos"/>
                <a:ea typeface="Aptos"/>
              </a:rPr>
              <a:t>XGBoost</a:t>
            </a:r>
            <a:endParaRPr b="0" lang="en-GB" sz="680" spc="-1" strike="noStrike">
              <a:solidFill>
                <a:srgbClr val="ffffff"/>
              </a:solidFill>
              <a:latin typeface="Arial"/>
            </a:endParaRPr>
          </a:p>
        </p:txBody>
      </p:sp>
      <p:sp>
        <p:nvSpPr>
          <p:cNvPr id="687" name="Shape 38"/>
          <p:cNvSpPr/>
          <p:nvPr/>
        </p:nvSpPr>
        <p:spPr>
          <a:xfrm>
            <a:off x="1920240" y="2350080"/>
            <a:ext cx="1005480" cy="456840"/>
          </a:xfrm>
          <a:prstGeom prst="rect">
            <a:avLst/>
          </a:prstGeom>
          <a:solidFill>
            <a:srgbClr val="3c2a12">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688" name="Text 39"/>
          <p:cNvSpPr/>
          <p:nvPr/>
        </p:nvSpPr>
        <p:spPr>
          <a:xfrm>
            <a:off x="1947600" y="2423160"/>
            <a:ext cx="950760" cy="3927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680" spc="-1" strike="noStrike">
                <a:solidFill>
                  <a:srgbClr val="f8fafc"/>
                </a:solidFill>
                <a:latin typeface="Aptos"/>
                <a:ea typeface="Aptos"/>
              </a:rPr>
              <a:t>0.5366</a:t>
            </a:r>
            <a:endParaRPr b="0" lang="en-GB" sz="680" spc="-1" strike="noStrike">
              <a:solidFill>
                <a:srgbClr val="ffffff"/>
              </a:solidFill>
              <a:latin typeface="Arial"/>
            </a:endParaRPr>
          </a:p>
        </p:txBody>
      </p:sp>
      <p:sp>
        <p:nvSpPr>
          <p:cNvPr id="689" name="Shape 40"/>
          <p:cNvSpPr/>
          <p:nvPr/>
        </p:nvSpPr>
        <p:spPr>
          <a:xfrm>
            <a:off x="2926080" y="2350080"/>
            <a:ext cx="1005480" cy="456840"/>
          </a:xfrm>
          <a:prstGeom prst="rect">
            <a:avLst/>
          </a:prstGeom>
          <a:solidFill>
            <a:srgbClr val="3c2a12">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690" name="Text 41"/>
          <p:cNvSpPr/>
          <p:nvPr/>
        </p:nvSpPr>
        <p:spPr>
          <a:xfrm>
            <a:off x="2953440" y="2423160"/>
            <a:ext cx="950760" cy="3927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680" spc="-1" strike="noStrike">
                <a:solidFill>
                  <a:srgbClr val="f8fafc"/>
                </a:solidFill>
                <a:latin typeface="Aptos"/>
                <a:ea typeface="Aptos"/>
              </a:rPr>
              <a:t>0.6286</a:t>
            </a:r>
            <a:endParaRPr b="0" lang="en-GB" sz="680" spc="-1" strike="noStrike">
              <a:solidFill>
                <a:srgbClr val="ffffff"/>
              </a:solidFill>
              <a:latin typeface="Arial"/>
            </a:endParaRPr>
          </a:p>
        </p:txBody>
      </p:sp>
      <p:sp>
        <p:nvSpPr>
          <p:cNvPr id="691" name="Shape 42"/>
          <p:cNvSpPr/>
          <p:nvPr/>
        </p:nvSpPr>
        <p:spPr>
          <a:xfrm>
            <a:off x="3931920" y="2350080"/>
            <a:ext cx="1005480" cy="456840"/>
          </a:xfrm>
          <a:prstGeom prst="rect">
            <a:avLst/>
          </a:prstGeom>
          <a:solidFill>
            <a:srgbClr val="3c2a12">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692" name="Text 43"/>
          <p:cNvSpPr/>
          <p:nvPr/>
        </p:nvSpPr>
        <p:spPr>
          <a:xfrm>
            <a:off x="3959280" y="2423160"/>
            <a:ext cx="950760" cy="3927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680" spc="-1" strike="noStrike">
                <a:solidFill>
                  <a:srgbClr val="f8fafc"/>
                </a:solidFill>
                <a:latin typeface="Aptos"/>
                <a:ea typeface="Aptos"/>
              </a:rPr>
              <a:t>0.9055</a:t>
            </a:r>
            <a:endParaRPr b="0" lang="en-GB" sz="680" spc="-1" strike="noStrike">
              <a:solidFill>
                <a:srgbClr val="ffffff"/>
              </a:solidFill>
              <a:latin typeface="Arial"/>
            </a:endParaRPr>
          </a:p>
        </p:txBody>
      </p:sp>
      <p:sp>
        <p:nvSpPr>
          <p:cNvPr id="693" name="Shape 44"/>
          <p:cNvSpPr/>
          <p:nvPr/>
        </p:nvSpPr>
        <p:spPr>
          <a:xfrm>
            <a:off x="4937760" y="2350080"/>
            <a:ext cx="1005480" cy="456840"/>
          </a:xfrm>
          <a:prstGeom prst="rect">
            <a:avLst/>
          </a:prstGeom>
          <a:solidFill>
            <a:srgbClr val="3c2a12">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694" name="Text 45"/>
          <p:cNvSpPr/>
          <p:nvPr/>
        </p:nvSpPr>
        <p:spPr>
          <a:xfrm>
            <a:off x="4965120" y="2423160"/>
            <a:ext cx="950760" cy="3927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680" spc="-1" strike="noStrike">
                <a:solidFill>
                  <a:srgbClr val="f8fafc"/>
                </a:solidFill>
                <a:latin typeface="Aptos"/>
                <a:ea typeface="Aptos"/>
              </a:rPr>
              <a:t>0.5122</a:t>
            </a:r>
            <a:endParaRPr b="0" lang="en-GB" sz="680" spc="-1" strike="noStrike">
              <a:solidFill>
                <a:srgbClr val="ffffff"/>
              </a:solidFill>
              <a:latin typeface="Arial"/>
            </a:endParaRPr>
          </a:p>
        </p:txBody>
      </p:sp>
      <p:sp>
        <p:nvSpPr>
          <p:cNvPr id="695" name="Shape 46"/>
          <p:cNvSpPr/>
          <p:nvPr/>
        </p:nvSpPr>
        <p:spPr>
          <a:xfrm>
            <a:off x="5943600" y="2350080"/>
            <a:ext cx="1005480" cy="456840"/>
          </a:xfrm>
          <a:prstGeom prst="rect">
            <a:avLst/>
          </a:prstGeom>
          <a:solidFill>
            <a:srgbClr val="3c2a12">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696" name="Text 47"/>
          <p:cNvSpPr/>
          <p:nvPr/>
        </p:nvSpPr>
        <p:spPr>
          <a:xfrm>
            <a:off x="5970960" y="2423160"/>
            <a:ext cx="950760" cy="3927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680" spc="-1" strike="noStrike">
                <a:solidFill>
                  <a:srgbClr val="f8fafc"/>
                </a:solidFill>
                <a:latin typeface="Aptos"/>
                <a:ea typeface="Aptos"/>
              </a:rPr>
              <a:t>0.5915</a:t>
            </a:r>
            <a:endParaRPr b="0" lang="en-GB" sz="680" spc="-1" strike="noStrike">
              <a:solidFill>
                <a:srgbClr val="ffffff"/>
              </a:solidFill>
              <a:latin typeface="Arial"/>
            </a:endParaRPr>
          </a:p>
        </p:txBody>
      </p:sp>
      <p:sp>
        <p:nvSpPr>
          <p:cNvPr id="697" name="Shape 48"/>
          <p:cNvSpPr/>
          <p:nvPr/>
        </p:nvSpPr>
        <p:spPr>
          <a:xfrm>
            <a:off x="6949440" y="2350080"/>
            <a:ext cx="1051200" cy="456840"/>
          </a:xfrm>
          <a:prstGeom prst="rect">
            <a:avLst/>
          </a:prstGeom>
          <a:solidFill>
            <a:srgbClr val="3c2a12">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698" name="Text 49"/>
          <p:cNvSpPr/>
          <p:nvPr/>
        </p:nvSpPr>
        <p:spPr>
          <a:xfrm>
            <a:off x="6976800" y="2423160"/>
            <a:ext cx="996480" cy="3927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680" spc="-1" strike="noStrike">
                <a:solidFill>
                  <a:srgbClr val="f8fafc"/>
                </a:solidFill>
                <a:latin typeface="Aptos"/>
                <a:ea typeface="Aptos"/>
              </a:rPr>
              <a:t>0.9073</a:t>
            </a:r>
            <a:endParaRPr b="0" lang="en-GB" sz="680" spc="-1" strike="noStrike">
              <a:solidFill>
                <a:srgbClr val="ffffff"/>
              </a:solidFill>
              <a:latin typeface="Arial"/>
            </a:endParaRPr>
          </a:p>
        </p:txBody>
      </p:sp>
      <p:sp>
        <p:nvSpPr>
          <p:cNvPr id="699" name="Shape 50"/>
          <p:cNvSpPr/>
          <p:nvPr/>
        </p:nvSpPr>
        <p:spPr>
          <a:xfrm>
            <a:off x="502920" y="2807280"/>
            <a:ext cx="1416960" cy="45684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700" name="Text 51"/>
          <p:cNvSpPr/>
          <p:nvPr/>
        </p:nvSpPr>
        <p:spPr>
          <a:xfrm>
            <a:off x="530280" y="2880360"/>
            <a:ext cx="1362240" cy="392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680" spc="-1" strike="noStrike">
                <a:solidFill>
                  <a:srgbClr val="f8fafc"/>
                </a:solidFill>
                <a:latin typeface="Aptos"/>
                <a:ea typeface="Aptos"/>
              </a:rPr>
              <a:t>SVM</a:t>
            </a:r>
            <a:endParaRPr b="0" lang="en-GB" sz="680" spc="-1" strike="noStrike">
              <a:solidFill>
                <a:srgbClr val="ffffff"/>
              </a:solidFill>
              <a:latin typeface="Arial"/>
            </a:endParaRPr>
          </a:p>
        </p:txBody>
      </p:sp>
      <p:sp>
        <p:nvSpPr>
          <p:cNvPr id="701" name="Shape 52"/>
          <p:cNvSpPr/>
          <p:nvPr/>
        </p:nvSpPr>
        <p:spPr>
          <a:xfrm>
            <a:off x="1920240" y="2807280"/>
            <a:ext cx="1005480" cy="45684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702" name="Text 53"/>
          <p:cNvSpPr/>
          <p:nvPr/>
        </p:nvSpPr>
        <p:spPr>
          <a:xfrm>
            <a:off x="1947600" y="2880360"/>
            <a:ext cx="950760" cy="3927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80" spc="-1" strike="noStrike">
                <a:solidFill>
                  <a:srgbClr val="f8fafc"/>
                </a:solidFill>
                <a:latin typeface="Aptos"/>
                <a:ea typeface="Aptos"/>
              </a:rPr>
              <a:t>0.6098</a:t>
            </a:r>
            <a:endParaRPr b="0" lang="en-GB" sz="680" spc="-1" strike="noStrike">
              <a:solidFill>
                <a:srgbClr val="ffffff"/>
              </a:solidFill>
              <a:latin typeface="Arial"/>
            </a:endParaRPr>
          </a:p>
        </p:txBody>
      </p:sp>
      <p:sp>
        <p:nvSpPr>
          <p:cNvPr id="703" name="Shape 54"/>
          <p:cNvSpPr/>
          <p:nvPr/>
        </p:nvSpPr>
        <p:spPr>
          <a:xfrm>
            <a:off x="2926080" y="2807280"/>
            <a:ext cx="1005480" cy="45684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704" name="Text 55"/>
          <p:cNvSpPr/>
          <p:nvPr/>
        </p:nvSpPr>
        <p:spPr>
          <a:xfrm>
            <a:off x="2953440" y="2880360"/>
            <a:ext cx="950760" cy="3927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80" spc="-1" strike="noStrike">
                <a:solidFill>
                  <a:srgbClr val="f8fafc"/>
                </a:solidFill>
                <a:latin typeface="Aptos"/>
                <a:ea typeface="Aptos"/>
              </a:rPr>
              <a:t>0.5208</a:t>
            </a:r>
            <a:endParaRPr b="0" lang="en-GB" sz="680" spc="-1" strike="noStrike">
              <a:solidFill>
                <a:srgbClr val="ffffff"/>
              </a:solidFill>
              <a:latin typeface="Arial"/>
            </a:endParaRPr>
          </a:p>
        </p:txBody>
      </p:sp>
      <p:sp>
        <p:nvSpPr>
          <p:cNvPr id="705" name="Shape 56"/>
          <p:cNvSpPr/>
          <p:nvPr/>
        </p:nvSpPr>
        <p:spPr>
          <a:xfrm>
            <a:off x="3931920" y="2807280"/>
            <a:ext cx="1005480" cy="45684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706" name="Text 57"/>
          <p:cNvSpPr/>
          <p:nvPr/>
        </p:nvSpPr>
        <p:spPr>
          <a:xfrm>
            <a:off x="3959280" y="2880360"/>
            <a:ext cx="950760" cy="3927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80" spc="-1" strike="noStrike">
                <a:solidFill>
                  <a:srgbClr val="f8fafc"/>
                </a:solidFill>
                <a:latin typeface="Aptos"/>
                <a:ea typeface="Aptos"/>
              </a:rPr>
              <a:t>0.8464</a:t>
            </a:r>
            <a:endParaRPr b="0" lang="en-GB" sz="680" spc="-1" strike="noStrike">
              <a:solidFill>
                <a:srgbClr val="ffffff"/>
              </a:solidFill>
              <a:latin typeface="Arial"/>
            </a:endParaRPr>
          </a:p>
        </p:txBody>
      </p:sp>
      <p:sp>
        <p:nvSpPr>
          <p:cNvPr id="707" name="Shape 58"/>
          <p:cNvSpPr/>
          <p:nvPr/>
        </p:nvSpPr>
        <p:spPr>
          <a:xfrm>
            <a:off x="4937760" y="2807280"/>
            <a:ext cx="1005480" cy="45684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708" name="Text 59"/>
          <p:cNvSpPr/>
          <p:nvPr/>
        </p:nvSpPr>
        <p:spPr>
          <a:xfrm>
            <a:off x="4965120" y="2880360"/>
            <a:ext cx="950760" cy="3927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80" spc="-1" strike="noStrike">
                <a:solidFill>
                  <a:srgbClr val="f8fafc"/>
                </a:solidFill>
                <a:latin typeface="Aptos"/>
                <a:ea typeface="Aptos"/>
              </a:rPr>
              <a:t>0.1463</a:t>
            </a:r>
            <a:endParaRPr b="0" lang="en-GB" sz="680" spc="-1" strike="noStrike">
              <a:solidFill>
                <a:srgbClr val="ffffff"/>
              </a:solidFill>
              <a:latin typeface="Arial"/>
            </a:endParaRPr>
          </a:p>
        </p:txBody>
      </p:sp>
      <p:sp>
        <p:nvSpPr>
          <p:cNvPr id="709" name="Shape 60"/>
          <p:cNvSpPr/>
          <p:nvPr/>
        </p:nvSpPr>
        <p:spPr>
          <a:xfrm>
            <a:off x="5943600" y="2807280"/>
            <a:ext cx="1005480" cy="45684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710" name="Text 61"/>
          <p:cNvSpPr/>
          <p:nvPr/>
        </p:nvSpPr>
        <p:spPr>
          <a:xfrm>
            <a:off x="5970960" y="2880360"/>
            <a:ext cx="950760" cy="3927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80" spc="-1" strike="noStrike">
                <a:solidFill>
                  <a:srgbClr val="f8fafc"/>
                </a:solidFill>
                <a:latin typeface="Aptos"/>
                <a:ea typeface="Aptos"/>
              </a:rPr>
              <a:t>0.2264</a:t>
            </a:r>
            <a:endParaRPr b="0" lang="en-GB" sz="680" spc="-1" strike="noStrike">
              <a:solidFill>
                <a:srgbClr val="ffffff"/>
              </a:solidFill>
              <a:latin typeface="Arial"/>
            </a:endParaRPr>
          </a:p>
        </p:txBody>
      </p:sp>
      <p:sp>
        <p:nvSpPr>
          <p:cNvPr id="711" name="Shape 62"/>
          <p:cNvSpPr/>
          <p:nvPr/>
        </p:nvSpPr>
        <p:spPr>
          <a:xfrm>
            <a:off x="6949440" y="2807280"/>
            <a:ext cx="1051200" cy="45684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712" name="Text 63"/>
          <p:cNvSpPr/>
          <p:nvPr/>
        </p:nvSpPr>
        <p:spPr>
          <a:xfrm>
            <a:off x="6976800" y="2880360"/>
            <a:ext cx="996480" cy="3927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80" spc="-1" strike="noStrike">
                <a:solidFill>
                  <a:srgbClr val="f8fafc"/>
                </a:solidFill>
                <a:latin typeface="Aptos"/>
                <a:ea typeface="Aptos"/>
              </a:rPr>
              <a:t>0.8058</a:t>
            </a:r>
            <a:endParaRPr b="0" lang="en-GB" sz="680" spc="-1" strike="noStrike">
              <a:solidFill>
                <a:srgbClr val="ffffff"/>
              </a:solidFill>
              <a:latin typeface="Arial"/>
            </a:endParaRPr>
          </a:p>
        </p:txBody>
      </p:sp>
      <p:sp>
        <p:nvSpPr>
          <p:cNvPr id="713" name="Shape 64"/>
          <p:cNvSpPr/>
          <p:nvPr/>
        </p:nvSpPr>
        <p:spPr>
          <a:xfrm>
            <a:off x="8412480" y="1755720"/>
            <a:ext cx="2742840" cy="959760"/>
          </a:xfrm>
          <a:prstGeom prst="roundRect">
            <a:avLst>
              <a:gd name="adj" fmla="val 11429"/>
            </a:avLst>
          </a:prstGeom>
          <a:solidFill>
            <a:srgbClr val="10243d"/>
          </a:solidFill>
          <a:ln w="10160">
            <a:solidFill>
              <a:srgbClr val="334155">
                <a:alpha val="6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714" name="Text 65"/>
          <p:cNvSpPr/>
          <p:nvPr/>
        </p:nvSpPr>
        <p:spPr>
          <a:xfrm>
            <a:off x="8577000" y="1901880"/>
            <a:ext cx="2413800" cy="209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00" spc="-1" strike="noStrike">
                <a:solidFill>
                  <a:srgbClr val="f59e0b"/>
                </a:solidFill>
                <a:latin typeface="Aptos"/>
                <a:ea typeface="Aptos"/>
              </a:rPr>
              <a:t>XGBoost</a:t>
            </a:r>
            <a:endParaRPr b="0" lang="en-GB" sz="900" spc="-1" strike="noStrike">
              <a:solidFill>
                <a:srgbClr val="ffffff"/>
              </a:solidFill>
              <a:latin typeface="Arial"/>
            </a:endParaRPr>
          </a:p>
        </p:txBody>
      </p:sp>
      <p:sp>
        <p:nvSpPr>
          <p:cNvPr id="715" name="Text 66"/>
          <p:cNvSpPr/>
          <p:nvPr/>
        </p:nvSpPr>
        <p:spPr>
          <a:xfrm>
            <a:off x="8577000" y="2203560"/>
            <a:ext cx="2413800" cy="365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1" strike="noStrike">
                <a:solidFill>
                  <a:srgbClr val="f8fafc"/>
                </a:solidFill>
                <a:latin typeface="Aptos"/>
                <a:ea typeface="Aptos"/>
              </a:rPr>
              <a:t>AUC slightly increased from 0.9055 to 0.9073, but F1 decreased from 0.6286 to 0.5915.</a:t>
            </a:r>
            <a:endParaRPr b="0" lang="en-GB" sz="850" spc="-1" strike="noStrike">
              <a:solidFill>
                <a:srgbClr val="ffffff"/>
              </a:solidFill>
              <a:latin typeface="Arial"/>
            </a:endParaRPr>
          </a:p>
        </p:txBody>
      </p:sp>
      <p:sp>
        <p:nvSpPr>
          <p:cNvPr id="716" name="Shape 67"/>
          <p:cNvSpPr/>
          <p:nvPr/>
        </p:nvSpPr>
        <p:spPr>
          <a:xfrm>
            <a:off x="8412480" y="2971800"/>
            <a:ext cx="2742840" cy="959760"/>
          </a:xfrm>
          <a:prstGeom prst="roundRect">
            <a:avLst>
              <a:gd name="adj" fmla="val 11429"/>
            </a:avLst>
          </a:prstGeom>
          <a:solidFill>
            <a:srgbClr val="10243d"/>
          </a:solidFill>
          <a:ln w="10160">
            <a:solidFill>
              <a:srgbClr val="334155">
                <a:alpha val="6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717" name="Text 68"/>
          <p:cNvSpPr/>
          <p:nvPr/>
        </p:nvSpPr>
        <p:spPr>
          <a:xfrm>
            <a:off x="8577000" y="3117960"/>
            <a:ext cx="2413800" cy="209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00" spc="-1" strike="noStrike">
                <a:solidFill>
                  <a:srgbClr val="f43f5e"/>
                </a:solidFill>
                <a:latin typeface="Aptos"/>
                <a:ea typeface="Aptos"/>
              </a:rPr>
              <a:t>SVM</a:t>
            </a:r>
            <a:endParaRPr b="0" lang="en-GB" sz="900" spc="-1" strike="noStrike">
              <a:solidFill>
                <a:srgbClr val="ffffff"/>
              </a:solidFill>
              <a:latin typeface="Arial"/>
            </a:endParaRPr>
          </a:p>
        </p:txBody>
      </p:sp>
      <p:sp>
        <p:nvSpPr>
          <p:cNvPr id="718" name="Text 69"/>
          <p:cNvSpPr/>
          <p:nvPr/>
        </p:nvSpPr>
        <p:spPr>
          <a:xfrm>
            <a:off x="8577000" y="3420000"/>
            <a:ext cx="2413800" cy="365400"/>
          </a:xfrm>
          <a:prstGeom prst="rect">
            <a:avLst/>
          </a:prstGeom>
          <a:noFill/>
          <a:ln w="0">
            <a:noFill/>
          </a:ln>
        </p:spPr>
        <p:style>
          <a:lnRef idx="0"/>
          <a:fillRef idx="0"/>
          <a:effectRef idx="0"/>
          <a:fontRef idx="minor"/>
        </p:style>
        <p:txBody>
          <a:bodyPr lIns="0" rIns="0" tIns="0" bIns="0" anchor="ctr">
            <a:normAutofit fontScale="96666" lnSpcReduction="10000"/>
          </a:bodyPr>
          <a:p>
            <a:pPr defTabSz="914400">
              <a:lnSpc>
                <a:spcPct val="100000"/>
              </a:lnSpc>
              <a:tabLst>
                <a:tab algn="l" pos="0"/>
              </a:tabLst>
            </a:pPr>
            <a:r>
              <a:rPr b="0" lang="en-US" sz="850" spc="-1" strike="noStrike">
                <a:solidFill>
                  <a:srgbClr val="f8fafc"/>
                </a:solidFill>
                <a:latin typeface="Aptos"/>
                <a:ea typeface="Aptos"/>
              </a:rPr>
              <a:t>Recall collapsed from 0.6098 to 0.1463 after tuning, proving that HPO must match the clinical objective.</a:t>
            </a:r>
            <a:endParaRPr b="0" lang="en-GB" sz="850" spc="-1" strike="noStrike">
              <a:solidFill>
                <a:srgbClr val="ffffff"/>
              </a:solidFill>
              <a:latin typeface="Arial"/>
            </a:endParaRPr>
          </a:p>
        </p:txBody>
      </p:sp>
      <p:sp>
        <p:nvSpPr>
          <p:cNvPr id="719" name="Shape 70"/>
          <p:cNvSpPr/>
          <p:nvPr/>
        </p:nvSpPr>
        <p:spPr>
          <a:xfrm>
            <a:off x="8412480" y="4187880"/>
            <a:ext cx="2742840" cy="959760"/>
          </a:xfrm>
          <a:prstGeom prst="roundRect">
            <a:avLst>
              <a:gd name="adj" fmla="val 11429"/>
            </a:avLst>
          </a:prstGeom>
          <a:solidFill>
            <a:srgbClr val="10243d"/>
          </a:solidFill>
          <a:ln w="10160">
            <a:solidFill>
              <a:srgbClr val="334155">
                <a:alpha val="6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720" name="Text 71"/>
          <p:cNvSpPr/>
          <p:nvPr/>
        </p:nvSpPr>
        <p:spPr>
          <a:xfrm>
            <a:off x="8577000" y="4334400"/>
            <a:ext cx="2413800" cy="209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00" spc="-1" strike="noStrike">
                <a:solidFill>
                  <a:srgbClr val="14b8a6"/>
                </a:solidFill>
                <a:latin typeface="Aptos"/>
                <a:ea typeface="Aptos"/>
              </a:rPr>
              <a:t>Takeaway</a:t>
            </a:r>
            <a:endParaRPr b="0" lang="en-GB" sz="900" spc="-1" strike="noStrike">
              <a:solidFill>
                <a:srgbClr val="ffffff"/>
              </a:solidFill>
              <a:latin typeface="Arial"/>
            </a:endParaRPr>
          </a:p>
        </p:txBody>
      </p:sp>
      <p:sp>
        <p:nvSpPr>
          <p:cNvPr id="721" name="Text 72"/>
          <p:cNvSpPr/>
          <p:nvPr/>
        </p:nvSpPr>
        <p:spPr>
          <a:xfrm>
            <a:off x="8577000" y="4636080"/>
            <a:ext cx="2413800" cy="365400"/>
          </a:xfrm>
          <a:prstGeom prst="rect">
            <a:avLst/>
          </a:prstGeom>
          <a:noFill/>
          <a:ln w="0">
            <a:noFill/>
          </a:ln>
        </p:spPr>
        <p:style>
          <a:lnRef idx="0"/>
          <a:fillRef idx="0"/>
          <a:effectRef idx="0"/>
          <a:fontRef idx="minor"/>
        </p:style>
        <p:txBody>
          <a:bodyPr lIns="0" rIns="0" tIns="0" bIns="0" anchor="ctr">
            <a:normAutofit fontScale="96666" lnSpcReduction="10000"/>
          </a:bodyPr>
          <a:p>
            <a:pPr defTabSz="914400">
              <a:lnSpc>
                <a:spcPct val="100000"/>
              </a:lnSpc>
              <a:tabLst>
                <a:tab algn="l" pos="0"/>
              </a:tabLst>
            </a:pPr>
            <a:r>
              <a:rPr b="0" lang="en-US" sz="850" spc="-1" strike="noStrike">
                <a:solidFill>
                  <a:srgbClr val="f8fafc"/>
                </a:solidFill>
                <a:latin typeface="Aptos"/>
                <a:ea typeface="Aptos"/>
              </a:rPr>
              <a:t>The project needs threshold tuning and recall-aware model selection, not only black-box hyperparameter search.</a:t>
            </a:r>
            <a:endParaRPr b="0" lang="en-GB" sz="850" spc="-1" strike="noStrike">
              <a:solidFill>
                <a:srgbClr val="ffffff"/>
              </a:solidFill>
              <a:latin typeface="Arial"/>
            </a:endParaRPr>
          </a:p>
        </p:txBody>
      </p:sp>
      <p:sp>
        <p:nvSpPr>
          <p:cNvPr id="722" name="Shape 73"/>
          <p:cNvSpPr/>
          <p:nvPr/>
        </p:nvSpPr>
        <p:spPr>
          <a:xfrm>
            <a:off x="502920" y="6555960"/>
            <a:ext cx="11201400" cy="360"/>
          </a:xfrm>
          <a:prstGeom prst="line">
            <a:avLst/>
          </a:prstGeom>
          <a:ln w="7620">
            <a:solidFill>
              <a:srgbClr val="334155">
                <a:alpha val="60000"/>
              </a:srgbClr>
            </a:solidFill>
            <a:round/>
          </a:ln>
        </p:spPr>
        <p:style>
          <a:lnRef idx="0"/>
          <a:fillRef idx="0"/>
          <a:effectRef idx="0"/>
          <a:fontRef idx="minor"/>
        </p:style>
        <p:txBody>
          <a:bodyPr lIns="90000" rIns="90000" tIns="-44640" bIns="-44640" anchor="t" anchorCtr="1">
            <a:noAutofit/>
          </a:bodyPr>
          <a:p>
            <a:endParaRPr b="0" lang="en-GB" sz="1800" spc="-1" strike="noStrike">
              <a:solidFill>
                <a:srgbClr val="ffffff"/>
              </a:solidFill>
              <a:latin typeface="Arial"/>
            </a:endParaRPr>
          </a:p>
        </p:txBody>
      </p:sp>
      <p:sp>
        <p:nvSpPr>
          <p:cNvPr id="723" name="Text 74"/>
          <p:cNvSpPr/>
          <p:nvPr/>
        </p:nvSpPr>
        <p:spPr>
          <a:xfrm>
            <a:off x="530280" y="6602040"/>
            <a:ext cx="6217560" cy="145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650" spc="-1" strike="noStrike">
                <a:solidFill>
                  <a:srgbClr val="94a3b8"/>
                </a:solidFill>
                <a:latin typeface="Aptos"/>
                <a:ea typeface="Aptos"/>
              </a:rPr>
              <a:t>Clinical Outcome Prediction • Myocardial Infarction Complications</a:t>
            </a:r>
            <a:endParaRPr b="0" lang="en-GB" sz="650" spc="-1" strike="noStrike">
              <a:solidFill>
                <a:srgbClr val="ffffff"/>
              </a:solidFill>
              <a:latin typeface="Arial"/>
            </a:endParaRPr>
          </a:p>
        </p:txBody>
      </p:sp>
      <p:sp>
        <p:nvSpPr>
          <p:cNvPr id="724" name="Text 75"/>
          <p:cNvSpPr/>
          <p:nvPr/>
        </p:nvSpPr>
        <p:spPr>
          <a:xfrm>
            <a:off x="11201400" y="6565320"/>
            <a:ext cx="502560" cy="2282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750" spc="-1" strike="noStrike">
                <a:solidFill>
                  <a:srgbClr val="94a3b8"/>
                </a:solidFill>
                <a:latin typeface="Aptos"/>
                <a:ea typeface="Aptos"/>
              </a:rPr>
              <a:t>10</a:t>
            </a:r>
            <a:endParaRPr b="0" lang="en-GB" sz="7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01f"/>
        </a:solidFill>
      </p:bgPr>
    </p:bg>
    <p:spTree>
      <p:nvGrpSpPr>
        <p:cNvPr id="1" name=""/>
        <p:cNvGrpSpPr/>
        <p:nvPr/>
      </p:nvGrpSpPr>
      <p:grpSpPr>
        <a:xfrm>
          <a:off x="0" y="0"/>
          <a:ext cx="0" cy="0"/>
          <a:chOff x="0" y="0"/>
          <a:chExt cx="0" cy="0"/>
        </a:xfrm>
      </p:grpSpPr>
      <p:sp>
        <p:nvSpPr>
          <p:cNvPr id="725" name="Shape 0"/>
          <p:cNvSpPr/>
          <p:nvPr/>
        </p:nvSpPr>
        <p:spPr>
          <a:xfrm>
            <a:off x="0" y="0"/>
            <a:ext cx="12191400" cy="6857640"/>
          </a:xfrm>
          <a:prstGeom prst="rect">
            <a:avLst/>
          </a:prstGeom>
          <a:solidFill>
            <a:srgbClr val="06101f"/>
          </a:solidFill>
          <a:ln w="12700">
            <a:solidFill>
              <a:srgbClr val="06101f"/>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726" name="Shape 1"/>
          <p:cNvSpPr/>
          <p:nvPr/>
        </p:nvSpPr>
        <p:spPr>
          <a:xfrm>
            <a:off x="0" y="0"/>
            <a:ext cx="12191400" cy="6857640"/>
          </a:xfrm>
          <a:prstGeom prst="rect">
            <a:avLst/>
          </a:prstGeom>
          <a:solidFill>
            <a:srgbClr val="081629">
              <a:alpha val="85000"/>
            </a:srgbClr>
          </a:solidFill>
          <a:ln w="12700">
            <a:solidFill>
              <a:srgbClr val="081629">
                <a:alpha val="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727" name="Shape 2"/>
          <p:cNvSpPr/>
          <p:nvPr/>
        </p:nvSpPr>
        <p:spPr>
          <a:xfrm>
            <a:off x="-1554480" y="-1737360"/>
            <a:ext cx="5486040" cy="5486040"/>
          </a:xfrm>
          <a:prstGeom prst="arc">
            <a:avLst>
              <a:gd name="adj1" fmla="val 16200000"/>
              <a:gd name="adj2" fmla="val 0"/>
            </a:avLst>
          </a:prstGeom>
          <a:noFill/>
          <a:ln w="13970">
            <a:solidFill>
              <a:srgbClr val="14b8a6">
                <a:alpha val="3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728" name="Shape 3"/>
          <p:cNvSpPr/>
          <p:nvPr/>
        </p:nvSpPr>
        <p:spPr>
          <a:xfrm>
            <a:off x="7680960" y="3840480"/>
            <a:ext cx="5486040" cy="5486040"/>
          </a:xfrm>
          <a:prstGeom prst="arc">
            <a:avLst>
              <a:gd name="adj1" fmla="val 16200000"/>
              <a:gd name="adj2" fmla="val 0"/>
            </a:avLst>
          </a:prstGeom>
          <a:noFill/>
          <a:ln w="12700">
            <a:solidFill>
              <a:srgbClr val="f59e0b">
                <a:alpha val="22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729" name="Text 4"/>
          <p:cNvSpPr/>
          <p:nvPr/>
        </p:nvSpPr>
        <p:spPr>
          <a:xfrm>
            <a:off x="567000" y="347400"/>
            <a:ext cx="594324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50" spc="-1" strike="noStrike">
                <a:solidFill>
                  <a:srgbClr val="14b8a6"/>
                </a:solidFill>
                <a:latin typeface="Aptos"/>
                <a:ea typeface="Aptos"/>
              </a:rPr>
              <a:t>PHASE 4.2</a:t>
            </a:r>
            <a:endParaRPr b="0" lang="en-GB" sz="850" spc="-1" strike="noStrike">
              <a:solidFill>
                <a:srgbClr val="ffffff"/>
              </a:solidFill>
              <a:latin typeface="Arial"/>
            </a:endParaRPr>
          </a:p>
        </p:txBody>
      </p:sp>
      <p:sp>
        <p:nvSpPr>
          <p:cNvPr id="730" name="Text 5"/>
          <p:cNvSpPr/>
          <p:nvPr/>
        </p:nvSpPr>
        <p:spPr>
          <a:xfrm>
            <a:off x="548640" y="658440"/>
            <a:ext cx="10926720" cy="5940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400" spc="-1" strike="noStrike">
                <a:solidFill>
                  <a:srgbClr val="f8fafc"/>
                </a:solidFill>
                <a:latin typeface="Aptos Display"/>
                <a:ea typeface="Aptos Display"/>
              </a:rPr>
              <a:t>Class imbalance strategy and threshold tuning</a:t>
            </a:r>
            <a:endParaRPr b="0" lang="en-GB" sz="2400" spc="-1" strike="noStrike">
              <a:solidFill>
                <a:srgbClr val="ffffff"/>
              </a:solidFill>
              <a:latin typeface="Arial"/>
            </a:endParaRPr>
          </a:p>
        </p:txBody>
      </p:sp>
      <p:sp>
        <p:nvSpPr>
          <p:cNvPr id="731" name="Text 6"/>
          <p:cNvSpPr/>
          <p:nvPr/>
        </p:nvSpPr>
        <p:spPr>
          <a:xfrm>
            <a:off x="567000" y="1216080"/>
            <a:ext cx="1051524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50" spc="-1" strike="noStrike">
                <a:solidFill>
                  <a:srgbClr val="94a3b8"/>
                </a:solidFill>
                <a:latin typeface="Aptos"/>
                <a:ea typeface="Aptos"/>
              </a:rPr>
              <a:t>The largest clinical gain came from changing the decision threshold, not just changing the algorithm.</a:t>
            </a:r>
            <a:endParaRPr b="0" lang="en-GB" sz="1050" spc="-1" strike="noStrike">
              <a:solidFill>
                <a:srgbClr val="ffffff"/>
              </a:solidFill>
              <a:latin typeface="Arial"/>
            </a:endParaRPr>
          </a:p>
        </p:txBody>
      </p:sp>
      <p:sp>
        <p:nvSpPr>
          <p:cNvPr id="732" name="Shape 7"/>
          <p:cNvSpPr/>
          <p:nvPr/>
        </p:nvSpPr>
        <p:spPr>
          <a:xfrm>
            <a:off x="594360" y="1600200"/>
            <a:ext cx="5166000" cy="1362240"/>
          </a:xfrm>
          <a:prstGeom prst="roundRect">
            <a:avLst>
              <a:gd name="adj" fmla="val 5369"/>
            </a:avLst>
          </a:prstGeom>
          <a:solidFill>
            <a:srgbClr val="0b1a2e"/>
          </a:solidFill>
          <a:ln w="1016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733" name="Shape 8"/>
          <p:cNvSpPr/>
          <p:nvPr/>
        </p:nvSpPr>
        <p:spPr>
          <a:xfrm>
            <a:off x="594360" y="1600200"/>
            <a:ext cx="1965600" cy="292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734" name="Text 9"/>
          <p:cNvSpPr/>
          <p:nvPr/>
        </p:nvSpPr>
        <p:spPr>
          <a:xfrm>
            <a:off x="621720" y="1673280"/>
            <a:ext cx="191088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50" spc="-1" strike="noStrike">
                <a:solidFill>
                  <a:srgbClr val="f8fafc"/>
                </a:solidFill>
                <a:latin typeface="Aptos"/>
                <a:ea typeface="Aptos"/>
              </a:rPr>
              <a:t>XGBoost strategy</a:t>
            </a:r>
            <a:endParaRPr b="0" lang="en-GB" sz="750" spc="-1" strike="noStrike">
              <a:solidFill>
                <a:srgbClr val="ffffff"/>
              </a:solidFill>
              <a:latin typeface="Arial"/>
            </a:endParaRPr>
          </a:p>
        </p:txBody>
      </p:sp>
      <p:sp>
        <p:nvSpPr>
          <p:cNvPr id="735" name="Shape 10"/>
          <p:cNvSpPr/>
          <p:nvPr/>
        </p:nvSpPr>
        <p:spPr>
          <a:xfrm>
            <a:off x="2560320" y="1600200"/>
            <a:ext cx="822600" cy="292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736" name="Text 11"/>
          <p:cNvSpPr/>
          <p:nvPr/>
        </p:nvSpPr>
        <p:spPr>
          <a:xfrm>
            <a:off x="2587680" y="1673280"/>
            <a:ext cx="76788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50" spc="-1" strike="noStrike">
                <a:solidFill>
                  <a:srgbClr val="f8fafc"/>
                </a:solidFill>
                <a:latin typeface="Aptos"/>
                <a:ea typeface="Aptos"/>
              </a:rPr>
              <a:t>Recall</a:t>
            </a:r>
            <a:endParaRPr b="0" lang="en-GB" sz="750" spc="-1" strike="noStrike">
              <a:solidFill>
                <a:srgbClr val="ffffff"/>
              </a:solidFill>
              <a:latin typeface="Arial"/>
            </a:endParaRPr>
          </a:p>
        </p:txBody>
      </p:sp>
      <p:sp>
        <p:nvSpPr>
          <p:cNvPr id="737" name="Shape 12"/>
          <p:cNvSpPr/>
          <p:nvPr/>
        </p:nvSpPr>
        <p:spPr>
          <a:xfrm>
            <a:off x="3383280" y="1600200"/>
            <a:ext cx="822600" cy="292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738" name="Text 13"/>
          <p:cNvSpPr/>
          <p:nvPr/>
        </p:nvSpPr>
        <p:spPr>
          <a:xfrm>
            <a:off x="3410640" y="1673280"/>
            <a:ext cx="76788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50" spc="-1" strike="noStrike">
                <a:solidFill>
                  <a:srgbClr val="f8fafc"/>
                </a:solidFill>
                <a:latin typeface="Aptos"/>
                <a:ea typeface="Aptos"/>
              </a:rPr>
              <a:t>Precision</a:t>
            </a:r>
            <a:endParaRPr b="0" lang="en-GB" sz="750" spc="-1" strike="noStrike">
              <a:solidFill>
                <a:srgbClr val="ffffff"/>
              </a:solidFill>
              <a:latin typeface="Arial"/>
            </a:endParaRPr>
          </a:p>
        </p:txBody>
      </p:sp>
      <p:sp>
        <p:nvSpPr>
          <p:cNvPr id="739" name="Shape 14"/>
          <p:cNvSpPr/>
          <p:nvPr/>
        </p:nvSpPr>
        <p:spPr>
          <a:xfrm>
            <a:off x="4206240" y="1600200"/>
            <a:ext cx="731160" cy="292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740" name="Text 15"/>
          <p:cNvSpPr/>
          <p:nvPr/>
        </p:nvSpPr>
        <p:spPr>
          <a:xfrm>
            <a:off x="4233600" y="1673280"/>
            <a:ext cx="67644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50" spc="-1" strike="noStrike">
                <a:solidFill>
                  <a:srgbClr val="f8fafc"/>
                </a:solidFill>
                <a:latin typeface="Aptos"/>
                <a:ea typeface="Aptos"/>
              </a:rPr>
              <a:t>F1</a:t>
            </a:r>
            <a:endParaRPr b="0" lang="en-GB" sz="750" spc="-1" strike="noStrike">
              <a:solidFill>
                <a:srgbClr val="ffffff"/>
              </a:solidFill>
              <a:latin typeface="Arial"/>
            </a:endParaRPr>
          </a:p>
        </p:txBody>
      </p:sp>
      <p:sp>
        <p:nvSpPr>
          <p:cNvPr id="741" name="Shape 16"/>
          <p:cNvSpPr/>
          <p:nvPr/>
        </p:nvSpPr>
        <p:spPr>
          <a:xfrm>
            <a:off x="4937760" y="1600200"/>
            <a:ext cx="822600" cy="292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742" name="Text 17"/>
          <p:cNvSpPr/>
          <p:nvPr/>
        </p:nvSpPr>
        <p:spPr>
          <a:xfrm>
            <a:off x="4965120" y="1673280"/>
            <a:ext cx="76788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50" spc="-1" strike="noStrike">
                <a:solidFill>
                  <a:srgbClr val="f8fafc"/>
                </a:solidFill>
                <a:latin typeface="Aptos"/>
                <a:ea typeface="Aptos"/>
              </a:rPr>
              <a:t>AUC</a:t>
            </a:r>
            <a:endParaRPr b="0" lang="en-GB" sz="750" spc="-1" strike="noStrike">
              <a:solidFill>
                <a:srgbClr val="ffffff"/>
              </a:solidFill>
              <a:latin typeface="Arial"/>
            </a:endParaRPr>
          </a:p>
        </p:txBody>
      </p:sp>
      <p:sp>
        <p:nvSpPr>
          <p:cNvPr id="743" name="Shape 18"/>
          <p:cNvSpPr/>
          <p:nvPr/>
        </p:nvSpPr>
        <p:spPr>
          <a:xfrm>
            <a:off x="594360" y="1892880"/>
            <a:ext cx="1965600" cy="51156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744" name="Text 19"/>
          <p:cNvSpPr/>
          <p:nvPr/>
        </p:nvSpPr>
        <p:spPr>
          <a:xfrm>
            <a:off x="621720" y="1965960"/>
            <a:ext cx="1910880" cy="4478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750" spc="-1" strike="noStrike">
                <a:solidFill>
                  <a:srgbClr val="f8fafc"/>
                </a:solidFill>
                <a:latin typeface="Aptos"/>
                <a:ea typeface="Aptos"/>
              </a:rPr>
              <a:t>SMOTE tuned</a:t>
            </a:r>
            <a:endParaRPr b="0" lang="en-GB" sz="750" spc="-1" strike="noStrike">
              <a:solidFill>
                <a:srgbClr val="ffffff"/>
              </a:solidFill>
              <a:latin typeface="Arial"/>
            </a:endParaRPr>
          </a:p>
        </p:txBody>
      </p:sp>
      <p:sp>
        <p:nvSpPr>
          <p:cNvPr id="745" name="Shape 20"/>
          <p:cNvSpPr/>
          <p:nvPr/>
        </p:nvSpPr>
        <p:spPr>
          <a:xfrm>
            <a:off x="2560320" y="1892880"/>
            <a:ext cx="822600" cy="51156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746" name="Text 21"/>
          <p:cNvSpPr/>
          <p:nvPr/>
        </p:nvSpPr>
        <p:spPr>
          <a:xfrm>
            <a:off x="2587680" y="1965960"/>
            <a:ext cx="767880" cy="4478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50" spc="-1" strike="noStrike">
                <a:solidFill>
                  <a:srgbClr val="f8fafc"/>
                </a:solidFill>
                <a:latin typeface="Aptos"/>
                <a:ea typeface="Aptos"/>
              </a:rPr>
              <a:t>0.5122</a:t>
            </a:r>
            <a:endParaRPr b="0" lang="en-GB" sz="750" spc="-1" strike="noStrike">
              <a:solidFill>
                <a:srgbClr val="ffffff"/>
              </a:solidFill>
              <a:latin typeface="Arial"/>
            </a:endParaRPr>
          </a:p>
        </p:txBody>
      </p:sp>
      <p:sp>
        <p:nvSpPr>
          <p:cNvPr id="747" name="Shape 22"/>
          <p:cNvSpPr/>
          <p:nvPr/>
        </p:nvSpPr>
        <p:spPr>
          <a:xfrm>
            <a:off x="3383280" y="1892880"/>
            <a:ext cx="822600" cy="51156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748" name="Text 23"/>
          <p:cNvSpPr/>
          <p:nvPr/>
        </p:nvSpPr>
        <p:spPr>
          <a:xfrm>
            <a:off x="3410640" y="1965960"/>
            <a:ext cx="767880" cy="4478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50" spc="-1" strike="noStrike">
                <a:solidFill>
                  <a:srgbClr val="f8fafc"/>
                </a:solidFill>
                <a:latin typeface="Aptos"/>
                <a:ea typeface="Aptos"/>
              </a:rPr>
              <a:t>0.7000</a:t>
            </a:r>
            <a:endParaRPr b="0" lang="en-GB" sz="750" spc="-1" strike="noStrike">
              <a:solidFill>
                <a:srgbClr val="ffffff"/>
              </a:solidFill>
              <a:latin typeface="Arial"/>
            </a:endParaRPr>
          </a:p>
        </p:txBody>
      </p:sp>
      <p:sp>
        <p:nvSpPr>
          <p:cNvPr id="749" name="Shape 24"/>
          <p:cNvSpPr/>
          <p:nvPr/>
        </p:nvSpPr>
        <p:spPr>
          <a:xfrm>
            <a:off x="4206240" y="1892880"/>
            <a:ext cx="731160" cy="51156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750" name="Text 25"/>
          <p:cNvSpPr/>
          <p:nvPr/>
        </p:nvSpPr>
        <p:spPr>
          <a:xfrm>
            <a:off x="4233600" y="1965960"/>
            <a:ext cx="676440" cy="4478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50" spc="-1" strike="noStrike">
                <a:solidFill>
                  <a:srgbClr val="f8fafc"/>
                </a:solidFill>
                <a:latin typeface="Aptos"/>
                <a:ea typeface="Aptos"/>
              </a:rPr>
              <a:t>0.5915</a:t>
            </a:r>
            <a:endParaRPr b="0" lang="en-GB" sz="750" spc="-1" strike="noStrike">
              <a:solidFill>
                <a:srgbClr val="ffffff"/>
              </a:solidFill>
              <a:latin typeface="Arial"/>
            </a:endParaRPr>
          </a:p>
        </p:txBody>
      </p:sp>
      <p:sp>
        <p:nvSpPr>
          <p:cNvPr id="751" name="Shape 26"/>
          <p:cNvSpPr/>
          <p:nvPr/>
        </p:nvSpPr>
        <p:spPr>
          <a:xfrm>
            <a:off x="4937760" y="1892880"/>
            <a:ext cx="822600" cy="51156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752" name="Text 27"/>
          <p:cNvSpPr/>
          <p:nvPr/>
        </p:nvSpPr>
        <p:spPr>
          <a:xfrm>
            <a:off x="4965120" y="1965960"/>
            <a:ext cx="767880" cy="4478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50" spc="-1" strike="noStrike">
                <a:solidFill>
                  <a:srgbClr val="f8fafc"/>
                </a:solidFill>
                <a:latin typeface="Aptos"/>
                <a:ea typeface="Aptos"/>
              </a:rPr>
              <a:t>0.9073</a:t>
            </a:r>
            <a:endParaRPr b="0" lang="en-GB" sz="750" spc="-1" strike="noStrike">
              <a:solidFill>
                <a:srgbClr val="ffffff"/>
              </a:solidFill>
              <a:latin typeface="Arial"/>
            </a:endParaRPr>
          </a:p>
        </p:txBody>
      </p:sp>
      <p:sp>
        <p:nvSpPr>
          <p:cNvPr id="753" name="Shape 28"/>
          <p:cNvSpPr/>
          <p:nvPr/>
        </p:nvSpPr>
        <p:spPr>
          <a:xfrm>
            <a:off x="594360" y="2404800"/>
            <a:ext cx="1965600" cy="51156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754" name="Text 29"/>
          <p:cNvSpPr/>
          <p:nvPr/>
        </p:nvSpPr>
        <p:spPr>
          <a:xfrm>
            <a:off x="621720" y="2477880"/>
            <a:ext cx="1910880" cy="4478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750" spc="-1" strike="noStrike">
                <a:solidFill>
                  <a:srgbClr val="f8fafc"/>
                </a:solidFill>
                <a:latin typeface="Aptos"/>
                <a:ea typeface="Aptos"/>
              </a:rPr>
              <a:t>scale_pos_weight</a:t>
            </a:r>
            <a:endParaRPr b="0" lang="en-GB" sz="750" spc="-1" strike="noStrike">
              <a:solidFill>
                <a:srgbClr val="ffffff"/>
              </a:solidFill>
              <a:latin typeface="Arial"/>
            </a:endParaRPr>
          </a:p>
        </p:txBody>
      </p:sp>
      <p:sp>
        <p:nvSpPr>
          <p:cNvPr id="755" name="Shape 30"/>
          <p:cNvSpPr/>
          <p:nvPr/>
        </p:nvSpPr>
        <p:spPr>
          <a:xfrm>
            <a:off x="2560320" y="2404800"/>
            <a:ext cx="822600" cy="51156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756" name="Text 31"/>
          <p:cNvSpPr/>
          <p:nvPr/>
        </p:nvSpPr>
        <p:spPr>
          <a:xfrm>
            <a:off x="2587680" y="2477880"/>
            <a:ext cx="767880" cy="4478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50" spc="-1" strike="noStrike">
                <a:solidFill>
                  <a:srgbClr val="f8fafc"/>
                </a:solidFill>
                <a:latin typeface="Aptos"/>
                <a:ea typeface="Aptos"/>
              </a:rPr>
              <a:t>0.6829</a:t>
            </a:r>
            <a:endParaRPr b="0" lang="en-GB" sz="750" spc="-1" strike="noStrike">
              <a:solidFill>
                <a:srgbClr val="ffffff"/>
              </a:solidFill>
              <a:latin typeface="Arial"/>
            </a:endParaRPr>
          </a:p>
        </p:txBody>
      </p:sp>
      <p:sp>
        <p:nvSpPr>
          <p:cNvPr id="757" name="Shape 32"/>
          <p:cNvSpPr/>
          <p:nvPr/>
        </p:nvSpPr>
        <p:spPr>
          <a:xfrm>
            <a:off x="3383280" y="2404800"/>
            <a:ext cx="822600" cy="51156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758" name="Text 33"/>
          <p:cNvSpPr/>
          <p:nvPr/>
        </p:nvSpPr>
        <p:spPr>
          <a:xfrm>
            <a:off x="3410640" y="2477880"/>
            <a:ext cx="767880" cy="4478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50" spc="-1" strike="noStrike">
                <a:solidFill>
                  <a:srgbClr val="f8fafc"/>
                </a:solidFill>
                <a:latin typeface="Aptos"/>
                <a:ea typeface="Aptos"/>
              </a:rPr>
              <a:t>0.6667</a:t>
            </a:r>
            <a:endParaRPr b="0" lang="en-GB" sz="750" spc="-1" strike="noStrike">
              <a:solidFill>
                <a:srgbClr val="ffffff"/>
              </a:solidFill>
              <a:latin typeface="Arial"/>
            </a:endParaRPr>
          </a:p>
        </p:txBody>
      </p:sp>
      <p:sp>
        <p:nvSpPr>
          <p:cNvPr id="759" name="Shape 34"/>
          <p:cNvSpPr/>
          <p:nvPr/>
        </p:nvSpPr>
        <p:spPr>
          <a:xfrm>
            <a:off x="4206240" y="2404800"/>
            <a:ext cx="731160" cy="51156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760" name="Text 35"/>
          <p:cNvSpPr/>
          <p:nvPr/>
        </p:nvSpPr>
        <p:spPr>
          <a:xfrm>
            <a:off x="4233600" y="2477880"/>
            <a:ext cx="676440" cy="4478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50" spc="-1" strike="noStrike">
                <a:solidFill>
                  <a:srgbClr val="f8fafc"/>
                </a:solidFill>
                <a:latin typeface="Aptos"/>
                <a:ea typeface="Aptos"/>
              </a:rPr>
              <a:t>0.6747</a:t>
            </a:r>
            <a:endParaRPr b="0" lang="en-GB" sz="750" spc="-1" strike="noStrike">
              <a:solidFill>
                <a:srgbClr val="ffffff"/>
              </a:solidFill>
              <a:latin typeface="Arial"/>
            </a:endParaRPr>
          </a:p>
        </p:txBody>
      </p:sp>
      <p:sp>
        <p:nvSpPr>
          <p:cNvPr id="761" name="Shape 36"/>
          <p:cNvSpPr/>
          <p:nvPr/>
        </p:nvSpPr>
        <p:spPr>
          <a:xfrm>
            <a:off x="4937760" y="2404800"/>
            <a:ext cx="822600" cy="51156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762" name="Text 37"/>
          <p:cNvSpPr/>
          <p:nvPr/>
        </p:nvSpPr>
        <p:spPr>
          <a:xfrm>
            <a:off x="4965120" y="2477880"/>
            <a:ext cx="767880" cy="4478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50" spc="-1" strike="noStrike">
                <a:solidFill>
                  <a:srgbClr val="f8fafc"/>
                </a:solidFill>
                <a:latin typeface="Aptos"/>
                <a:ea typeface="Aptos"/>
              </a:rPr>
              <a:t>0.9070</a:t>
            </a:r>
            <a:endParaRPr b="0" lang="en-GB" sz="750" spc="-1" strike="noStrike">
              <a:solidFill>
                <a:srgbClr val="ffffff"/>
              </a:solidFill>
              <a:latin typeface="Arial"/>
            </a:endParaRPr>
          </a:p>
        </p:txBody>
      </p:sp>
      <p:sp>
        <p:nvSpPr>
          <p:cNvPr id="763" name="Shape 38"/>
          <p:cNvSpPr/>
          <p:nvPr/>
        </p:nvSpPr>
        <p:spPr>
          <a:xfrm>
            <a:off x="594360" y="3337560"/>
            <a:ext cx="5166000" cy="1599840"/>
          </a:xfrm>
          <a:prstGeom prst="roundRect">
            <a:avLst>
              <a:gd name="adj" fmla="val 4571"/>
            </a:avLst>
          </a:prstGeom>
          <a:solidFill>
            <a:srgbClr val="0b1a2e"/>
          </a:solidFill>
          <a:ln w="1016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764" name="Shape 39"/>
          <p:cNvSpPr/>
          <p:nvPr/>
        </p:nvSpPr>
        <p:spPr>
          <a:xfrm>
            <a:off x="594360" y="3337560"/>
            <a:ext cx="1965600" cy="292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765" name="Text 40"/>
          <p:cNvSpPr/>
          <p:nvPr/>
        </p:nvSpPr>
        <p:spPr>
          <a:xfrm>
            <a:off x="621720" y="3410640"/>
            <a:ext cx="191088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40" spc="-1" strike="noStrike">
                <a:solidFill>
                  <a:srgbClr val="f8fafc"/>
                </a:solidFill>
                <a:latin typeface="Aptos"/>
                <a:ea typeface="Aptos"/>
              </a:rPr>
              <a:t>Threshold strategy</a:t>
            </a:r>
            <a:endParaRPr b="0" lang="en-GB" sz="740" spc="-1" strike="noStrike">
              <a:solidFill>
                <a:srgbClr val="ffffff"/>
              </a:solidFill>
              <a:latin typeface="Arial"/>
            </a:endParaRPr>
          </a:p>
        </p:txBody>
      </p:sp>
      <p:sp>
        <p:nvSpPr>
          <p:cNvPr id="766" name="Shape 41"/>
          <p:cNvSpPr/>
          <p:nvPr/>
        </p:nvSpPr>
        <p:spPr>
          <a:xfrm>
            <a:off x="2560320" y="3337560"/>
            <a:ext cx="822600" cy="292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767" name="Text 42"/>
          <p:cNvSpPr/>
          <p:nvPr/>
        </p:nvSpPr>
        <p:spPr>
          <a:xfrm>
            <a:off x="2587680" y="3410640"/>
            <a:ext cx="76788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40" spc="-1" strike="noStrike">
                <a:solidFill>
                  <a:srgbClr val="f8fafc"/>
                </a:solidFill>
                <a:latin typeface="Aptos"/>
                <a:ea typeface="Aptos"/>
              </a:rPr>
              <a:t>Recall</a:t>
            </a:r>
            <a:endParaRPr b="0" lang="en-GB" sz="740" spc="-1" strike="noStrike">
              <a:solidFill>
                <a:srgbClr val="ffffff"/>
              </a:solidFill>
              <a:latin typeface="Arial"/>
            </a:endParaRPr>
          </a:p>
        </p:txBody>
      </p:sp>
      <p:sp>
        <p:nvSpPr>
          <p:cNvPr id="768" name="Shape 43"/>
          <p:cNvSpPr/>
          <p:nvPr/>
        </p:nvSpPr>
        <p:spPr>
          <a:xfrm>
            <a:off x="3383280" y="3337560"/>
            <a:ext cx="822600" cy="292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769" name="Text 44"/>
          <p:cNvSpPr/>
          <p:nvPr/>
        </p:nvSpPr>
        <p:spPr>
          <a:xfrm>
            <a:off x="3410640" y="3410640"/>
            <a:ext cx="76788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40" spc="-1" strike="noStrike">
                <a:solidFill>
                  <a:srgbClr val="f8fafc"/>
                </a:solidFill>
                <a:latin typeface="Aptos"/>
                <a:ea typeface="Aptos"/>
              </a:rPr>
              <a:t>Precision</a:t>
            </a:r>
            <a:endParaRPr b="0" lang="en-GB" sz="740" spc="-1" strike="noStrike">
              <a:solidFill>
                <a:srgbClr val="ffffff"/>
              </a:solidFill>
              <a:latin typeface="Arial"/>
            </a:endParaRPr>
          </a:p>
        </p:txBody>
      </p:sp>
      <p:sp>
        <p:nvSpPr>
          <p:cNvPr id="770" name="Shape 45"/>
          <p:cNvSpPr/>
          <p:nvPr/>
        </p:nvSpPr>
        <p:spPr>
          <a:xfrm>
            <a:off x="4206240" y="3337560"/>
            <a:ext cx="731160" cy="292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771" name="Text 46"/>
          <p:cNvSpPr/>
          <p:nvPr/>
        </p:nvSpPr>
        <p:spPr>
          <a:xfrm>
            <a:off x="4233600" y="3410640"/>
            <a:ext cx="67644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40" spc="-1" strike="noStrike">
                <a:solidFill>
                  <a:srgbClr val="f8fafc"/>
                </a:solidFill>
                <a:latin typeface="Aptos"/>
                <a:ea typeface="Aptos"/>
              </a:rPr>
              <a:t>F1</a:t>
            </a:r>
            <a:endParaRPr b="0" lang="en-GB" sz="740" spc="-1" strike="noStrike">
              <a:solidFill>
                <a:srgbClr val="ffffff"/>
              </a:solidFill>
              <a:latin typeface="Arial"/>
            </a:endParaRPr>
          </a:p>
        </p:txBody>
      </p:sp>
      <p:sp>
        <p:nvSpPr>
          <p:cNvPr id="772" name="Shape 47"/>
          <p:cNvSpPr/>
          <p:nvPr/>
        </p:nvSpPr>
        <p:spPr>
          <a:xfrm>
            <a:off x="4937760" y="3337560"/>
            <a:ext cx="822600" cy="292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773" name="Text 48"/>
          <p:cNvSpPr/>
          <p:nvPr/>
        </p:nvSpPr>
        <p:spPr>
          <a:xfrm>
            <a:off x="4965120" y="3410640"/>
            <a:ext cx="76788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40" spc="-1" strike="noStrike">
                <a:solidFill>
                  <a:srgbClr val="f8fafc"/>
                </a:solidFill>
                <a:latin typeface="Aptos"/>
                <a:ea typeface="Aptos"/>
              </a:rPr>
              <a:t>AUC</a:t>
            </a:r>
            <a:endParaRPr b="0" lang="en-GB" sz="740" spc="-1" strike="noStrike">
              <a:solidFill>
                <a:srgbClr val="ffffff"/>
              </a:solidFill>
              <a:latin typeface="Arial"/>
            </a:endParaRPr>
          </a:p>
        </p:txBody>
      </p:sp>
      <p:sp>
        <p:nvSpPr>
          <p:cNvPr id="774" name="Shape 49"/>
          <p:cNvSpPr/>
          <p:nvPr/>
        </p:nvSpPr>
        <p:spPr>
          <a:xfrm>
            <a:off x="594360" y="3630240"/>
            <a:ext cx="1965600" cy="42012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775" name="Text 50"/>
          <p:cNvSpPr/>
          <p:nvPr/>
        </p:nvSpPr>
        <p:spPr>
          <a:xfrm>
            <a:off x="621720" y="3703320"/>
            <a:ext cx="1910880" cy="356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740" spc="-1" strike="noStrike">
                <a:solidFill>
                  <a:srgbClr val="f8fafc"/>
                </a:solidFill>
                <a:latin typeface="Aptos"/>
                <a:ea typeface="Aptos"/>
              </a:rPr>
              <a:t>Default 0.50</a:t>
            </a:r>
            <a:endParaRPr b="0" lang="en-GB" sz="740" spc="-1" strike="noStrike">
              <a:solidFill>
                <a:srgbClr val="ffffff"/>
              </a:solidFill>
              <a:latin typeface="Arial"/>
            </a:endParaRPr>
          </a:p>
        </p:txBody>
      </p:sp>
      <p:sp>
        <p:nvSpPr>
          <p:cNvPr id="776" name="Shape 51"/>
          <p:cNvSpPr/>
          <p:nvPr/>
        </p:nvSpPr>
        <p:spPr>
          <a:xfrm>
            <a:off x="2560320" y="3630240"/>
            <a:ext cx="822600" cy="42012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777" name="Text 52"/>
          <p:cNvSpPr/>
          <p:nvPr/>
        </p:nvSpPr>
        <p:spPr>
          <a:xfrm>
            <a:off x="2587680" y="3703320"/>
            <a:ext cx="767880" cy="356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40" spc="-1" strike="noStrike">
                <a:solidFill>
                  <a:srgbClr val="f8fafc"/>
                </a:solidFill>
                <a:latin typeface="Aptos"/>
                <a:ea typeface="Aptos"/>
              </a:rPr>
              <a:t>0.3659</a:t>
            </a:r>
            <a:endParaRPr b="0" lang="en-GB" sz="740" spc="-1" strike="noStrike">
              <a:solidFill>
                <a:srgbClr val="ffffff"/>
              </a:solidFill>
              <a:latin typeface="Arial"/>
            </a:endParaRPr>
          </a:p>
        </p:txBody>
      </p:sp>
      <p:sp>
        <p:nvSpPr>
          <p:cNvPr id="778" name="Shape 53"/>
          <p:cNvSpPr/>
          <p:nvPr/>
        </p:nvSpPr>
        <p:spPr>
          <a:xfrm>
            <a:off x="3383280" y="3630240"/>
            <a:ext cx="822600" cy="42012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779" name="Text 54"/>
          <p:cNvSpPr/>
          <p:nvPr/>
        </p:nvSpPr>
        <p:spPr>
          <a:xfrm>
            <a:off x="3410640" y="3703320"/>
            <a:ext cx="767880" cy="356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40" spc="-1" strike="noStrike">
                <a:solidFill>
                  <a:srgbClr val="f8fafc"/>
                </a:solidFill>
                <a:latin typeface="Aptos"/>
                <a:ea typeface="Aptos"/>
              </a:rPr>
              <a:t>0.6818</a:t>
            </a:r>
            <a:endParaRPr b="0" lang="en-GB" sz="740" spc="-1" strike="noStrike">
              <a:solidFill>
                <a:srgbClr val="ffffff"/>
              </a:solidFill>
              <a:latin typeface="Arial"/>
            </a:endParaRPr>
          </a:p>
        </p:txBody>
      </p:sp>
      <p:sp>
        <p:nvSpPr>
          <p:cNvPr id="780" name="Shape 55"/>
          <p:cNvSpPr/>
          <p:nvPr/>
        </p:nvSpPr>
        <p:spPr>
          <a:xfrm>
            <a:off x="4206240" y="3630240"/>
            <a:ext cx="731160" cy="42012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781" name="Text 56"/>
          <p:cNvSpPr/>
          <p:nvPr/>
        </p:nvSpPr>
        <p:spPr>
          <a:xfrm>
            <a:off x="4233600" y="3703320"/>
            <a:ext cx="676440" cy="356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40" spc="-1" strike="noStrike">
                <a:solidFill>
                  <a:srgbClr val="f8fafc"/>
                </a:solidFill>
                <a:latin typeface="Aptos"/>
                <a:ea typeface="Aptos"/>
              </a:rPr>
              <a:t>0.4762</a:t>
            </a:r>
            <a:endParaRPr b="0" lang="en-GB" sz="740" spc="-1" strike="noStrike">
              <a:solidFill>
                <a:srgbClr val="ffffff"/>
              </a:solidFill>
              <a:latin typeface="Arial"/>
            </a:endParaRPr>
          </a:p>
        </p:txBody>
      </p:sp>
      <p:sp>
        <p:nvSpPr>
          <p:cNvPr id="782" name="Shape 57"/>
          <p:cNvSpPr/>
          <p:nvPr/>
        </p:nvSpPr>
        <p:spPr>
          <a:xfrm>
            <a:off x="4937760" y="3630240"/>
            <a:ext cx="822600" cy="42012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783" name="Text 58"/>
          <p:cNvSpPr/>
          <p:nvPr/>
        </p:nvSpPr>
        <p:spPr>
          <a:xfrm>
            <a:off x="4965120" y="3703320"/>
            <a:ext cx="767880" cy="356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40" spc="-1" strike="noStrike">
                <a:solidFill>
                  <a:srgbClr val="f8fafc"/>
                </a:solidFill>
                <a:latin typeface="Aptos"/>
                <a:ea typeface="Aptos"/>
              </a:rPr>
              <a:t>0.8668</a:t>
            </a:r>
            <a:endParaRPr b="0" lang="en-GB" sz="740" spc="-1" strike="noStrike">
              <a:solidFill>
                <a:srgbClr val="ffffff"/>
              </a:solidFill>
              <a:latin typeface="Arial"/>
            </a:endParaRPr>
          </a:p>
        </p:txBody>
      </p:sp>
      <p:sp>
        <p:nvSpPr>
          <p:cNvPr id="784" name="Shape 59"/>
          <p:cNvSpPr/>
          <p:nvPr/>
        </p:nvSpPr>
        <p:spPr>
          <a:xfrm>
            <a:off x="594360" y="4050720"/>
            <a:ext cx="1965600" cy="420120"/>
          </a:xfrm>
          <a:prstGeom prst="rect">
            <a:avLst/>
          </a:prstGeom>
          <a:solidFill>
            <a:srgbClr val="3c2a12">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785" name="Text 60"/>
          <p:cNvSpPr/>
          <p:nvPr/>
        </p:nvSpPr>
        <p:spPr>
          <a:xfrm>
            <a:off x="621720" y="4123800"/>
            <a:ext cx="1910880" cy="356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740" spc="-1" strike="noStrike">
                <a:solidFill>
                  <a:srgbClr val="f8fafc"/>
                </a:solidFill>
                <a:latin typeface="Aptos"/>
                <a:ea typeface="Aptos"/>
              </a:rPr>
              <a:t>Best F1 0.325</a:t>
            </a:r>
            <a:endParaRPr b="0" lang="en-GB" sz="740" spc="-1" strike="noStrike">
              <a:solidFill>
                <a:srgbClr val="ffffff"/>
              </a:solidFill>
              <a:latin typeface="Arial"/>
            </a:endParaRPr>
          </a:p>
        </p:txBody>
      </p:sp>
      <p:sp>
        <p:nvSpPr>
          <p:cNvPr id="786" name="Shape 61"/>
          <p:cNvSpPr/>
          <p:nvPr/>
        </p:nvSpPr>
        <p:spPr>
          <a:xfrm>
            <a:off x="2560320" y="4050720"/>
            <a:ext cx="822600" cy="420120"/>
          </a:xfrm>
          <a:prstGeom prst="rect">
            <a:avLst/>
          </a:prstGeom>
          <a:solidFill>
            <a:srgbClr val="3c2a12">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787" name="Text 62"/>
          <p:cNvSpPr/>
          <p:nvPr/>
        </p:nvSpPr>
        <p:spPr>
          <a:xfrm>
            <a:off x="2587680" y="4123800"/>
            <a:ext cx="767880" cy="356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40" spc="-1" strike="noStrike">
                <a:solidFill>
                  <a:srgbClr val="f8fafc"/>
                </a:solidFill>
                <a:latin typeface="Aptos"/>
                <a:ea typeface="Aptos"/>
              </a:rPr>
              <a:t>0.5610</a:t>
            </a:r>
            <a:endParaRPr b="0" lang="en-GB" sz="740" spc="-1" strike="noStrike">
              <a:solidFill>
                <a:srgbClr val="ffffff"/>
              </a:solidFill>
              <a:latin typeface="Arial"/>
            </a:endParaRPr>
          </a:p>
        </p:txBody>
      </p:sp>
      <p:sp>
        <p:nvSpPr>
          <p:cNvPr id="788" name="Shape 63"/>
          <p:cNvSpPr/>
          <p:nvPr/>
        </p:nvSpPr>
        <p:spPr>
          <a:xfrm>
            <a:off x="3383280" y="4050720"/>
            <a:ext cx="822600" cy="420120"/>
          </a:xfrm>
          <a:prstGeom prst="rect">
            <a:avLst/>
          </a:prstGeom>
          <a:solidFill>
            <a:srgbClr val="3c2a12">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789" name="Text 64"/>
          <p:cNvSpPr/>
          <p:nvPr/>
        </p:nvSpPr>
        <p:spPr>
          <a:xfrm>
            <a:off x="3410640" y="4123800"/>
            <a:ext cx="767880" cy="356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40" spc="-1" strike="noStrike">
                <a:solidFill>
                  <a:srgbClr val="f8fafc"/>
                </a:solidFill>
                <a:latin typeface="Aptos"/>
                <a:ea typeface="Aptos"/>
              </a:rPr>
              <a:t>0.5750</a:t>
            </a:r>
            <a:endParaRPr b="0" lang="en-GB" sz="740" spc="-1" strike="noStrike">
              <a:solidFill>
                <a:srgbClr val="ffffff"/>
              </a:solidFill>
              <a:latin typeface="Arial"/>
            </a:endParaRPr>
          </a:p>
        </p:txBody>
      </p:sp>
      <p:sp>
        <p:nvSpPr>
          <p:cNvPr id="790" name="Shape 65"/>
          <p:cNvSpPr/>
          <p:nvPr/>
        </p:nvSpPr>
        <p:spPr>
          <a:xfrm>
            <a:off x="4206240" y="4050720"/>
            <a:ext cx="731160" cy="420120"/>
          </a:xfrm>
          <a:prstGeom prst="rect">
            <a:avLst/>
          </a:prstGeom>
          <a:solidFill>
            <a:srgbClr val="3c2a12">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791" name="Text 66"/>
          <p:cNvSpPr/>
          <p:nvPr/>
        </p:nvSpPr>
        <p:spPr>
          <a:xfrm>
            <a:off x="4233600" y="4123800"/>
            <a:ext cx="676440" cy="356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40" spc="-1" strike="noStrike">
                <a:solidFill>
                  <a:srgbClr val="f8fafc"/>
                </a:solidFill>
                <a:latin typeface="Aptos"/>
                <a:ea typeface="Aptos"/>
              </a:rPr>
              <a:t>0.5679</a:t>
            </a:r>
            <a:endParaRPr b="0" lang="en-GB" sz="740" spc="-1" strike="noStrike">
              <a:solidFill>
                <a:srgbClr val="ffffff"/>
              </a:solidFill>
              <a:latin typeface="Arial"/>
            </a:endParaRPr>
          </a:p>
        </p:txBody>
      </p:sp>
      <p:sp>
        <p:nvSpPr>
          <p:cNvPr id="792" name="Shape 67"/>
          <p:cNvSpPr/>
          <p:nvPr/>
        </p:nvSpPr>
        <p:spPr>
          <a:xfrm>
            <a:off x="4937760" y="4050720"/>
            <a:ext cx="822600" cy="420120"/>
          </a:xfrm>
          <a:prstGeom prst="rect">
            <a:avLst/>
          </a:prstGeom>
          <a:solidFill>
            <a:srgbClr val="3c2a12">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793" name="Text 68"/>
          <p:cNvSpPr/>
          <p:nvPr/>
        </p:nvSpPr>
        <p:spPr>
          <a:xfrm>
            <a:off x="4965120" y="4123800"/>
            <a:ext cx="767880" cy="356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40" spc="-1" strike="noStrike">
                <a:solidFill>
                  <a:srgbClr val="f8fafc"/>
                </a:solidFill>
                <a:latin typeface="Aptos"/>
                <a:ea typeface="Aptos"/>
              </a:rPr>
              <a:t>0.8668</a:t>
            </a:r>
            <a:endParaRPr b="0" lang="en-GB" sz="740" spc="-1" strike="noStrike">
              <a:solidFill>
                <a:srgbClr val="ffffff"/>
              </a:solidFill>
              <a:latin typeface="Arial"/>
            </a:endParaRPr>
          </a:p>
        </p:txBody>
      </p:sp>
      <p:sp>
        <p:nvSpPr>
          <p:cNvPr id="794" name="Shape 69"/>
          <p:cNvSpPr/>
          <p:nvPr/>
        </p:nvSpPr>
        <p:spPr>
          <a:xfrm>
            <a:off x="594360" y="4471560"/>
            <a:ext cx="1965600" cy="420120"/>
          </a:xfrm>
          <a:prstGeom prst="rect">
            <a:avLst/>
          </a:prstGeom>
          <a:solidFill>
            <a:srgbClr val="3c2a12">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795" name="Text 70"/>
          <p:cNvSpPr/>
          <p:nvPr/>
        </p:nvSpPr>
        <p:spPr>
          <a:xfrm>
            <a:off x="621720" y="4544640"/>
            <a:ext cx="1910880" cy="356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740" spc="-1" strike="noStrike">
                <a:solidFill>
                  <a:srgbClr val="f8fafc"/>
                </a:solidFill>
                <a:latin typeface="Aptos"/>
                <a:ea typeface="Aptos"/>
              </a:rPr>
              <a:t>Clinical 0.164</a:t>
            </a:r>
            <a:endParaRPr b="0" lang="en-GB" sz="740" spc="-1" strike="noStrike">
              <a:solidFill>
                <a:srgbClr val="ffffff"/>
              </a:solidFill>
              <a:latin typeface="Arial"/>
            </a:endParaRPr>
          </a:p>
        </p:txBody>
      </p:sp>
      <p:sp>
        <p:nvSpPr>
          <p:cNvPr id="796" name="Shape 71"/>
          <p:cNvSpPr/>
          <p:nvPr/>
        </p:nvSpPr>
        <p:spPr>
          <a:xfrm>
            <a:off x="2560320" y="4471560"/>
            <a:ext cx="822600" cy="420120"/>
          </a:xfrm>
          <a:prstGeom prst="rect">
            <a:avLst/>
          </a:prstGeom>
          <a:solidFill>
            <a:srgbClr val="3c2a12">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797" name="Text 72"/>
          <p:cNvSpPr/>
          <p:nvPr/>
        </p:nvSpPr>
        <p:spPr>
          <a:xfrm>
            <a:off x="2587680" y="4544640"/>
            <a:ext cx="767880" cy="356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40" spc="-1" strike="noStrike">
                <a:solidFill>
                  <a:srgbClr val="f8fafc"/>
                </a:solidFill>
                <a:latin typeface="Aptos"/>
                <a:ea typeface="Aptos"/>
              </a:rPr>
              <a:t>0.7805</a:t>
            </a:r>
            <a:endParaRPr b="0" lang="en-GB" sz="740" spc="-1" strike="noStrike">
              <a:solidFill>
                <a:srgbClr val="ffffff"/>
              </a:solidFill>
              <a:latin typeface="Arial"/>
            </a:endParaRPr>
          </a:p>
        </p:txBody>
      </p:sp>
      <p:sp>
        <p:nvSpPr>
          <p:cNvPr id="798" name="Shape 73"/>
          <p:cNvSpPr/>
          <p:nvPr/>
        </p:nvSpPr>
        <p:spPr>
          <a:xfrm>
            <a:off x="3383280" y="4471560"/>
            <a:ext cx="822600" cy="420120"/>
          </a:xfrm>
          <a:prstGeom prst="rect">
            <a:avLst/>
          </a:prstGeom>
          <a:solidFill>
            <a:srgbClr val="3c2a12">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799" name="Text 74"/>
          <p:cNvSpPr/>
          <p:nvPr/>
        </p:nvSpPr>
        <p:spPr>
          <a:xfrm>
            <a:off x="3410640" y="4544640"/>
            <a:ext cx="767880" cy="356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40" spc="-1" strike="noStrike">
                <a:solidFill>
                  <a:srgbClr val="f8fafc"/>
                </a:solidFill>
                <a:latin typeface="Aptos"/>
                <a:ea typeface="Aptos"/>
              </a:rPr>
              <a:t>0.4267</a:t>
            </a:r>
            <a:endParaRPr b="0" lang="en-GB" sz="740" spc="-1" strike="noStrike">
              <a:solidFill>
                <a:srgbClr val="ffffff"/>
              </a:solidFill>
              <a:latin typeface="Arial"/>
            </a:endParaRPr>
          </a:p>
        </p:txBody>
      </p:sp>
      <p:sp>
        <p:nvSpPr>
          <p:cNvPr id="800" name="Shape 75"/>
          <p:cNvSpPr/>
          <p:nvPr/>
        </p:nvSpPr>
        <p:spPr>
          <a:xfrm>
            <a:off x="4206240" y="4471560"/>
            <a:ext cx="731160" cy="420120"/>
          </a:xfrm>
          <a:prstGeom prst="rect">
            <a:avLst/>
          </a:prstGeom>
          <a:solidFill>
            <a:srgbClr val="3c2a12">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801" name="Text 76"/>
          <p:cNvSpPr/>
          <p:nvPr/>
        </p:nvSpPr>
        <p:spPr>
          <a:xfrm>
            <a:off x="4233600" y="4544640"/>
            <a:ext cx="676440" cy="356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40" spc="-1" strike="noStrike">
                <a:solidFill>
                  <a:srgbClr val="f8fafc"/>
                </a:solidFill>
                <a:latin typeface="Aptos"/>
                <a:ea typeface="Aptos"/>
              </a:rPr>
              <a:t>0.5517</a:t>
            </a:r>
            <a:endParaRPr b="0" lang="en-GB" sz="740" spc="-1" strike="noStrike">
              <a:solidFill>
                <a:srgbClr val="ffffff"/>
              </a:solidFill>
              <a:latin typeface="Arial"/>
            </a:endParaRPr>
          </a:p>
        </p:txBody>
      </p:sp>
      <p:sp>
        <p:nvSpPr>
          <p:cNvPr id="802" name="Shape 77"/>
          <p:cNvSpPr/>
          <p:nvPr/>
        </p:nvSpPr>
        <p:spPr>
          <a:xfrm>
            <a:off x="4937760" y="4471560"/>
            <a:ext cx="822600" cy="420120"/>
          </a:xfrm>
          <a:prstGeom prst="rect">
            <a:avLst/>
          </a:prstGeom>
          <a:solidFill>
            <a:srgbClr val="3c2a12">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803" name="Text 78"/>
          <p:cNvSpPr/>
          <p:nvPr/>
        </p:nvSpPr>
        <p:spPr>
          <a:xfrm>
            <a:off x="4965120" y="4544640"/>
            <a:ext cx="767880" cy="356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40" spc="-1" strike="noStrike">
                <a:solidFill>
                  <a:srgbClr val="f8fafc"/>
                </a:solidFill>
                <a:latin typeface="Aptos"/>
                <a:ea typeface="Aptos"/>
              </a:rPr>
              <a:t>0.8668</a:t>
            </a:r>
            <a:endParaRPr b="0" lang="en-GB" sz="740" spc="-1" strike="noStrike">
              <a:solidFill>
                <a:srgbClr val="ffffff"/>
              </a:solidFill>
              <a:latin typeface="Arial"/>
            </a:endParaRPr>
          </a:p>
        </p:txBody>
      </p:sp>
      <p:sp>
        <p:nvSpPr>
          <p:cNvPr id="804" name="Shape 79"/>
          <p:cNvSpPr/>
          <p:nvPr/>
        </p:nvSpPr>
        <p:spPr>
          <a:xfrm>
            <a:off x="6126480" y="1600200"/>
            <a:ext cx="5348880" cy="4205880"/>
          </a:xfrm>
          <a:prstGeom prst="roundRect">
            <a:avLst>
              <a:gd name="adj" fmla="val 2609"/>
            </a:avLst>
          </a:prstGeom>
          <a:solidFill>
            <a:srgbClr val="ffffff">
              <a:alpha val="5000"/>
            </a:srgbClr>
          </a:solidFill>
          <a:ln w="10160">
            <a:solidFill>
              <a:srgbClr val="334155">
                <a:alpha val="65000"/>
              </a:srgbClr>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pic>
        <p:nvPicPr>
          <p:cNvPr id="805" name="Image 0" descr="/mnt/data/mi_ml_assets/threshold_precision_recall.png"/>
          <p:cNvPicPr/>
          <p:nvPr/>
        </p:nvPicPr>
        <p:blipFill>
          <a:blip r:embed="rId1"/>
          <a:stretch/>
        </p:blipFill>
        <p:spPr>
          <a:xfrm>
            <a:off x="6126480" y="2639880"/>
            <a:ext cx="5348880" cy="2126520"/>
          </a:xfrm>
          <a:prstGeom prst="rect">
            <a:avLst/>
          </a:prstGeom>
          <a:ln w="0">
            <a:noFill/>
          </a:ln>
          <a:effectLst>
            <a:outerShdw algn="bl" blurRad="25560" dir="2700000" dist="50402" kx="0" ky="0" rotWithShape="0" sx="100000" sy="100000">
              <a:srgbClr val="000000">
                <a:alpha val="25000"/>
              </a:srgbClr>
            </a:outerShdw>
          </a:effectLst>
        </p:spPr>
      </p:pic>
      <p:sp>
        <p:nvSpPr>
          <p:cNvPr id="806" name="Shape 80"/>
          <p:cNvSpPr/>
          <p:nvPr/>
        </p:nvSpPr>
        <p:spPr>
          <a:xfrm>
            <a:off x="502920" y="6555960"/>
            <a:ext cx="11201400" cy="360"/>
          </a:xfrm>
          <a:prstGeom prst="line">
            <a:avLst/>
          </a:prstGeom>
          <a:ln w="7620">
            <a:solidFill>
              <a:srgbClr val="334155">
                <a:alpha val="60000"/>
              </a:srgbClr>
            </a:solidFill>
            <a:round/>
          </a:ln>
        </p:spPr>
        <p:style>
          <a:lnRef idx="0"/>
          <a:fillRef idx="0"/>
          <a:effectRef idx="0"/>
          <a:fontRef idx="minor"/>
        </p:style>
        <p:txBody>
          <a:bodyPr lIns="90000" rIns="90000" tIns="-44640" bIns="-44640" anchor="t" anchorCtr="1">
            <a:noAutofit/>
          </a:bodyPr>
          <a:p>
            <a:endParaRPr b="0" lang="en-GB" sz="1800" spc="-1" strike="noStrike">
              <a:solidFill>
                <a:srgbClr val="ffffff"/>
              </a:solidFill>
              <a:latin typeface="Arial"/>
            </a:endParaRPr>
          </a:p>
        </p:txBody>
      </p:sp>
      <p:sp>
        <p:nvSpPr>
          <p:cNvPr id="807" name="Text 81"/>
          <p:cNvSpPr/>
          <p:nvPr/>
        </p:nvSpPr>
        <p:spPr>
          <a:xfrm>
            <a:off x="530280" y="6602040"/>
            <a:ext cx="6217560" cy="145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650" spc="-1" strike="noStrike">
                <a:solidFill>
                  <a:srgbClr val="94a3b8"/>
                </a:solidFill>
                <a:latin typeface="Aptos"/>
                <a:ea typeface="Aptos"/>
              </a:rPr>
              <a:t>Clinical Outcome Prediction • Myocardial Infarction Complications</a:t>
            </a:r>
            <a:endParaRPr b="0" lang="en-GB" sz="650" spc="-1" strike="noStrike">
              <a:solidFill>
                <a:srgbClr val="ffffff"/>
              </a:solidFill>
              <a:latin typeface="Arial"/>
            </a:endParaRPr>
          </a:p>
        </p:txBody>
      </p:sp>
      <p:sp>
        <p:nvSpPr>
          <p:cNvPr id="808" name="Text 82"/>
          <p:cNvSpPr/>
          <p:nvPr/>
        </p:nvSpPr>
        <p:spPr>
          <a:xfrm>
            <a:off x="11201400" y="6565320"/>
            <a:ext cx="502560" cy="2282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750" spc="-1" strike="noStrike">
                <a:solidFill>
                  <a:srgbClr val="94a3b8"/>
                </a:solidFill>
                <a:latin typeface="Aptos"/>
                <a:ea typeface="Aptos"/>
              </a:rPr>
              <a:t>11</a:t>
            </a:r>
            <a:endParaRPr b="0" lang="en-GB" sz="7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01f"/>
        </a:solidFill>
      </p:bgPr>
    </p:bg>
    <p:spTree>
      <p:nvGrpSpPr>
        <p:cNvPr id="1" name=""/>
        <p:cNvGrpSpPr/>
        <p:nvPr/>
      </p:nvGrpSpPr>
      <p:grpSpPr>
        <a:xfrm>
          <a:off x="0" y="0"/>
          <a:ext cx="0" cy="0"/>
          <a:chOff x="0" y="0"/>
          <a:chExt cx="0" cy="0"/>
        </a:xfrm>
      </p:grpSpPr>
      <p:sp>
        <p:nvSpPr>
          <p:cNvPr id="809" name="Shape 0"/>
          <p:cNvSpPr/>
          <p:nvPr/>
        </p:nvSpPr>
        <p:spPr>
          <a:xfrm>
            <a:off x="0" y="0"/>
            <a:ext cx="12191400" cy="6857640"/>
          </a:xfrm>
          <a:prstGeom prst="rect">
            <a:avLst/>
          </a:prstGeom>
          <a:solidFill>
            <a:srgbClr val="06101f"/>
          </a:solidFill>
          <a:ln w="12700">
            <a:solidFill>
              <a:srgbClr val="06101f"/>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810" name="Shape 1"/>
          <p:cNvSpPr/>
          <p:nvPr/>
        </p:nvSpPr>
        <p:spPr>
          <a:xfrm>
            <a:off x="0" y="0"/>
            <a:ext cx="12191400" cy="6857640"/>
          </a:xfrm>
          <a:prstGeom prst="rect">
            <a:avLst/>
          </a:prstGeom>
          <a:solidFill>
            <a:srgbClr val="081629">
              <a:alpha val="85000"/>
            </a:srgbClr>
          </a:solidFill>
          <a:ln w="12700">
            <a:solidFill>
              <a:srgbClr val="081629">
                <a:alpha val="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811" name="Shape 2"/>
          <p:cNvSpPr/>
          <p:nvPr/>
        </p:nvSpPr>
        <p:spPr>
          <a:xfrm>
            <a:off x="-1554480" y="-1737360"/>
            <a:ext cx="5486040" cy="5486040"/>
          </a:xfrm>
          <a:prstGeom prst="arc">
            <a:avLst>
              <a:gd name="adj1" fmla="val 16200000"/>
              <a:gd name="adj2" fmla="val 0"/>
            </a:avLst>
          </a:prstGeom>
          <a:noFill/>
          <a:ln w="13970">
            <a:solidFill>
              <a:srgbClr val="14b8a6">
                <a:alpha val="3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812" name="Shape 3"/>
          <p:cNvSpPr/>
          <p:nvPr/>
        </p:nvSpPr>
        <p:spPr>
          <a:xfrm>
            <a:off x="7680960" y="3840480"/>
            <a:ext cx="5486040" cy="5486040"/>
          </a:xfrm>
          <a:prstGeom prst="arc">
            <a:avLst>
              <a:gd name="adj1" fmla="val 16200000"/>
              <a:gd name="adj2" fmla="val 0"/>
            </a:avLst>
          </a:prstGeom>
          <a:noFill/>
          <a:ln w="12700">
            <a:solidFill>
              <a:srgbClr val="f59e0b">
                <a:alpha val="22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813" name="Text 4"/>
          <p:cNvSpPr/>
          <p:nvPr/>
        </p:nvSpPr>
        <p:spPr>
          <a:xfrm>
            <a:off x="567000" y="347400"/>
            <a:ext cx="594324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50" spc="-1" strike="noStrike">
                <a:solidFill>
                  <a:srgbClr val="14b8a6"/>
                </a:solidFill>
                <a:latin typeface="Aptos"/>
                <a:ea typeface="Aptos"/>
              </a:rPr>
              <a:t>PHASE 4.3</a:t>
            </a:r>
            <a:endParaRPr b="0" lang="en-GB" sz="850" spc="-1" strike="noStrike">
              <a:solidFill>
                <a:srgbClr val="ffffff"/>
              </a:solidFill>
              <a:latin typeface="Arial"/>
            </a:endParaRPr>
          </a:p>
        </p:txBody>
      </p:sp>
      <p:sp>
        <p:nvSpPr>
          <p:cNvPr id="814" name="Text 5"/>
          <p:cNvSpPr/>
          <p:nvPr/>
        </p:nvSpPr>
        <p:spPr>
          <a:xfrm>
            <a:off x="548640" y="658440"/>
            <a:ext cx="10926720" cy="5940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400" spc="-1" strike="noStrike">
                <a:solidFill>
                  <a:srgbClr val="f8fafc"/>
                </a:solidFill>
                <a:latin typeface="Aptos Display"/>
                <a:ea typeface="Aptos Display"/>
              </a:rPr>
              <a:t>Feature importance and dimensionality reduction</a:t>
            </a:r>
            <a:endParaRPr b="0" lang="en-GB" sz="2400" spc="-1" strike="noStrike">
              <a:solidFill>
                <a:srgbClr val="ffffff"/>
              </a:solidFill>
              <a:latin typeface="Arial"/>
            </a:endParaRPr>
          </a:p>
        </p:txBody>
      </p:sp>
      <p:sp>
        <p:nvSpPr>
          <p:cNvPr id="815" name="Text 6"/>
          <p:cNvSpPr/>
          <p:nvPr/>
        </p:nvSpPr>
        <p:spPr>
          <a:xfrm>
            <a:off x="567000" y="1216080"/>
            <a:ext cx="1051524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50" spc="-1" strike="noStrike">
                <a:solidFill>
                  <a:srgbClr val="94a3b8"/>
                </a:solidFill>
                <a:latin typeface="Aptos"/>
                <a:ea typeface="Aptos"/>
              </a:rPr>
              <a:t>The project compared full features, SelectKBest, consensus features, and PCA.</a:t>
            </a:r>
            <a:endParaRPr b="0" lang="en-GB" sz="1050" spc="-1" strike="noStrike">
              <a:solidFill>
                <a:srgbClr val="ffffff"/>
              </a:solidFill>
              <a:latin typeface="Arial"/>
            </a:endParaRPr>
          </a:p>
        </p:txBody>
      </p:sp>
      <p:sp>
        <p:nvSpPr>
          <p:cNvPr id="816" name="Shape 7"/>
          <p:cNvSpPr/>
          <p:nvPr/>
        </p:nvSpPr>
        <p:spPr>
          <a:xfrm>
            <a:off x="502920" y="1572840"/>
            <a:ext cx="5440320" cy="1910880"/>
          </a:xfrm>
          <a:prstGeom prst="roundRect">
            <a:avLst>
              <a:gd name="adj" fmla="val 3828"/>
            </a:avLst>
          </a:prstGeom>
          <a:solidFill>
            <a:srgbClr val="0b1a2e"/>
          </a:solidFill>
          <a:ln w="1016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817" name="Shape 8"/>
          <p:cNvSpPr/>
          <p:nvPr/>
        </p:nvSpPr>
        <p:spPr>
          <a:xfrm>
            <a:off x="502920" y="1572840"/>
            <a:ext cx="1599840" cy="292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818" name="Text 9"/>
          <p:cNvSpPr/>
          <p:nvPr/>
        </p:nvSpPr>
        <p:spPr>
          <a:xfrm>
            <a:off x="530280" y="1645920"/>
            <a:ext cx="154512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10" spc="-1" strike="noStrike">
                <a:solidFill>
                  <a:srgbClr val="f8fafc"/>
                </a:solidFill>
                <a:latin typeface="Aptos"/>
                <a:ea typeface="Aptos"/>
              </a:rPr>
              <a:t>Feature set</a:t>
            </a:r>
            <a:endParaRPr b="0" lang="en-GB" sz="710" spc="-1" strike="noStrike">
              <a:solidFill>
                <a:srgbClr val="ffffff"/>
              </a:solidFill>
              <a:latin typeface="Arial"/>
            </a:endParaRPr>
          </a:p>
        </p:txBody>
      </p:sp>
      <p:sp>
        <p:nvSpPr>
          <p:cNvPr id="819" name="Shape 10"/>
          <p:cNvSpPr/>
          <p:nvPr/>
        </p:nvSpPr>
        <p:spPr>
          <a:xfrm>
            <a:off x="2103120" y="1572840"/>
            <a:ext cx="411120" cy="292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820" name="Text 11"/>
          <p:cNvSpPr/>
          <p:nvPr/>
        </p:nvSpPr>
        <p:spPr>
          <a:xfrm>
            <a:off x="2130480" y="1645920"/>
            <a:ext cx="35640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10" spc="-1" strike="noStrike">
                <a:solidFill>
                  <a:srgbClr val="f8fafc"/>
                </a:solidFill>
                <a:latin typeface="Aptos"/>
                <a:ea typeface="Aptos"/>
              </a:rPr>
              <a:t>N</a:t>
            </a:r>
            <a:endParaRPr b="0" lang="en-GB" sz="710" spc="-1" strike="noStrike">
              <a:solidFill>
                <a:srgbClr val="ffffff"/>
              </a:solidFill>
              <a:latin typeface="Arial"/>
            </a:endParaRPr>
          </a:p>
        </p:txBody>
      </p:sp>
      <p:sp>
        <p:nvSpPr>
          <p:cNvPr id="821" name="Shape 12"/>
          <p:cNvSpPr/>
          <p:nvPr/>
        </p:nvSpPr>
        <p:spPr>
          <a:xfrm>
            <a:off x="2514600" y="1572840"/>
            <a:ext cx="776880" cy="292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822" name="Text 13"/>
          <p:cNvSpPr/>
          <p:nvPr/>
        </p:nvSpPr>
        <p:spPr>
          <a:xfrm>
            <a:off x="2541960" y="1645920"/>
            <a:ext cx="72216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10" spc="-1" strike="noStrike">
                <a:solidFill>
                  <a:srgbClr val="f8fafc"/>
                </a:solidFill>
                <a:latin typeface="Aptos"/>
                <a:ea typeface="Aptos"/>
              </a:rPr>
              <a:t>Recall</a:t>
            </a:r>
            <a:endParaRPr b="0" lang="en-GB" sz="710" spc="-1" strike="noStrike">
              <a:solidFill>
                <a:srgbClr val="ffffff"/>
              </a:solidFill>
              <a:latin typeface="Arial"/>
            </a:endParaRPr>
          </a:p>
        </p:txBody>
      </p:sp>
      <p:sp>
        <p:nvSpPr>
          <p:cNvPr id="823" name="Shape 14"/>
          <p:cNvSpPr/>
          <p:nvPr/>
        </p:nvSpPr>
        <p:spPr>
          <a:xfrm>
            <a:off x="3291840" y="1572840"/>
            <a:ext cx="776880" cy="292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824" name="Text 15"/>
          <p:cNvSpPr/>
          <p:nvPr/>
        </p:nvSpPr>
        <p:spPr>
          <a:xfrm>
            <a:off x="3319200" y="1645920"/>
            <a:ext cx="72216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10" spc="-1" strike="noStrike">
                <a:solidFill>
                  <a:srgbClr val="f8fafc"/>
                </a:solidFill>
                <a:latin typeface="Aptos"/>
                <a:ea typeface="Aptos"/>
              </a:rPr>
              <a:t>F1</a:t>
            </a:r>
            <a:endParaRPr b="0" lang="en-GB" sz="710" spc="-1" strike="noStrike">
              <a:solidFill>
                <a:srgbClr val="ffffff"/>
              </a:solidFill>
              <a:latin typeface="Arial"/>
            </a:endParaRPr>
          </a:p>
        </p:txBody>
      </p:sp>
      <p:sp>
        <p:nvSpPr>
          <p:cNvPr id="825" name="Shape 16"/>
          <p:cNvSpPr/>
          <p:nvPr/>
        </p:nvSpPr>
        <p:spPr>
          <a:xfrm>
            <a:off x="4069080" y="1572840"/>
            <a:ext cx="776880" cy="292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826" name="Text 17"/>
          <p:cNvSpPr/>
          <p:nvPr/>
        </p:nvSpPr>
        <p:spPr>
          <a:xfrm>
            <a:off x="4096440" y="1645920"/>
            <a:ext cx="72216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10" spc="-1" strike="noStrike">
                <a:solidFill>
                  <a:srgbClr val="f8fafc"/>
                </a:solidFill>
                <a:latin typeface="Aptos"/>
                <a:ea typeface="Aptos"/>
              </a:rPr>
              <a:t>AUC</a:t>
            </a:r>
            <a:endParaRPr b="0" lang="en-GB" sz="710" spc="-1" strike="noStrike">
              <a:solidFill>
                <a:srgbClr val="ffffff"/>
              </a:solidFill>
              <a:latin typeface="Arial"/>
            </a:endParaRPr>
          </a:p>
        </p:txBody>
      </p:sp>
      <p:sp>
        <p:nvSpPr>
          <p:cNvPr id="827" name="Shape 18"/>
          <p:cNvSpPr/>
          <p:nvPr/>
        </p:nvSpPr>
        <p:spPr>
          <a:xfrm>
            <a:off x="4846320" y="1572840"/>
            <a:ext cx="1096920" cy="292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828" name="Text 19"/>
          <p:cNvSpPr/>
          <p:nvPr/>
        </p:nvSpPr>
        <p:spPr>
          <a:xfrm>
            <a:off x="4873680" y="1645920"/>
            <a:ext cx="104220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10" spc="-1" strike="noStrike">
                <a:solidFill>
                  <a:srgbClr val="f8fafc"/>
                </a:solidFill>
                <a:latin typeface="Aptos"/>
                <a:ea typeface="Aptos"/>
              </a:rPr>
              <a:t>Precision</a:t>
            </a:r>
            <a:endParaRPr b="0" lang="en-GB" sz="710" spc="-1" strike="noStrike">
              <a:solidFill>
                <a:srgbClr val="ffffff"/>
              </a:solidFill>
              <a:latin typeface="Arial"/>
            </a:endParaRPr>
          </a:p>
        </p:txBody>
      </p:sp>
      <p:sp>
        <p:nvSpPr>
          <p:cNvPr id="829" name="Shape 20"/>
          <p:cNvSpPr/>
          <p:nvPr/>
        </p:nvSpPr>
        <p:spPr>
          <a:xfrm>
            <a:off x="502920" y="1865520"/>
            <a:ext cx="1599840" cy="39276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830" name="Text 21"/>
          <p:cNvSpPr/>
          <p:nvPr/>
        </p:nvSpPr>
        <p:spPr>
          <a:xfrm>
            <a:off x="530280" y="1938600"/>
            <a:ext cx="1545120" cy="328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710" spc="-1" strike="noStrike">
                <a:solidFill>
                  <a:srgbClr val="f8fafc"/>
                </a:solidFill>
                <a:latin typeface="Aptos"/>
                <a:ea typeface="Aptos"/>
              </a:rPr>
              <a:t>Full Features</a:t>
            </a:r>
            <a:endParaRPr b="0" lang="en-GB" sz="710" spc="-1" strike="noStrike">
              <a:solidFill>
                <a:srgbClr val="ffffff"/>
              </a:solidFill>
              <a:latin typeface="Arial"/>
            </a:endParaRPr>
          </a:p>
        </p:txBody>
      </p:sp>
      <p:sp>
        <p:nvSpPr>
          <p:cNvPr id="831" name="Shape 22"/>
          <p:cNvSpPr/>
          <p:nvPr/>
        </p:nvSpPr>
        <p:spPr>
          <a:xfrm>
            <a:off x="2103120" y="1865520"/>
            <a:ext cx="411120" cy="39276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832" name="Text 23"/>
          <p:cNvSpPr/>
          <p:nvPr/>
        </p:nvSpPr>
        <p:spPr>
          <a:xfrm>
            <a:off x="2130480" y="1938600"/>
            <a:ext cx="356400" cy="328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10" spc="-1" strike="noStrike">
                <a:solidFill>
                  <a:srgbClr val="f8fafc"/>
                </a:solidFill>
                <a:latin typeface="Aptos"/>
                <a:ea typeface="Aptos"/>
              </a:rPr>
              <a:t>104</a:t>
            </a:r>
            <a:endParaRPr b="0" lang="en-GB" sz="710" spc="-1" strike="noStrike">
              <a:solidFill>
                <a:srgbClr val="ffffff"/>
              </a:solidFill>
              <a:latin typeface="Arial"/>
            </a:endParaRPr>
          </a:p>
        </p:txBody>
      </p:sp>
      <p:sp>
        <p:nvSpPr>
          <p:cNvPr id="833" name="Shape 24"/>
          <p:cNvSpPr/>
          <p:nvPr/>
        </p:nvSpPr>
        <p:spPr>
          <a:xfrm>
            <a:off x="2514600" y="1865520"/>
            <a:ext cx="776880" cy="39276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834" name="Text 25"/>
          <p:cNvSpPr/>
          <p:nvPr/>
        </p:nvSpPr>
        <p:spPr>
          <a:xfrm>
            <a:off x="2541960" y="1938600"/>
            <a:ext cx="722160" cy="328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10" spc="-1" strike="noStrike">
                <a:solidFill>
                  <a:srgbClr val="f8fafc"/>
                </a:solidFill>
                <a:latin typeface="Aptos"/>
                <a:ea typeface="Aptos"/>
              </a:rPr>
              <a:t>0.5122</a:t>
            </a:r>
            <a:endParaRPr b="0" lang="en-GB" sz="710" spc="-1" strike="noStrike">
              <a:solidFill>
                <a:srgbClr val="ffffff"/>
              </a:solidFill>
              <a:latin typeface="Arial"/>
            </a:endParaRPr>
          </a:p>
        </p:txBody>
      </p:sp>
      <p:sp>
        <p:nvSpPr>
          <p:cNvPr id="835" name="Shape 26"/>
          <p:cNvSpPr/>
          <p:nvPr/>
        </p:nvSpPr>
        <p:spPr>
          <a:xfrm>
            <a:off x="3291840" y="1865520"/>
            <a:ext cx="776880" cy="39276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836" name="Text 27"/>
          <p:cNvSpPr/>
          <p:nvPr/>
        </p:nvSpPr>
        <p:spPr>
          <a:xfrm>
            <a:off x="3319200" y="1938600"/>
            <a:ext cx="722160" cy="328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10" spc="-1" strike="noStrike">
                <a:solidFill>
                  <a:srgbClr val="f8fafc"/>
                </a:solidFill>
                <a:latin typeface="Aptos"/>
                <a:ea typeface="Aptos"/>
              </a:rPr>
              <a:t>0.5915</a:t>
            </a:r>
            <a:endParaRPr b="0" lang="en-GB" sz="710" spc="-1" strike="noStrike">
              <a:solidFill>
                <a:srgbClr val="ffffff"/>
              </a:solidFill>
              <a:latin typeface="Arial"/>
            </a:endParaRPr>
          </a:p>
        </p:txBody>
      </p:sp>
      <p:sp>
        <p:nvSpPr>
          <p:cNvPr id="837" name="Shape 28"/>
          <p:cNvSpPr/>
          <p:nvPr/>
        </p:nvSpPr>
        <p:spPr>
          <a:xfrm>
            <a:off x="4069080" y="1865520"/>
            <a:ext cx="776880" cy="39276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838" name="Text 29"/>
          <p:cNvSpPr/>
          <p:nvPr/>
        </p:nvSpPr>
        <p:spPr>
          <a:xfrm>
            <a:off x="4096440" y="1938600"/>
            <a:ext cx="722160" cy="328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10" spc="-1" strike="noStrike">
                <a:solidFill>
                  <a:srgbClr val="f8fafc"/>
                </a:solidFill>
                <a:latin typeface="Aptos"/>
                <a:ea typeface="Aptos"/>
              </a:rPr>
              <a:t>0.9073</a:t>
            </a:r>
            <a:endParaRPr b="0" lang="en-GB" sz="710" spc="-1" strike="noStrike">
              <a:solidFill>
                <a:srgbClr val="ffffff"/>
              </a:solidFill>
              <a:latin typeface="Arial"/>
            </a:endParaRPr>
          </a:p>
        </p:txBody>
      </p:sp>
      <p:sp>
        <p:nvSpPr>
          <p:cNvPr id="839" name="Shape 30"/>
          <p:cNvSpPr/>
          <p:nvPr/>
        </p:nvSpPr>
        <p:spPr>
          <a:xfrm>
            <a:off x="4846320" y="1865520"/>
            <a:ext cx="1096920" cy="39276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840" name="Text 31"/>
          <p:cNvSpPr/>
          <p:nvPr/>
        </p:nvSpPr>
        <p:spPr>
          <a:xfrm>
            <a:off x="4873680" y="1938600"/>
            <a:ext cx="1042200" cy="328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10" spc="-1" strike="noStrike">
                <a:solidFill>
                  <a:srgbClr val="f8fafc"/>
                </a:solidFill>
                <a:latin typeface="Aptos"/>
                <a:ea typeface="Aptos"/>
              </a:rPr>
              <a:t>0.7000</a:t>
            </a:r>
            <a:endParaRPr b="0" lang="en-GB" sz="710" spc="-1" strike="noStrike">
              <a:solidFill>
                <a:srgbClr val="ffffff"/>
              </a:solidFill>
              <a:latin typeface="Arial"/>
            </a:endParaRPr>
          </a:p>
        </p:txBody>
      </p:sp>
      <p:sp>
        <p:nvSpPr>
          <p:cNvPr id="841" name="Shape 32"/>
          <p:cNvSpPr/>
          <p:nvPr/>
        </p:nvSpPr>
        <p:spPr>
          <a:xfrm>
            <a:off x="502920" y="2258640"/>
            <a:ext cx="1599840" cy="39276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842" name="Text 33"/>
          <p:cNvSpPr/>
          <p:nvPr/>
        </p:nvSpPr>
        <p:spPr>
          <a:xfrm>
            <a:off x="530280" y="2331720"/>
            <a:ext cx="1545120" cy="328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710" spc="-1" strike="noStrike">
                <a:solidFill>
                  <a:srgbClr val="f8fafc"/>
                </a:solidFill>
                <a:latin typeface="Aptos"/>
                <a:ea typeface="Aptos"/>
              </a:rPr>
              <a:t>Top-30 SelectKBest</a:t>
            </a:r>
            <a:endParaRPr b="0" lang="en-GB" sz="710" spc="-1" strike="noStrike">
              <a:solidFill>
                <a:srgbClr val="ffffff"/>
              </a:solidFill>
              <a:latin typeface="Arial"/>
            </a:endParaRPr>
          </a:p>
        </p:txBody>
      </p:sp>
      <p:sp>
        <p:nvSpPr>
          <p:cNvPr id="843" name="Shape 34"/>
          <p:cNvSpPr/>
          <p:nvPr/>
        </p:nvSpPr>
        <p:spPr>
          <a:xfrm>
            <a:off x="2103120" y="2258640"/>
            <a:ext cx="411120" cy="39276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844" name="Text 35"/>
          <p:cNvSpPr/>
          <p:nvPr/>
        </p:nvSpPr>
        <p:spPr>
          <a:xfrm>
            <a:off x="2130480" y="2331720"/>
            <a:ext cx="356400" cy="328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10" spc="-1" strike="noStrike">
                <a:solidFill>
                  <a:srgbClr val="f8fafc"/>
                </a:solidFill>
                <a:latin typeface="Aptos"/>
                <a:ea typeface="Aptos"/>
              </a:rPr>
              <a:t>30</a:t>
            </a:r>
            <a:endParaRPr b="0" lang="en-GB" sz="710" spc="-1" strike="noStrike">
              <a:solidFill>
                <a:srgbClr val="ffffff"/>
              </a:solidFill>
              <a:latin typeface="Arial"/>
            </a:endParaRPr>
          </a:p>
        </p:txBody>
      </p:sp>
      <p:sp>
        <p:nvSpPr>
          <p:cNvPr id="845" name="Shape 36"/>
          <p:cNvSpPr/>
          <p:nvPr/>
        </p:nvSpPr>
        <p:spPr>
          <a:xfrm>
            <a:off x="2514600" y="2258640"/>
            <a:ext cx="776880" cy="39276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846" name="Text 37"/>
          <p:cNvSpPr/>
          <p:nvPr/>
        </p:nvSpPr>
        <p:spPr>
          <a:xfrm>
            <a:off x="2541960" y="2331720"/>
            <a:ext cx="722160" cy="328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10" spc="-1" strike="noStrike">
                <a:solidFill>
                  <a:srgbClr val="f8fafc"/>
                </a:solidFill>
                <a:latin typeface="Aptos"/>
                <a:ea typeface="Aptos"/>
              </a:rPr>
              <a:t>0.5610</a:t>
            </a:r>
            <a:endParaRPr b="0" lang="en-GB" sz="710" spc="-1" strike="noStrike">
              <a:solidFill>
                <a:srgbClr val="ffffff"/>
              </a:solidFill>
              <a:latin typeface="Arial"/>
            </a:endParaRPr>
          </a:p>
        </p:txBody>
      </p:sp>
      <p:sp>
        <p:nvSpPr>
          <p:cNvPr id="847" name="Shape 38"/>
          <p:cNvSpPr/>
          <p:nvPr/>
        </p:nvSpPr>
        <p:spPr>
          <a:xfrm>
            <a:off x="3291840" y="2258640"/>
            <a:ext cx="776880" cy="39276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848" name="Text 39"/>
          <p:cNvSpPr/>
          <p:nvPr/>
        </p:nvSpPr>
        <p:spPr>
          <a:xfrm>
            <a:off x="3319200" y="2331720"/>
            <a:ext cx="722160" cy="328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10" spc="-1" strike="noStrike">
                <a:solidFill>
                  <a:srgbClr val="f8fafc"/>
                </a:solidFill>
                <a:latin typeface="Aptos"/>
                <a:ea typeface="Aptos"/>
              </a:rPr>
              <a:t>0.6389</a:t>
            </a:r>
            <a:endParaRPr b="0" lang="en-GB" sz="710" spc="-1" strike="noStrike">
              <a:solidFill>
                <a:srgbClr val="ffffff"/>
              </a:solidFill>
              <a:latin typeface="Arial"/>
            </a:endParaRPr>
          </a:p>
        </p:txBody>
      </p:sp>
      <p:sp>
        <p:nvSpPr>
          <p:cNvPr id="849" name="Shape 40"/>
          <p:cNvSpPr/>
          <p:nvPr/>
        </p:nvSpPr>
        <p:spPr>
          <a:xfrm>
            <a:off x="4069080" y="2258640"/>
            <a:ext cx="776880" cy="39276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850" name="Text 41"/>
          <p:cNvSpPr/>
          <p:nvPr/>
        </p:nvSpPr>
        <p:spPr>
          <a:xfrm>
            <a:off x="4096440" y="2331720"/>
            <a:ext cx="722160" cy="328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10" spc="-1" strike="noStrike">
                <a:solidFill>
                  <a:srgbClr val="f8fafc"/>
                </a:solidFill>
                <a:latin typeface="Aptos"/>
                <a:ea typeface="Aptos"/>
              </a:rPr>
              <a:t>0.8999</a:t>
            </a:r>
            <a:endParaRPr b="0" lang="en-GB" sz="710" spc="-1" strike="noStrike">
              <a:solidFill>
                <a:srgbClr val="ffffff"/>
              </a:solidFill>
              <a:latin typeface="Arial"/>
            </a:endParaRPr>
          </a:p>
        </p:txBody>
      </p:sp>
      <p:sp>
        <p:nvSpPr>
          <p:cNvPr id="851" name="Shape 42"/>
          <p:cNvSpPr/>
          <p:nvPr/>
        </p:nvSpPr>
        <p:spPr>
          <a:xfrm>
            <a:off x="4846320" y="2258640"/>
            <a:ext cx="1096920" cy="39276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852" name="Text 43"/>
          <p:cNvSpPr/>
          <p:nvPr/>
        </p:nvSpPr>
        <p:spPr>
          <a:xfrm>
            <a:off x="4873680" y="2331720"/>
            <a:ext cx="1042200" cy="328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10" spc="-1" strike="noStrike">
                <a:solidFill>
                  <a:srgbClr val="f8fafc"/>
                </a:solidFill>
                <a:latin typeface="Aptos"/>
                <a:ea typeface="Aptos"/>
              </a:rPr>
              <a:t>0.7419</a:t>
            </a:r>
            <a:endParaRPr b="0" lang="en-GB" sz="710" spc="-1" strike="noStrike">
              <a:solidFill>
                <a:srgbClr val="ffffff"/>
              </a:solidFill>
              <a:latin typeface="Arial"/>
            </a:endParaRPr>
          </a:p>
        </p:txBody>
      </p:sp>
      <p:sp>
        <p:nvSpPr>
          <p:cNvPr id="853" name="Shape 44"/>
          <p:cNvSpPr/>
          <p:nvPr/>
        </p:nvSpPr>
        <p:spPr>
          <a:xfrm>
            <a:off x="502920" y="2651760"/>
            <a:ext cx="1599840" cy="39276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854" name="Text 45"/>
          <p:cNvSpPr/>
          <p:nvPr/>
        </p:nvSpPr>
        <p:spPr>
          <a:xfrm>
            <a:off x="530280" y="2724840"/>
            <a:ext cx="1545120" cy="328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710" spc="-1" strike="noStrike">
                <a:solidFill>
                  <a:srgbClr val="f8fafc"/>
                </a:solidFill>
                <a:latin typeface="Aptos"/>
                <a:ea typeface="Aptos"/>
              </a:rPr>
              <a:t>Consensus</a:t>
            </a:r>
            <a:endParaRPr b="0" lang="en-GB" sz="710" spc="-1" strike="noStrike">
              <a:solidFill>
                <a:srgbClr val="ffffff"/>
              </a:solidFill>
              <a:latin typeface="Arial"/>
            </a:endParaRPr>
          </a:p>
        </p:txBody>
      </p:sp>
      <p:sp>
        <p:nvSpPr>
          <p:cNvPr id="855" name="Shape 46"/>
          <p:cNvSpPr/>
          <p:nvPr/>
        </p:nvSpPr>
        <p:spPr>
          <a:xfrm>
            <a:off x="2103120" y="2651760"/>
            <a:ext cx="411120" cy="39276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856" name="Text 47"/>
          <p:cNvSpPr/>
          <p:nvPr/>
        </p:nvSpPr>
        <p:spPr>
          <a:xfrm>
            <a:off x="2130480" y="2724840"/>
            <a:ext cx="356400" cy="328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10" spc="-1" strike="noStrike">
                <a:solidFill>
                  <a:srgbClr val="f8fafc"/>
                </a:solidFill>
                <a:latin typeface="Aptos"/>
                <a:ea typeface="Aptos"/>
              </a:rPr>
              <a:t>23</a:t>
            </a:r>
            <a:endParaRPr b="0" lang="en-GB" sz="710" spc="-1" strike="noStrike">
              <a:solidFill>
                <a:srgbClr val="ffffff"/>
              </a:solidFill>
              <a:latin typeface="Arial"/>
            </a:endParaRPr>
          </a:p>
        </p:txBody>
      </p:sp>
      <p:sp>
        <p:nvSpPr>
          <p:cNvPr id="857" name="Shape 48"/>
          <p:cNvSpPr/>
          <p:nvPr/>
        </p:nvSpPr>
        <p:spPr>
          <a:xfrm>
            <a:off x="2514600" y="2651760"/>
            <a:ext cx="776880" cy="39276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858" name="Text 49"/>
          <p:cNvSpPr/>
          <p:nvPr/>
        </p:nvSpPr>
        <p:spPr>
          <a:xfrm>
            <a:off x="2541960" y="2724840"/>
            <a:ext cx="722160" cy="328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10" spc="-1" strike="noStrike">
                <a:solidFill>
                  <a:srgbClr val="f8fafc"/>
                </a:solidFill>
                <a:latin typeface="Aptos"/>
                <a:ea typeface="Aptos"/>
              </a:rPr>
              <a:t>0.5610</a:t>
            </a:r>
            <a:endParaRPr b="0" lang="en-GB" sz="710" spc="-1" strike="noStrike">
              <a:solidFill>
                <a:srgbClr val="ffffff"/>
              </a:solidFill>
              <a:latin typeface="Arial"/>
            </a:endParaRPr>
          </a:p>
        </p:txBody>
      </p:sp>
      <p:sp>
        <p:nvSpPr>
          <p:cNvPr id="859" name="Shape 50"/>
          <p:cNvSpPr/>
          <p:nvPr/>
        </p:nvSpPr>
        <p:spPr>
          <a:xfrm>
            <a:off x="3291840" y="2651760"/>
            <a:ext cx="776880" cy="39276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860" name="Text 51"/>
          <p:cNvSpPr/>
          <p:nvPr/>
        </p:nvSpPr>
        <p:spPr>
          <a:xfrm>
            <a:off x="3319200" y="2724840"/>
            <a:ext cx="722160" cy="328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10" spc="-1" strike="noStrike">
                <a:solidFill>
                  <a:srgbClr val="f8fafc"/>
                </a:solidFill>
                <a:latin typeface="Aptos"/>
                <a:ea typeface="Aptos"/>
              </a:rPr>
              <a:t>0.6216</a:t>
            </a:r>
            <a:endParaRPr b="0" lang="en-GB" sz="710" spc="-1" strike="noStrike">
              <a:solidFill>
                <a:srgbClr val="ffffff"/>
              </a:solidFill>
              <a:latin typeface="Arial"/>
            </a:endParaRPr>
          </a:p>
        </p:txBody>
      </p:sp>
      <p:sp>
        <p:nvSpPr>
          <p:cNvPr id="861" name="Shape 52"/>
          <p:cNvSpPr/>
          <p:nvPr/>
        </p:nvSpPr>
        <p:spPr>
          <a:xfrm>
            <a:off x="4069080" y="2651760"/>
            <a:ext cx="776880" cy="39276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862" name="Text 53"/>
          <p:cNvSpPr/>
          <p:nvPr/>
        </p:nvSpPr>
        <p:spPr>
          <a:xfrm>
            <a:off x="4096440" y="2724840"/>
            <a:ext cx="722160" cy="328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10" spc="-1" strike="noStrike">
                <a:solidFill>
                  <a:srgbClr val="f8fafc"/>
                </a:solidFill>
                <a:latin typeface="Aptos"/>
                <a:ea typeface="Aptos"/>
              </a:rPr>
              <a:t>0.8898</a:t>
            </a:r>
            <a:endParaRPr b="0" lang="en-GB" sz="710" spc="-1" strike="noStrike">
              <a:solidFill>
                <a:srgbClr val="ffffff"/>
              </a:solidFill>
              <a:latin typeface="Arial"/>
            </a:endParaRPr>
          </a:p>
        </p:txBody>
      </p:sp>
      <p:sp>
        <p:nvSpPr>
          <p:cNvPr id="863" name="Shape 54"/>
          <p:cNvSpPr/>
          <p:nvPr/>
        </p:nvSpPr>
        <p:spPr>
          <a:xfrm>
            <a:off x="4846320" y="2651760"/>
            <a:ext cx="1096920" cy="39276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864" name="Text 55"/>
          <p:cNvSpPr/>
          <p:nvPr/>
        </p:nvSpPr>
        <p:spPr>
          <a:xfrm>
            <a:off x="4873680" y="2724840"/>
            <a:ext cx="1042200" cy="328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10" spc="-1" strike="noStrike">
                <a:solidFill>
                  <a:srgbClr val="f8fafc"/>
                </a:solidFill>
                <a:latin typeface="Aptos"/>
                <a:ea typeface="Aptos"/>
              </a:rPr>
              <a:t>0.6970</a:t>
            </a:r>
            <a:endParaRPr b="0" lang="en-GB" sz="710" spc="-1" strike="noStrike">
              <a:solidFill>
                <a:srgbClr val="ffffff"/>
              </a:solidFill>
              <a:latin typeface="Arial"/>
            </a:endParaRPr>
          </a:p>
        </p:txBody>
      </p:sp>
      <p:sp>
        <p:nvSpPr>
          <p:cNvPr id="865" name="Shape 56"/>
          <p:cNvSpPr/>
          <p:nvPr/>
        </p:nvSpPr>
        <p:spPr>
          <a:xfrm>
            <a:off x="502920" y="3044880"/>
            <a:ext cx="1599840" cy="39276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866" name="Text 57"/>
          <p:cNvSpPr/>
          <p:nvPr/>
        </p:nvSpPr>
        <p:spPr>
          <a:xfrm>
            <a:off x="530280" y="3117960"/>
            <a:ext cx="1545120" cy="328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710" spc="-1" strike="noStrike">
                <a:solidFill>
                  <a:srgbClr val="f8fafc"/>
                </a:solidFill>
                <a:latin typeface="Aptos"/>
                <a:ea typeface="Aptos"/>
              </a:rPr>
              <a:t>PCA-32</a:t>
            </a:r>
            <a:endParaRPr b="0" lang="en-GB" sz="710" spc="-1" strike="noStrike">
              <a:solidFill>
                <a:srgbClr val="ffffff"/>
              </a:solidFill>
              <a:latin typeface="Arial"/>
            </a:endParaRPr>
          </a:p>
        </p:txBody>
      </p:sp>
      <p:sp>
        <p:nvSpPr>
          <p:cNvPr id="867" name="Shape 58"/>
          <p:cNvSpPr/>
          <p:nvPr/>
        </p:nvSpPr>
        <p:spPr>
          <a:xfrm>
            <a:off x="2103120" y="3044880"/>
            <a:ext cx="411120" cy="39276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868" name="Text 59"/>
          <p:cNvSpPr/>
          <p:nvPr/>
        </p:nvSpPr>
        <p:spPr>
          <a:xfrm>
            <a:off x="2130480" y="3117960"/>
            <a:ext cx="356400" cy="328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10" spc="-1" strike="noStrike">
                <a:solidFill>
                  <a:srgbClr val="f8fafc"/>
                </a:solidFill>
                <a:latin typeface="Aptos"/>
                <a:ea typeface="Aptos"/>
              </a:rPr>
              <a:t>32</a:t>
            </a:r>
            <a:endParaRPr b="0" lang="en-GB" sz="710" spc="-1" strike="noStrike">
              <a:solidFill>
                <a:srgbClr val="ffffff"/>
              </a:solidFill>
              <a:latin typeface="Arial"/>
            </a:endParaRPr>
          </a:p>
        </p:txBody>
      </p:sp>
      <p:sp>
        <p:nvSpPr>
          <p:cNvPr id="869" name="Shape 60"/>
          <p:cNvSpPr/>
          <p:nvPr/>
        </p:nvSpPr>
        <p:spPr>
          <a:xfrm>
            <a:off x="2514600" y="3044880"/>
            <a:ext cx="776880" cy="39276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870" name="Text 61"/>
          <p:cNvSpPr/>
          <p:nvPr/>
        </p:nvSpPr>
        <p:spPr>
          <a:xfrm>
            <a:off x="2541960" y="3117960"/>
            <a:ext cx="722160" cy="328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10" spc="-1" strike="noStrike">
                <a:solidFill>
                  <a:srgbClr val="f8fafc"/>
                </a:solidFill>
                <a:latin typeface="Aptos"/>
                <a:ea typeface="Aptos"/>
              </a:rPr>
              <a:t>0.5610</a:t>
            </a:r>
            <a:endParaRPr b="0" lang="en-GB" sz="710" spc="-1" strike="noStrike">
              <a:solidFill>
                <a:srgbClr val="ffffff"/>
              </a:solidFill>
              <a:latin typeface="Arial"/>
            </a:endParaRPr>
          </a:p>
        </p:txBody>
      </p:sp>
      <p:sp>
        <p:nvSpPr>
          <p:cNvPr id="871" name="Shape 62"/>
          <p:cNvSpPr/>
          <p:nvPr/>
        </p:nvSpPr>
        <p:spPr>
          <a:xfrm>
            <a:off x="3291840" y="3044880"/>
            <a:ext cx="776880" cy="39276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872" name="Text 63"/>
          <p:cNvSpPr/>
          <p:nvPr/>
        </p:nvSpPr>
        <p:spPr>
          <a:xfrm>
            <a:off x="3319200" y="3117960"/>
            <a:ext cx="722160" cy="328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10" spc="-1" strike="noStrike">
                <a:solidFill>
                  <a:srgbClr val="f8fafc"/>
                </a:solidFill>
                <a:latin typeface="Aptos"/>
                <a:ea typeface="Aptos"/>
              </a:rPr>
              <a:t>0.5476</a:t>
            </a:r>
            <a:endParaRPr b="0" lang="en-GB" sz="710" spc="-1" strike="noStrike">
              <a:solidFill>
                <a:srgbClr val="ffffff"/>
              </a:solidFill>
              <a:latin typeface="Arial"/>
            </a:endParaRPr>
          </a:p>
        </p:txBody>
      </p:sp>
      <p:sp>
        <p:nvSpPr>
          <p:cNvPr id="873" name="Shape 64"/>
          <p:cNvSpPr/>
          <p:nvPr/>
        </p:nvSpPr>
        <p:spPr>
          <a:xfrm>
            <a:off x="4069080" y="3044880"/>
            <a:ext cx="776880" cy="39276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874" name="Text 65"/>
          <p:cNvSpPr/>
          <p:nvPr/>
        </p:nvSpPr>
        <p:spPr>
          <a:xfrm>
            <a:off x="4096440" y="3117960"/>
            <a:ext cx="722160" cy="328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10" spc="-1" strike="noStrike">
                <a:solidFill>
                  <a:srgbClr val="f8fafc"/>
                </a:solidFill>
                <a:latin typeface="Aptos"/>
                <a:ea typeface="Aptos"/>
              </a:rPr>
              <a:t>0.8319</a:t>
            </a:r>
            <a:endParaRPr b="0" lang="en-GB" sz="710" spc="-1" strike="noStrike">
              <a:solidFill>
                <a:srgbClr val="ffffff"/>
              </a:solidFill>
              <a:latin typeface="Arial"/>
            </a:endParaRPr>
          </a:p>
        </p:txBody>
      </p:sp>
      <p:sp>
        <p:nvSpPr>
          <p:cNvPr id="875" name="Shape 66"/>
          <p:cNvSpPr/>
          <p:nvPr/>
        </p:nvSpPr>
        <p:spPr>
          <a:xfrm>
            <a:off x="4846320" y="3044880"/>
            <a:ext cx="1096920" cy="39276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876" name="Text 67"/>
          <p:cNvSpPr/>
          <p:nvPr/>
        </p:nvSpPr>
        <p:spPr>
          <a:xfrm>
            <a:off x="4873680" y="3117960"/>
            <a:ext cx="1042200" cy="328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10" spc="-1" strike="noStrike">
                <a:solidFill>
                  <a:srgbClr val="f8fafc"/>
                </a:solidFill>
                <a:latin typeface="Aptos"/>
                <a:ea typeface="Aptos"/>
              </a:rPr>
              <a:t>0.5349</a:t>
            </a:r>
            <a:endParaRPr b="0" lang="en-GB" sz="710" spc="-1" strike="noStrike">
              <a:solidFill>
                <a:srgbClr val="ffffff"/>
              </a:solidFill>
              <a:latin typeface="Arial"/>
            </a:endParaRPr>
          </a:p>
        </p:txBody>
      </p:sp>
      <p:sp>
        <p:nvSpPr>
          <p:cNvPr id="877" name="Shape 68"/>
          <p:cNvSpPr/>
          <p:nvPr/>
        </p:nvSpPr>
        <p:spPr>
          <a:xfrm>
            <a:off x="502920" y="3840480"/>
            <a:ext cx="5440320" cy="1983960"/>
          </a:xfrm>
          <a:prstGeom prst="roundRect">
            <a:avLst>
              <a:gd name="adj" fmla="val 3687"/>
            </a:avLst>
          </a:prstGeom>
          <a:solidFill>
            <a:srgbClr val="0b1a2e"/>
          </a:solidFill>
          <a:ln w="1016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878" name="Shape 69"/>
          <p:cNvSpPr/>
          <p:nvPr/>
        </p:nvSpPr>
        <p:spPr>
          <a:xfrm>
            <a:off x="502920" y="3840480"/>
            <a:ext cx="3840120" cy="292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879" name="Text 70"/>
          <p:cNvSpPr/>
          <p:nvPr/>
        </p:nvSpPr>
        <p:spPr>
          <a:xfrm>
            <a:off x="530280" y="3913560"/>
            <a:ext cx="378540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680" spc="-1" strike="noStrike">
                <a:solidFill>
                  <a:srgbClr val="f8fafc"/>
                </a:solidFill>
                <a:latin typeface="Aptos"/>
                <a:ea typeface="Aptos"/>
              </a:rPr>
              <a:t>Top predictors by F-score</a:t>
            </a:r>
            <a:endParaRPr b="0" lang="en-GB" sz="680" spc="-1" strike="noStrike">
              <a:solidFill>
                <a:srgbClr val="ffffff"/>
              </a:solidFill>
              <a:latin typeface="Arial"/>
            </a:endParaRPr>
          </a:p>
        </p:txBody>
      </p:sp>
      <p:sp>
        <p:nvSpPr>
          <p:cNvPr id="880" name="Shape 71"/>
          <p:cNvSpPr/>
          <p:nvPr/>
        </p:nvSpPr>
        <p:spPr>
          <a:xfrm>
            <a:off x="4343400" y="3840480"/>
            <a:ext cx="1599840" cy="292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881" name="Text 72"/>
          <p:cNvSpPr/>
          <p:nvPr/>
        </p:nvSpPr>
        <p:spPr>
          <a:xfrm>
            <a:off x="4370760" y="3913560"/>
            <a:ext cx="154512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680" spc="-1" strike="noStrike">
                <a:solidFill>
                  <a:srgbClr val="f8fafc"/>
                </a:solidFill>
                <a:latin typeface="Aptos"/>
                <a:ea typeface="Aptos"/>
              </a:rPr>
              <a:t>Score</a:t>
            </a:r>
            <a:endParaRPr b="0" lang="en-GB" sz="680" spc="-1" strike="noStrike">
              <a:solidFill>
                <a:srgbClr val="ffffff"/>
              </a:solidFill>
              <a:latin typeface="Arial"/>
            </a:endParaRPr>
          </a:p>
        </p:txBody>
      </p:sp>
      <p:sp>
        <p:nvSpPr>
          <p:cNvPr id="882" name="Shape 73"/>
          <p:cNvSpPr/>
          <p:nvPr/>
        </p:nvSpPr>
        <p:spPr>
          <a:xfrm>
            <a:off x="502920" y="4133160"/>
            <a:ext cx="3840120" cy="27396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883" name="Text 74"/>
          <p:cNvSpPr/>
          <p:nvPr/>
        </p:nvSpPr>
        <p:spPr>
          <a:xfrm>
            <a:off x="530280" y="4206240"/>
            <a:ext cx="3785400" cy="209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680" spc="-1" strike="noStrike">
                <a:solidFill>
                  <a:srgbClr val="f8fafc"/>
                </a:solidFill>
                <a:latin typeface="Aptos"/>
                <a:ea typeface="Aptos"/>
              </a:rPr>
              <a:t>K_SH_POST</a:t>
            </a:r>
            <a:endParaRPr b="0" lang="en-GB" sz="680" spc="-1" strike="noStrike">
              <a:solidFill>
                <a:srgbClr val="ffffff"/>
              </a:solidFill>
              <a:latin typeface="Arial"/>
            </a:endParaRPr>
          </a:p>
        </p:txBody>
      </p:sp>
      <p:sp>
        <p:nvSpPr>
          <p:cNvPr id="884" name="Shape 75"/>
          <p:cNvSpPr/>
          <p:nvPr/>
        </p:nvSpPr>
        <p:spPr>
          <a:xfrm>
            <a:off x="4343400" y="4133160"/>
            <a:ext cx="1599840" cy="27396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885" name="Text 76"/>
          <p:cNvSpPr/>
          <p:nvPr/>
        </p:nvSpPr>
        <p:spPr>
          <a:xfrm>
            <a:off x="4370760" y="4206240"/>
            <a:ext cx="1545120" cy="209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80" spc="-1" strike="noStrike">
                <a:solidFill>
                  <a:srgbClr val="f8fafc"/>
                </a:solidFill>
                <a:latin typeface="Aptos"/>
                <a:ea typeface="Aptos"/>
              </a:rPr>
              <a:t>182.33</a:t>
            </a:r>
            <a:endParaRPr b="0" lang="en-GB" sz="680" spc="-1" strike="noStrike">
              <a:solidFill>
                <a:srgbClr val="ffffff"/>
              </a:solidFill>
              <a:latin typeface="Arial"/>
            </a:endParaRPr>
          </a:p>
        </p:txBody>
      </p:sp>
      <p:sp>
        <p:nvSpPr>
          <p:cNvPr id="886" name="Shape 77"/>
          <p:cNvSpPr/>
          <p:nvPr/>
        </p:nvSpPr>
        <p:spPr>
          <a:xfrm>
            <a:off x="502920" y="4407480"/>
            <a:ext cx="3840120" cy="27396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887" name="Text 78"/>
          <p:cNvSpPr/>
          <p:nvPr/>
        </p:nvSpPr>
        <p:spPr>
          <a:xfrm>
            <a:off x="530280" y="4480560"/>
            <a:ext cx="3785400" cy="209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680" spc="-1" strike="noStrike">
                <a:solidFill>
                  <a:srgbClr val="f8fafc"/>
                </a:solidFill>
                <a:latin typeface="Aptos"/>
                <a:ea typeface="Aptos"/>
              </a:rPr>
              <a:t>ritm_ecg_p_01</a:t>
            </a:r>
            <a:endParaRPr b="0" lang="en-GB" sz="680" spc="-1" strike="noStrike">
              <a:solidFill>
                <a:srgbClr val="ffffff"/>
              </a:solidFill>
              <a:latin typeface="Arial"/>
            </a:endParaRPr>
          </a:p>
        </p:txBody>
      </p:sp>
      <p:sp>
        <p:nvSpPr>
          <p:cNvPr id="888" name="Shape 79"/>
          <p:cNvSpPr/>
          <p:nvPr/>
        </p:nvSpPr>
        <p:spPr>
          <a:xfrm>
            <a:off x="4343400" y="4407480"/>
            <a:ext cx="1599840" cy="27396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889" name="Text 80"/>
          <p:cNvSpPr/>
          <p:nvPr/>
        </p:nvSpPr>
        <p:spPr>
          <a:xfrm>
            <a:off x="4370760" y="4480560"/>
            <a:ext cx="1545120" cy="209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80" spc="-1" strike="noStrike">
                <a:solidFill>
                  <a:srgbClr val="f8fafc"/>
                </a:solidFill>
                <a:latin typeface="Aptos"/>
                <a:ea typeface="Aptos"/>
              </a:rPr>
              <a:t>182.03</a:t>
            </a:r>
            <a:endParaRPr b="0" lang="en-GB" sz="680" spc="-1" strike="noStrike">
              <a:solidFill>
                <a:srgbClr val="ffffff"/>
              </a:solidFill>
              <a:latin typeface="Arial"/>
            </a:endParaRPr>
          </a:p>
        </p:txBody>
      </p:sp>
      <p:sp>
        <p:nvSpPr>
          <p:cNvPr id="890" name="Shape 81"/>
          <p:cNvSpPr/>
          <p:nvPr/>
        </p:nvSpPr>
        <p:spPr>
          <a:xfrm>
            <a:off x="502920" y="4681800"/>
            <a:ext cx="3840120" cy="27396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891" name="Text 82"/>
          <p:cNvSpPr/>
          <p:nvPr/>
        </p:nvSpPr>
        <p:spPr>
          <a:xfrm>
            <a:off x="530280" y="4754880"/>
            <a:ext cx="3785400" cy="209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680" spc="-1" strike="noStrike">
                <a:solidFill>
                  <a:srgbClr val="f8fafc"/>
                </a:solidFill>
                <a:latin typeface="Aptos"/>
                <a:ea typeface="Aptos"/>
              </a:rPr>
              <a:t>AGE</a:t>
            </a:r>
            <a:endParaRPr b="0" lang="en-GB" sz="680" spc="-1" strike="noStrike">
              <a:solidFill>
                <a:srgbClr val="ffffff"/>
              </a:solidFill>
              <a:latin typeface="Arial"/>
            </a:endParaRPr>
          </a:p>
        </p:txBody>
      </p:sp>
      <p:sp>
        <p:nvSpPr>
          <p:cNvPr id="892" name="Shape 83"/>
          <p:cNvSpPr/>
          <p:nvPr/>
        </p:nvSpPr>
        <p:spPr>
          <a:xfrm>
            <a:off x="4343400" y="4681800"/>
            <a:ext cx="1599840" cy="27396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893" name="Text 84"/>
          <p:cNvSpPr/>
          <p:nvPr/>
        </p:nvSpPr>
        <p:spPr>
          <a:xfrm>
            <a:off x="4370760" y="4754880"/>
            <a:ext cx="1545120" cy="209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80" spc="-1" strike="noStrike">
                <a:solidFill>
                  <a:srgbClr val="f8fafc"/>
                </a:solidFill>
                <a:latin typeface="Aptos"/>
                <a:ea typeface="Aptos"/>
              </a:rPr>
              <a:t>181.35</a:t>
            </a:r>
            <a:endParaRPr b="0" lang="en-GB" sz="680" spc="-1" strike="noStrike">
              <a:solidFill>
                <a:srgbClr val="ffffff"/>
              </a:solidFill>
              <a:latin typeface="Arial"/>
            </a:endParaRPr>
          </a:p>
        </p:txBody>
      </p:sp>
      <p:sp>
        <p:nvSpPr>
          <p:cNvPr id="894" name="Shape 85"/>
          <p:cNvSpPr/>
          <p:nvPr/>
        </p:nvSpPr>
        <p:spPr>
          <a:xfrm>
            <a:off x="502920" y="4956120"/>
            <a:ext cx="3840120" cy="27396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895" name="Text 86"/>
          <p:cNvSpPr/>
          <p:nvPr/>
        </p:nvSpPr>
        <p:spPr>
          <a:xfrm>
            <a:off x="530280" y="5029200"/>
            <a:ext cx="3785400" cy="209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680" spc="-1" strike="noStrike">
                <a:solidFill>
                  <a:srgbClr val="f8fafc"/>
                </a:solidFill>
                <a:latin typeface="Aptos"/>
                <a:ea typeface="Aptos"/>
              </a:rPr>
              <a:t>D_AD_ORIT</a:t>
            </a:r>
            <a:endParaRPr b="0" lang="en-GB" sz="680" spc="-1" strike="noStrike">
              <a:solidFill>
                <a:srgbClr val="ffffff"/>
              </a:solidFill>
              <a:latin typeface="Arial"/>
            </a:endParaRPr>
          </a:p>
        </p:txBody>
      </p:sp>
      <p:sp>
        <p:nvSpPr>
          <p:cNvPr id="896" name="Shape 87"/>
          <p:cNvSpPr/>
          <p:nvPr/>
        </p:nvSpPr>
        <p:spPr>
          <a:xfrm>
            <a:off x="4343400" y="4956120"/>
            <a:ext cx="1599840" cy="27396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897" name="Text 88"/>
          <p:cNvSpPr/>
          <p:nvPr/>
        </p:nvSpPr>
        <p:spPr>
          <a:xfrm>
            <a:off x="4370760" y="5029200"/>
            <a:ext cx="1545120" cy="209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80" spc="-1" strike="noStrike">
                <a:solidFill>
                  <a:srgbClr val="f8fafc"/>
                </a:solidFill>
                <a:latin typeface="Aptos"/>
                <a:ea typeface="Aptos"/>
              </a:rPr>
              <a:t>174.07</a:t>
            </a:r>
            <a:endParaRPr b="0" lang="en-GB" sz="680" spc="-1" strike="noStrike">
              <a:solidFill>
                <a:srgbClr val="ffffff"/>
              </a:solidFill>
              <a:latin typeface="Arial"/>
            </a:endParaRPr>
          </a:p>
        </p:txBody>
      </p:sp>
      <p:sp>
        <p:nvSpPr>
          <p:cNvPr id="898" name="Shape 89"/>
          <p:cNvSpPr/>
          <p:nvPr/>
        </p:nvSpPr>
        <p:spPr>
          <a:xfrm>
            <a:off x="502920" y="5230440"/>
            <a:ext cx="3840120" cy="27396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899" name="Text 90"/>
          <p:cNvSpPr/>
          <p:nvPr/>
        </p:nvSpPr>
        <p:spPr>
          <a:xfrm>
            <a:off x="530280" y="5303520"/>
            <a:ext cx="3785400" cy="209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680" spc="-1" strike="noStrike">
                <a:solidFill>
                  <a:srgbClr val="f8fafc"/>
                </a:solidFill>
                <a:latin typeface="Aptos"/>
                <a:ea typeface="Aptos"/>
              </a:rPr>
              <a:t>S_AD_ORIT</a:t>
            </a:r>
            <a:endParaRPr b="0" lang="en-GB" sz="680" spc="-1" strike="noStrike">
              <a:solidFill>
                <a:srgbClr val="ffffff"/>
              </a:solidFill>
              <a:latin typeface="Arial"/>
            </a:endParaRPr>
          </a:p>
        </p:txBody>
      </p:sp>
      <p:sp>
        <p:nvSpPr>
          <p:cNvPr id="900" name="Shape 91"/>
          <p:cNvSpPr/>
          <p:nvPr/>
        </p:nvSpPr>
        <p:spPr>
          <a:xfrm>
            <a:off x="4343400" y="5230440"/>
            <a:ext cx="1599840" cy="27396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901" name="Text 92"/>
          <p:cNvSpPr/>
          <p:nvPr/>
        </p:nvSpPr>
        <p:spPr>
          <a:xfrm>
            <a:off x="4370760" y="5303520"/>
            <a:ext cx="1545120" cy="209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80" spc="-1" strike="noStrike">
                <a:solidFill>
                  <a:srgbClr val="f8fafc"/>
                </a:solidFill>
                <a:latin typeface="Aptos"/>
                <a:ea typeface="Aptos"/>
              </a:rPr>
              <a:t>167.17</a:t>
            </a:r>
            <a:endParaRPr b="0" lang="en-GB" sz="680" spc="-1" strike="noStrike">
              <a:solidFill>
                <a:srgbClr val="ffffff"/>
              </a:solidFill>
              <a:latin typeface="Arial"/>
            </a:endParaRPr>
          </a:p>
        </p:txBody>
      </p:sp>
      <p:sp>
        <p:nvSpPr>
          <p:cNvPr id="902" name="Shape 93"/>
          <p:cNvSpPr/>
          <p:nvPr/>
        </p:nvSpPr>
        <p:spPr>
          <a:xfrm>
            <a:off x="502920" y="5504760"/>
            <a:ext cx="3840120" cy="27396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903" name="Text 94"/>
          <p:cNvSpPr/>
          <p:nvPr/>
        </p:nvSpPr>
        <p:spPr>
          <a:xfrm>
            <a:off x="530280" y="5577840"/>
            <a:ext cx="3785400" cy="209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680" spc="-1" strike="noStrike">
                <a:solidFill>
                  <a:srgbClr val="f8fafc"/>
                </a:solidFill>
                <a:latin typeface="Aptos"/>
                <a:ea typeface="Aptos"/>
              </a:rPr>
              <a:t>TIME_B_S</a:t>
            </a:r>
            <a:endParaRPr b="0" lang="en-GB" sz="680" spc="-1" strike="noStrike">
              <a:solidFill>
                <a:srgbClr val="ffffff"/>
              </a:solidFill>
              <a:latin typeface="Arial"/>
            </a:endParaRPr>
          </a:p>
        </p:txBody>
      </p:sp>
      <p:sp>
        <p:nvSpPr>
          <p:cNvPr id="904" name="Shape 95"/>
          <p:cNvSpPr/>
          <p:nvPr/>
        </p:nvSpPr>
        <p:spPr>
          <a:xfrm>
            <a:off x="4343400" y="5504760"/>
            <a:ext cx="1599840" cy="27396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905" name="Text 96"/>
          <p:cNvSpPr/>
          <p:nvPr/>
        </p:nvSpPr>
        <p:spPr>
          <a:xfrm>
            <a:off x="4370760" y="5577840"/>
            <a:ext cx="1545120" cy="209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80" spc="-1" strike="noStrike">
                <a:solidFill>
                  <a:srgbClr val="f8fafc"/>
                </a:solidFill>
                <a:latin typeface="Aptos"/>
                <a:ea typeface="Aptos"/>
              </a:rPr>
              <a:t>162.01</a:t>
            </a:r>
            <a:endParaRPr b="0" lang="en-GB" sz="680" spc="-1" strike="noStrike">
              <a:solidFill>
                <a:srgbClr val="ffffff"/>
              </a:solidFill>
              <a:latin typeface="Arial"/>
            </a:endParaRPr>
          </a:p>
        </p:txBody>
      </p:sp>
      <p:sp>
        <p:nvSpPr>
          <p:cNvPr id="906" name="Shape 97"/>
          <p:cNvSpPr/>
          <p:nvPr/>
        </p:nvSpPr>
        <p:spPr>
          <a:xfrm>
            <a:off x="6263640" y="1572840"/>
            <a:ext cx="5166000" cy="4480200"/>
          </a:xfrm>
          <a:prstGeom prst="roundRect">
            <a:avLst>
              <a:gd name="adj" fmla="val 2449"/>
            </a:avLst>
          </a:prstGeom>
          <a:solidFill>
            <a:srgbClr val="ffffff">
              <a:alpha val="5000"/>
            </a:srgbClr>
          </a:solidFill>
          <a:ln w="10160">
            <a:solidFill>
              <a:srgbClr val="334155">
                <a:alpha val="65000"/>
              </a:srgbClr>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pic>
        <p:nvPicPr>
          <p:cNvPr id="907" name="Image 0" descr="/mnt/data/mi_ml_assets/selectkbest_features.png"/>
          <p:cNvPicPr/>
          <p:nvPr/>
        </p:nvPicPr>
        <p:blipFill>
          <a:blip r:embed="rId1"/>
          <a:stretch/>
        </p:blipFill>
        <p:spPr>
          <a:xfrm>
            <a:off x="6263640" y="2534760"/>
            <a:ext cx="5166000" cy="2556720"/>
          </a:xfrm>
          <a:prstGeom prst="rect">
            <a:avLst/>
          </a:prstGeom>
          <a:ln w="0">
            <a:noFill/>
          </a:ln>
          <a:effectLst>
            <a:outerShdw algn="bl" blurRad="25560" dir="2700000" dist="50402" kx="0" ky="0" rotWithShape="0" sx="100000" sy="100000">
              <a:srgbClr val="000000">
                <a:alpha val="25000"/>
              </a:srgbClr>
            </a:outerShdw>
          </a:effectLst>
        </p:spPr>
      </p:pic>
      <p:sp>
        <p:nvSpPr>
          <p:cNvPr id="908" name="Shape 98"/>
          <p:cNvSpPr/>
          <p:nvPr/>
        </p:nvSpPr>
        <p:spPr>
          <a:xfrm>
            <a:off x="502920" y="6555960"/>
            <a:ext cx="11201400" cy="360"/>
          </a:xfrm>
          <a:prstGeom prst="line">
            <a:avLst/>
          </a:prstGeom>
          <a:ln w="7620">
            <a:solidFill>
              <a:srgbClr val="334155">
                <a:alpha val="60000"/>
              </a:srgbClr>
            </a:solidFill>
            <a:round/>
          </a:ln>
        </p:spPr>
        <p:style>
          <a:lnRef idx="0"/>
          <a:fillRef idx="0"/>
          <a:effectRef idx="0"/>
          <a:fontRef idx="minor"/>
        </p:style>
        <p:txBody>
          <a:bodyPr lIns="90000" rIns="90000" tIns="-44640" bIns="-44640" anchor="t" anchorCtr="1">
            <a:noAutofit/>
          </a:bodyPr>
          <a:p>
            <a:endParaRPr b="0" lang="en-GB" sz="1800" spc="-1" strike="noStrike">
              <a:solidFill>
                <a:srgbClr val="ffffff"/>
              </a:solidFill>
              <a:latin typeface="Arial"/>
            </a:endParaRPr>
          </a:p>
        </p:txBody>
      </p:sp>
      <p:sp>
        <p:nvSpPr>
          <p:cNvPr id="909" name="Text 99"/>
          <p:cNvSpPr/>
          <p:nvPr/>
        </p:nvSpPr>
        <p:spPr>
          <a:xfrm>
            <a:off x="530280" y="6602040"/>
            <a:ext cx="6217560" cy="145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650" spc="-1" strike="noStrike">
                <a:solidFill>
                  <a:srgbClr val="94a3b8"/>
                </a:solidFill>
                <a:latin typeface="Aptos"/>
                <a:ea typeface="Aptos"/>
              </a:rPr>
              <a:t>Clinical Outcome Prediction • Myocardial Infarction Complications</a:t>
            </a:r>
            <a:endParaRPr b="0" lang="en-GB" sz="650" spc="-1" strike="noStrike">
              <a:solidFill>
                <a:srgbClr val="ffffff"/>
              </a:solidFill>
              <a:latin typeface="Arial"/>
            </a:endParaRPr>
          </a:p>
        </p:txBody>
      </p:sp>
      <p:sp>
        <p:nvSpPr>
          <p:cNvPr id="910" name="Text 100"/>
          <p:cNvSpPr/>
          <p:nvPr/>
        </p:nvSpPr>
        <p:spPr>
          <a:xfrm>
            <a:off x="11201400" y="6565320"/>
            <a:ext cx="502560" cy="2282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750" spc="-1" strike="noStrike">
                <a:solidFill>
                  <a:srgbClr val="94a3b8"/>
                </a:solidFill>
                <a:latin typeface="Aptos"/>
                <a:ea typeface="Aptos"/>
              </a:rPr>
              <a:t>12</a:t>
            </a:r>
            <a:endParaRPr b="0" lang="en-GB" sz="7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01f"/>
        </a:solidFill>
      </p:bgPr>
    </p:bg>
    <p:spTree>
      <p:nvGrpSpPr>
        <p:cNvPr id="1" name=""/>
        <p:cNvGrpSpPr/>
        <p:nvPr/>
      </p:nvGrpSpPr>
      <p:grpSpPr>
        <a:xfrm>
          <a:off x="0" y="0"/>
          <a:ext cx="0" cy="0"/>
          <a:chOff x="0" y="0"/>
          <a:chExt cx="0" cy="0"/>
        </a:xfrm>
      </p:grpSpPr>
      <p:sp>
        <p:nvSpPr>
          <p:cNvPr id="911" name="Shape 0"/>
          <p:cNvSpPr/>
          <p:nvPr/>
        </p:nvSpPr>
        <p:spPr>
          <a:xfrm>
            <a:off x="0" y="0"/>
            <a:ext cx="12191400" cy="6857640"/>
          </a:xfrm>
          <a:prstGeom prst="rect">
            <a:avLst/>
          </a:prstGeom>
          <a:solidFill>
            <a:srgbClr val="06101f"/>
          </a:solidFill>
          <a:ln w="12700">
            <a:solidFill>
              <a:srgbClr val="06101f"/>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912" name="Shape 1"/>
          <p:cNvSpPr/>
          <p:nvPr/>
        </p:nvSpPr>
        <p:spPr>
          <a:xfrm>
            <a:off x="0" y="0"/>
            <a:ext cx="12191400" cy="6857640"/>
          </a:xfrm>
          <a:prstGeom prst="rect">
            <a:avLst/>
          </a:prstGeom>
          <a:solidFill>
            <a:srgbClr val="081629">
              <a:alpha val="85000"/>
            </a:srgbClr>
          </a:solidFill>
          <a:ln w="12700">
            <a:solidFill>
              <a:srgbClr val="081629">
                <a:alpha val="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913" name="Shape 2"/>
          <p:cNvSpPr/>
          <p:nvPr/>
        </p:nvSpPr>
        <p:spPr>
          <a:xfrm>
            <a:off x="-1554480" y="-1737360"/>
            <a:ext cx="5486040" cy="5486040"/>
          </a:xfrm>
          <a:prstGeom prst="arc">
            <a:avLst>
              <a:gd name="adj1" fmla="val 16200000"/>
              <a:gd name="adj2" fmla="val 0"/>
            </a:avLst>
          </a:prstGeom>
          <a:noFill/>
          <a:ln w="13970">
            <a:solidFill>
              <a:srgbClr val="14b8a6">
                <a:alpha val="3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914" name="Shape 3"/>
          <p:cNvSpPr/>
          <p:nvPr/>
        </p:nvSpPr>
        <p:spPr>
          <a:xfrm>
            <a:off x="7680960" y="3840480"/>
            <a:ext cx="5486040" cy="5486040"/>
          </a:xfrm>
          <a:prstGeom prst="arc">
            <a:avLst>
              <a:gd name="adj1" fmla="val 16200000"/>
              <a:gd name="adj2" fmla="val 0"/>
            </a:avLst>
          </a:prstGeom>
          <a:noFill/>
          <a:ln w="12700">
            <a:solidFill>
              <a:srgbClr val="f59e0b">
                <a:alpha val="22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915" name="Text 4"/>
          <p:cNvSpPr/>
          <p:nvPr/>
        </p:nvSpPr>
        <p:spPr>
          <a:xfrm>
            <a:off x="567000" y="347400"/>
            <a:ext cx="594324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50" spc="-1" strike="noStrike">
                <a:solidFill>
                  <a:srgbClr val="14b8a6"/>
                </a:solidFill>
                <a:latin typeface="Aptos"/>
                <a:ea typeface="Aptos"/>
              </a:rPr>
              <a:t>PHASE 5.1</a:t>
            </a:r>
            <a:endParaRPr b="0" lang="en-GB" sz="850" spc="-1" strike="noStrike">
              <a:solidFill>
                <a:srgbClr val="ffffff"/>
              </a:solidFill>
              <a:latin typeface="Arial"/>
            </a:endParaRPr>
          </a:p>
        </p:txBody>
      </p:sp>
      <p:sp>
        <p:nvSpPr>
          <p:cNvPr id="916" name="Text 5"/>
          <p:cNvSpPr/>
          <p:nvPr/>
        </p:nvSpPr>
        <p:spPr>
          <a:xfrm>
            <a:off x="548640" y="658440"/>
            <a:ext cx="10926720" cy="5940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400" spc="-1" strike="noStrike">
                <a:solidFill>
                  <a:srgbClr val="f8fafc"/>
                </a:solidFill>
                <a:latin typeface="Aptos Display"/>
                <a:ea typeface="Aptos Display"/>
              </a:rPr>
              <a:t>Final held-out test set results: standard condition</a:t>
            </a:r>
            <a:endParaRPr b="0" lang="en-GB" sz="2400" spc="-1" strike="noStrike">
              <a:solidFill>
                <a:srgbClr val="ffffff"/>
              </a:solidFill>
              <a:latin typeface="Arial"/>
            </a:endParaRPr>
          </a:p>
        </p:txBody>
      </p:sp>
      <p:sp>
        <p:nvSpPr>
          <p:cNvPr id="917" name="Text 6"/>
          <p:cNvSpPr/>
          <p:nvPr/>
        </p:nvSpPr>
        <p:spPr>
          <a:xfrm>
            <a:off x="567000" y="1216080"/>
            <a:ext cx="1051524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50" spc="-1" strike="noStrike">
                <a:solidFill>
                  <a:srgbClr val="94a3b8"/>
                </a:solidFill>
                <a:latin typeface="Aptos"/>
                <a:ea typeface="Aptos"/>
              </a:rPr>
              <a:t>The test set was locked until final reporting to avoid optimistic bias.</a:t>
            </a:r>
            <a:endParaRPr b="0" lang="en-GB" sz="1050" spc="-1" strike="noStrike">
              <a:solidFill>
                <a:srgbClr val="ffffff"/>
              </a:solidFill>
              <a:latin typeface="Arial"/>
            </a:endParaRPr>
          </a:p>
        </p:txBody>
      </p:sp>
      <p:sp>
        <p:nvSpPr>
          <p:cNvPr id="918" name="Shape 7"/>
          <p:cNvSpPr/>
          <p:nvPr/>
        </p:nvSpPr>
        <p:spPr>
          <a:xfrm>
            <a:off x="347400" y="1417320"/>
            <a:ext cx="7634880" cy="3081240"/>
          </a:xfrm>
          <a:prstGeom prst="roundRect">
            <a:avLst>
              <a:gd name="adj" fmla="val 2374"/>
            </a:avLst>
          </a:prstGeom>
          <a:solidFill>
            <a:srgbClr val="0b1a2e"/>
          </a:solidFill>
          <a:ln w="1016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919" name="Shape 8"/>
          <p:cNvSpPr/>
          <p:nvPr/>
        </p:nvSpPr>
        <p:spPr>
          <a:xfrm>
            <a:off x="347400" y="1417320"/>
            <a:ext cx="1965600" cy="292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920" name="Text 9"/>
          <p:cNvSpPr/>
          <p:nvPr/>
        </p:nvSpPr>
        <p:spPr>
          <a:xfrm>
            <a:off x="374760" y="1490400"/>
            <a:ext cx="191088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640" spc="-1" strike="noStrike">
                <a:solidFill>
                  <a:srgbClr val="f8fafc"/>
                </a:solidFill>
                <a:latin typeface="Aptos"/>
                <a:ea typeface="Aptos"/>
              </a:rPr>
              <a:t>Model</a:t>
            </a:r>
            <a:endParaRPr b="0" lang="en-GB" sz="640" spc="-1" strike="noStrike">
              <a:solidFill>
                <a:srgbClr val="ffffff"/>
              </a:solidFill>
              <a:latin typeface="Arial"/>
            </a:endParaRPr>
          </a:p>
        </p:txBody>
      </p:sp>
      <p:sp>
        <p:nvSpPr>
          <p:cNvPr id="921" name="Shape 10"/>
          <p:cNvSpPr/>
          <p:nvPr/>
        </p:nvSpPr>
        <p:spPr>
          <a:xfrm>
            <a:off x="2313360" y="1417320"/>
            <a:ext cx="959760" cy="292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922" name="Text 11"/>
          <p:cNvSpPr/>
          <p:nvPr/>
        </p:nvSpPr>
        <p:spPr>
          <a:xfrm>
            <a:off x="2340720" y="1490400"/>
            <a:ext cx="90504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640" spc="-1" strike="noStrike">
                <a:solidFill>
                  <a:srgbClr val="f8fafc"/>
                </a:solidFill>
                <a:latin typeface="Aptos"/>
                <a:ea typeface="Aptos"/>
              </a:rPr>
              <a:t>Accuracy</a:t>
            </a:r>
            <a:endParaRPr b="0" lang="en-GB" sz="640" spc="-1" strike="noStrike">
              <a:solidFill>
                <a:srgbClr val="ffffff"/>
              </a:solidFill>
              <a:latin typeface="Arial"/>
            </a:endParaRPr>
          </a:p>
        </p:txBody>
      </p:sp>
      <p:sp>
        <p:nvSpPr>
          <p:cNvPr id="923" name="Shape 12"/>
          <p:cNvSpPr/>
          <p:nvPr/>
        </p:nvSpPr>
        <p:spPr>
          <a:xfrm>
            <a:off x="3273480" y="1417320"/>
            <a:ext cx="1005480" cy="292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924" name="Text 13"/>
          <p:cNvSpPr/>
          <p:nvPr/>
        </p:nvSpPr>
        <p:spPr>
          <a:xfrm>
            <a:off x="3300840" y="1490400"/>
            <a:ext cx="95076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640" spc="-1" strike="noStrike">
                <a:solidFill>
                  <a:srgbClr val="f8fafc"/>
                </a:solidFill>
                <a:latin typeface="Aptos"/>
                <a:ea typeface="Aptos"/>
              </a:rPr>
              <a:t>Precision</a:t>
            </a:r>
            <a:endParaRPr b="0" lang="en-GB" sz="640" spc="-1" strike="noStrike">
              <a:solidFill>
                <a:srgbClr val="ffffff"/>
              </a:solidFill>
              <a:latin typeface="Arial"/>
            </a:endParaRPr>
          </a:p>
        </p:txBody>
      </p:sp>
      <p:sp>
        <p:nvSpPr>
          <p:cNvPr id="925" name="Shape 14"/>
          <p:cNvSpPr/>
          <p:nvPr/>
        </p:nvSpPr>
        <p:spPr>
          <a:xfrm>
            <a:off x="4279320" y="1417320"/>
            <a:ext cx="914040" cy="292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926" name="Text 15"/>
          <p:cNvSpPr/>
          <p:nvPr/>
        </p:nvSpPr>
        <p:spPr>
          <a:xfrm>
            <a:off x="4306680" y="1490400"/>
            <a:ext cx="85932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640" spc="-1" strike="noStrike">
                <a:solidFill>
                  <a:srgbClr val="f8fafc"/>
                </a:solidFill>
                <a:latin typeface="Aptos"/>
                <a:ea typeface="Aptos"/>
              </a:rPr>
              <a:t>Recall</a:t>
            </a:r>
            <a:endParaRPr b="0" lang="en-GB" sz="640" spc="-1" strike="noStrike">
              <a:solidFill>
                <a:srgbClr val="ffffff"/>
              </a:solidFill>
              <a:latin typeface="Arial"/>
            </a:endParaRPr>
          </a:p>
        </p:txBody>
      </p:sp>
      <p:sp>
        <p:nvSpPr>
          <p:cNvPr id="927" name="Shape 16"/>
          <p:cNvSpPr/>
          <p:nvPr/>
        </p:nvSpPr>
        <p:spPr>
          <a:xfrm>
            <a:off x="5193720" y="1417320"/>
            <a:ext cx="822600" cy="292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928" name="Text 17"/>
          <p:cNvSpPr/>
          <p:nvPr/>
        </p:nvSpPr>
        <p:spPr>
          <a:xfrm>
            <a:off x="5221080" y="1490400"/>
            <a:ext cx="76788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640" spc="-1" strike="noStrike">
                <a:solidFill>
                  <a:srgbClr val="f8fafc"/>
                </a:solidFill>
                <a:latin typeface="Aptos"/>
                <a:ea typeface="Aptos"/>
              </a:rPr>
              <a:t>F1</a:t>
            </a:r>
            <a:endParaRPr b="0" lang="en-GB" sz="640" spc="-1" strike="noStrike">
              <a:solidFill>
                <a:srgbClr val="ffffff"/>
              </a:solidFill>
              <a:latin typeface="Arial"/>
            </a:endParaRPr>
          </a:p>
        </p:txBody>
      </p:sp>
      <p:sp>
        <p:nvSpPr>
          <p:cNvPr id="929" name="Shape 18"/>
          <p:cNvSpPr/>
          <p:nvPr/>
        </p:nvSpPr>
        <p:spPr>
          <a:xfrm>
            <a:off x="6016680" y="1417320"/>
            <a:ext cx="1051200" cy="292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930" name="Text 19"/>
          <p:cNvSpPr/>
          <p:nvPr/>
        </p:nvSpPr>
        <p:spPr>
          <a:xfrm>
            <a:off x="6044040" y="1490400"/>
            <a:ext cx="99648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640" spc="-1" strike="noStrike">
                <a:solidFill>
                  <a:srgbClr val="f8fafc"/>
                </a:solidFill>
                <a:latin typeface="Aptos"/>
                <a:ea typeface="Aptos"/>
              </a:rPr>
              <a:t>ROC-AUC</a:t>
            </a:r>
            <a:endParaRPr b="0" lang="en-GB" sz="640" spc="-1" strike="noStrike">
              <a:solidFill>
                <a:srgbClr val="ffffff"/>
              </a:solidFill>
              <a:latin typeface="Arial"/>
            </a:endParaRPr>
          </a:p>
        </p:txBody>
      </p:sp>
      <p:sp>
        <p:nvSpPr>
          <p:cNvPr id="931" name="Shape 20"/>
          <p:cNvSpPr/>
          <p:nvPr/>
        </p:nvSpPr>
        <p:spPr>
          <a:xfrm>
            <a:off x="347400" y="1710000"/>
            <a:ext cx="1965600" cy="27396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932" name="Text 21"/>
          <p:cNvSpPr/>
          <p:nvPr/>
        </p:nvSpPr>
        <p:spPr>
          <a:xfrm>
            <a:off x="374760" y="1783080"/>
            <a:ext cx="1910880" cy="209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640" spc="-1" strike="noStrike">
                <a:solidFill>
                  <a:srgbClr val="f8fafc"/>
                </a:solidFill>
                <a:latin typeface="Aptos"/>
                <a:ea typeface="Aptos"/>
              </a:rPr>
              <a:t>Baseline LR</a:t>
            </a:r>
            <a:endParaRPr b="0" lang="en-GB" sz="640" spc="-1" strike="noStrike">
              <a:solidFill>
                <a:srgbClr val="ffffff"/>
              </a:solidFill>
              <a:latin typeface="Arial"/>
            </a:endParaRPr>
          </a:p>
        </p:txBody>
      </p:sp>
      <p:sp>
        <p:nvSpPr>
          <p:cNvPr id="933" name="Shape 22"/>
          <p:cNvSpPr/>
          <p:nvPr/>
        </p:nvSpPr>
        <p:spPr>
          <a:xfrm>
            <a:off x="2313360" y="1710000"/>
            <a:ext cx="959760" cy="27396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934" name="Text 23"/>
          <p:cNvSpPr/>
          <p:nvPr/>
        </p:nvSpPr>
        <p:spPr>
          <a:xfrm>
            <a:off x="2340720" y="1783080"/>
            <a:ext cx="905040" cy="209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40" spc="-1" strike="noStrike">
                <a:solidFill>
                  <a:srgbClr val="f8fafc"/>
                </a:solidFill>
                <a:latin typeface="Aptos"/>
                <a:ea typeface="Aptos"/>
              </a:rPr>
              <a:t>0.8314</a:t>
            </a:r>
            <a:endParaRPr b="0" lang="en-GB" sz="640" spc="-1" strike="noStrike">
              <a:solidFill>
                <a:srgbClr val="ffffff"/>
              </a:solidFill>
              <a:latin typeface="Arial"/>
            </a:endParaRPr>
          </a:p>
        </p:txBody>
      </p:sp>
      <p:sp>
        <p:nvSpPr>
          <p:cNvPr id="935" name="Shape 24"/>
          <p:cNvSpPr/>
          <p:nvPr/>
        </p:nvSpPr>
        <p:spPr>
          <a:xfrm>
            <a:off x="3273480" y="1710000"/>
            <a:ext cx="1005480" cy="27396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936" name="Text 25"/>
          <p:cNvSpPr/>
          <p:nvPr/>
        </p:nvSpPr>
        <p:spPr>
          <a:xfrm>
            <a:off x="3300840" y="1783080"/>
            <a:ext cx="950760" cy="209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40" spc="-1" strike="noStrike">
                <a:solidFill>
                  <a:srgbClr val="f8fafc"/>
                </a:solidFill>
                <a:latin typeface="Aptos"/>
                <a:ea typeface="Aptos"/>
              </a:rPr>
              <a:t>0.4643</a:t>
            </a:r>
            <a:endParaRPr b="0" lang="en-GB" sz="640" spc="-1" strike="noStrike">
              <a:solidFill>
                <a:srgbClr val="ffffff"/>
              </a:solidFill>
              <a:latin typeface="Arial"/>
            </a:endParaRPr>
          </a:p>
        </p:txBody>
      </p:sp>
      <p:sp>
        <p:nvSpPr>
          <p:cNvPr id="937" name="Shape 26"/>
          <p:cNvSpPr/>
          <p:nvPr/>
        </p:nvSpPr>
        <p:spPr>
          <a:xfrm>
            <a:off x="4279320" y="1710000"/>
            <a:ext cx="914040" cy="27396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938" name="Text 27"/>
          <p:cNvSpPr/>
          <p:nvPr/>
        </p:nvSpPr>
        <p:spPr>
          <a:xfrm>
            <a:off x="4306680" y="1783080"/>
            <a:ext cx="859320" cy="209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40" spc="-1" strike="noStrike">
                <a:solidFill>
                  <a:srgbClr val="f8fafc"/>
                </a:solidFill>
                <a:latin typeface="Aptos"/>
                <a:ea typeface="Aptos"/>
              </a:rPr>
              <a:t>0.3171</a:t>
            </a:r>
            <a:endParaRPr b="0" lang="en-GB" sz="640" spc="-1" strike="noStrike">
              <a:solidFill>
                <a:srgbClr val="ffffff"/>
              </a:solidFill>
              <a:latin typeface="Arial"/>
            </a:endParaRPr>
          </a:p>
        </p:txBody>
      </p:sp>
      <p:sp>
        <p:nvSpPr>
          <p:cNvPr id="939" name="Shape 28"/>
          <p:cNvSpPr/>
          <p:nvPr/>
        </p:nvSpPr>
        <p:spPr>
          <a:xfrm>
            <a:off x="5193720" y="1710000"/>
            <a:ext cx="822600" cy="27396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940" name="Text 29"/>
          <p:cNvSpPr/>
          <p:nvPr/>
        </p:nvSpPr>
        <p:spPr>
          <a:xfrm>
            <a:off x="5221080" y="1783080"/>
            <a:ext cx="767880" cy="209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40" spc="-1" strike="noStrike">
                <a:solidFill>
                  <a:srgbClr val="f8fafc"/>
                </a:solidFill>
                <a:latin typeface="Aptos"/>
                <a:ea typeface="Aptos"/>
              </a:rPr>
              <a:t>0.3768</a:t>
            </a:r>
            <a:endParaRPr b="0" lang="en-GB" sz="640" spc="-1" strike="noStrike">
              <a:solidFill>
                <a:srgbClr val="ffffff"/>
              </a:solidFill>
              <a:latin typeface="Arial"/>
            </a:endParaRPr>
          </a:p>
        </p:txBody>
      </p:sp>
      <p:sp>
        <p:nvSpPr>
          <p:cNvPr id="941" name="Shape 30"/>
          <p:cNvSpPr/>
          <p:nvPr/>
        </p:nvSpPr>
        <p:spPr>
          <a:xfrm>
            <a:off x="6016680" y="1710000"/>
            <a:ext cx="1051200" cy="27396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942" name="Text 31"/>
          <p:cNvSpPr/>
          <p:nvPr/>
        </p:nvSpPr>
        <p:spPr>
          <a:xfrm>
            <a:off x="6044040" y="1783080"/>
            <a:ext cx="996480" cy="209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40" spc="-1" strike="noStrike">
                <a:solidFill>
                  <a:srgbClr val="f8fafc"/>
                </a:solidFill>
                <a:latin typeface="Aptos"/>
                <a:ea typeface="Aptos"/>
              </a:rPr>
              <a:t>0.8043</a:t>
            </a:r>
            <a:endParaRPr b="0" lang="en-GB" sz="640" spc="-1" strike="noStrike">
              <a:solidFill>
                <a:srgbClr val="ffffff"/>
              </a:solidFill>
              <a:latin typeface="Arial"/>
            </a:endParaRPr>
          </a:p>
        </p:txBody>
      </p:sp>
      <p:sp>
        <p:nvSpPr>
          <p:cNvPr id="943" name="Shape 32"/>
          <p:cNvSpPr/>
          <p:nvPr/>
        </p:nvSpPr>
        <p:spPr>
          <a:xfrm>
            <a:off x="347400" y="1984320"/>
            <a:ext cx="1965600" cy="27396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944" name="Text 33"/>
          <p:cNvSpPr/>
          <p:nvPr/>
        </p:nvSpPr>
        <p:spPr>
          <a:xfrm>
            <a:off x="374760" y="2057400"/>
            <a:ext cx="1910880" cy="209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640" spc="-1" strike="noStrike">
                <a:solidFill>
                  <a:srgbClr val="f8fafc"/>
                </a:solidFill>
                <a:latin typeface="Aptos"/>
                <a:ea typeface="Aptos"/>
              </a:rPr>
              <a:t>Baseline RF</a:t>
            </a:r>
            <a:endParaRPr b="0" lang="en-GB" sz="640" spc="-1" strike="noStrike">
              <a:solidFill>
                <a:srgbClr val="ffffff"/>
              </a:solidFill>
              <a:latin typeface="Arial"/>
            </a:endParaRPr>
          </a:p>
        </p:txBody>
      </p:sp>
      <p:sp>
        <p:nvSpPr>
          <p:cNvPr id="945" name="Shape 34"/>
          <p:cNvSpPr/>
          <p:nvPr/>
        </p:nvSpPr>
        <p:spPr>
          <a:xfrm>
            <a:off x="2313360" y="1984320"/>
            <a:ext cx="959760" cy="27396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946" name="Text 35"/>
          <p:cNvSpPr/>
          <p:nvPr/>
        </p:nvSpPr>
        <p:spPr>
          <a:xfrm>
            <a:off x="2340720" y="2057400"/>
            <a:ext cx="905040" cy="209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40" spc="-1" strike="noStrike">
                <a:solidFill>
                  <a:srgbClr val="f8fafc"/>
                </a:solidFill>
                <a:latin typeface="Aptos"/>
                <a:ea typeface="Aptos"/>
              </a:rPr>
              <a:t>0.8627</a:t>
            </a:r>
            <a:endParaRPr b="0" lang="en-GB" sz="640" spc="-1" strike="noStrike">
              <a:solidFill>
                <a:srgbClr val="ffffff"/>
              </a:solidFill>
              <a:latin typeface="Arial"/>
            </a:endParaRPr>
          </a:p>
        </p:txBody>
      </p:sp>
      <p:sp>
        <p:nvSpPr>
          <p:cNvPr id="947" name="Shape 36"/>
          <p:cNvSpPr/>
          <p:nvPr/>
        </p:nvSpPr>
        <p:spPr>
          <a:xfrm>
            <a:off x="3273480" y="1984320"/>
            <a:ext cx="1005480" cy="27396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948" name="Text 37"/>
          <p:cNvSpPr/>
          <p:nvPr/>
        </p:nvSpPr>
        <p:spPr>
          <a:xfrm>
            <a:off x="3300840" y="2057400"/>
            <a:ext cx="950760" cy="209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40" spc="-1" strike="noStrike">
                <a:solidFill>
                  <a:srgbClr val="f8fafc"/>
                </a:solidFill>
                <a:latin typeface="Aptos"/>
                <a:ea typeface="Aptos"/>
              </a:rPr>
              <a:t>0.8000</a:t>
            </a:r>
            <a:endParaRPr b="0" lang="en-GB" sz="640" spc="-1" strike="noStrike">
              <a:solidFill>
                <a:srgbClr val="ffffff"/>
              </a:solidFill>
              <a:latin typeface="Arial"/>
            </a:endParaRPr>
          </a:p>
        </p:txBody>
      </p:sp>
      <p:sp>
        <p:nvSpPr>
          <p:cNvPr id="949" name="Shape 38"/>
          <p:cNvSpPr/>
          <p:nvPr/>
        </p:nvSpPr>
        <p:spPr>
          <a:xfrm>
            <a:off x="4279320" y="1984320"/>
            <a:ext cx="914040" cy="27396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950" name="Text 39"/>
          <p:cNvSpPr/>
          <p:nvPr/>
        </p:nvSpPr>
        <p:spPr>
          <a:xfrm>
            <a:off x="4306680" y="2057400"/>
            <a:ext cx="859320" cy="209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40" spc="-1" strike="noStrike">
                <a:solidFill>
                  <a:srgbClr val="f8fafc"/>
                </a:solidFill>
                <a:latin typeface="Aptos"/>
                <a:ea typeface="Aptos"/>
              </a:rPr>
              <a:t>0.1951</a:t>
            </a:r>
            <a:endParaRPr b="0" lang="en-GB" sz="640" spc="-1" strike="noStrike">
              <a:solidFill>
                <a:srgbClr val="ffffff"/>
              </a:solidFill>
              <a:latin typeface="Arial"/>
            </a:endParaRPr>
          </a:p>
        </p:txBody>
      </p:sp>
      <p:sp>
        <p:nvSpPr>
          <p:cNvPr id="951" name="Shape 40"/>
          <p:cNvSpPr/>
          <p:nvPr/>
        </p:nvSpPr>
        <p:spPr>
          <a:xfrm>
            <a:off x="5193720" y="1984320"/>
            <a:ext cx="822600" cy="27396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952" name="Text 41"/>
          <p:cNvSpPr/>
          <p:nvPr/>
        </p:nvSpPr>
        <p:spPr>
          <a:xfrm>
            <a:off x="5221080" y="2057400"/>
            <a:ext cx="767880" cy="209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40" spc="-1" strike="noStrike">
                <a:solidFill>
                  <a:srgbClr val="f8fafc"/>
                </a:solidFill>
                <a:latin typeface="Aptos"/>
                <a:ea typeface="Aptos"/>
              </a:rPr>
              <a:t>0.3137</a:t>
            </a:r>
            <a:endParaRPr b="0" lang="en-GB" sz="640" spc="-1" strike="noStrike">
              <a:solidFill>
                <a:srgbClr val="ffffff"/>
              </a:solidFill>
              <a:latin typeface="Arial"/>
            </a:endParaRPr>
          </a:p>
        </p:txBody>
      </p:sp>
      <p:sp>
        <p:nvSpPr>
          <p:cNvPr id="953" name="Shape 42"/>
          <p:cNvSpPr/>
          <p:nvPr/>
        </p:nvSpPr>
        <p:spPr>
          <a:xfrm>
            <a:off x="6016680" y="1984320"/>
            <a:ext cx="1051200" cy="27396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954" name="Text 43"/>
          <p:cNvSpPr/>
          <p:nvPr/>
        </p:nvSpPr>
        <p:spPr>
          <a:xfrm>
            <a:off x="6044040" y="2057400"/>
            <a:ext cx="996480" cy="209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40" spc="-1" strike="noStrike">
                <a:solidFill>
                  <a:srgbClr val="f8fafc"/>
                </a:solidFill>
                <a:latin typeface="Aptos"/>
                <a:ea typeface="Aptos"/>
              </a:rPr>
              <a:t>0.8576</a:t>
            </a:r>
            <a:endParaRPr b="0" lang="en-GB" sz="640" spc="-1" strike="noStrike">
              <a:solidFill>
                <a:srgbClr val="ffffff"/>
              </a:solidFill>
              <a:latin typeface="Arial"/>
            </a:endParaRPr>
          </a:p>
        </p:txBody>
      </p:sp>
      <p:sp>
        <p:nvSpPr>
          <p:cNvPr id="955" name="Shape 44"/>
          <p:cNvSpPr/>
          <p:nvPr/>
        </p:nvSpPr>
        <p:spPr>
          <a:xfrm>
            <a:off x="347400" y="2258640"/>
            <a:ext cx="1965600" cy="27396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956" name="Text 45"/>
          <p:cNvSpPr/>
          <p:nvPr/>
        </p:nvSpPr>
        <p:spPr>
          <a:xfrm>
            <a:off x="374760" y="2331720"/>
            <a:ext cx="1910880" cy="209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640" spc="-1" strike="noStrike">
                <a:solidFill>
                  <a:srgbClr val="f8fafc"/>
                </a:solidFill>
                <a:latin typeface="Aptos"/>
                <a:ea typeface="Aptos"/>
              </a:rPr>
              <a:t>Tuned LR</a:t>
            </a:r>
            <a:endParaRPr b="0" lang="en-GB" sz="640" spc="-1" strike="noStrike">
              <a:solidFill>
                <a:srgbClr val="ffffff"/>
              </a:solidFill>
              <a:latin typeface="Arial"/>
            </a:endParaRPr>
          </a:p>
        </p:txBody>
      </p:sp>
      <p:sp>
        <p:nvSpPr>
          <p:cNvPr id="957" name="Shape 46"/>
          <p:cNvSpPr/>
          <p:nvPr/>
        </p:nvSpPr>
        <p:spPr>
          <a:xfrm>
            <a:off x="2313360" y="2258640"/>
            <a:ext cx="959760" cy="27396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958" name="Text 47"/>
          <p:cNvSpPr/>
          <p:nvPr/>
        </p:nvSpPr>
        <p:spPr>
          <a:xfrm>
            <a:off x="2340720" y="2331720"/>
            <a:ext cx="905040" cy="209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640" spc="-1" strike="noStrike">
                <a:solidFill>
                  <a:srgbClr val="f8fafc"/>
                </a:solidFill>
                <a:latin typeface="Aptos"/>
                <a:ea typeface="Aptos"/>
              </a:rPr>
              <a:t>0.7608</a:t>
            </a:r>
            <a:endParaRPr b="0" lang="en-GB" sz="640" spc="-1" strike="noStrike">
              <a:solidFill>
                <a:srgbClr val="ffffff"/>
              </a:solidFill>
              <a:latin typeface="Arial"/>
            </a:endParaRPr>
          </a:p>
        </p:txBody>
      </p:sp>
      <p:sp>
        <p:nvSpPr>
          <p:cNvPr id="959" name="Shape 48"/>
          <p:cNvSpPr/>
          <p:nvPr/>
        </p:nvSpPr>
        <p:spPr>
          <a:xfrm>
            <a:off x="3273480" y="2258640"/>
            <a:ext cx="1005480" cy="27396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960" name="Text 49"/>
          <p:cNvSpPr/>
          <p:nvPr/>
        </p:nvSpPr>
        <p:spPr>
          <a:xfrm>
            <a:off x="3300840" y="2331720"/>
            <a:ext cx="950760" cy="209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640" spc="-1" strike="noStrike">
                <a:solidFill>
                  <a:srgbClr val="f8fafc"/>
                </a:solidFill>
                <a:latin typeface="Aptos"/>
                <a:ea typeface="Aptos"/>
              </a:rPr>
              <a:t>0.3611</a:t>
            </a:r>
            <a:endParaRPr b="0" lang="en-GB" sz="640" spc="-1" strike="noStrike">
              <a:solidFill>
                <a:srgbClr val="ffffff"/>
              </a:solidFill>
              <a:latin typeface="Arial"/>
            </a:endParaRPr>
          </a:p>
        </p:txBody>
      </p:sp>
      <p:sp>
        <p:nvSpPr>
          <p:cNvPr id="961" name="Shape 50"/>
          <p:cNvSpPr/>
          <p:nvPr/>
        </p:nvSpPr>
        <p:spPr>
          <a:xfrm>
            <a:off x="4279320" y="2258640"/>
            <a:ext cx="914040" cy="27396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962" name="Text 51"/>
          <p:cNvSpPr/>
          <p:nvPr/>
        </p:nvSpPr>
        <p:spPr>
          <a:xfrm>
            <a:off x="4306680" y="2331720"/>
            <a:ext cx="859320" cy="209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640" spc="-1" strike="noStrike">
                <a:solidFill>
                  <a:srgbClr val="f8fafc"/>
                </a:solidFill>
                <a:latin typeface="Aptos"/>
                <a:ea typeface="Aptos"/>
              </a:rPr>
              <a:t>0.6341</a:t>
            </a:r>
            <a:endParaRPr b="0" lang="en-GB" sz="640" spc="-1" strike="noStrike">
              <a:solidFill>
                <a:srgbClr val="ffffff"/>
              </a:solidFill>
              <a:latin typeface="Arial"/>
            </a:endParaRPr>
          </a:p>
        </p:txBody>
      </p:sp>
      <p:sp>
        <p:nvSpPr>
          <p:cNvPr id="963" name="Shape 52"/>
          <p:cNvSpPr/>
          <p:nvPr/>
        </p:nvSpPr>
        <p:spPr>
          <a:xfrm>
            <a:off x="5193720" y="2258640"/>
            <a:ext cx="822600" cy="27396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964" name="Text 53"/>
          <p:cNvSpPr/>
          <p:nvPr/>
        </p:nvSpPr>
        <p:spPr>
          <a:xfrm>
            <a:off x="5221080" y="2331720"/>
            <a:ext cx="767880" cy="209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640" spc="-1" strike="noStrike">
                <a:solidFill>
                  <a:srgbClr val="f8fafc"/>
                </a:solidFill>
                <a:latin typeface="Aptos"/>
                <a:ea typeface="Aptos"/>
              </a:rPr>
              <a:t>0.4602</a:t>
            </a:r>
            <a:endParaRPr b="0" lang="en-GB" sz="640" spc="-1" strike="noStrike">
              <a:solidFill>
                <a:srgbClr val="ffffff"/>
              </a:solidFill>
              <a:latin typeface="Arial"/>
            </a:endParaRPr>
          </a:p>
        </p:txBody>
      </p:sp>
      <p:sp>
        <p:nvSpPr>
          <p:cNvPr id="965" name="Shape 54"/>
          <p:cNvSpPr/>
          <p:nvPr/>
        </p:nvSpPr>
        <p:spPr>
          <a:xfrm>
            <a:off x="6016680" y="2258640"/>
            <a:ext cx="1051200" cy="27396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966" name="Text 55"/>
          <p:cNvSpPr/>
          <p:nvPr/>
        </p:nvSpPr>
        <p:spPr>
          <a:xfrm>
            <a:off x="6044040" y="2331720"/>
            <a:ext cx="996480" cy="209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640" spc="-1" strike="noStrike">
                <a:solidFill>
                  <a:srgbClr val="f8fafc"/>
                </a:solidFill>
                <a:latin typeface="Aptos"/>
                <a:ea typeface="Aptos"/>
              </a:rPr>
              <a:t>0.7960</a:t>
            </a:r>
            <a:endParaRPr b="0" lang="en-GB" sz="640" spc="-1" strike="noStrike">
              <a:solidFill>
                <a:srgbClr val="ffffff"/>
              </a:solidFill>
              <a:latin typeface="Arial"/>
            </a:endParaRPr>
          </a:p>
        </p:txBody>
      </p:sp>
      <p:sp>
        <p:nvSpPr>
          <p:cNvPr id="967" name="Shape 56"/>
          <p:cNvSpPr/>
          <p:nvPr/>
        </p:nvSpPr>
        <p:spPr>
          <a:xfrm>
            <a:off x="347400" y="2532960"/>
            <a:ext cx="1965600" cy="27396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968" name="Text 57"/>
          <p:cNvSpPr/>
          <p:nvPr/>
        </p:nvSpPr>
        <p:spPr>
          <a:xfrm>
            <a:off x="374760" y="2606040"/>
            <a:ext cx="1910880" cy="209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640" spc="-1" strike="noStrike">
                <a:solidFill>
                  <a:srgbClr val="f8fafc"/>
                </a:solidFill>
                <a:latin typeface="Aptos"/>
                <a:ea typeface="Aptos"/>
              </a:rPr>
              <a:t>Tuned XGB</a:t>
            </a:r>
            <a:endParaRPr b="0" lang="en-GB" sz="640" spc="-1" strike="noStrike">
              <a:solidFill>
                <a:srgbClr val="ffffff"/>
              </a:solidFill>
              <a:latin typeface="Arial"/>
            </a:endParaRPr>
          </a:p>
        </p:txBody>
      </p:sp>
      <p:sp>
        <p:nvSpPr>
          <p:cNvPr id="969" name="Shape 58"/>
          <p:cNvSpPr/>
          <p:nvPr/>
        </p:nvSpPr>
        <p:spPr>
          <a:xfrm>
            <a:off x="2313360" y="2532960"/>
            <a:ext cx="959760" cy="27396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970" name="Text 59"/>
          <p:cNvSpPr/>
          <p:nvPr/>
        </p:nvSpPr>
        <p:spPr>
          <a:xfrm>
            <a:off x="2340720" y="2606040"/>
            <a:ext cx="905040" cy="209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640" spc="-1" strike="noStrike">
                <a:solidFill>
                  <a:srgbClr val="f8fafc"/>
                </a:solidFill>
                <a:latin typeface="Aptos"/>
                <a:ea typeface="Aptos"/>
              </a:rPr>
              <a:t>0.8706</a:t>
            </a:r>
            <a:endParaRPr b="0" lang="en-GB" sz="640" spc="-1" strike="noStrike">
              <a:solidFill>
                <a:srgbClr val="ffffff"/>
              </a:solidFill>
              <a:latin typeface="Arial"/>
            </a:endParaRPr>
          </a:p>
        </p:txBody>
      </p:sp>
      <p:sp>
        <p:nvSpPr>
          <p:cNvPr id="971" name="Shape 60"/>
          <p:cNvSpPr/>
          <p:nvPr/>
        </p:nvSpPr>
        <p:spPr>
          <a:xfrm>
            <a:off x="3273480" y="2532960"/>
            <a:ext cx="1005480" cy="27396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972" name="Text 61"/>
          <p:cNvSpPr/>
          <p:nvPr/>
        </p:nvSpPr>
        <p:spPr>
          <a:xfrm>
            <a:off x="3300840" y="2606040"/>
            <a:ext cx="950760" cy="209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640" spc="-1" strike="noStrike">
                <a:solidFill>
                  <a:srgbClr val="f8fafc"/>
                </a:solidFill>
                <a:latin typeface="Aptos"/>
                <a:ea typeface="Aptos"/>
              </a:rPr>
              <a:t>0.6818</a:t>
            </a:r>
            <a:endParaRPr b="0" lang="en-GB" sz="640" spc="-1" strike="noStrike">
              <a:solidFill>
                <a:srgbClr val="ffffff"/>
              </a:solidFill>
              <a:latin typeface="Arial"/>
            </a:endParaRPr>
          </a:p>
        </p:txBody>
      </p:sp>
      <p:sp>
        <p:nvSpPr>
          <p:cNvPr id="973" name="Shape 62"/>
          <p:cNvSpPr/>
          <p:nvPr/>
        </p:nvSpPr>
        <p:spPr>
          <a:xfrm>
            <a:off x="4279320" y="2532960"/>
            <a:ext cx="914040" cy="27396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974" name="Text 63"/>
          <p:cNvSpPr/>
          <p:nvPr/>
        </p:nvSpPr>
        <p:spPr>
          <a:xfrm>
            <a:off x="4306680" y="2606040"/>
            <a:ext cx="859320" cy="209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640" spc="-1" strike="noStrike">
                <a:solidFill>
                  <a:srgbClr val="f8fafc"/>
                </a:solidFill>
                <a:latin typeface="Aptos"/>
                <a:ea typeface="Aptos"/>
              </a:rPr>
              <a:t>0.3659</a:t>
            </a:r>
            <a:endParaRPr b="0" lang="en-GB" sz="640" spc="-1" strike="noStrike">
              <a:solidFill>
                <a:srgbClr val="ffffff"/>
              </a:solidFill>
              <a:latin typeface="Arial"/>
            </a:endParaRPr>
          </a:p>
        </p:txBody>
      </p:sp>
      <p:sp>
        <p:nvSpPr>
          <p:cNvPr id="975" name="Shape 64"/>
          <p:cNvSpPr/>
          <p:nvPr/>
        </p:nvSpPr>
        <p:spPr>
          <a:xfrm>
            <a:off x="5193720" y="2532960"/>
            <a:ext cx="822600" cy="27396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976" name="Text 65"/>
          <p:cNvSpPr/>
          <p:nvPr/>
        </p:nvSpPr>
        <p:spPr>
          <a:xfrm>
            <a:off x="5221080" y="2606040"/>
            <a:ext cx="767880" cy="209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640" spc="-1" strike="noStrike">
                <a:solidFill>
                  <a:srgbClr val="f8fafc"/>
                </a:solidFill>
                <a:latin typeface="Aptos"/>
                <a:ea typeface="Aptos"/>
              </a:rPr>
              <a:t>0.4762</a:t>
            </a:r>
            <a:endParaRPr b="0" lang="en-GB" sz="640" spc="-1" strike="noStrike">
              <a:solidFill>
                <a:srgbClr val="ffffff"/>
              </a:solidFill>
              <a:latin typeface="Arial"/>
            </a:endParaRPr>
          </a:p>
        </p:txBody>
      </p:sp>
      <p:sp>
        <p:nvSpPr>
          <p:cNvPr id="977" name="Shape 66"/>
          <p:cNvSpPr/>
          <p:nvPr/>
        </p:nvSpPr>
        <p:spPr>
          <a:xfrm>
            <a:off x="6016680" y="2532960"/>
            <a:ext cx="1051200" cy="27396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978" name="Text 67"/>
          <p:cNvSpPr/>
          <p:nvPr/>
        </p:nvSpPr>
        <p:spPr>
          <a:xfrm>
            <a:off x="6044040" y="2606040"/>
            <a:ext cx="996480" cy="209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640" spc="-1" strike="noStrike">
                <a:solidFill>
                  <a:srgbClr val="f8fafc"/>
                </a:solidFill>
                <a:latin typeface="Aptos"/>
                <a:ea typeface="Aptos"/>
              </a:rPr>
              <a:t>0.8668</a:t>
            </a:r>
            <a:endParaRPr b="0" lang="en-GB" sz="640" spc="-1" strike="noStrike">
              <a:solidFill>
                <a:srgbClr val="ffffff"/>
              </a:solidFill>
              <a:latin typeface="Arial"/>
            </a:endParaRPr>
          </a:p>
        </p:txBody>
      </p:sp>
      <p:sp>
        <p:nvSpPr>
          <p:cNvPr id="979" name="Shape 68"/>
          <p:cNvSpPr/>
          <p:nvPr/>
        </p:nvSpPr>
        <p:spPr>
          <a:xfrm>
            <a:off x="347400" y="2807280"/>
            <a:ext cx="1965600" cy="27396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980" name="Text 69"/>
          <p:cNvSpPr/>
          <p:nvPr/>
        </p:nvSpPr>
        <p:spPr>
          <a:xfrm>
            <a:off x="374760" y="2880360"/>
            <a:ext cx="1910880" cy="209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640" spc="-1" strike="noStrike">
                <a:solidFill>
                  <a:srgbClr val="f8fafc"/>
                </a:solidFill>
                <a:latin typeface="Aptos"/>
                <a:ea typeface="Aptos"/>
              </a:rPr>
              <a:t>Tuned SVM</a:t>
            </a:r>
            <a:endParaRPr b="0" lang="en-GB" sz="640" spc="-1" strike="noStrike">
              <a:solidFill>
                <a:srgbClr val="ffffff"/>
              </a:solidFill>
              <a:latin typeface="Arial"/>
            </a:endParaRPr>
          </a:p>
        </p:txBody>
      </p:sp>
      <p:sp>
        <p:nvSpPr>
          <p:cNvPr id="981" name="Shape 70"/>
          <p:cNvSpPr/>
          <p:nvPr/>
        </p:nvSpPr>
        <p:spPr>
          <a:xfrm>
            <a:off x="2313360" y="2807280"/>
            <a:ext cx="959760" cy="27396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982" name="Text 71"/>
          <p:cNvSpPr/>
          <p:nvPr/>
        </p:nvSpPr>
        <p:spPr>
          <a:xfrm>
            <a:off x="2340720" y="2880360"/>
            <a:ext cx="905040" cy="209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40" spc="-1" strike="noStrike">
                <a:solidFill>
                  <a:srgbClr val="f8fafc"/>
                </a:solidFill>
                <a:latin typeface="Aptos"/>
                <a:ea typeface="Aptos"/>
              </a:rPr>
              <a:t>0.8667</a:t>
            </a:r>
            <a:endParaRPr b="0" lang="en-GB" sz="640" spc="-1" strike="noStrike">
              <a:solidFill>
                <a:srgbClr val="ffffff"/>
              </a:solidFill>
              <a:latin typeface="Arial"/>
            </a:endParaRPr>
          </a:p>
        </p:txBody>
      </p:sp>
      <p:sp>
        <p:nvSpPr>
          <p:cNvPr id="983" name="Shape 72"/>
          <p:cNvSpPr/>
          <p:nvPr/>
        </p:nvSpPr>
        <p:spPr>
          <a:xfrm>
            <a:off x="3273480" y="2807280"/>
            <a:ext cx="1005480" cy="27396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984" name="Text 73"/>
          <p:cNvSpPr/>
          <p:nvPr/>
        </p:nvSpPr>
        <p:spPr>
          <a:xfrm>
            <a:off x="3300840" y="2880360"/>
            <a:ext cx="950760" cy="209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40" spc="-1" strike="noStrike">
                <a:solidFill>
                  <a:srgbClr val="f8fafc"/>
                </a:solidFill>
                <a:latin typeface="Aptos"/>
                <a:ea typeface="Aptos"/>
              </a:rPr>
              <a:t>1.0000</a:t>
            </a:r>
            <a:endParaRPr b="0" lang="en-GB" sz="640" spc="-1" strike="noStrike">
              <a:solidFill>
                <a:srgbClr val="ffffff"/>
              </a:solidFill>
              <a:latin typeface="Arial"/>
            </a:endParaRPr>
          </a:p>
        </p:txBody>
      </p:sp>
      <p:sp>
        <p:nvSpPr>
          <p:cNvPr id="985" name="Shape 74"/>
          <p:cNvSpPr/>
          <p:nvPr/>
        </p:nvSpPr>
        <p:spPr>
          <a:xfrm>
            <a:off x="4279320" y="2807280"/>
            <a:ext cx="914040" cy="27396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986" name="Text 75"/>
          <p:cNvSpPr/>
          <p:nvPr/>
        </p:nvSpPr>
        <p:spPr>
          <a:xfrm>
            <a:off x="4306680" y="2880360"/>
            <a:ext cx="859320" cy="209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40" spc="-1" strike="noStrike">
                <a:solidFill>
                  <a:srgbClr val="f8fafc"/>
                </a:solidFill>
                <a:latin typeface="Aptos"/>
                <a:ea typeface="Aptos"/>
              </a:rPr>
              <a:t>0.1707</a:t>
            </a:r>
            <a:endParaRPr b="0" lang="en-GB" sz="640" spc="-1" strike="noStrike">
              <a:solidFill>
                <a:srgbClr val="ffffff"/>
              </a:solidFill>
              <a:latin typeface="Arial"/>
            </a:endParaRPr>
          </a:p>
        </p:txBody>
      </p:sp>
      <p:sp>
        <p:nvSpPr>
          <p:cNvPr id="987" name="Shape 76"/>
          <p:cNvSpPr/>
          <p:nvPr/>
        </p:nvSpPr>
        <p:spPr>
          <a:xfrm>
            <a:off x="5193720" y="2807280"/>
            <a:ext cx="822600" cy="27396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988" name="Text 77"/>
          <p:cNvSpPr/>
          <p:nvPr/>
        </p:nvSpPr>
        <p:spPr>
          <a:xfrm>
            <a:off x="5221080" y="2880360"/>
            <a:ext cx="767880" cy="209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40" spc="-1" strike="noStrike">
                <a:solidFill>
                  <a:srgbClr val="f8fafc"/>
                </a:solidFill>
                <a:latin typeface="Aptos"/>
                <a:ea typeface="Aptos"/>
              </a:rPr>
              <a:t>0.2917</a:t>
            </a:r>
            <a:endParaRPr b="0" lang="en-GB" sz="640" spc="-1" strike="noStrike">
              <a:solidFill>
                <a:srgbClr val="ffffff"/>
              </a:solidFill>
              <a:latin typeface="Arial"/>
            </a:endParaRPr>
          </a:p>
        </p:txBody>
      </p:sp>
      <p:sp>
        <p:nvSpPr>
          <p:cNvPr id="989" name="Shape 78"/>
          <p:cNvSpPr/>
          <p:nvPr/>
        </p:nvSpPr>
        <p:spPr>
          <a:xfrm>
            <a:off x="6016680" y="2807280"/>
            <a:ext cx="1051200" cy="27396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990" name="Text 79"/>
          <p:cNvSpPr/>
          <p:nvPr/>
        </p:nvSpPr>
        <p:spPr>
          <a:xfrm>
            <a:off x="6044040" y="2880360"/>
            <a:ext cx="996480" cy="209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40" spc="-1" strike="noStrike">
                <a:solidFill>
                  <a:srgbClr val="f8fafc"/>
                </a:solidFill>
                <a:latin typeface="Aptos"/>
                <a:ea typeface="Aptos"/>
              </a:rPr>
              <a:t>0.8132</a:t>
            </a:r>
            <a:endParaRPr b="0" lang="en-GB" sz="640" spc="-1" strike="noStrike">
              <a:solidFill>
                <a:srgbClr val="ffffff"/>
              </a:solidFill>
              <a:latin typeface="Arial"/>
            </a:endParaRPr>
          </a:p>
        </p:txBody>
      </p:sp>
      <p:sp>
        <p:nvSpPr>
          <p:cNvPr id="991" name="Shape 80"/>
          <p:cNvSpPr/>
          <p:nvPr/>
        </p:nvSpPr>
        <p:spPr>
          <a:xfrm>
            <a:off x="347400" y="3081600"/>
            <a:ext cx="1965600" cy="27396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992" name="Text 81"/>
          <p:cNvSpPr/>
          <p:nvPr/>
        </p:nvSpPr>
        <p:spPr>
          <a:xfrm>
            <a:off x="374760" y="3154680"/>
            <a:ext cx="1910880" cy="209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640" spc="-1" strike="noStrike">
                <a:solidFill>
                  <a:srgbClr val="f8fafc"/>
                </a:solidFill>
                <a:latin typeface="Aptos"/>
                <a:ea typeface="Aptos"/>
              </a:rPr>
              <a:t>Voting Soft</a:t>
            </a:r>
            <a:endParaRPr b="0" lang="en-GB" sz="640" spc="-1" strike="noStrike">
              <a:solidFill>
                <a:srgbClr val="ffffff"/>
              </a:solidFill>
              <a:latin typeface="Arial"/>
            </a:endParaRPr>
          </a:p>
        </p:txBody>
      </p:sp>
      <p:sp>
        <p:nvSpPr>
          <p:cNvPr id="993" name="Shape 82"/>
          <p:cNvSpPr/>
          <p:nvPr/>
        </p:nvSpPr>
        <p:spPr>
          <a:xfrm>
            <a:off x="2313360" y="3081600"/>
            <a:ext cx="959760" cy="27396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994" name="Text 83"/>
          <p:cNvSpPr/>
          <p:nvPr/>
        </p:nvSpPr>
        <p:spPr>
          <a:xfrm>
            <a:off x="2340720" y="3154680"/>
            <a:ext cx="905040" cy="209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40" spc="-1" strike="noStrike">
                <a:solidFill>
                  <a:srgbClr val="f8fafc"/>
                </a:solidFill>
                <a:latin typeface="Aptos"/>
                <a:ea typeface="Aptos"/>
              </a:rPr>
              <a:t>0.8667</a:t>
            </a:r>
            <a:endParaRPr b="0" lang="en-GB" sz="640" spc="-1" strike="noStrike">
              <a:solidFill>
                <a:srgbClr val="ffffff"/>
              </a:solidFill>
              <a:latin typeface="Arial"/>
            </a:endParaRPr>
          </a:p>
        </p:txBody>
      </p:sp>
      <p:sp>
        <p:nvSpPr>
          <p:cNvPr id="995" name="Shape 84"/>
          <p:cNvSpPr/>
          <p:nvPr/>
        </p:nvSpPr>
        <p:spPr>
          <a:xfrm>
            <a:off x="3273480" y="3081600"/>
            <a:ext cx="1005480" cy="27396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996" name="Text 85"/>
          <p:cNvSpPr/>
          <p:nvPr/>
        </p:nvSpPr>
        <p:spPr>
          <a:xfrm>
            <a:off x="3300840" y="3154680"/>
            <a:ext cx="950760" cy="209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40" spc="-1" strike="noStrike">
                <a:solidFill>
                  <a:srgbClr val="f8fafc"/>
                </a:solidFill>
                <a:latin typeface="Aptos"/>
                <a:ea typeface="Aptos"/>
              </a:rPr>
              <a:t>0.7059</a:t>
            </a:r>
            <a:endParaRPr b="0" lang="en-GB" sz="640" spc="-1" strike="noStrike">
              <a:solidFill>
                <a:srgbClr val="ffffff"/>
              </a:solidFill>
              <a:latin typeface="Arial"/>
            </a:endParaRPr>
          </a:p>
        </p:txBody>
      </p:sp>
      <p:sp>
        <p:nvSpPr>
          <p:cNvPr id="997" name="Shape 86"/>
          <p:cNvSpPr/>
          <p:nvPr/>
        </p:nvSpPr>
        <p:spPr>
          <a:xfrm>
            <a:off x="4279320" y="3081600"/>
            <a:ext cx="914040" cy="27396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998" name="Text 87"/>
          <p:cNvSpPr/>
          <p:nvPr/>
        </p:nvSpPr>
        <p:spPr>
          <a:xfrm>
            <a:off x="4306680" y="3154680"/>
            <a:ext cx="859320" cy="209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40" spc="-1" strike="noStrike">
                <a:solidFill>
                  <a:srgbClr val="f8fafc"/>
                </a:solidFill>
                <a:latin typeface="Aptos"/>
                <a:ea typeface="Aptos"/>
              </a:rPr>
              <a:t>0.2927</a:t>
            </a:r>
            <a:endParaRPr b="0" lang="en-GB" sz="640" spc="-1" strike="noStrike">
              <a:solidFill>
                <a:srgbClr val="ffffff"/>
              </a:solidFill>
              <a:latin typeface="Arial"/>
            </a:endParaRPr>
          </a:p>
        </p:txBody>
      </p:sp>
      <p:sp>
        <p:nvSpPr>
          <p:cNvPr id="999" name="Shape 88"/>
          <p:cNvSpPr/>
          <p:nvPr/>
        </p:nvSpPr>
        <p:spPr>
          <a:xfrm>
            <a:off x="5193720" y="3081600"/>
            <a:ext cx="822600" cy="27396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000" name="Text 89"/>
          <p:cNvSpPr/>
          <p:nvPr/>
        </p:nvSpPr>
        <p:spPr>
          <a:xfrm>
            <a:off x="5221080" y="3154680"/>
            <a:ext cx="767880" cy="209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40" spc="-1" strike="noStrike">
                <a:solidFill>
                  <a:srgbClr val="f8fafc"/>
                </a:solidFill>
                <a:latin typeface="Aptos"/>
                <a:ea typeface="Aptos"/>
              </a:rPr>
              <a:t>0.4138</a:t>
            </a:r>
            <a:endParaRPr b="0" lang="en-GB" sz="640" spc="-1" strike="noStrike">
              <a:solidFill>
                <a:srgbClr val="ffffff"/>
              </a:solidFill>
              <a:latin typeface="Arial"/>
            </a:endParaRPr>
          </a:p>
        </p:txBody>
      </p:sp>
      <p:sp>
        <p:nvSpPr>
          <p:cNvPr id="1001" name="Shape 90"/>
          <p:cNvSpPr/>
          <p:nvPr/>
        </p:nvSpPr>
        <p:spPr>
          <a:xfrm>
            <a:off x="6016680" y="3081600"/>
            <a:ext cx="1051200" cy="27396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002" name="Text 91"/>
          <p:cNvSpPr/>
          <p:nvPr/>
        </p:nvSpPr>
        <p:spPr>
          <a:xfrm>
            <a:off x="6044040" y="3154680"/>
            <a:ext cx="996480" cy="209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40" spc="-1" strike="noStrike">
                <a:solidFill>
                  <a:srgbClr val="f8fafc"/>
                </a:solidFill>
                <a:latin typeface="Aptos"/>
                <a:ea typeface="Aptos"/>
              </a:rPr>
              <a:t>0.8525</a:t>
            </a:r>
            <a:endParaRPr b="0" lang="en-GB" sz="640" spc="-1" strike="noStrike">
              <a:solidFill>
                <a:srgbClr val="ffffff"/>
              </a:solidFill>
              <a:latin typeface="Arial"/>
            </a:endParaRPr>
          </a:p>
        </p:txBody>
      </p:sp>
      <p:sp>
        <p:nvSpPr>
          <p:cNvPr id="1003" name="Shape 92"/>
          <p:cNvSpPr/>
          <p:nvPr/>
        </p:nvSpPr>
        <p:spPr>
          <a:xfrm>
            <a:off x="347400" y="3355920"/>
            <a:ext cx="1965600" cy="27396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004" name="Text 93"/>
          <p:cNvSpPr/>
          <p:nvPr/>
        </p:nvSpPr>
        <p:spPr>
          <a:xfrm>
            <a:off x="374760" y="3429000"/>
            <a:ext cx="1910880" cy="209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640" spc="-1" strike="noStrike">
                <a:solidFill>
                  <a:srgbClr val="f8fafc"/>
                </a:solidFill>
                <a:latin typeface="Aptos"/>
                <a:ea typeface="Aptos"/>
              </a:rPr>
              <a:t>Voting Hard</a:t>
            </a:r>
            <a:endParaRPr b="0" lang="en-GB" sz="640" spc="-1" strike="noStrike">
              <a:solidFill>
                <a:srgbClr val="ffffff"/>
              </a:solidFill>
              <a:latin typeface="Arial"/>
            </a:endParaRPr>
          </a:p>
        </p:txBody>
      </p:sp>
      <p:sp>
        <p:nvSpPr>
          <p:cNvPr id="1005" name="Shape 94"/>
          <p:cNvSpPr/>
          <p:nvPr/>
        </p:nvSpPr>
        <p:spPr>
          <a:xfrm>
            <a:off x="2313360" y="3355920"/>
            <a:ext cx="959760" cy="27396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006" name="Text 95"/>
          <p:cNvSpPr/>
          <p:nvPr/>
        </p:nvSpPr>
        <p:spPr>
          <a:xfrm>
            <a:off x="2340720" y="3429000"/>
            <a:ext cx="905040" cy="209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640" spc="-1" strike="noStrike">
                <a:solidFill>
                  <a:srgbClr val="f8fafc"/>
                </a:solidFill>
                <a:latin typeface="Aptos"/>
                <a:ea typeface="Aptos"/>
              </a:rPr>
              <a:t>0.8863</a:t>
            </a:r>
            <a:endParaRPr b="0" lang="en-GB" sz="640" spc="-1" strike="noStrike">
              <a:solidFill>
                <a:srgbClr val="ffffff"/>
              </a:solidFill>
              <a:latin typeface="Arial"/>
            </a:endParaRPr>
          </a:p>
        </p:txBody>
      </p:sp>
      <p:sp>
        <p:nvSpPr>
          <p:cNvPr id="1007" name="Shape 96"/>
          <p:cNvSpPr/>
          <p:nvPr/>
        </p:nvSpPr>
        <p:spPr>
          <a:xfrm>
            <a:off x="3273480" y="3355920"/>
            <a:ext cx="1005480" cy="27396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008" name="Text 97"/>
          <p:cNvSpPr/>
          <p:nvPr/>
        </p:nvSpPr>
        <p:spPr>
          <a:xfrm>
            <a:off x="3300840" y="3429000"/>
            <a:ext cx="950760" cy="209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640" spc="-1" strike="noStrike">
                <a:solidFill>
                  <a:srgbClr val="f8fafc"/>
                </a:solidFill>
                <a:latin typeface="Aptos"/>
                <a:ea typeface="Aptos"/>
              </a:rPr>
              <a:t>0.7727</a:t>
            </a:r>
            <a:endParaRPr b="0" lang="en-GB" sz="640" spc="-1" strike="noStrike">
              <a:solidFill>
                <a:srgbClr val="ffffff"/>
              </a:solidFill>
              <a:latin typeface="Arial"/>
            </a:endParaRPr>
          </a:p>
        </p:txBody>
      </p:sp>
      <p:sp>
        <p:nvSpPr>
          <p:cNvPr id="1009" name="Shape 98"/>
          <p:cNvSpPr/>
          <p:nvPr/>
        </p:nvSpPr>
        <p:spPr>
          <a:xfrm>
            <a:off x="4279320" y="3355920"/>
            <a:ext cx="914040" cy="27396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010" name="Text 99"/>
          <p:cNvSpPr/>
          <p:nvPr/>
        </p:nvSpPr>
        <p:spPr>
          <a:xfrm>
            <a:off x="4306680" y="3429000"/>
            <a:ext cx="859320" cy="209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640" spc="-1" strike="noStrike">
                <a:solidFill>
                  <a:srgbClr val="f8fafc"/>
                </a:solidFill>
                <a:latin typeface="Aptos"/>
                <a:ea typeface="Aptos"/>
              </a:rPr>
              <a:t>0.4146</a:t>
            </a:r>
            <a:endParaRPr b="0" lang="en-GB" sz="640" spc="-1" strike="noStrike">
              <a:solidFill>
                <a:srgbClr val="ffffff"/>
              </a:solidFill>
              <a:latin typeface="Arial"/>
            </a:endParaRPr>
          </a:p>
        </p:txBody>
      </p:sp>
      <p:sp>
        <p:nvSpPr>
          <p:cNvPr id="1011" name="Shape 100"/>
          <p:cNvSpPr/>
          <p:nvPr/>
        </p:nvSpPr>
        <p:spPr>
          <a:xfrm>
            <a:off x="5193720" y="3355920"/>
            <a:ext cx="822600" cy="27396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012" name="Text 101"/>
          <p:cNvSpPr/>
          <p:nvPr/>
        </p:nvSpPr>
        <p:spPr>
          <a:xfrm>
            <a:off x="5221080" y="3429000"/>
            <a:ext cx="767880" cy="209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640" spc="-1" strike="noStrike">
                <a:solidFill>
                  <a:srgbClr val="f8fafc"/>
                </a:solidFill>
                <a:latin typeface="Aptos"/>
                <a:ea typeface="Aptos"/>
              </a:rPr>
              <a:t>0.5397</a:t>
            </a:r>
            <a:endParaRPr b="0" lang="en-GB" sz="640" spc="-1" strike="noStrike">
              <a:solidFill>
                <a:srgbClr val="ffffff"/>
              </a:solidFill>
              <a:latin typeface="Arial"/>
            </a:endParaRPr>
          </a:p>
        </p:txBody>
      </p:sp>
      <p:sp>
        <p:nvSpPr>
          <p:cNvPr id="1013" name="Shape 102"/>
          <p:cNvSpPr/>
          <p:nvPr/>
        </p:nvSpPr>
        <p:spPr>
          <a:xfrm>
            <a:off x="6016680" y="3355920"/>
            <a:ext cx="1051200" cy="27396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014" name="Text 103"/>
          <p:cNvSpPr/>
          <p:nvPr/>
        </p:nvSpPr>
        <p:spPr>
          <a:xfrm>
            <a:off x="6044040" y="3429000"/>
            <a:ext cx="996480" cy="209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640" spc="-1" strike="noStrike">
                <a:solidFill>
                  <a:srgbClr val="f8fafc"/>
                </a:solidFill>
                <a:latin typeface="Aptos"/>
                <a:ea typeface="Aptos"/>
              </a:rPr>
              <a:t>N/A</a:t>
            </a:r>
            <a:endParaRPr b="0" lang="en-GB" sz="640" spc="-1" strike="noStrike">
              <a:solidFill>
                <a:srgbClr val="ffffff"/>
              </a:solidFill>
              <a:latin typeface="Arial"/>
            </a:endParaRPr>
          </a:p>
        </p:txBody>
      </p:sp>
      <p:sp>
        <p:nvSpPr>
          <p:cNvPr id="1015" name="Shape 104"/>
          <p:cNvSpPr/>
          <p:nvPr/>
        </p:nvSpPr>
        <p:spPr>
          <a:xfrm>
            <a:off x="347400" y="3630240"/>
            <a:ext cx="1965600" cy="27396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016" name="Text 105"/>
          <p:cNvSpPr/>
          <p:nvPr/>
        </p:nvSpPr>
        <p:spPr>
          <a:xfrm>
            <a:off x="374760" y="3703320"/>
            <a:ext cx="1910880" cy="209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640" spc="-1" strike="noStrike">
                <a:solidFill>
                  <a:srgbClr val="f8fafc"/>
                </a:solidFill>
                <a:latin typeface="Aptos"/>
                <a:ea typeface="Aptos"/>
              </a:rPr>
              <a:t>Stacking</a:t>
            </a:r>
            <a:endParaRPr b="0" lang="en-GB" sz="640" spc="-1" strike="noStrike">
              <a:solidFill>
                <a:srgbClr val="ffffff"/>
              </a:solidFill>
              <a:latin typeface="Arial"/>
            </a:endParaRPr>
          </a:p>
        </p:txBody>
      </p:sp>
      <p:sp>
        <p:nvSpPr>
          <p:cNvPr id="1017" name="Shape 106"/>
          <p:cNvSpPr/>
          <p:nvPr/>
        </p:nvSpPr>
        <p:spPr>
          <a:xfrm>
            <a:off x="2313360" y="3630240"/>
            <a:ext cx="959760" cy="27396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018" name="Text 107"/>
          <p:cNvSpPr/>
          <p:nvPr/>
        </p:nvSpPr>
        <p:spPr>
          <a:xfrm>
            <a:off x="2340720" y="3703320"/>
            <a:ext cx="905040" cy="209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40" spc="-1" strike="noStrike">
                <a:solidFill>
                  <a:srgbClr val="f8fafc"/>
                </a:solidFill>
                <a:latin typeface="Aptos"/>
                <a:ea typeface="Aptos"/>
              </a:rPr>
              <a:t>0.8471</a:t>
            </a:r>
            <a:endParaRPr b="0" lang="en-GB" sz="640" spc="-1" strike="noStrike">
              <a:solidFill>
                <a:srgbClr val="ffffff"/>
              </a:solidFill>
              <a:latin typeface="Arial"/>
            </a:endParaRPr>
          </a:p>
        </p:txBody>
      </p:sp>
      <p:sp>
        <p:nvSpPr>
          <p:cNvPr id="1019" name="Shape 108"/>
          <p:cNvSpPr/>
          <p:nvPr/>
        </p:nvSpPr>
        <p:spPr>
          <a:xfrm>
            <a:off x="3273480" y="3630240"/>
            <a:ext cx="1005480" cy="27396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020" name="Text 109"/>
          <p:cNvSpPr/>
          <p:nvPr/>
        </p:nvSpPr>
        <p:spPr>
          <a:xfrm>
            <a:off x="3300840" y="3703320"/>
            <a:ext cx="950760" cy="209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40" spc="-1" strike="noStrike">
                <a:solidFill>
                  <a:srgbClr val="f8fafc"/>
                </a:solidFill>
                <a:latin typeface="Aptos"/>
                <a:ea typeface="Aptos"/>
              </a:rPr>
              <a:t>1.0000</a:t>
            </a:r>
            <a:endParaRPr b="0" lang="en-GB" sz="640" spc="-1" strike="noStrike">
              <a:solidFill>
                <a:srgbClr val="ffffff"/>
              </a:solidFill>
              <a:latin typeface="Arial"/>
            </a:endParaRPr>
          </a:p>
        </p:txBody>
      </p:sp>
      <p:sp>
        <p:nvSpPr>
          <p:cNvPr id="1021" name="Shape 110"/>
          <p:cNvSpPr/>
          <p:nvPr/>
        </p:nvSpPr>
        <p:spPr>
          <a:xfrm>
            <a:off x="4279320" y="3630240"/>
            <a:ext cx="914040" cy="27396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022" name="Text 111"/>
          <p:cNvSpPr/>
          <p:nvPr/>
        </p:nvSpPr>
        <p:spPr>
          <a:xfrm>
            <a:off x="4306680" y="3703320"/>
            <a:ext cx="859320" cy="209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40" spc="-1" strike="noStrike">
                <a:solidFill>
                  <a:srgbClr val="f8fafc"/>
                </a:solidFill>
                <a:latin typeface="Aptos"/>
                <a:ea typeface="Aptos"/>
              </a:rPr>
              <a:t>0.0488</a:t>
            </a:r>
            <a:endParaRPr b="0" lang="en-GB" sz="640" spc="-1" strike="noStrike">
              <a:solidFill>
                <a:srgbClr val="ffffff"/>
              </a:solidFill>
              <a:latin typeface="Arial"/>
            </a:endParaRPr>
          </a:p>
        </p:txBody>
      </p:sp>
      <p:sp>
        <p:nvSpPr>
          <p:cNvPr id="1023" name="Shape 112"/>
          <p:cNvSpPr/>
          <p:nvPr/>
        </p:nvSpPr>
        <p:spPr>
          <a:xfrm>
            <a:off x="5193720" y="3630240"/>
            <a:ext cx="822600" cy="27396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024" name="Text 113"/>
          <p:cNvSpPr/>
          <p:nvPr/>
        </p:nvSpPr>
        <p:spPr>
          <a:xfrm>
            <a:off x="5221080" y="3703320"/>
            <a:ext cx="767880" cy="209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40" spc="-1" strike="noStrike">
                <a:solidFill>
                  <a:srgbClr val="f8fafc"/>
                </a:solidFill>
                <a:latin typeface="Aptos"/>
                <a:ea typeface="Aptos"/>
              </a:rPr>
              <a:t>0.0930</a:t>
            </a:r>
            <a:endParaRPr b="0" lang="en-GB" sz="640" spc="-1" strike="noStrike">
              <a:solidFill>
                <a:srgbClr val="ffffff"/>
              </a:solidFill>
              <a:latin typeface="Arial"/>
            </a:endParaRPr>
          </a:p>
        </p:txBody>
      </p:sp>
      <p:sp>
        <p:nvSpPr>
          <p:cNvPr id="1025" name="Shape 114"/>
          <p:cNvSpPr/>
          <p:nvPr/>
        </p:nvSpPr>
        <p:spPr>
          <a:xfrm>
            <a:off x="6016680" y="3630240"/>
            <a:ext cx="1051200" cy="27396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026" name="Text 115"/>
          <p:cNvSpPr/>
          <p:nvPr/>
        </p:nvSpPr>
        <p:spPr>
          <a:xfrm>
            <a:off x="6044040" y="3703320"/>
            <a:ext cx="996480" cy="209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40" spc="-1" strike="noStrike">
                <a:solidFill>
                  <a:srgbClr val="f8fafc"/>
                </a:solidFill>
                <a:latin typeface="Aptos"/>
                <a:ea typeface="Aptos"/>
              </a:rPr>
              <a:t>0.8693</a:t>
            </a:r>
            <a:endParaRPr b="0" lang="en-GB" sz="640" spc="-1" strike="noStrike">
              <a:solidFill>
                <a:srgbClr val="ffffff"/>
              </a:solidFill>
              <a:latin typeface="Arial"/>
            </a:endParaRPr>
          </a:p>
        </p:txBody>
      </p:sp>
      <p:sp>
        <p:nvSpPr>
          <p:cNvPr id="1027" name="Shape 116"/>
          <p:cNvSpPr/>
          <p:nvPr/>
        </p:nvSpPr>
        <p:spPr>
          <a:xfrm>
            <a:off x="347400" y="3904560"/>
            <a:ext cx="1965600" cy="27396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028" name="Text 117"/>
          <p:cNvSpPr/>
          <p:nvPr/>
        </p:nvSpPr>
        <p:spPr>
          <a:xfrm>
            <a:off x="374760" y="3977640"/>
            <a:ext cx="1910880" cy="209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640" spc="-1" strike="noStrike">
                <a:solidFill>
                  <a:srgbClr val="f8fafc"/>
                </a:solidFill>
                <a:latin typeface="Aptos"/>
                <a:ea typeface="Aptos"/>
              </a:rPr>
              <a:t>Adversarial LR</a:t>
            </a:r>
            <a:endParaRPr b="0" lang="en-GB" sz="640" spc="-1" strike="noStrike">
              <a:solidFill>
                <a:srgbClr val="ffffff"/>
              </a:solidFill>
              <a:latin typeface="Arial"/>
            </a:endParaRPr>
          </a:p>
        </p:txBody>
      </p:sp>
      <p:sp>
        <p:nvSpPr>
          <p:cNvPr id="1029" name="Shape 118"/>
          <p:cNvSpPr/>
          <p:nvPr/>
        </p:nvSpPr>
        <p:spPr>
          <a:xfrm>
            <a:off x="2313360" y="3904560"/>
            <a:ext cx="959760" cy="27396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030" name="Text 119"/>
          <p:cNvSpPr/>
          <p:nvPr/>
        </p:nvSpPr>
        <p:spPr>
          <a:xfrm>
            <a:off x="2340720" y="3977640"/>
            <a:ext cx="905040" cy="209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40" spc="-1" strike="noStrike">
                <a:solidFill>
                  <a:srgbClr val="f8fafc"/>
                </a:solidFill>
                <a:latin typeface="Aptos"/>
                <a:ea typeface="Aptos"/>
              </a:rPr>
              <a:t>0.6157</a:t>
            </a:r>
            <a:endParaRPr b="0" lang="en-GB" sz="640" spc="-1" strike="noStrike">
              <a:solidFill>
                <a:srgbClr val="ffffff"/>
              </a:solidFill>
              <a:latin typeface="Arial"/>
            </a:endParaRPr>
          </a:p>
        </p:txBody>
      </p:sp>
      <p:sp>
        <p:nvSpPr>
          <p:cNvPr id="1031" name="Shape 120"/>
          <p:cNvSpPr/>
          <p:nvPr/>
        </p:nvSpPr>
        <p:spPr>
          <a:xfrm>
            <a:off x="3273480" y="3904560"/>
            <a:ext cx="1005480" cy="27396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032" name="Text 121"/>
          <p:cNvSpPr/>
          <p:nvPr/>
        </p:nvSpPr>
        <p:spPr>
          <a:xfrm>
            <a:off x="3300840" y="3977640"/>
            <a:ext cx="950760" cy="209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40" spc="-1" strike="noStrike">
                <a:solidFill>
                  <a:srgbClr val="f8fafc"/>
                </a:solidFill>
                <a:latin typeface="Aptos"/>
                <a:ea typeface="Aptos"/>
              </a:rPr>
              <a:t>0.2336</a:t>
            </a:r>
            <a:endParaRPr b="0" lang="en-GB" sz="640" spc="-1" strike="noStrike">
              <a:solidFill>
                <a:srgbClr val="ffffff"/>
              </a:solidFill>
              <a:latin typeface="Arial"/>
            </a:endParaRPr>
          </a:p>
        </p:txBody>
      </p:sp>
      <p:sp>
        <p:nvSpPr>
          <p:cNvPr id="1033" name="Shape 122"/>
          <p:cNvSpPr/>
          <p:nvPr/>
        </p:nvSpPr>
        <p:spPr>
          <a:xfrm>
            <a:off x="4279320" y="3904560"/>
            <a:ext cx="914040" cy="27396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034" name="Text 123"/>
          <p:cNvSpPr/>
          <p:nvPr/>
        </p:nvSpPr>
        <p:spPr>
          <a:xfrm>
            <a:off x="4306680" y="3977640"/>
            <a:ext cx="859320" cy="209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40" spc="-1" strike="noStrike">
                <a:solidFill>
                  <a:srgbClr val="f8fafc"/>
                </a:solidFill>
                <a:latin typeface="Aptos"/>
                <a:ea typeface="Aptos"/>
              </a:rPr>
              <a:t>0.6098</a:t>
            </a:r>
            <a:endParaRPr b="0" lang="en-GB" sz="640" spc="-1" strike="noStrike">
              <a:solidFill>
                <a:srgbClr val="ffffff"/>
              </a:solidFill>
              <a:latin typeface="Arial"/>
            </a:endParaRPr>
          </a:p>
        </p:txBody>
      </p:sp>
      <p:sp>
        <p:nvSpPr>
          <p:cNvPr id="1035" name="Shape 124"/>
          <p:cNvSpPr/>
          <p:nvPr/>
        </p:nvSpPr>
        <p:spPr>
          <a:xfrm>
            <a:off x="5193720" y="3904560"/>
            <a:ext cx="822600" cy="27396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036" name="Text 125"/>
          <p:cNvSpPr/>
          <p:nvPr/>
        </p:nvSpPr>
        <p:spPr>
          <a:xfrm>
            <a:off x="5221080" y="3977640"/>
            <a:ext cx="767880" cy="209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40" spc="-1" strike="noStrike">
                <a:solidFill>
                  <a:srgbClr val="f8fafc"/>
                </a:solidFill>
                <a:latin typeface="Aptos"/>
                <a:ea typeface="Aptos"/>
              </a:rPr>
              <a:t>0.3378</a:t>
            </a:r>
            <a:endParaRPr b="0" lang="en-GB" sz="640" spc="-1" strike="noStrike">
              <a:solidFill>
                <a:srgbClr val="ffffff"/>
              </a:solidFill>
              <a:latin typeface="Arial"/>
            </a:endParaRPr>
          </a:p>
        </p:txBody>
      </p:sp>
      <p:sp>
        <p:nvSpPr>
          <p:cNvPr id="1037" name="Shape 126"/>
          <p:cNvSpPr/>
          <p:nvPr/>
        </p:nvSpPr>
        <p:spPr>
          <a:xfrm>
            <a:off x="6016680" y="3904560"/>
            <a:ext cx="1051200" cy="27396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038" name="Text 127"/>
          <p:cNvSpPr/>
          <p:nvPr/>
        </p:nvSpPr>
        <p:spPr>
          <a:xfrm>
            <a:off x="6044040" y="3977640"/>
            <a:ext cx="996480" cy="209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40" spc="-1" strike="noStrike">
                <a:solidFill>
                  <a:srgbClr val="f8fafc"/>
                </a:solidFill>
                <a:latin typeface="Aptos"/>
                <a:ea typeface="Aptos"/>
              </a:rPr>
              <a:t>0.6801</a:t>
            </a:r>
            <a:endParaRPr b="0" lang="en-GB" sz="640" spc="-1" strike="noStrike">
              <a:solidFill>
                <a:srgbClr val="ffffff"/>
              </a:solidFill>
              <a:latin typeface="Arial"/>
            </a:endParaRPr>
          </a:p>
        </p:txBody>
      </p:sp>
      <p:sp>
        <p:nvSpPr>
          <p:cNvPr id="1039" name="Shape 128"/>
          <p:cNvSpPr/>
          <p:nvPr/>
        </p:nvSpPr>
        <p:spPr>
          <a:xfrm>
            <a:off x="347400" y="4178880"/>
            <a:ext cx="1965600" cy="27396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040" name="Text 129"/>
          <p:cNvSpPr/>
          <p:nvPr/>
        </p:nvSpPr>
        <p:spPr>
          <a:xfrm>
            <a:off x="374760" y="4251960"/>
            <a:ext cx="1910880" cy="209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640" spc="-1" strike="noStrike">
                <a:solidFill>
                  <a:srgbClr val="f8fafc"/>
                </a:solidFill>
                <a:latin typeface="Aptos"/>
                <a:ea typeface="Aptos"/>
              </a:rPr>
              <a:t>Adversarial RF</a:t>
            </a:r>
            <a:endParaRPr b="0" lang="en-GB" sz="640" spc="-1" strike="noStrike">
              <a:solidFill>
                <a:srgbClr val="ffffff"/>
              </a:solidFill>
              <a:latin typeface="Arial"/>
            </a:endParaRPr>
          </a:p>
        </p:txBody>
      </p:sp>
      <p:sp>
        <p:nvSpPr>
          <p:cNvPr id="1041" name="Shape 130"/>
          <p:cNvSpPr/>
          <p:nvPr/>
        </p:nvSpPr>
        <p:spPr>
          <a:xfrm>
            <a:off x="2313360" y="4178880"/>
            <a:ext cx="959760" cy="27396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042" name="Text 131"/>
          <p:cNvSpPr/>
          <p:nvPr/>
        </p:nvSpPr>
        <p:spPr>
          <a:xfrm>
            <a:off x="2340720" y="4251960"/>
            <a:ext cx="905040" cy="209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40" spc="-1" strike="noStrike">
                <a:solidFill>
                  <a:srgbClr val="f8fafc"/>
                </a:solidFill>
                <a:latin typeface="Aptos"/>
                <a:ea typeface="Aptos"/>
              </a:rPr>
              <a:t>0.8510</a:t>
            </a:r>
            <a:endParaRPr b="0" lang="en-GB" sz="640" spc="-1" strike="noStrike">
              <a:solidFill>
                <a:srgbClr val="ffffff"/>
              </a:solidFill>
              <a:latin typeface="Arial"/>
            </a:endParaRPr>
          </a:p>
        </p:txBody>
      </p:sp>
      <p:sp>
        <p:nvSpPr>
          <p:cNvPr id="1043" name="Shape 132"/>
          <p:cNvSpPr/>
          <p:nvPr/>
        </p:nvSpPr>
        <p:spPr>
          <a:xfrm>
            <a:off x="3273480" y="4178880"/>
            <a:ext cx="1005480" cy="27396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044" name="Text 133"/>
          <p:cNvSpPr/>
          <p:nvPr/>
        </p:nvSpPr>
        <p:spPr>
          <a:xfrm>
            <a:off x="3300840" y="4251960"/>
            <a:ext cx="950760" cy="209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40" spc="-1" strike="noStrike">
                <a:solidFill>
                  <a:srgbClr val="f8fafc"/>
                </a:solidFill>
                <a:latin typeface="Aptos"/>
                <a:ea typeface="Aptos"/>
              </a:rPr>
              <a:t>0.5600</a:t>
            </a:r>
            <a:endParaRPr b="0" lang="en-GB" sz="640" spc="-1" strike="noStrike">
              <a:solidFill>
                <a:srgbClr val="ffffff"/>
              </a:solidFill>
              <a:latin typeface="Arial"/>
            </a:endParaRPr>
          </a:p>
        </p:txBody>
      </p:sp>
      <p:sp>
        <p:nvSpPr>
          <p:cNvPr id="1045" name="Shape 134"/>
          <p:cNvSpPr/>
          <p:nvPr/>
        </p:nvSpPr>
        <p:spPr>
          <a:xfrm>
            <a:off x="4279320" y="4178880"/>
            <a:ext cx="914040" cy="27396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046" name="Text 135"/>
          <p:cNvSpPr/>
          <p:nvPr/>
        </p:nvSpPr>
        <p:spPr>
          <a:xfrm>
            <a:off x="4306680" y="4251960"/>
            <a:ext cx="859320" cy="209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40" spc="-1" strike="noStrike">
                <a:solidFill>
                  <a:srgbClr val="f8fafc"/>
                </a:solidFill>
                <a:latin typeface="Aptos"/>
                <a:ea typeface="Aptos"/>
              </a:rPr>
              <a:t>0.3415</a:t>
            </a:r>
            <a:endParaRPr b="0" lang="en-GB" sz="640" spc="-1" strike="noStrike">
              <a:solidFill>
                <a:srgbClr val="ffffff"/>
              </a:solidFill>
              <a:latin typeface="Arial"/>
            </a:endParaRPr>
          </a:p>
        </p:txBody>
      </p:sp>
      <p:sp>
        <p:nvSpPr>
          <p:cNvPr id="1047" name="Shape 136"/>
          <p:cNvSpPr/>
          <p:nvPr/>
        </p:nvSpPr>
        <p:spPr>
          <a:xfrm>
            <a:off x="5193720" y="4178880"/>
            <a:ext cx="822600" cy="27396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048" name="Text 137"/>
          <p:cNvSpPr/>
          <p:nvPr/>
        </p:nvSpPr>
        <p:spPr>
          <a:xfrm>
            <a:off x="5221080" y="4251960"/>
            <a:ext cx="767880" cy="209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40" spc="-1" strike="noStrike">
                <a:solidFill>
                  <a:srgbClr val="f8fafc"/>
                </a:solidFill>
                <a:latin typeface="Aptos"/>
                <a:ea typeface="Aptos"/>
              </a:rPr>
              <a:t>0.4242</a:t>
            </a:r>
            <a:endParaRPr b="0" lang="en-GB" sz="640" spc="-1" strike="noStrike">
              <a:solidFill>
                <a:srgbClr val="ffffff"/>
              </a:solidFill>
              <a:latin typeface="Arial"/>
            </a:endParaRPr>
          </a:p>
        </p:txBody>
      </p:sp>
      <p:sp>
        <p:nvSpPr>
          <p:cNvPr id="1049" name="Shape 138"/>
          <p:cNvSpPr/>
          <p:nvPr/>
        </p:nvSpPr>
        <p:spPr>
          <a:xfrm>
            <a:off x="6016680" y="4178880"/>
            <a:ext cx="1051200" cy="27396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050" name="Text 139"/>
          <p:cNvSpPr/>
          <p:nvPr/>
        </p:nvSpPr>
        <p:spPr>
          <a:xfrm>
            <a:off x="6044040" y="4251960"/>
            <a:ext cx="996480" cy="209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40" spc="-1" strike="noStrike">
                <a:solidFill>
                  <a:srgbClr val="f8fafc"/>
                </a:solidFill>
                <a:latin typeface="Aptos"/>
                <a:ea typeface="Aptos"/>
              </a:rPr>
              <a:t>0.8132</a:t>
            </a:r>
            <a:endParaRPr b="0" lang="en-GB" sz="640" spc="-1" strike="noStrike">
              <a:solidFill>
                <a:srgbClr val="ffffff"/>
              </a:solidFill>
              <a:latin typeface="Arial"/>
            </a:endParaRPr>
          </a:p>
        </p:txBody>
      </p:sp>
      <p:sp>
        <p:nvSpPr>
          <p:cNvPr id="1051" name="Shape 140"/>
          <p:cNvSpPr/>
          <p:nvPr/>
        </p:nvSpPr>
        <p:spPr>
          <a:xfrm>
            <a:off x="8321040" y="1572840"/>
            <a:ext cx="2514240" cy="959760"/>
          </a:xfrm>
          <a:prstGeom prst="roundRect">
            <a:avLst>
              <a:gd name="adj" fmla="val 11429"/>
            </a:avLst>
          </a:prstGeom>
          <a:solidFill>
            <a:srgbClr val="0b1a2e">
              <a:alpha val="95000"/>
            </a:srgbClr>
          </a:solidFill>
          <a:ln w="13970">
            <a:solidFill>
              <a:srgbClr val="22c55e">
                <a:alpha val="6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052" name="Shape 141"/>
          <p:cNvSpPr/>
          <p:nvPr/>
        </p:nvSpPr>
        <p:spPr>
          <a:xfrm>
            <a:off x="8321040" y="1572840"/>
            <a:ext cx="72720" cy="959760"/>
          </a:xfrm>
          <a:prstGeom prst="rect">
            <a:avLst/>
          </a:prstGeom>
          <a:solidFill>
            <a:srgbClr val="22c55e"/>
          </a:solidFill>
          <a:ln w="12700">
            <a:solidFill>
              <a:srgbClr val="22c55e"/>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053" name="Text 142"/>
          <p:cNvSpPr/>
          <p:nvPr/>
        </p:nvSpPr>
        <p:spPr>
          <a:xfrm>
            <a:off x="8522280" y="1774080"/>
            <a:ext cx="219420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720" spc="-1" strike="noStrike">
                <a:solidFill>
                  <a:srgbClr val="94a3b8"/>
                </a:solidFill>
                <a:latin typeface="Aptos"/>
                <a:ea typeface="Aptos"/>
              </a:rPr>
              <a:t>BEST F1 IN FINAL MODEL TABLE</a:t>
            </a:r>
            <a:endParaRPr b="0" lang="en-GB" sz="720" spc="-1" strike="noStrike">
              <a:solidFill>
                <a:srgbClr val="ffffff"/>
              </a:solidFill>
              <a:latin typeface="Arial"/>
            </a:endParaRPr>
          </a:p>
        </p:txBody>
      </p:sp>
      <p:sp>
        <p:nvSpPr>
          <p:cNvPr id="1054" name="Text 143"/>
          <p:cNvSpPr/>
          <p:nvPr/>
        </p:nvSpPr>
        <p:spPr>
          <a:xfrm>
            <a:off x="8522280" y="2011680"/>
            <a:ext cx="2194200" cy="328680"/>
          </a:xfrm>
          <a:prstGeom prst="rect">
            <a:avLst/>
          </a:prstGeom>
          <a:noFill/>
          <a:ln w="0">
            <a:noFill/>
          </a:ln>
        </p:spPr>
        <p:style>
          <a:lnRef idx="0"/>
          <a:fillRef idx="0"/>
          <a:effectRef idx="0"/>
          <a:fontRef idx="minor"/>
        </p:style>
        <p:txBody>
          <a:bodyPr lIns="0" rIns="0" tIns="0" bIns="0" anchor="ctr">
            <a:normAutofit fontScale="96666"/>
          </a:bodyPr>
          <a:p>
            <a:pPr defTabSz="914400">
              <a:lnSpc>
                <a:spcPct val="100000"/>
              </a:lnSpc>
              <a:tabLst>
                <a:tab algn="l" pos="0"/>
              </a:tabLst>
            </a:pPr>
            <a:r>
              <a:rPr b="1" lang="en-US" sz="2300" spc="-1" strike="noStrike">
                <a:solidFill>
                  <a:srgbClr val="f8fafc"/>
                </a:solidFill>
                <a:latin typeface="Aptos Display"/>
                <a:ea typeface="Aptos Display"/>
              </a:rPr>
              <a:t>0.5397</a:t>
            </a:r>
            <a:endParaRPr b="0" lang="en-GB" sz="2300" spc="-1" strike="noStrike">
              <a:solidFill>
                <a:srgbClr val="ffffff"/>
              </a:solidFill>
              <a:latin typeface="Arial"/>
            </a:endParaRPr>
          </a:p>
        </p:txBody>
      </p:sp>
      <p:sp>
        <p:nvSpPr>
          <p:cNvPr id="1055" name="Text 144"/>
          <p:cNvSpPr/>
          <p:nvPr/>
        </p:nvSpPr>
        <p:spPr>
          <a:xfrm>
            <a:off x="8522280" y="2441520"/>
            <a:ext cx="2194200" cy="360"/>
          </a:xfrm>
          <a:prstGeom prst="rect">
            <a:avLst/>
          </a:prstGeom>
          <a:noFill/>
          <a:ln w="0">
            <a:noFill/>
          </a:ln>
        </p:spPr>
        <p:style>
          <a:lnRef idx="0"/>
          <a:fillRef idx="0"/>
          <a:effectRef idx="0"/>
          <a:fontRef idx="minor"/>
        </p:style>
        <p:txBody>
          <a:bodyPr lIns="0" rIns="0" tIns="0" bIns="0" anchor="ctr">
            <a:normAutofit fontScale="25000" lnSpcReduction="20000"/>
          </a:bodyPr>
          <a:p>
            <a:pPr defTabSz="914400">
              <a:lnSpc>
                <a:spcPct val="100000"/>
              </a:lnSpc>
              <a:tabLst>
                <a:tab algn="l" pos="0"/>
              </a:tabLst>
            </a:pPr>
            <a:r>
              <a:rPr b="0" lang="en-US" sz="850" spc="-1" strike="noStrike">
                <a:solidFill>
                  <a:srgbClr val="94a3b8"/>
                </a:solidFill>
                <a:latin typeface="Aptos"/>
                <a:ea typeface="Aptos"/>
              </a:rPr>
              <a:t>Voting Hard; Acc. 0.8863, Prec. 0.7727</a:t>
            </a:r>
            <a:endParaRPr b="0" lang="en-GB" sz="850" spc="-1" strike="noStrike">
              <a:solidFill>
                <a:srgbClr val="ffffff"/>
              </a:solidFill>
              <a:latin typeface="Arial"/>
            </a:endParaRPr>
          </a:p>
        </p:txBody>
      </p:sp>
      <p:sp>
        <p:nvSpPr>
          <p:cNvPr id="1056" name="Shape 145"/>
          <p:cNvSpPr/>
          <p:nvPr/>
        </p:nvSpPr>
        <p:spPr>
          <a:xfrm>
            <a:off x="8321040" y="2770560"/>
            <a:ext cx="2514240" cy="959760"/>
          </a:xfrm>
          <a:prstGeom prst="roundRect">
            <a:avLst>
              <a:gd name="adj" fmla="val 11429"/>
            </a:avLst>
          </a:prstGeom>
          <a:solidFill>
            <a:srgbClr val="0b1a2e">
              <a:alpha val="95000"/>
            </a:srgbClr>
          </a:solidFill>
          <a:ln w="13970">
            <a:solidFill>
              <a:srgbClr val="a78bfa">
                <a:alpha val="6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057" name="Shape 146"/>
          <p:cNvSpPr/>
          <p:nvPr/>
        </p:nvSpPr>
        <p:spPr>
          <a:xfrm>
            <a:off x="8321040" y="2770560"/>
            <a:ext cx="72720" cy="959760"/>
          </a:xfrm>
          <a:prstGeom prst="rect">
            <a:avLst/>
          </a:prstGeom>
          <a:solidFill>
            <a:srgbClr val="a78bfa"/>
          </a:solidFill>
          <a:ln w="12700">
            <a:solidFill>
              <a:srgbClr val="a78bfa"/>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1058" name="Text 147"/>
          <p:cNvSpPr/>
          <p:nvPr/>
        </p:nvSpPr>
        <p:spPr>
          <a:xfrm>
            <a:off x="8522280" y="2971800"/>
            <a:ext cx="219420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720" spc="-1" strike="noStrike">
                <a:solidFill>
                  <a:srgbClr val="94a3b8"/>
                </a:solidFill>
                <a:latin typeface="Aptos"/>
                <a:ea typeface="Aptos"/>
              </a:rPr>
              <a:t>BEST AUC</a:t>
            </a:r>
            <a:endParaRPr b="0" lang="en-GB" sz="720" spc="-1" strike="noStrike">
              <a:solidFill>
                <a:srgbClr val="ffffff"/>
              </a:solidFill>
              <a:latin typeface="Arial"/>
            </a:endParaRPr>
          </a:p>
        </p:txBody>
      </p:sp>
      <p:sp>
        <p:nvSpPr>
          <p:cNvPr id="1059" name="Text 148"/>
          <p:cNvSpPr/>
          <p:nvPr/>
        </p:nvSpPr>
        <p:spPr>
          <a:xfrm>
            <a:off x="8522280" y="3209400"/>
            <a:ext cx="2194200" cy="328680"/>
          </a:xfrm>
          <a:prstGeom prst="rect">
            <a:avLst/>
          </a:prstGeom>
          <a:noFill/>
          <a:ln w="0">
            <a:noFill/>
          </a:ln>
        </p:spPr>
        <p:style>
          <a:lnRef idx="0"/>
          <a:fillRef idx="0"/>
          <a:effectRef idx="0"/>
          <a:fontRef idx="minor"/>
        </p:style>
        <p:txBody>
          <a:bodyPr lIns="0" rIns="0" tIns="0" bIns="0" anchor="ctr">
            <a:normAutofit fontScale="96666"/>
          </a:bodyPr>
          <a:p>
            <a:pPr defTabSz="914400">
              <a:lnSpc>
                <a:spcPct val="100000"/>
              </a:lnSpc>
              <a:tabLst>
                <a:tab algn="l" pos="0"/>
              </a:tabLst>
            </a:pPr>
            <a:r>
              <a:rPr b="1" lang="en-US" sz="2300" spc="-1" strike="noStrike">
                <a:solidFill>
                  <a:srgbClr val="f8fafc"/>
                </a:solidFill>
                <a:latin typeface="Aptos Display"/>
                <a:ea typeface="Aptos Display"/>
              </a:rPr>
              <a:t>0.8693</a:t>
            </a:r>
            <a:endParaRPr b="0" lang="en-GB" sz="2300" spc="-1" strike="noStrike">
              <a:solidFill>
                <a:srgbClr val="ffffff"/>
              </a:solidFill>
              <a:latin typeface="Arial"/>
            </a:endParaRPr>
          </a:p>
        </p:txBody>
      </p:sp>
      <p:sp>
        <p:nvSpPr>
          <p:cNvPr id="1060" name="Text 149"/>
          <p:cNvSpPr/>
          <p:nvPr/>
        </p:nvSpPr>
        <p:spPr>
          <a:xfrm>
            <a:off x="8522280" y="3639240"/>
            <a:ext cx="2194200" cy="360"/>
          </a:xfrm>
          <a:prstGeom prst="rect">
            <a:avLst/>
          </a:prstGeom>
          <a:noFill/>
          <a:ln w="0">
            <a:noFill/>
          </a:ln>
        </p:spPr>
        <p:style>
          <a:lnRef idx="0"/>
          <a:fillRef idx="0"/>
          <a:effectRef idx="0"/>
          <a:fontRef idx="minor"/>
        </p:style>
        <p:txBody>
          <a:bodyPr lIns="0" rIns="0" tIns="0" bIns="0" anchor="ctr">
            <a:normAutofit fontScale="25000" lnSpcReduction="20000"/>
          </a:bodyPr>
          <a:p>
            <a:pPr defTabSz="914400">
              <a:lnSpc>
                <a:spcPct val="100000"/>
              </a:lnSpc>
              <a:tabLst>
                <a:tab algn="l" pos="0"/>
              </a:tabLst>
            </a:pPr>
            <a:r>
              <a:rPr b="0" lang="en-US" sz="850" spc="-1" strike="noStrike">
                <a:solidFill>
                  <a:srgbClr val="94a3b8"/>
                </a:solidFill>
                <a:latin typeface="Aptos"/>
                <a:ea typeface="Aptos"/>
              </a:rPr>
              <a:t>Stacking; but F1 only 0.0930</a:t>
            </a:r>
            <a:endParaRPr b="0" lang="en-GB" sz="850" spc="-1" strike="noStrike">
              <a:solidFill>
                <a:srgbClr val="ffffff"/>
              </a:solidFill>
              <a:latin typeface="Arial"/>
            </a:endParaRPr>
          </a:p>
        </p:txBody>
      </p:sp>
      <p:sp>
        <p:nvSpPr>
          <p:cNvPr id="1061" name="Shape 150"/>
          <p:cNvSpPr/>
          <p:nvPr/>
        </p:nvSpPr>
        <p:spPr>
          <a:xfrm>
            <a:off x="8321040" y="3968640"/>
            <a:ext cx="2514240" cy="959760"/>
          </a:xfrm>
          <a:prstGeom prst="roundRect">
            <a:avLst>
              <a:gd name="adj" fmla="val 11429"/>
            </a:avLst>
          </a:prstGeom>
          <a:solidFill>
            <a:srgbClr val="0b1a2e">
              <a:alpha val="95000"/>
            </a:srgbClr>
          </a:solidFill>
          <a:ln w="13970">
            <a:solidFill>
              <a:srgbClr val="f59e0b">
                <a:alpha val="6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062" name="Shape 151"/>
          <p:cNvSpPr/>
          <p:nvPr/>
        </p:nvSpPr>
        <p:spPr>
          <a:xfrm>
            <a:off x="8321040" y="3968640"/>
            <a:ext cx="72720" cy="959760"/>
          </a:xfrm>
          <a:prstGeom prst="rect">
            <a:avLst/>
          </a:prstGeom>
          <a:solidFill>
            <a:srgbClr val="f59e0b"/>
          </a:solidFill>
          <a:ln w="12700">
            <a:solidFill>
              <a:srgbClr val="f59e0b"/>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1063" name="Text 152"/>
          <p:cNvSpPr/>
          <p:nvPr/>
        </p:nvSpPr>
        <p:spPr>
          <a:xfrm>
            <a:off x="8522280" y="4169520"/>
            <a:ext cx="219420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720" spc="-1" strike="noStrike">
                <a:solidFill>
                  <a:srgbClr val="94a3b8"/>
                </a:solidFill>
                <a:latin typeface="Aptos"/>
                <a:ea typeface="Aptos"/>
              </a:rPr>
              <a:t>BEST RECALL IN TABLE</a:t>
            </a:r>
            <a:endParaRPr b="0" lang="en-GB" sz="720" spc="-1" strike="noStrike">
              <a:solidFill>
                <a:srgbClr val="ffffff"/>
              </a:solidFill>
              <a:latin typeface="Arial"/>
            </a:endParaRPr>
          </a:p>
        </p:txBody>
      </p:sp>
      <p:sp>
        <p:nvSpPr>
          <p:cNvPr id="1064" name="Text 153"/>
          <p:cNvSpPr/>
          <p:nvPr/>
        </p:nvSpPr>
        <p:spPr>
          <a:xfrm>
            <a:off x="8522280" y="4407480"/>
            <a:ext cx="2194200" cy="328680"/>
          </a:xfrm>
          <a:prstGeom prst="rect">
            <a:avLst/>
          </a:prstGeom>
          <a:noFill/>
          <a:ln w="0">
            <a:noFill/>
          </a:ln>
        </p:spPr>
        <p:style>
          <a:lnRef idx="0"/>
          <a:fillRef idx="0"/>
          <a:effectRef idx="0"/>
          <a:fontRef idx="minor"/>
        </p:style>
        <p:txBody>
          <a:bodyPr lIns="0" rIns="0" tIns="0" bIns="0" anchor="ctr">
            <a:normAutofit fontScale="96666"/>
          </a:bodyPr>
          <a:p>
            <a:pPr defTabSz="914400">
              <a:lnSpc>
                <a:spcPct val="100000"/>
              </a:lnSpc>
              <a:tabLst>
                <a:tab algn="l" pos="0"/>
              </a:tabLst>
            </a:pPr>
            <a:r>
              <a:rPr b="1" lang="en-US" sz="2300" spc="-1" strike="noStrike">
                <a:solidFill>
                  <a:srgbClr val="f8fafc"/>
                </a:solidFill>
                <a:latin typeface="Aptos Display"/>
                <a:ea typeface="Aptos Display"/>
              </a:rPr>
              <a:t>0.6341</a:t>
            </a:r>
            <a:endParaRPr b="0" lang="en-GB" sz="2300" spc="-1" strike="noStrike">
              <a:solidFill>
                <a:srgbClr val="ffffff"/>
              </a:solidFill>
              <a:latin typeface="Arial"/>
            </a:endParaRPr>
          </a:p>
        </p:txBody>
      </p:sp>
      <p:sp>
        <p:nvSpPr>
          <p:cNvPr id="1065" name="Text 154"/>
          <p:cNvSpPr/>
          <p:nvPr/>
        </p:nvSpPr>
        <p:spPr>
          <a:xfrm>
            <a:off x="8522280" y="4837320"/>
            <a:ext cx="2194200" cy="360"/>
          </a:xfrm>
          <a:prstGeom prst="rect">
            <a:avLst/>
          </a:prstGeom>
          <a:noFill/>
          <a:ln w="0">
            <a:noFill/>
          </a:ln>
        </p:spPr>
        <p:style>
          <a:lnRef idx="0"/>
          <a:fillRef idx="0"/>
          <a:effectRef idx="0"/>
          <a:fontRef idx="minor"/>
        </p:style>
        <p:txBody>
          <a:bodyPr lIns="0" rIns="0" tIns="0" bIns="0" anchor="ctr">
            <a:normAutofit fontScale="25000" lnSpcReduction="20000"/>
          </a:bodyPr>
          <a:p>
            <a:pPr defTabSz="914400">
              <a:lnSpc>
                <a:spcPct val="100000"/>
              </a:lnSpc>
              <a:tabLst>
                <a:tab algn="l" pos="0"/>
              </a:tabLst>
            </a:pPr>
            <a:r>
              <a:rPr b="0" lang="en-US" sz="850" spc="-1" strike="noStrike">
                <a:solidFill>
                  <a:srgbClr val="94a3b8"/>
                </a:solidFill>
                <a:latin typeface="Aptos"/>
                <a:ea typeface="Aptos"/>
              </a:rPr>
              <a:t>Tuned LR; misses 36.6% of deaths</a:t>
            </a:r>
            <a:endParaRPr b="0" lang="en-GB" sz="850" spc="-1" strike="noStrike">
              <a:solidFill>
                <a:srgbClr val="ffffff"/>
              </a:solidFill>
              <a:latin typeface="Arial"/>
            </a:endParaRPr>
          </a:p>
        </p:txBody>
      </p:sp>
      <p:sp>
        <p:nvSpPr>
          <p:cNvPr id="1066" name="Text 155"/>
          <p:cNvSpPr/>
          <p:nvPr/>
        </p:nvSpPr>
        <p:spPr>
          <a:xfrm>
            <a:off x="8321040" y="5285160"/>
            <a:ext cx="2742840" cy="502560"/>
          </a:xfrm>
          <a:prstGeom prst="rect">
            <a:avLst/>
          </a:prstGeom>
          <a:noFill/>
          <a:ln w="0">
            <a:noFill/>
          </a:ln>
        </p:spPr>
        <p:style>
          <a:lnRef idx="0"/>
          <a:fillRef idx="0"/>
          <a:effectRef idx="0"/>
          <a:fontRef idx="minor"/>
        </p:style>
        <p:txBody>
          <a:bodyPr lIns="0" rIns="0" tIns="0" bIns="0" anchor="ctr">
            <a:normAutofit fontScale="96666" lnSpcReduction="10000"/>
          </a:bodyPr>
          <a:p>
            <a:pPr defTabSz="914400">
              <a:lnSpc>
                <a:spcPct val="100000"/>
              </a:lnSpc>
              <a:tabLst>
                <a:tab algn="l" pos="0"/>
              </a:tabLst>
            </a:pPr>
            <a:r>
              <a:rPr b="1" lang="en-US" sz="900" spc="-1" strike="noStrike">
                <a:solidFill>
                  <a:srgbClr val="f8fafc"/>
                </a:solidFill>
                <a:latin typeface="Aptos"/>
                <a:ea typeface="Aptos"/>
              </a:rPr>
              <a:t>Threshold-tuned XGBoost is even stronger for decision policy: Best-F1 threshold = 0.5679 F1; Clinical threshold = 0.7805 recall.</a:t>
            </a:r>
            <a:endParaRPr b="0" lang="en-GB" sz="900" spc="-1" strike="noStrike">
              <a:solidFill>
                <a:srgbClr val="ffffff"/>
              </a:solidFill>
              <a:latin typeface="Arial"/>
            </a:endParaRPr>
          </a:p>
        </p:txBody>
      </p:sp>
      <p:sp>
        <p:nvSpPr>
          <p:cNvPr id="1067" name="Shape 156"/>
          <p:cNvSpPr/>
          <p:nvPr/>
        </p:nvSpPr>
        <p:spPr>
          <a:xfrm>
            <a:off x="502920" y="6555960"/>
            <a:ext cx="11201400" cy="360"/>
          </a:xfrm>
          <a:prstGeom prst="line">
            <a:avLst/>
          </a:prstGeom>
          <a:ln w="7620">
            <a:solidFill>
              <a:srgbClr val="334155">
                <a:alpha val="60000"/>
              </a:srgbClr>
            </a:solidFill>
            <a:round/>
          </a:ln>
        </p:spPr>
        <p:style>
          <a:lnRef idx="0"/>
          <a:fillRef idx="0"/>
          <a:effectRef idx="0"/>
          <a:fontRef idx="minor"/>
        </p:style>
        <p:txBody>
          <a:bodyPr lIns="90000" rIns="90000" tIns="-44640" bIns="-44640" anchor="t" anchorCtr="1">
            <a:noAutofit/>
          </a:bodyPr>
          <a:p>
            <a:endParaRPr b="0" lang="en-GB" sz="1800" spc="-1" strike="noStrike">
              <a:solidFill>
                <a:srgbClr val="ffffff"/>
              </a:solidFill>
              <a:latin typeface="Arial"/>
            </a:endParaRPr>
          </a:p>
        </p:txBody>
      </p:sp>
      <p:sp>
        <p:nvSpPr>
          <p:cNvPr id="1068" name="Text 157"/>
          <p:cNvSpPr/>
          <p:nvPr/>
        </p:nvSpPr>
        <p:spPr>
          <a:xfrm>
            <a:off x="530280" y="6602040"/>
            <a:ext cx="6217560" cy="145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650" spc="-1" strike="noStrike">
                <a:solidFill>
                  <a:srgbClr val="94a3b8"/>
                </a:solidFill>
                <a:latin typeface="Aptos"/>
                <a:ea typeface="Aptos"/>
              </a:rPr>
              <a:t>Clinical Outcome Prediction • Myocardial Infarction Complications</a:t>
            </a:r>
            <a:endParaRPr b="0" lang="en-GB" sz="650" spc="-1" strike="noStrike">
              <a:solidFill>
                <a:srgbClr val="ffffff"/>
              </a:solidFill>
              <a:latin typeface="Arial"/>
            </a:endParaRPr>
          </a:p>
        </p:txBody>
      </p:sp>
      <p:sp>
        <p:nvSpPr>
          <p:cNvPr id="1069" name="Text 158"/>
          <p:cNvSpPr/>
          <p:nvPr/>
        </p:nvSpPr>
        <p:spPr>
          <a:xfrm>
            <a:off x="11201400" y="6565320"/>
            <a:ext cx="502560" cy="2282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750" spc="-1" strike="noStrike">
                <a:solidFill>
                  <a:srgbClr val="94a3b8"/>
                </a:solidFill>
                <a:latin typeface="Aptos"/>
                <a:ea typeface="Aptos"/>
              </a:rPr>
              <a:t>13</a:t>
            </a:r>
            <a:endParaRPr b="0" lang="en-GB" sz="7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01f"/>
        </a:solidFill>
      </p:bgPr>
    </p:bg>
    <p:spTree>
      <p:nvGrpSpPr>
        <p:cNvPr id="1" name=""/>
        <p:cNvGrpSpPr/>
        <p:nvPr/>
      </p:nvGrpSpPr>
      <p:grpSpPr>
        <a:xfrm>
          <a:off x="0" y="0"/>
          <a:ext cx="0" cy="0"/>
          <a:chOff x="0" y="0"/>
          <a:chExt cx="0" cy="0"/>
        </a:xfrm>
      </p:grpSpPr>
      <p:sp>
        <p:nvSpPr>
          <p:cNvPr id="1070" name="Shape 0"/>
          <p:cNvSpPr/>
          <p:nvPr/>
        </p:nvSpPr>
        <p:spPr>
          <a:xfrm>
            <a:off x="0" y="0"/>
            <a:ext cx="12191400" cy="6857640"/>
          </a:xfrm>
          <a:prstGeom prst="rect">
            <a:avLst/>
          </a:prstGeom>
          <a:solidFill>
            <a:srgbClr val="06101f"/>
          </a:solidFill>
          <a:ln w="12700">
            <a:solidFill>
              <a:srgbClr val="06101f"/>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071" name="Shape 1"/>
          <p:cNvSpPr/>
          <p:nvPr/>
        </p:nvSpPr>
        <p:spPr>
          <a:xfrm>
            <a:off x="0" y="0"/>
            <a:ext cx="12191400" cy="6857640"/>
          </a:xfrm>
          <a:prstGeom prst="rect">
            <a:avLst/>
          </a:prstGeom>
          <a:solidFill>
            <a:srgbClr val="081629">
              <a:alpha val="85000"/>
            </a:srgbClr>
          </a:solidFill>
          <a:ln w="12700">
            <a:solidFill>
              <a:srgbClr val="081629">
                <a:alpha val="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072" name="Shape 2"/>
          <p:cNvSpPr/>
          <p:nvPr/>
        </p:nvSpPr>
        <p:spPr>
          <a:xfrm>
            <a:off x="-1554480" y="-1737360"/>
            <a:ext cx="5486040" cy="5486040"/>
          </a:xfrm>
          <a:prstGeom prst="arc">
            <a:avLst>
              <a:gd name="adj1" fmla="val 16200000"/>
              <a:gd name="adj2" fmla="val 0"/>
            </a:avLst>
          </a:prstGeom>
          <a:noFill/>
          <a:ln w="13970">
            <a:solidFill>
              <a:srgbClr val="14b8a6">
                <a:alpha val="3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073" name="Shape 3"/>
          <p:cNvSpPr/>
          <p:nvPr/>
        </p:nvSpPr>
        <p:spPr>
          <a:xfrm>
            <a:off x="7680960" y="3840480"/>
            <a:ext cx="5486040" cy="5486040"/>
          </a:xfrm>
          <a:prstGeom prst="arc">
            <a:avLst>
              <a:gd name="adj1" fmla="val 16200000"/>
              <a:gd name="adj2" fmla="val 0"/>
            </a:avLst>
          </a:prstGeom>
          <a:noFill/>
          <a:ln w="12700">
            <a:solidFill>
              <a:srgbClr val="f59e0b">
                <a:alpha val="22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074" name="Text 4"/>
          <p:cNvSpPr/>
          <p:nvPr/>
        </p:nvSpPr>
        <p:spPr>
          <a:xfrm>
            <a:off x="567000" y="347400"/>
            <a:ext cx="594324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50" spc="-1" strike="noStrike">
                <a:solidFill>
                  <a:srgbClr val="14b8a6"/>
                </a:solidFill>
                <a:latin typeface="Aptos"/>
                <a:ea typeface="Aptos"/>
              </a:rPr>
              <a:t>CONFUSION MATRIX INTERPRETATION</a:t>
            </a:r>
            <a:endParaRPr b="0" lang="en-GB" sz="850" spc="-1" strike="noStrike">
              <a:solidFill>
                <a:srgbClr val="ffffff"/>
              </a:solidFill>
              <a:latin typeface="Arial"/>
            </a:endParaRPr>
          </a:p>
        </p:txBody>
      </p:sp>
      <p:sp>
        <p:nvSpPr>
          <p:cNvPr id="1075" name="Text 5"/>
          <p:cNvSpPr/>
          <p:nvPr/>
        </p:nvSpPr>
        <p:spPr>
          <a:xfrm>
            <a:off x="548640" y="658440"/>
            <a:ext cx="10926720" cy="5940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400" spc="-1" strike="noStrike">
                <a:solidFill>
                  <a:srgbClr val="f8fafc"/>
                </a:solidFill>
                <a:latin typeface="Aptos Display"/>
                <a:ea typeface="Aptos Display"/>
              </a:rPr>
              <a:t>The model choice changes the clinical errors</a:t>
            </a:r>
            <a:endParaRPr b="0" lang="en-GB" sz="2400" spc="-1" strike="noStrike">
              <a:solidFill>
                <a:srgbClr val="ffffff"/>
              </a:solidFill>
              <a:latin typeface="Arial"/>
            </a:endParaRPr>
          </a:p>
        </p:txBody>
      </p:sp>
      <p:sp>
        <p:nvSpPr>
          <p:cNvPr id="1076" name="Text 6"/>
          <p:cNvSpPr/>
          <p:nvPr/>
        </p:nvSpPr>
        <p:spPr>
          <a:xfrm>
            <a:off x="567000" y="1216080"/>
            <a:ext cx="1051524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50" spc="-1" strike="noStrike">
                <a:solidFill>
                  <a:srgbClr val="94a3b8"/>
                </a:solidFill>
                <a:latin typeface="Aptos"/>
                <a:ea typeface="Aptos"/>
              </a:rPr>
              <a:t>Support on test set: 214 survived, 41 died. False negatives are missed mortalities.</a:t>
            </a:r>
            <a:endParaRPr b="0" lang="en-GB" sz="1050" spc="-1" strike="noStrike">
              <a:solidFill>
                <a:srgbClr val="ffffff"/>
              </a:solidFill>
              <a:latin typeface="Arial"/>
            </a:endParaRPr>
          </a:p>
        </p:txBody>
      </p:sp>
      <p:sp>
        <p:nvSpPr>
          <p:cNvPr id="1077" name="Shape 7"/>
          <p:cNvSpPr/>
          <p:nvPr/>
        </p:nvSpPr>
        <p:spPr>
          <a:xfrm>
            <a:off x="658440" y="1508760"/>
            <a:ext cx="10972440" cy="2349720"/>
          </a:xfrm>
          <a:prstGeom prst="roundRect">
            <a:avLst>
              <a:gd name="adj" fmla="val 3113"/>
            </a:avLst>
          </a:prstGeom>
          <a:solidFill>
            <a:srgbClr val="0b1a2e"/>
          </a:solidFill>
          <a:ln w="1016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078" name="Shape 8"/>
          <p:cNvSpPr/>
          <p:nvPr/>
        </p:nvSpPr>
        <p:spPr>
          <a:xfrm>
            <a:off x="658440" y="1508760"/>
            <a:ext cx="1965600" cy="292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079" name="Text 9"/>
          <p:cNvSpPr/>
          <p:nvPr/>
        </p:nvSpPr>
        <p:spPr>
          <a:xfrm>
            <a:off x="685800" y="1581840"/>
            <a:ext cx="191088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10" spc="-1" strike="noStrike">
                <a:solidFill>
                  <a:srgbClr val="f8fafc"/>
                </a:solidFill>
                <a:latin typeface="Aptos"/>
                <a:ea typeface="Aptos"/>
              </a:rPr>
              <a:t>Model / policy</a:t>
            </a:r>
            <a:endParaRPr b="0" lang="en-GB" sz="710" spc="-1" strike="noStrike">
              <a:solidFill>
                <a:srgbClr val="ffffff"/>
              </a:solidFill>
              <a:latin typeface="Arial"/>
            </a:endParaRPr>
          </a:p>
        </p:txBody>
      </p:sp>
      <p:sp>
        <p:nvSpPr>
          <p:cNvPr id="1080" name="Shape 10"/>
          <p:cNvSpPr/>
          <p:nvPr/>
        </p:nvSpPr>
        <p:spPr>
          <a:xfrm>
            <a:off x="2624400" y="1508760"/>
            <a:ext cx="594000" cy="292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081" name="Text 11"/>
          <p:cNvSpPr/>
          <p:nvPr/>
        </p:nvSpPr>
        <p:spPr>
          <a:xfrm>
            <a:off x="2651760" y="1581840"/>
            <a:ext cx="53928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10" spc="-1" strike="noStrike">
                <a:solidFill>
                  <a:srgbClr val="f8fafc"/>
                </a:solidFill>
                <a:latin typeface="Aptos"/>
                <a:ea typeface="Aptos"/>
              </a:rPr>
              <a:t>TN</a:t>
            </a:r>
            <a:endParaRPr b="0" lang="en-GB" sz="710" spc="-1" strike="noStrike">
              <a:solidFill>
                <a:srgbClr val="ffffff"/>
              </a:solidFill>
              <a:latin typeface="Arial"/>
            </a:endParaRPr>
          </a:p>
        </p:txBody>
      </p:sp>
      <p:sp>
        <p:nvSpPr>
          <p:cNvPr id="1082" name="Shape 12"/>
          <p:cNvSpPr/>
          <p:nvPr/>
        </p:nvSpPr>
        <p:spPr>
          <a:xfrm>
            <a:off x="3218760" y="1508760"/>
            <a:ext cx="594000" cy="292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083" name="Text 13"/>
          <p:cNvSpPr/>
          <p:nvPr/>
        </p:nvSpPr>
        <p:spPr>
          <a:xfrm>
            <a:off x="3246120" y="1581840"/>
            <a:ext cx="53928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10" spc="-1" strike="noStrike">
                <a:solidFill>
                  <a:srgbClr val="f8fafc"/>
                </a:solidFill>
                <a:latin typeface="Aptos"/>
                <a:ea typeface="Aptos"/>
              </a:rPr>
              <a:t>FP</a:t>
            </a:r>
            <a:endParaRPr b="0" lang="en-GB" sz="710" spc="-1" strike="noStrike">
              <a:solidFill>
                <a:srgbClr val="ffffff"/>
              </a:solidFill>
              <a:latin typeface="Arial"/>
            </a:endParaRPr>
          </a:p>
        </p:txBody>
      </p:sp>
      <p:sp>
        <p:nvSpPr>
          <p:cNvPr id="1084" name="Shape 14"/>
          <p:cNvSpPr/>
          <p:nvPr/>
        </p:nvSpPr>
        <p:spPr>
          <a:xfrm>
            <a:off x="3813120" y="1508760"/>
            <a:ext cx="594000" cy="292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085" name="Text 15"/>
          <p:cNvSpPr/>
          <p:nvPr/>
        </p:nvSpPr>
        <p:spPr>
          <a:xfrm>
            <a:off x="3840480" y="1581840"/>
            <a:ext cx="53928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10" spc="-1" strike="noStrike">
                <a:solidFill>
                  <a:srgbClr val="f8fafc"/>
                </a:solidFill>
                <a:latin typeface="Aptos"/>
                <a:ea typeface="Aptos"/>
              </a:rPr>
              <a:t>FN</a:t>
            </a:r>
            <a:endParaRPr b="0" lang="en-GB" sz="710" spc="-1" strike="noStrike">
              <a:solidFill>
                <a:srgbClr val="ffffff"/>
              </a:solidFill>
              <a:latin typeface="Arial"/>
            </a:endParaRPr>
          </a:p>
        </p:txBody>
      </p:sp>
      <p:sp>
        <p:nvSpPr>
          <p:cNvPr id="1086" name="Shape 16"/>
          <p:cNvSpPr/>
          <p:nvPr/>
        </p:nvSpPr>
        <p:spPr>
          <a:xfrm>
            <a:off x="4407480" y="1508760"/>
            <a:ext cx="594000" cy="292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087" name="Text 17"/>
          <p:cNvSpPr/>
          <p:nvPr/>
        </p:nvSpPr>
        <p:spPr>
          <a:xfrm>
            <a:off x="4434840" y="1581840"/>
            <a:ext cx="53928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10" spc="-1" strike="noStrike">
                <a:solidFill>
                  <a:srgbClr val="f8fafc"/>
                </a:solidFill>
                <a:latin typeface="Aptos"/>
                <a:ea typeface="Aptos"/>
              </a:rPr>
              <a:t>TP</a:t>
            </a:r>
            <a:endParaRPr b="0" lang="en-GB" sz="710" spc="-1" strike="noStrike">
              <a:solidFill>
                <a:srgbClr val="ffffff"/>
              </a:solidFill>
              <a:latin typeface="Arial"/>
            </a:endParaRPr>
          </a:p>
        </p:txBody>
      </p:sp>
      <p:sp>
        <p:nvSpPr>
          <p:cNvPr id="1088" name="Shape 18"/>
          <p:cNvSpPr/>
          <p:nvPr/>
        </p:nvSpPr>
        <p:spPr>
          <a:xfrm>
            <a:off x="5001840" y="1508760"/>
            <a:ext cx="1142640" cy="292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089" name="Text 19"/>
          <p:cNvSpPr/>
          <p:nvPr/>
        </p:nvSpPr>
        <p:spPr>
          <a:xfrm>
            <a:off x="5029200" y="1581840"/>
            <a:ext cx="108792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10" spc="-1" strike="noStrike">
                <a:solidFill>
                  <a:srgbClr val="f8fafc"/>
                </a:solidFill>
                <a:latin typeface="Aptos"/>
                <a:ea typeface="Aptos"/>
              </a:rPr>
              <a:t>Missed deaths</a:t>
            </a:r>
            <a:endParaRPr b="0" lang="en-GB" sz="710" spc="-1" strike="noStrike">
              <a:solidFill>
                <a:srgbClr val="ffffff"/>
              </a:solidFill>
              <a:latin typeface="Arial"/>
            </a:endParaRPr>
          </a:p>
        </p:txBody>
      </p:sp>
      <p:sp>
        <p:nvSpPr>
          <p:cNvPr id="1090" name="Shape 20"/>
          <p:cNvSpPr/>
          <p:nvPr/>
        </p:nvSpPr>
        <p:spPr>
          <a:xfrm>
            <a:off x="6144840" y="1508760"/>
            <a:ext cx="4571640" cy="292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091" name="Text 21"/>
          <p:cNvSpPr/>
          <p:nvPr/>
        </p:nvSpPr>
        <p:spPr>
          <a:xfrm>
            <a:off x="6172200" y="1581840"/>
            <a:ext cx="451692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10" spc="-1" strike="noStrike">
                <a:solidFill>
                  <a:srgbClr val="f8fafc"/>
                </a:solidFill>
                <a:latin typeface="Aptos"/>
                <a:ea typeface="Aptos"/>
              </a:rPr>
              <a:t>Interpretation</a:t>
            </a:r>
            <a:endParaRPr b="0" lang="en-GB" sz="710" spc="-1" strike="noStrike">
              <a:solidFill>
                <a:srgbClr val="ffffff"/>
              </a:solidFill>
              <a:latin typeface="Arial"/>
            </a:endParaRPr>
          </a:p>
        </p:txBody>
      </p:sp>
      <p:sp>
        <p:nvSpPr>
          <p:cNvPr id="1092" name="Shape 22"/>
          <p:cNvSpPr/>
          <p:nvPr/>
        </p:nvSpPr>
        <p:spPr>
          <a:xfrm>
            <a:off x="658440" y="1801440"/>
            <a:ext cx="1965600" cy="50256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093" name="Text 23"/>
          <p:cNvSpPr/>
          <p:nvPr/>
        </p:nvSpPr>
        <p:spPr>
          <a:xfrm>
            <a:off x="685800" y="1874520"/>
            <a:ext cx="1910880" cy="438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710" spc="-1" strike="noStrike">
                <a:solidFill>
                  <a:srgbClr val="f8fafc"/>
                </a:solidFill>
                <a:latin typeface="Aptos"/>
                <a:ea typeface="Aptos"/>
              </a:rPr>
              <a:t>Tuned LR</a:t>
            </a:r>
            <a:endParaRPr b="0" lang="en-GB" sz="710" spc="-1" strike="noStrike">
              <a:solidFill>
                <a:srgbClr val="ffffff"/>
              </a:solidFill>
              <a:latin typeface="Arial"/>
            </a:endParaRPr>
          </a:p>
        </p:txBody>
      </p:sp>
      <p:sp>
        <p:nvSpPr>
          <p:cNvPr id="1094" name="Shape 24"/>
          <p:cNvSpPr/>
          <p:nvPr/>
        </p:nvSpPr>
        <p:spPr>
          <a:xfrm>
            <a:off x="2624400" y="1801440"/>
            <a:ext cx="594000" cy="50256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095" name="Text 25"/>
          <p:cNvSpPr/>
          <p:nvPr/>
        </p:nvSpPr>
        <p:spPr>
          <a:xfrm>
            <a:off x="2651760" y="1874520"/>
            <a:ext cx="539280" cy="4384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10" spc="-1" strike="noStrike">
                <a:solidFill>
                  <a:srgbClr val="f8fafc"/>
                </a:solidFill>
                <a:latin typeface="Aptos"/>
                <a:ea typeface="Aptos"/>
              </a:rPr>
              <a:t>168</a:t>
            </a:r>
            <a:endParaRPr b="0" lang="en-GB" sz="710" spc="-1" strike="noStrike">
              <a:solidFill>
                <a:srgbClr val="ffffff"/>
              </a:solidFill>
              <a:latin typeface="Arial"/>
            </a:endParaRPr>
          </a:p>
        </p:txBody>
      </p:sp>
      <p:sp>
        <p:nvSpPr>
          <p:cNvPr id="1096" name="Shape 26"/>
          <p:cNvSpPr/>
          <p:nvPr/>
        </p:nvSpPr>
        <p:spPr>
          <a:xfrm>
            <a:off x="3218760" y="1801440"/>
            <a:ext cx="594000" cy="50256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097" name="Text 27"/>
          <p:cNvSpPr/>
          <p:nvPr/>
        </p:nvSpPr>
        <p:spPr>
          <a:xfrm>
            <a:off x="3246120" y="1874520"/>
            <a:ext cx="539280" cy="4384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10" spc="-1" strike="noStrike">
                <a:solidFill>
                  <a:srgbClr val="f8fafc"/>
                </a:solidFill>
                <a:latin typeface="Aptos"/>
                <a:ea typeface="Aptos"/>
              </a:rPr>
              <a:t>46</a:t>
            </a:r>
            <a:endParaRPr b="0" lang="en-GB" sz="710" spc="-1" strike="noStrike">
              <a:solidFill>
                <a:srgbClr val="ffffff"/>
              </a:solidFill>
              <a:latin typeface="Arial"/>
            </a:endParaRPr>
          </a:p>
        </p:txBody>
      </p:sp>
      <p:sp>
        <p:nvSpPr>
          <p:cNvPr id="1098" name="Shape 28"/>
          <p:cNvSpPr/>
          <p:nvPr/>
        </p:nvSpPr>
        <p:spPr>
          <a:xfrm>
            <a:off x="3813120" y="1801440"/>
            <a:ext cx="594000" cy="50256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099" name="Text 29"/>
          <p:cNvSpPr/>
          <p:nvPr/>
        </p:nvSpPr>
        <p:spPr>
          <a:xfrm>
            <a:off x="3840480" y="1874520"/>
            <a:ext cx="539280" cy="4384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10" spc="-1" strike="noStrike">
                <a:solidFill>
                  <a:srgbClr val="f8fafc"/>
                </a:solidFill>
                <a:latin typeface="Aptos"/>
                <a:ea typeface="Aptos"/>
              </a:rPr>
              <a:t>15</a:t>
            </a:r>
            <a:endParaRPr b="0" lang="en-GB" sz="710" spc="-1" strike="noStrike">
              <a:solidFill>
                <a:srgbClr val="ffffff"/>
              </a:solidFill>
              <a:latin typeface="Arial"/>
            </a:endParaRPr>
          </a:p>
        </p:txBody>
      </p:sp>
      <p:sp>
        <p:nvSpPr>
          <p:cNvPr id="1100" name="Shape 30"/>
          <p:cNvSpPr/>
          <p:nvPr/>
        </p:nvSpPr>
        <p:spPr>
          <a:xfrm>
            <a:off x="4407480" y="1801440"/>
            <a:ext cx="594000" cy="50256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101" name="Text 31"/>
          <p:cNvSpPr/>
          <p:nvPr/>
        </p:nvSpPr>
        <p:spPr>
          <a:xfrm>
            <a:off x="4434840" y="1874520"/>
            <a:ext cx="539280" cy="4384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10" spc="-1" strike="noStrike">
                <a:solidFill>
                  <a:srgbClr val="f8fafc"/>
                </a:solidFill>
                <a:latin typeface="Aptos"/>
                <a:ea typeface="Aptos"/>
              </a:rPr>
              <a:t>26</a:t>
            </a:r>
            <a:endParaRPr b="0" lang="en-GB" sz="710" spc="-1" strike="noStrike">
              <a:solidFill>
                <a:srgbClr val="ffffff"/>
              </a:solidFill>
              <a:latin typeface="Arial"/>
            </a:endParaRPr>
          </a:p>
        </p:txBody>
      </p:sp>
      <p:sp>
        <p:nvSpPr>
          <p:cNvPr id="1102" name="Shape 32"/>
          <p:cNvSpPr/>
          <p:nvPr/>
        </p:nvSpPr>
        <p:spPr>
          <a:xfrm>
            <a:off x="5001840" y="1801440"/>
            <a:ext cx="1142640" cy="50256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103" name="Text 33"/>
          <p:cNvSpPr/>
          <p:nvPr/>
        </p:nvSpPr>
        <p:spPr>
          <a:xfrm>
            <a:off x="5029200" y="1874520"/>
            <a:ext cx="1087920" cy="4384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10" spc="-1" strike="noStrike">
                <a:solidFill>
                  <a:srgbClr val="f8fafc"/>
                </a:solidFill>
                <a:latin typeface="Aptos"/>
                <a:ea typeface="Aptos"/>
              </a:rPr>
              <a:t>36.6%</a:t>
            </a:r>
            <a:endParaRPr b="0" lang="en-GB" sz="710" spc="-1" strike="noStrike">
              <a:solidFill>
                <a:srgbClr val="ffffff"/>
              </a:solidFill>
              <a:latin typeface="Arial"/>
            </a:endParaRPr>
          </a:p>
        </p:txBody>
      </p:sp>
      <p:sp>
        <p:nvSpPr>
          <p:cNvPr id="1104" name="Shape 34"/>
          <p:cNvSpPr/>
          <p:nvPr/>
        </p:nvSpPr>
        <p:spPr>
          <a:xfrm>
            <a:off x="6144840" y="1801440"/>
            <a:ext cx="4571640" cy="50256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105" name="Text 35"/>
          <p:cNvSpPr/>
          <p:nvPr/>
        </p:nvSpPr>
        <p:spPr>
          <a:xfrm>
            <a:off x="6172200" y="1874520"/>
            <a:ext cx="4516920" cy="4384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10" spc="-1" strike="noStrike">
                <a:solidFill>
                  <a:srgbClr val="f8fafc"/>
                </a:solidFill>
                <a:latin typeface="Aptos"/>
                <a:ea typeface="Aptos"/>
              </a:rPr>
              <a:t>Highest recall among default models</a:t>
            </a:r>
            <a:endParaRPr b="0" lang="en-GB" sz="710" spc="-1" strike="noStrike">
              <a:solidFill>
                <a:srgbClr val="ffffff"/>
              </a:solidFill>
              <a:latin typeface="Arial"/>
            </a:endParaRPr>
          </a:p>
        </p:txBody>
      </p:sp>
      <p:sp>
        <p:nvSpPr>
          <p:cNvPr id="1106" name="Shape 36"/>
          <p:cNvSpPr/>
          <p:nvPr/>
        </p:nvSpPr>
        <p:spPr>
          <a:xfrm>
            <a:off x="658440" y="2304360"/>
            <a:ext cx="1965600" cy="50256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107" name="Text 37"/>
          <p:cNvSpPr/>
          <p:nvPr/>
        </p:nvSpPr>
        <p:spPr>
          <a:xfrm>
            <a:off x="685800" y="2377440"/>
            <a:ext cx="1910880" cy="438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710" spc="-1" strike="noStrike">
                <a:solidFill>
                  <a:srgbClr val="f8fafc"/>
                </a:solidFill>
                <a:latin typeface="Aptos"/>
                <a:ea typeface="Aptos"/>
              </a:rPr>
              <a:t>Tuned XGB default</a:t>
            </a:r>
            <a:endParaRPr b="0" lang="en-GB" sz="710" spc="-1" strike="noStrike">
              <a:solidFill>
                <a:srgbClr val="ffffff"/>
              </a:solidFill>
              <a:latin typeface="Arial"/>
            </a:endParaRPr>
          </a:p>
        </p:txBody>
      </p:sp>
      <p:sp>
        <p:nvSpPr>
          <p:cNvPr id="1108" name="Shape 38"/>
          <p:cNvSpPr/>
          <p:nvPr/>
        </p:nvSpPr>
        <p:spPr>
          <a:xfrm>
            <a:off x="2624400" y="2304360"/>
            <a:ext cx="594000" cy="50256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109" name="Text 39"/>
          <p:cNvSpPr/>
          <p:nvPr/>
        </p:nvSpPr>
        <p:spPr>
          <a:xfrm>
            <a:off x="2651760" y="2377440"/>
            <a:ext cx="539280" cy="4384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10" spc="-1" strike="noStrike">
                <a:solidFill>
                  <a:srgbClr val="f8fafc"/>
                </a:solidFill>
                <a:latin typeface="Aptos"/>
                <a:ea typeface="Aptos"/>
              </a:rPr>
              <a:t>207</a:t>
            </a:r>
            <a:endParaRPr b="0" lang="en-GB" sz="710" spc="-1" strike="noStrike">
              <a:solidFill>
                <a:srgbClr val="ffffff"/>
              </a:solidFill>
              <a:latin typeface="Arial"/>
            </a:endParaRPr>
          </a:p>
        </p:txBody>
      </p:sp>
      <p:sp>
        <p:nvSpPr>
          <p:cNvPr id="1110" name="Shape 40"/>
          <p:cNvSpPr/>
          <p:nvPr/>
        </p:nvSpPr>
        <p:spPr>
          <a:xfrm>
            <a:off x="3218760" y="2304360"/>
            <a:ext cx="594000" cy="50256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111" name="Text 41"/>
          <p:cNvSpPr/>
          <p:nvPr/>
        </p:nvSpPr>
        <p:spPr>
          <a:xfrm>
            <a:off x="3246120" y="2377440"/>
            <a:ext cx="539280" cy="4384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10" spc="-1" strike="noStrike">
                <a:solidFill>
                  <a:srgbClr val="f8fafc"/>
                </a:solidFill>
                <a:latin typeface="Aptos"/>
                <a:ea typeface="Aptos"/>
              </a:rPr>
              <a:t>7</a:t>
            </a:r>
            <a:endParaRPr b="0" lang="en-GB" sz="710" spc="-1" strike="noStrike">
              <a:solidFill>
                <a:srgbClr val="ffffff"/>
              </a:solidFill>
              <a:latin typeface="Arial"/>
            </a:endParaRPr>
          </a:p>
        </p:txBody>
      </p:sp>
      <p:sp>
        <p:nvSpPr>
          <p:cNvPr id="1112" name="Shape 42"/>
          <p:cNvSpPr/>
          <p:nvPr/>
        </p:nvSpPr>
        <p:spPr>
          <a:xfrm>
            <a:off x="3813120" y="2304360"/>
            <a:ext cx="594000" cy="50256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113" name="Text 43"/>
          <p:cNvSpPr/>
          <p:nvPr/>
        </p:nvSpPr>
        <p:spPr>
          <a:xfrm>
            <a:off x="3840480" y="2377440"/>
            <a:ext cx="539280" cy="4384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10" spc="-1" strike="noStrike">
                <a:solidFill>
                  <a:srgbClr val="f8fafc"/>
                </a:solidFill>
                <a:latin typeface="Aptos"/>
                <a:ea typeface="Aptos"/>
              </a:rPr>
              <a:t>26</a:t>
            </a:r>
            <a:endParaRPr b="0" lang="en-GB" sz="710" spc="-1" strike="noStrike">
              <a:solidFill>
                <a:srgbClr val="ffffff"/>
              </a:solidFill>
              <a:latin typeface="Arial"/>
            </a:endParaRPr>
          </a:p>
        </p:txBody>
      </p:sp>
      <p:sp>
        <p:nvSpPr>
          <p:cNvPr id="1114" name="Shape 44"/>
          <p:cNvSpPr/>
          <p:nvPr/>
        </p:nvSpPr>
        <p:spPr>
          <a:xfrm>
            <a:off x="4407480" y="2304360"/>
            <a:ext cx="594000" cy="50256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115" name="Text 45"/>
          <p:cNvSpPr/>
          <p:nvPr/>
        </p:nvSpPr>
        <p:spPr>
          <a:xfrm>
            <a:off x="4434840" y="2377440"/>
            <a:ext cx="539280" cy="4384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10" spc="-1" strike="noStrike">
                <a:solidFill>
                  <a:srgbClr val="f8fafc"/>
                </a:solidFill>
                <a:latin typeface="Aptos"/>
                <a:ea typeface="Aptos"/>
              </a:rPr>
              <a:t>15</a:t>
            </a:r>
            <a:endParaRPr b="0" lang="en-GB" sz="710" spc="-1" strike="noStrike">
              <a:solidFill>
                <a:srgbClr val="ffffff"/>
              </a:solidFill>
              <a:latin typeface="Arial"/>
            </a:endParaRPr>
          </a:p>
        </p:txBody>
      </p:sp>
      <p:sp>
        <p:nvSpPr>
          <p:cNvPr id="1116" name="Shape 46"/>
          <p:cNvSpPr/>
          <p:nvPr/>
        </p:nvSpPr>
        <p:spPr>
          <a:xfrm>
            <a:off x="5001840" y="2304360"/>
            <a:ext cx="1142640" cy="50256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117" name="Text 47"/>
          <p:cNvSpPr/>
          <p:nvPr/>
        </p:nvSpPr>
        <p:spPr>
          <a:xfrm>
            <a:off x="5029200" y="2377440"/>
            <a:ext cx="1087920" cy="4384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10" spc="-1" strike="noStrike">
                <a:solidFill>
                  <a:srgbClr val="f8fafc"/>
                </a:solidFill>
                <a:latin typeface="Aptos"/>
                <a:ea typeface="Aptos"/>
              </a:rPr>
              <a:t>63.4%</a:t>
            </a:r>
            <a:endParaRPr b="0" lang="en-GB" sz="710" spc="-1" strike="noStrike">
              <a:solidFill>
                <a:srgbClr val="ffffff"/>
              </a:solidFill>
              <a:latin typeface="Arial"/>
            </a:endParaRPr>
          </a:p>
        </p:txBody>
      </p:sp>
      <p:sp>
        <p:nvSpPr>
          <p:cNvPr id="1118" name="Shape 48"/>
          <p:cNvSpPr/>
          <p:nvPr/>
        </p:nvSpPr>
        <p:spPr>
          <a:xfrm>
            <a:off x="6144840" y="2304360"/>
            <a:ext cx="4571640" cy="50256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119" name="Text 49"/>
          <p:cNvSpPr/>
          <p:nvPr/>
        </p:nvSpPr>
        <p:spPr>
          <a:xfrm>
            <a:off x="6172200" y="2377440"/>
            <a:ext cx="4516920" cy="4384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10" spc="-1" strike="noStrike">
                <a:solidFill>
                  <a:srgbClr val="f8fafc"/>
                </a:solidFill>
                <a:latin typeface="Aptos"/>
                <a:ea typeface="Aptos"/>
              </a:rPr>
              <a:t>High precision and AUC, weak default recall</a:t>
            </a:r>
            <a:endParaRPr b="0" lang="en-GB" sz="710" spc="-1" strike="noStrike">
              <a:solidFill>
                <a:srgbClr val="ffffff"/>
              </a:solidFill>
              <a:latin typeface="Arial"/>
            </a:endParaRPr>
          </a:p>
        </p:txBody>
      </p:sp>
      <p:sp>
        <p:nvSpPr>
          <p:cNvPr id="1120" name="Shape 50"/>
          <p:cNvSpPr/>
          <p:nvPr/>
        </p:nvSpPr>
        <p:spPr>
          <a:xfrm>
            <a:off x="658440" y="2807280"/>
            <a:ext cx="1965600" cy="50256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121" name="Text 51"/>
          <p:cNvSpPr/>
          <p:nvPr/>
        </p:nvSpPr>
        <p:spPr>
          <a:xfrm>
            <a:off x="685800" y="2880360"/>
            <a:ext cx="1910880" cy="438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710" spc="-1" strike="noStrike">
                <a:solidFill>
                  <a:srgbClr val="f8fafc"/>
                </a:solidFill>
                <a:latin typeface="Aptos"/>
                <a:ea typeface="Aptos"/>
              </a:rPr>
              <a:t>Voting Hard</a:t>
            </a:r>
            <a:endParaRPr b="0" lang="en-GB" sz="710" spc="-1" strike="noStrike">
              <a:solidFill>
                <a:srgbClr val="ffffff"/>
              </a:solidFill>
              <a:latin typeface="Arial"/>
            </a:endParaRPr>
          </a:p>
        </p:txBody>
      </p:sp>
      <p:sp>
        <p:nvSpPr>
          <p:cNvPr id="1122" name="Shape 52"/>
          <p:cNvSpPr/>
          <p:nvPr/>
        </p:nvSpPr>
        <p:spPr>
          <a:xfrm>
            <a:off x="2624400" y="2807280"/>
            <a:ext cx="594000" cy="50256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123" name="Text 53"/>
          <p:cNvSpPr/>
          <p:nvPr/>
        </p:nvSpPr>
        <p:spPr>
          <a:xfrm>
            <a:off x="2651760" y="2880360"/>
            <a:ext cx="539280" cy="4384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10" spc="-1" strike="noStrike">
                <a:solidFill>
                  <a:srgbClr val="f8fafc"/>
                </a:solidFill>
                <a:latin typeface="Aptos"/>
                <a:ea typeface="Aptos"/>
              </a:rPr>
              <a:t>209</a:t>
            </a:r>
            <a:endParaRPr b="0" lang="en-GB" sz="710" spc="-1" strike="noStrike">
              <a:solidFill>
                <a:srgbClr val="ffffff"/>
              </a:solidFill>
              <a:latin typeface="Arial"/>
            </a:endParaRPr>
          </a:p>
        </p:txBody>
      </p:sp>
      <p:sp>
        <p:nvSpPr>
          <p:cNvPr id="1124" name="Shape 54"/>
          <p:cNvSpPr/>
          <p:nvPr/>
        </p:nvSpPr>
        <p:spPr>
          <a:xfrm>
            <a:off x="3218760" y="2807280"/>
            <a:ext cx="594000" cy="50256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125" name="Text 55"/>
          <p:cNvSpPr/>
          <p:nvPr/>
        </p:nvSpPr>
        <p:spPr>
          <a:xfrm>
            <a:off x="3246120" y="2880360"/>
            <a:ext cx="539280" cy="4384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10" spc="-1" strike="noStrike">
                <a:solidFill>
                  <a:srgbClr val="f8fafc"/>
                </a:solidFill>
                <a:latin typeface="Aptos"/>
                <a:ea typeface="Aptos"/>
              </a:rPr>
              <a:t>5</a:t>
            </a:r>
            <a:endParaRPr b="0" lang="en-GB" sz="710" spc="-1" strike="noStrike">
              <a:solidFill>
                <a:srgbClr val="ffffff"/>
              </a:solidFill>
              <a:latin typeface="Arial"/>
            </a:endParaRPr>
          </a:p>
        </p:txBody>
      </p:sp>
      <p:sp>
        <p:nvSpPr>
          <p:cNvPr id="1126" name="Shape 56"/>
          <p:cNvSpPr/>
          <p:nvPr/>
        </p:nvSpPr>
        <p:spPr>
          <a:xfrm>
            <a:off x="3813120" y="2807280"/>
            <a:ext cx="594000" cy="50256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127" name="Text 57"/>
          <p:cNvSpPr/>
          <p:nvPr/>
        </p:nvSpPr>
        <p:spPr>
          <a:xfrm>
            <a:off x="3840480" y="2880360"/>
            <a:ext cx="539280" cy="4384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10" spc="-1" strike="noStrike">
                <a:solidFill>
                  <a:srgbClr val="f8fafc"/>
                </a:solidFill>
                <a:latin typeface="Aptos"/>
                <a:ea typeface="Aptos"/>
              </a:rPr>
              <a:t>24</a:t>
            </a:r>
            <a:endParaRPr b="0" lang="en-GB" sz="710" spc="-1" strike="noStrike">
              <a:solidFill>
                <a:srgbClr val="ffffff"/>
              </a:solidFill>
              <a:latin typeface="Arial"/>
            </a:endParaRPr>
          </a:p>
        </p:txBody>
      </p:sp>
      <p:sp>
        <p:nvSpPr>
          <p:cNvPr id="1128" name="Shape 58"/>
          <p:cNvSpPr/>
          <p:nvPr/>
        </p:nvSpPr>
        <p:spPr>
          <a:xfrm>
            <a:off x="4407480" y="2807280"/>
            <a:ext cx="594000" cy="50256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129" name="Text 59"/>
          <p:cNvSpPr/>
          <p:nvPr/>
        </p:nvSpPr>
        <p:spPr>
          <a:xfrm>
            <a:off x="4434840" y="2880360"/>
            <a:ext cx="539280" cy="4384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10" spc="-1" strike="noStrike">
                <a:solidFill>
                  <a:srgbClr val="f8fafc"/>
                </a:solidFill>
                <a:latin typeface="Aptos"/>
                <a:ea typeface="Aptos"/>
              </a:rPr>
              <a:t>17</a:t>
            </a:r>
            <a:endParaRPr b="0" lang="en-GB" sz="710" spc="-1" strike="noStrike">
              <a:solidFill>
                <a:srgbClr val="ffffff"/>
              </a:solidFill>
              <a:latin typeface="Arial"/>
            </a:endParaRPr>
          </a:p>
        </p:txBody>
      </p:sp>
      <p:sp>
        <p:nvSpPr>
          <p:cNvPr id="1130" name="Shape 60"/>
          <p:cNvSpPr/>
          <p:nvPr/>
        </p:nvSpPr>
        <p:spPr>
          <a:xfrm>
            <a:off x="5001840" y="2807280"/>
            <a:ext cx="1142640" cy="50256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131" name="Text 61"/>
          <p:cNvSpPr/>
          <p:nvPr/>
        </p:nvSpPr>
        <p:spPr>
          <a:xfrm>
            <a:off x="5029200" y="2880360"/>
            <a:ext cx="1087920" cy="4384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10" spc="-1" strike="noStrike">
                <a:solidFill>
                  <a:srgbClr val="f8fafc"/>
                </a:solidFill>
                <a:latin typeface="Aptos"/>
                <a:ea typeface="Aptos"/>
              </a:rPr>
              <a:t>58.5%</a:t>
            </a:r>
            <a:endParaRPr b="0" lang="en-GB" sz="710" spc="-1" strike="noStrike">
              <a:solidFill>
                <a:srgbClr val="ffffff"/>
              </a:solidFill>
              <a:latin typeface="Arial"/>
            </a:endParaRPr>
          </a:p>
        </p:txBody>
      </p:sp>
      <p:sp>
        <p:nvSpPr>
          <p:cNvPr id="1132" name="Shape 62"/>
          <p:cNvSpPr/>
          <p:nvPr/>
        </p:nvSpPr>
        <p:spPr>
          <a:xfrm>
            <a:off x="6144840" y="2807280"/>
            <a:ext cx="4571640" cy="50256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133" name="Text 63"/>
          <p:cNvSpPr/>
          <p:nvPr/>
        </p:nvSpPr>
        <p:spPr>
          <a:xfrm>
            <a:off x="6172200" y="2880360"/>
            <a:ext cx="4516920" cy="4384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10" spc="-1" strike="noStrike">
                <a:solidFill>
                  <a:srgbClr val="f8fafc"/>
                </a:solidFill>
                <a:latin typeface="Aptos"/>
                <a:ea typeface="Aptos"/>
              </a:rPr>
              <a:t>Best F1 in final default-model table</a:t>
            </a:r>
            <a:endParaRPr b="0" lang="en-GB" sz="710" spc="-1" strike="noStrike">
              <a:solidFill>
                <a:srgbClr val="ffffff"/>
              </a:solidFill>
              <a:latin typeface="Arial"/>
            </a:endParaRPr>
          </a:p>
        </p:txBody>
      </p:sp>
      <p:sp>
        <p:nvSpPr>
          <p:cNvPr id="1134" name="Shape 64"/>
          <p:cNvSpPr/>
          <p:nvPr/>
        </p:nvSpPr>
        <p:spPr>
          <a:xfrm>
            <a:off x="658440" y="3310200"/>
            <a:ext cx="1965600" cy="502560"/>
          </a:xfrm>
          <a:prstGeom prst="rect">
            <a:avLst/>
          </a:prstGeom>
          <a:solidFill>
            <a:srgbClr val="3c2a12">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135" name="Text 65"/>
          <p:cNvSpPr/>
          <p:nvPr/>
        </p:nvSpPr>
        <p:spPr>
          <a:xfrm>
            <a:off x="685800" y="3383280"/>
            <a:ext cx="1910880" cy="438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710" spc="-1" strike="noStrike">
                <a:solidFill>
                  <a:srgbClr val="f8fafc"/>
                </a:solidFill>
                <a:latin typeface="Aptos"/>
                <a:ea typeface="Aptos"/>
              </a:rPr>
              <a:t>XGB clinical threshold</a:t>
            </a:r>
            <a:endParaRPr b="0" lang="en-GB" sz="710" spc="-1" strike="noStrike">
              <a:solidFill>
                <a:srgbClr val="ffffff"/>
              </a:solidFill>
              <a:latin typeface="Arial"/>
            </a:endParaRPr>
          </a:p>
        </p:txBody>
      </p:sp>
      <p:sp>
        <p:nvSpPr>
          <p:cNvPr id="1136" name="Shape 66"/>
          <p:cNvSpPr/>
          <p:nvPr/>
        </p:nvSpPr>
        <p:spPr>
          <a:xfrm>
            <a:off x="2624400" y="3310200"/>
            <a:ext cx="594000" cy="502560"/>
          </a:xfrm>
          <a:prstGeom prst="rect">
            <a:avLst/>
          </a:prstGeom>
          <a:solidFill>
            <a:srgbClr val="3c2a12">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137" name="Text 67"/>
          <p:cNvSpPr/>
          <p:nvPr/>
        </p:nvSpPr>
        <p:spPr>
          <a:xfrm>
            <a:off x="2651760" y="3383280"/>
            <a:ext cx="539280" cy="4384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10" spc="-1" strike="noStrike">
                <a:solidFill>
                  <a:srgbClr val="f8fafc"/>
                </a:solidFill>
                <a:latin typeface="Aptos"/>
                <a:ea typeface="Aptos"/>
              </a:rPr>
              <a:t>170*</a:t>
            </a:r>
            <a:endParaRPr b="0" lang="en-GB" sz="710" spc="-1" strike="noStrike">
              <a:solidFill>
                <a:srgbClr val="ffffff"/>
              </a:solidFill>
              <a:latin typeface="Arial"/>
            </a:endParaRPr>
          </a:p>
        </p:txBody>
      </p:sp>
      <p:sp>
        <p:nvSpPr>
          <p:cNvPr id="1138" name="Shape 68"/>
          <p:cNvSpPr/>
          <p:nvPr/>
        </p:nvSpPr>
        <p:spPr>
          <a:xfrm>
            <a:off x="3218760" y="3310200"/>
            <a:ext cx="594000" cy="502560"/>
          </a:xfrm>
          <a:prstGeom prst="rect">
            <a:avLst/>
          </a:prstGeom>
          <a:solidFill>
            <a:srgbClr val="3c2a12">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139" name="Text 69"/>
          <p:cNvSpPr/>
          <p:nvPr/>
        </p:nvSpPr>
        <p:spPr>
          <a:xfrm>
            <a:off x="3246120" y="3383280"/>
            <a:ext cx="539280" cy="4384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10" spc="-1" strike="noStrike">
                <a:solidFill>
                  <a:srgbClr val="f8fafc"/>
                </a:solidFill>
                <a:latin typeface="Aptos"/>
                <a:ea typeface="Aptos"/>
              </a:rPr>
              <a:t>44*</a:t>
            </a:r>
            <a:endParaRPr b="0" lang="en-GB" sz="710" spc="-1" strike="noStrike">
              <a:solidFill>
                <a:srgbClr val="ffffff"/>
              </a:solidFill>
              <a:latin typeface="Arial"/>
            </a:endParaRPr>
          </a:p>
        </p:txBody>
      </p:sp>
      <p:sp>
        <p:nvSpPr>
          <p:cNvPr id="1140" name="Shape 70"/>
          <p:cNvSpPr/>
          <p:nvPr/>
        </p:nvSpPr>
        <p:spPr>
          <a:xfrm>
            <a:off x="3813120" y="3310200"/>
            <a:ext cx="594000" cy="502560"/>
          </a:xfrm>
          <a:prstGeom prst="rect">
            <a:avLst/>
          </a:prstGeom>
          <a:solidFill>
            <a:srgbClr val="3c2a12">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141" name="Text 71"/>
          <p:cNvSpPr/>
          <p:nvPr/>
        </p:nvSpPr>
        <p:spPr>
          <a:xfrm>
            <a:off x="3840480" y="3383280"/>
            <a:ext cx="539280" cy="4384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10" spc="-1" strike="noStrike">
                <a:solidFill>
                  <a:srgbClr val="f8fafc"/>
                </a:solidFill>
                <a:latin typeface="Aptos"/>
                <a:ea typeface="Aptos"/>
              </a:rPr>
              <a:t>9*</a:t>
            </a:r>
            <a:endParaRPr b="0" lang="en-GB" sz="710" spc="-1" strike="noStrike">
              <a:solidFill>
                <a:srgbClr val="ffffff"/>
              </a:solidFill>
              <a:latin typeface="Arial"/>
            </a:endParaRPr>
          </a:p>
        </p:txBody>
      </p:sp>
      <p:sp>
        <p:nvSpPr>
          <p:cNvPr id="1142" name="Shape 72"/>
          <p:cNvSpPr/>
          <p:nvPr/>
        </p:nvSpPr>
        <p:spPr>
          <a:xfrm>
            <a:off x="4407480" y="3310200"/>
            <a:ext cx="594000" cy="502560"/>
          </a:xfrm>
          <a:prstGeom prst="rect">
            <a:avLst/>
          </a:prstGeom>
          <a:solidFill>
            <a:srgbClr val="3c2a12">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143" name="Text 73"/>
          <p:cNvSpPr/>
          <p:nvPr/>
        </p:nvSpPr>
        <p:spPr>
          <a:xfrm>
            <a:off x="4434840" y="3383280"/>
            <a:ext cx="539280" cy="4384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10" spc="-1" strike="noStrike">
                <a:solidFill>
                  <a:srgbClr val="f8fafc"/>
                </a:solidFill>
                <a:latin typeface="Aptos"/>
                <a:ea typeface="Aptos"/>
              </a:rPr>
              <a:t>32*</a:t>
            </a:r>
            <a:endParaRPr b="0" lang="en-GB" sz="710" spc="-1" strike="noStrike">
              <a:solidFill>
                <a:srgbClr val="ffffff"/>
              </a:solidFill>
              <a:latin typeface="Arial"/>
            </a:endParaRPr>
          </a:p>
        </p:txBody>
      </p:sp>
      <p:sp>
        <p:nvSpPr>
          <p:cNvPr id="1144" name="Shape 74"/>
          <p:cNvSpPr/>
          <p:nvPr/>
        </p:nvSpPr>
        <p:spPr>
          <a:xfrm>
            <a:off x="5001840" y="3310200"/>
            <a:ext cx="1142640" cy="502560"/>
          </a:xfrm>
          <a:prstGeom prst="rect">
            <a:avLst/>
          </a:prstGeom>
          <a:solidFill>
            <a:srgbClr val="3c2a12">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145" name="Text 75"/>
          <p:cNvSpPr/>
          <p:nvPr/>
        </p:nvSpPr>
        <p:spPr>
          <a:xfrm>
            <a:off x="5029200" y="3383280"/>
            <a:ext cx="1087920" cy="4384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10" spc="-1" strike="noStrike">
                <a:solidFill>
                  <a:srgbClr val="f8fafc"/>
                </a:solidFill>
                <a:latin typeface="Aptos"/>
                <a:ea typeface="Aptos"/>
              </a:rPr>
              <a:t>22.0%</a:t>
            </a:r>
            <a:endParaRPr b="0" lang="en-GB" sz="710" spc="-1" strike="noStrike">
              <a:solidFill>
                <a:srgbClr val="ffffff"/>
              </a:solidFill>
              <a:latin typeface="Arial"/>
            </a:endParaRPr>
          </a:p>
        </p:txBody>
      </p:sp>
      <p:sp>
        <p:nvSpPr>
          <p:cNvPr id="1146" name="Shape 76"/>
          <p:cNvSpPr/>
          <p:nvPr/>
        </p:nvSpPr>
        <p:spPr>
          <a:xfrm>
            <a:off x="6144840" y="3310200"/>
            <a:ext cx="4571640" cy="502560"/>
          </a:xfrm>
          <a:prstGeom prst="rect">
            <a:avLst/>
          </a:prstGeom>
          <a:solidFill>
            <a:srgbClr val="3c2a12">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147" name="Text 77"/>
          <p:cNvSpPr/>
          <p:nvPr/>
        </p:nvSpPr>
        <p:spPr>
          <a:xfrm>
            <a:off x="6172200" y="3383280"/>
            <a:ext cx="4516920" cy="4384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10" spc="-1" strike="noStrike">
                <a:solidFill>
                  <a:srgbClr val="f8fafc"/>
                </a:solidFill>
                <a:latin typeface="Aptos"/>
                <a:ea typeface="Aptos"/>
              </a:rPr>
              <a:t>Best clinical recall policy; approximate counts from metrics</a:t>
            </a:r>
            <a:endParaRPr b="0" lang="en-GB" sz="710" spc="-1" strike="noStrike">
              <a:solidFill>
                <a:srgbClr val="ffffff"/>
              </a:solidFill>
              <a:latin typeface="Arial"/>
            </a:endParaRPr>
          </a:p>
        </p:txBody>
      </p:sp>
      <p:sp>
        <p:nvSpPr>
          <p:cNvPr id="1148" name="Shape 78"/>
          <p:cNvSpPr/>
          <p:nvPr/>
        </p:nvSpPr>
        <p:spPr>
          <a:xfrm>
            <a:off x="914400" y="4526280"/>
            <a:ext cx="3200040" cy="959760"/>
          </a:xfrm>
          <a:prstGeom prst="roundRect">
            <a:avLst>
              <a:gd name="adj" fmla="val 11429"/>
            </a:avLst>
          </a:prstGeom>
          <a:solidFill>
            <a:srgbClr val="10243d"/>
          </a:solidFill>
          <a:ln w="10160">
            <a:solidFill>
              <a:srgbClr val="334155">
                <a:alpha val="6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149" name="Text 79"/>
          <p:cNvSpPr/>
          <p:nvPr/>
        </p:nvSpPr>
        <p:spPr>
          <a:xfrm>
            <a:off x="1078920" y="4672440"/>
            <a:ext cx="2871000" cy="209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00" spc="-1" strike="noStrike">
                <a:solidFill>
                  <a:srgbClr val="f59e0b"/>
                </a:solidFill>
                <a:latin typeface="Aptos"/>
                <a:ea typeface="Aptos"/>
              </a:rPr>
              <a:t>High recall</a:t>
            </a:r>
            <a:endParaRPr b="0" lang="en-GB" sz="900" spc="-1" strike="noStrike">
              <a:solidFill>
                <a:srgbClr val="ffffff"/>
              </a:solidFill>
              <a:latin typeface="Arial"/>
            </a:endParaRPr>
          </a:p>
        </p:txBody>
      </p:sp>
      <p:sp>
        <p:nvSpPr>
          <p:cNvPr id="1150" name="Text 80"/>
          <p:cNvSpPr/>
          <p:nvPr/>
        </p:nvSpPr>
        <p:spPr>
          <a:xfrm>
            <a:off x="1078920" y="4974480"/>
            <a:ext cx="2871000" cy="365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1" strike="noStrike">
                <a:solidFill>
                  <a:srgbClr val="f8fafc"/>
                </a:solidFill>
                <a:latin typeface="Aptos"/>
                <a:ea typeface="Aptos"/>
              </a:rPr>
              <a:t>Tuned LR catches 26/41 deaths at default threshold; XGB clinical threshold catches about 32/41.</a:t>
            </a:r>
            <a:endParaRPr b="0" lang="en-GB" sz="850" spc="-1" strike="noStrike">
              <a:solidFill>
                <a:srgbClr val="ffffff"/>
              </a:solidFill>
              <a:latin typeface="Arial"/>
            </a:endParaRPr>
          </a:p>
        </p:txBody>
      </p:sp>
      <p:sp>
        <p:nvSpPr>
          <p:cNvPr id="1151" name="Shape 81"/>
          <p:cNvSpPr/>
          <p:nvPr/>
        </p:nvSpPr>
        <p:spPr>
          <a:xfrm>
            <a:off x="4480560" y="4526280"/>
            <a:ext cx="3200040" cy="959760"/>
          </a:xfrm>
          <a:prstGeom prst="roundRect">
            <a:avLst>
              <a:gd name="adj" fmla="val 11429"/>
            </a:avLst>
          </a:prstGeom>
          <a:solidFill>
            <a:srgbClr val="10243d"/>
          </a:solidFill>
          <a:ln w="10160">
            <a:solidFill>
              <a:srgbClr val="334155">
                <a:alpha val="6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152" name="Text 82"/>
          <p:cNvSpPr/>
          <p:nvPr/>
        </p:nvSpPr>
        <p:spPr>
          <a:xfrm>
            <a:off x="4645080" y="4672440"/>
            <a:ext cx="2871000" cy="209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00" spc="-1" strike="noStrike">
                <a:solidFill>
                  <a:srgbClr val="14b8a6"/>
                </a:solidFill>
                <a:latin typeface="Aptos"/>
                <a:ea typeface="Aptos"/>
              </a:rPr>
              <a:t>High precision</a:t>
            </a:r>
            <a:endParaRPr b="0" lang="en-GB" sz="900" spc="-1" strike="noStrike">
              <a:solidFill>
                <a:srgbClr val="ffffff"/>
              </a:solidFill>
              <a:latin typeface="Arial"/>
            </a:endParaRPr>
          </a:p>
        </p:txBody>
      </p:sp>
      <p:sp>
        <p:nvSpPr>
          <p:cNvPr id="1153" name="Text 83"/>
          <p:cNvSpPr/>
          <p:nvPr/>
        </p:nvSpPr>
        <p:spPr>
          <a:xfrm>
            <a:off x="4645080" y="4974480"/>
            <a:ext cx="2871000" cy="365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1" strike="noStrike">
                <a:solidFill>
                  <a:srgbClr val="f8fafc"/>
                </a:solidFill>
                <a:latin typeface="Aptos"/>
                <a:ea typeface="Aptos"/>
              </a:rPr>
              <a:t>Voting Hard and Tuned XGB reduce false alarms, but they miss more deaths.</a:t>
            </a:r>
            <a:endParaRPr b="0" lang="en-GB" sz="850" spc="-1" strike="noStrike">
              <a:solidFill>
                <a:srgbClr val="ffffff"/>
              </a:solidFill>
              <a:latin typeface="Arial"/>
            </a:endParaRPr>
          </a:p>
        </p:txBody>
      </p:sp>
      <p:sp>
        <p:nvSpPr>
          <p:cNvPr id="1154" name="Shape 84"/>
          <p:cNvSpPr/>
          <p:nvPr/>
        </p:nvSpPr>
        <p:spPr>
          <a:xfrm>
            <a:off x="8046720" y="4526280"/>
            <a:ext cx="3200040" cy="959760"/>
          </a:xfrm>
          <a:prstGeom prst="roundRect">
            <a:avLst>
              <a:gd name="adj" fmla="val 11429"/>
            </a:avLst>
          </a:prstGeom>
          <a:solidFill>
            <a:srgbClr val="10243d"/>
          </a:solidFill>
          <a:ln w="10160">
            <a:solidFill>
              <a:srgbClr val="334155">
                <a:alpha val="6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155" name="Text 85"/>
          <p:cNvSpPr/>
          <p:nvPr/>
        </p:nvSpPr>
        <p:spPr>
          <a:xfrm>
            <a:off x="8211240" y="4672440"/>
            <a:ext cx="2871000" cy="209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00" spc="-1" strike="noStrike">
                <a:solidFill>
                  <a:srgbClr val="f43f5e"/>
                </a:solidFill>
                <a:latin typeface="Aptos"/>
                <a:ea typeface="Aptos"/>
              </a:rPr>
              <a:t>Clinical decision</a:t>
            </a:r>
            <a:endParaRPr b="0" lang="en-GB" sz="900" spc="-1" strike="noStrike">
              <a:solidFill>
                <a:srgbClr val="ffffff"/>
              </a:solidFill>
              <a:latin typeface="Arial"/>
            </a:endParaRPr>
          </a:p>
        </p:txBody>
      </p:sp>
      <p:sp>
        <p:nvSpPr>
          <p:cNvPr id="1156" name="Text 86"/>
          <p:cNvSpPr/>
          <p:nvPr/>
        </p:nvSpPr>
        <p:spPr>
          <a:xfrm>
            <a:off x="8211240" y="4974480"/>
            <a:ext cx="2871000" cy="365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1" strike="noStrike">
                <a:solidFill>
                  <a:srgbClr val="f8fafc"/>
                </a:solidFill>
                <a:latin typeface="Aptos"/>
                <a:ea typeface="Aptos"/>
              </a:rPr>
              <a:t>For screening, accept lower precision to reduce missed mortalities. For reporting, show balanced F1/AUC.</a:t>
            </a:r>
            <a:endParaRPr b="0" lang="en-GB" sz="850" spc="-1" strike="noStrike">
              <a:solidFill>
                <a:srgbClr val="ffffff"/>
              </a:solidFill>
              <a:latin typeface="Arial"/>
            </a:endParaRPr>
          </a:p>
        </p:txBody>
      </p:sp>
      <p:sp>
        <p:nvSpPr>
          <p:cNvPr id="1157" name="Shape 87"/>
          <p:cNvSpPr/>
          <p:nvPr/>
        </p:nvSpPr>
        <p:spPr>
          <a:xfrm>
            <a:off x="502920" y="6555960"/>
            <a:ext cx="11201400" cy="360"/>
          </a:xfrm>
          <a:prstGeom prst="line">
            <a:avLst/>
          </a:prstGeom>
          <a:ln w="7620">
            <a:solidFill>
              <a:srgbClr val="334155">
                <a:alpha val="60000"/>
              </a:srgbClr>
            </a:solidFill>
            <a:round/>
          </a:ln>
        </p:spPr>
        <p:style>
          <a:lnRef idx="0"/>
          <a:fillRef idx="0"/>
          <a:effectRef idx="0"/>
          <a:fontRef idx="minor"/>
        </p:style>
        <p:txBody>
          <a:bodyPr lIns="90000" rIns="90000" tIns="-44640" bIns="-44640" anchor="t" anchorCtr="1">
            <a:noAutofit/>
          </a:bodyPr>
          <a:p>
            <a:endParaRPr b="0" lang="en-GB" sz="1800" spc="-1" strike="noStrike">
              <a:solidFill>
                <a:srgbClr val="ffffff"/>
              </a:solidFill>
              <a:latin typeface="Arial"/>
            </a:endParaRPr>
          </a:p>
        </p:txBody>
      </p:sp>
      <p:sp>
        <p:nvSpPr>
          <p:cNvPr id="1158" name="Text 88"/>
          <p:cNvSpPr/>
          <p:nvPr/>
        </p:nvSpPr>
        <p:spPr>
          <a:xfrm>
            <a:off x="530280" y="6602040"/>
            <a:ext cx="6217560" cy="145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650" spc="-1" strike="noStrike">
                <a:solidFill>
                  <a:srgbClr val="94a3b8"/>
                </a:solidFill>
                <a:latin typeface="Aptos"/>
                <a:ea typeface="Aptos"/>
              </a:rPr>
              <a:t>Clinical Outcome Prediction • Myocardial Infarction Complications</a:t>
            </a:r>
            <a:endParaRPr b="0" lang="en-GB" sz="650" spc="-1" strike="noStrike">
              <a:solidFill>
                <a:srgbClr val="ffffff"/>
              </a:solidFill>
              <a:latin typeface="Arial"/>
            </a:endParaRPr>
          </a:p>
        </p:txBody>
      </p:sp>
      <p:sp>
        <p:nvSpPr>
          <p:cNvPr id="1159" name="Text 89"/>
          <p:cNvSpPr/>
          <p:nvPr/>
        </p:nvSpPr>
        <p:spPr>
          <a:xfrm>
            <a:off x="11201400" y="6565320"/>
            <a:ext cx="502560" cy="2282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750" spc="-1" strike="noStrike">
                <a:solidFill>
                  <a:srgbClr val="94a3b8"/>
                </a:solidFill>
                <a:latin typeface="Aptos"/>
                <a:ea typeface="Aptos"/>
              </a:rPr>
              <a:t>14</a:t>
            </a:r>
            <a:endParaRPr b="0" lang="en-GB" sz="7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01f"/>
        </a:solidFill>
      </p:bgPr>
    </p:bg>
    <p:spTree>
      <p:nvGrpSpPr>
        <p:cNvPr id="1" name=""/>
        <p:cNvGrpSpPr/>
        <p:nvPr/>
      </p:nvGrpSpPr>
      <p:grpSpPr>
        <a:xfrm>
          <a:off x="0" y="0"/>
          <a:ext cx="0" cy="0"/>
          <a:chOff x="0" y="0"/>
          <a:chExt cx="0" cy="0"/>
        </a:xfrm>
      </p:grpSpPr>
      <p:sp>
        <p:nvSpPr>
          <p:cNvPr id="1160" name="Shape 0"/>
          <p:cNvSpPr/>
          <p:nvPr/>
        </p:nvSpPr>
        <p:spPr>
          <a:xfrm>
            <a:off x="0" y="0"/>
            <a:ext cx="12191400" cy="6857640"/>
          </a:xfrm>
          <a:prstGeom prst="rect">
            <a:avLst/>
          </a:prstGeom>
          <a:solidFill>
            <a:srgbClr val="06101f"/>
          </a:solidFill>
          <a:ln w="12700">
            <a:solidFill>
              <a:srgbClr val="06101f"/>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161" name="Shape 1"/>
          <p:cNvSpPr/>
          <p:nvPr/>
        </p:nvSpPr>
        <p:spPr>
          <a:xfrm>
            <a:off x="0" y="0"/>
            <a:ext cx="12191400" cy="6857640"/>
          </a:xfrm>
          <a:prstGeom prst="rect">
            <a:avLst/>
          </a:prstGeom>
          <a:solidFill>
            <a:srgbClr val="081629">
              <a:alpha val="85000"/>
            </a:srgbClr>
          </a:solidFill>
          <a:ln w="12700">
            <a:solidFill>
              <a:srgbClr val="081629">
                <a:alpha val="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162" name="Shape 2"/>
          <p:cNvSpPr/>
          <p:nvPr/>
        </p:nvSpPr>
        <p:spPr>
          <a:xfrm>
            <a:off x="-1554480" y="-1737360"/>
            <a:ext cx="5486040" cy="5486040"/>
          </a:xfrm>
          <a:prstGeom prst="arc">
            <a:avLst>
              <a:gd name="adj1" fmla="val 16200000"/>
              <a:gd name="adj2" fmla="val 0"/>
            </a:avLst>
          </a:prstGeom>
          <a:noFill/>
          <a:ln w="13970">
            <a:solidFill>
              <a:srgbClr val="14b8a6">
                <a:alpha val="3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163" name="Shape 3"/>
          <p:cNvSpPr/>
          <p:nvPr/>
        </p:nvSpPr>
        <p:spPr>
          <a:xfrm>
            <a:off x="7680960" y="3840480"/>
            <a:ext cx="5486040" cy="5486040"/>
          </a:xfrm>
          <a:prstGeom prst="arc">
            <a:avLst>
              <a:gd name="adj1" fmla="val 16200000"/>
              <a:gd name="adj2" fmla="val 0"/>
            </a:avLst>
          </a:prstGeom>
          <a:noFill/>
          <a:ln w="12700">
            <a:solidFill>
              <a:srgbClr val="f59e0b">
                <a:alpha val="22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164" name="Text 4"/>
          <p:cNvSpPr/>
          <p:nvPr/>
        </p:nvSpPr>
        <p:spPr>
          <a:xfrm>
            <a:off x="567000" y="347400"/>
            <a:ext cx="594324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50" spc="-1" strike="noStrike">
                <a:solidFill>
                  <a:srgbClr val="14b8a6"/>
                </a:solidFill>
                <a:latin typeface="Aptos"/>
                <a:ea typeface="Aptos"/>
              </a:rPr>
              <a:t>ROBUSTNESS ANALYSIS</a:t>
            </a:r>
            <a:endParaRPr b="0" lang="en-GB" sz="850" spc="-1" strike="noStrike">
              <a:solidFill>
                <a:srgbClr val="ffffff"/>
              </a:solidFill>
              <a:latin typeface="Arial"/>
            </a:endParaRPr>
          </a:p>
        </p:txBody>
      </p:sp>
      <p:sp>
        <p:nvSpPr>
          <p:cNvPr id="1165" name="Text 5"/>
          <p:cNvSpPr/>
          <p:nvPr/>
        </p:nvSpPr>
        <p:spPr>
          <a:xfrm>
            <a:off x="548640" y="658440"/>
            <a:ext cx="10926720" cy="5940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400" spc="-1" strike="noStrike">
                <a:solidFill>
                  <a:srgbClr val="f8fafc"/>
                </a:solidFill>
                <a:latin typeface="Aptos Display"/>
                <a:ea typeface="Aptos Display"/>
              </a:rPr>
              <a:t>Noisy labels and concept drift expose deployment risk</a:t>
            </a:r>
            <a:endParaRPr b="0" lang="en-GB" sz="2400" spc="-1" strike="noStrike">
              <a:solidFill>
                <a:srgbClr val="ffffff"/>
              </a:solidFill>
              <a:latin typeface="Arial"/>
            </a:endParaRPr>
          </a:p>
        </p:txBody>
      </p:sp>
      <p:sp>
        <p:nvSpPr>
          <p:cNvPr id="1166" name="Text 6"/>
          <p:cNvSpPr/>
          <p:nvPr/>
        </p:nvSpPr>
        <p:spPr>
          <a:xfrm>
            <a:off x="567000" y="1216080"/>
            <a:ext cx="1051524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50" spc="-1" strike="noStrike">
                <a:solidFill>
                  <a:srgbClr val="94a3b8"/>
                </a:solidFill>
                <a:latin typeface="Aptos"/>
                <a:ea typeface="Aptos"/>
              </a:rPr>
              <a:t>The final phase tests what happens when the world is messier than the training data.</a:t>
            </a:r>
            <a:endParaRPr b="0" lang="en-GB" sz="1050" spc="-1" strike="noStrike">
              <a:solidFill>
                <a:srgbClr val="ffffff"/>
              </a:solidFill>
              <a:latin typeface="Arial"/>
            </a:endParaRPr>
          </a:p>
        </p:txBody>
      </p:sp>
      <p:sp>
        <p:nvSpPr>
          <p:cNvPr id="1167" name="Shape 7"/>
          <p:cNvSpPr/>
          <p:nvPr/>
        </p:nvSpPr>
        <p:spPr>
          <a:xfrm>
            <a:off x="475560" y="1481400"/>
            <a:ext cx="5531760" cy="2770200"/>
          </a:xfrm>
          <a:prstGeom prst="roundRect">
            <a:avLst>
              <a:gd name="adj" fmla="val 2640"/>
            </a:avLst>
          </a:prstGeom>
          <a:solidFill>
            <a:srgbClr val="0b1a2e"/>
          </a:solidFill>
          <a:ln w="1016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168" name="Shape 8"/>
          <p:cNvSpPr/>
          <p:nvPr/>
        </p:nvSpPr>
        <p:spPr>
          <a:xfrm>
            <a:off x="475560" y="1481400"/>
            <a:ext cx="1737000" cy="292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169" name="Text 9"/>
          <p:cNvSpPr/>
          <p:nvPr/>
        </p:nvSpPr>
        <p:spPr>
          <a:xfrm>
            <a:off x="502920" y="1554480"/>
            <a:ext cx="168228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670" spc="-1" strike="noStrike">
                <a:solidFill>
                  <a:srgbClr val="f8fafc"/>
                </a:solidFill>
                <a:latin typeface="Aptos"/>
                <a:ea typeface="Aptos"/>
              </a:rPr>
              <a:t>Model</a:t>
            </a:r>
            <a:endParaRPr b="0" lang="en-GB" sz="670" spc="-1" strike="noStrike">
              <a:solidFill>
                <a:srgbClr val="ffffff"/>
              </a:solidFill>
              <a:latin typeface="Arial"/>
            </a:endParaRPr>
          </a:p>
        </p:txBody>
      </p:sp>
      <p:sp>
        <p:nvSpPr>
          <p:cNvPr id="1170" name="Shape 10"/>
          <p:cNvSpPr/>
          <p:nvPr/>
        </p:nvSpPr>
        <p:spPr>
          <a:xfrm>
            <a:off x="2212920" y="1481400"/>
            <a:ext cx="731160" cy="292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171" name="Text 11"/>
          <p:cNvSpPr/>
          <p:nvPr/>
        </p:nvSpPr>
        <p:spPr>
          <a:xfrm>
            <a:off x="2240280" y="1554480"/>
            <a:ext cx="67644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670" spc="-1" strike="noStrike">
                <a:solidFill>
                  <a:srgbClr val="f8fafc"/>
                </a:solidFill>
                <a:latin typeface="Aptos"/>
                <a:ea typeface="Aptos"/>
              </a:rPr>
              <a:t>Acc.</a:t>
            </a:r>
            <a:endParaRPr b="0" lang="en-GB" sz="670" spc="-1" strike="noStrike">
              <a:solidFill>
                <a:srgbClr val="ffffff"/>
              </a:solidFill>
              <a:latin typeface="Arial"/>
            </a:endParaRPr>
          </a:p>
        </p:txBody>
      </p:sp>
      <p:sp>
        <p:nvSpPr>
          <p:cNvPr id="1172" name="Shape 12"/>
          <p:cNvSpPr/>
          <p:nvPr/>
        </p:nvSpPr>
        <p:spPr>
          <a:xfrm>
            <a:off x="2944440" y="1481400"/>
            <a:ext cx="731160" cy="292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173" name="Text 13"/>
          <p:cNvSpPr/>
          <p:nvPr/>
        </p:nvSpPr>
        <p:spPr>
          <a:xfrm>
            <a:off x="2971800" y="1554480"/>
            <a:ext cx="67644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670" spc="-1" strike="noStrike">
                <a:solidFill>
                  <a:srgbClr val="f8fafc"/>
                </a:solidFill>
                <a:latin typeface="Aptos"/>
                <a:ea typeface="Aptos"/>
              </a:rPr>
              <a:t>Prec.</a:t>
            </a:r>
            <a:endParaRPr b="0" lang="en-GB" sz="670" spc="-1" strike="noStrike">
              <a:solidFill>
                <a:srgbClr val="ffffff"/>
              </a:solidFill>
              <a:latin typeface="Arial"/>
            </a:endParaRPr>
          </a:p>
        </p:txBody>
      </p:sp>
      <p:sp>
        <p:nvSpPr>
          <p:cNvPr id="1174" name="Shape 14"/>
          <p:cNvSpPr/>
          <p:nvPr/>
        </p:nvSpPr>
        <p:spPr>
          <a:xfrm>
            <a:off x="3675960" y="1481400"/>
            <a:ext cx="731160" cy="292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175" name="Text 15"/>
          <p:cNvSpPr/>
          <p:nvPr/>
        </p:nvSpPr>
        <p:spPr>
          <a:xfrm>
            <a:off x="3703320" y="1554480"/>
            <a:ext cx="67644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670" spc="-1" strike="noStrike">
                <a:solidFill>
                  <a:srgbClr val="f8fafc"/>
                </a:solidFill>
                <a:latin typeface="Aptos"/>
                <a:ea typeface="Aptos"/>
              </a:rPr>
              <a:t>Recall</a:t>
            </a:r>
            <a:endParaRPr b="0" lang="en-GB" sz="670" spc="-1" strike="noStrike">
              <a:solidFill>
                <a:srgbClr val="ffffff"/>
              </a:solidFill>
              <a:latin typeface="Arial"/>
            </a:endParaRPr>
          </a:p>
        </p:txBody>
      </p:sp>
      <p:sp>
        <p:nvSpPr>
          <p:cNvPr id="1176" name="Shape 16"/>
          <p:cNvSpPr/>
          <p:nvPr/>
        </p:nvSpPr>
        <p:spPr>
          <a:xfrm>
            <a:off x="4407480" y="1481400"/>
            <a:ext cx="685440" cy="292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177" name="Text 17"/>
          <p:cNvSpPr/>
          <p:nvPr/>
        </p:nvSpPr>
        <p:spPr>
          <a:xfrm>
            <a:off x="4434840" y="1554480"/>
            <a:ext cx="63072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670" spc="-1" strike="noStrike">
                <a:solidFill>
                  <a:srgbClr val="f8fafc"/>
                </a:solidFill>
                <a:latin typeface="Aptos"/>
                <a:ea typeface="Aptos"/>
              </a:rPr>
              <a:t>F1</a:t>
            </a:r>
            <a:endParaRPr b="0" lang="en-GB" sz="670" spc="-1" strike="noStrike">
              <a:solidFill>
                <a:srgbClr val="ffffff"/>
              </a:solidFill>
              <a:latin typeface="Arial"/>
            </a:endParaRPr>
          </a:p>
        </p:txBody>
      </p:sp>
      <p:sp>
        <p:nvSpPr>
          <p:cNvPr id="1178" name="Shape 18"/>
          <p:cNvSpPr/>
          <p:nvPr/>
        </p:nvSpPr>
        <p:spPr>
          <a:xfrm>
            <a:off x="5093280" y="1481400"/>
            <a:ext cx="914040" cy="292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179" name="Text 19"/>
          <p:cNvSpPr/>
          <p:nvPr/>
        </p:nvSpPr>
        <p:spPr>
          <a:xfrm>
            <a:off x="5120640" y="1554480"/>
            <a:ext cx="85932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670" spc="-1" strike="noStrike">
                <a:solidFill>
                  <a:srgbClr val="f8fafc"/>
                </a:solidFill>
                <a:latin typeface="Aptos"/>
                <a:ea typeface="Aptos"/>
              </a:rPr>
              <a:t>AUC</a:t>
            </a:r>
            <a:endParaRPr b="0" lang="en-GB" sz="670" spc="-1" strike="noStrike">
              <a:solidFill>
                <a:srgbClr val="ffffff"/>
              </a:solidFill>
              <a:latin typeface="Arial"/>
            </a:endParaRPr>
          </a:p>
        </p:txBody>
      </p:sp>
      <p:sp>
        <p:nvSpPr>
          <p:cNvPr id="1180" name="Shape 20"/>
          <p:cNvSpPr/>
          <p:nvPr/>
        </p:nvSpPr>
        <p:spPr>
          <a:xfrm>
            <a:off x="475560" y="1774080"/>
            <a:ext cx="1737000" cy="34704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181" name="Text 21"/>
          <p:cNvSpPr/>
          <p:nvPr/>
        </p:nvSpPr>
        <p:spPr>
          <a:xfrm>
            <a:off x="502920" y="1847160"/>
            <a:ext cx="1682280" cy="282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670" spc="-1" strike="noStrike">
                <a:solidFill>
                  <a:srgbClr val="f8fafc"/>
                </a:solidFill>
                <a:latin typeface="Aptos"/>
                <a:ea typeface="Aptos"/>
              </a:rPr>
              <a:t>Baseline LR</a:t>
            </a:r>
            <a:endParaRPr b="0" lang="en-GB" sz="670" spc="-1" strike="noStrike">
              <a:solidFill>
                <a:srgbClr val="ffffff"/>
              </a:solidFill>
              <a:latin typeface="Arial"/>
            </a:endParaRPr>
          </a:p>
        </p:txBody>
      </p:sp>
      <p:sp>
        <p:nvSpPr>
          <p:cNvPr id="1182" name="Shape 22"/>
          <p:cNvSpPr/>
          <p:nvPr/>
        </p:nvSpPr>
        <p:spPr>
          <a:xfrm>
            <a:off x="2212920" y="1774080"/>
            <a:ext cx="731160" cy="34704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183" name="Text 23"/>
          <p:cNvSpPr/>
          <p:nvPr/>
        </p:nvSpPr>
        <p:spPr>
          <a:xfrm>
            <a:off x="2240280" y="1847160"/>
            <a:ext cx="676440" cy="282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70" spc="-1" strike="noStrike">
                <a:solidFill>
                  <a:srgbClr val="f8fafc"/>
                </a:solidFill>
                <a:latin typeface="Aptos"/>
                <a:ea typeface="Aptos"/>
              </a:rPr>
              <a:t>0.8549</a:t>
            </a:r>
            <a:endParaRPr b="0" lang="en-GB" sz="670" spc="-1" strike="noStrike">
              <a:solidFill>
                <a:srgbClr val="ffffff"/>
              </a:solidFill>
              <a:latin typeface="Arial"/>
            </a:endParaRPr>
          </a:p>
        </p:txBody>
      </p:sp>
      <p:sp>
        <p:nvSpPr>
          <p:cNvPr id="1184" name="Shape 24"/>
          <p:cNvSpPr/>
          <p:nvPr/>
        </p:nvSpPr>
        <p:spPr>
          <a:xfrm>
            <a:off x="2944440" y="1774080"/>
            <a:ext cx="731160" cy="34704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185" name="Text 25"/>
          <p:cNvSpPr/>
          <p:nvPr/>
        </p:nvSpPr>
        <p:spPr>
          <a:xfrm>
            <a:off x="2971800" y="1847160"/>
            <a:ext cx="676440" cy="282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70" spc="-1" strike="noStrike">
                <a:solidFill>
                  <a:srgbClr val="f8fafc"/>
                </a:solidFill>
                <a:latin typeface="Aptos"/>
                <a:ea typeface="Aptos"/>
              </a:rPr>
              <a:t>0.5769</a:t>
            </a:r>
            <a:endParaRPr b="0" lang="en-GB" sz="670" spc="-1" strike="noStrike">
              <a:solidFill>
                <a:srgbClr val="ffffff"/>
              </a:solidFill>
              <a:latin typeface="Arial"/>
            </a:endParaRPr>
          </a:p>
        </p:txBody>
      </p:sp>
      <p:sp>
        <p:nvSpPr>
          <p:cNvPr id="1186" name="Shape 26"/>
          <p:cNvSpPr/>
          <p:nvPr/>
        </p:nvSpPr>
        <p:spPr>
          <a:xfrm>
            <a:off x="3675960" y="1774080"/>
            <a:ext cx="731160" cy="34704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187" name="Text 27"/>
          <p:cNvSpPr/>
          <p:nvPr/>
        </p:nvSpPr>
        <p:spPr>
          <a:xfrm>
            <a:off x="3703320" y="1847160"/>
            <a:ext cx="676440" cy="282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70" spc="-1" strike="noStrike">
                <a:solidFill>
                  <a:srgbClr val="f8fafc"/>
                </a:solidFill>
                <a:latin typeface="Aptos"/>
                <a:ea typeface="Aptos"/>
              </a:rPr>
              <a:t>0.3659</a:t>
            </a:r>
            <a:endParaRPr b="0" lang="en-GB" sz="670" spc="-1" strike="noStrike">
              <a:solidFill>
                <a:srgbClr val="ffffff"/>
              </a:solidFill>
              <a:latin typeface="Arial"/>
            </a:endParaRPr>
          </a:p>
        </p:txBody>
      </p:sp>
      <p:sp>
        <p:nvSpPr>
          <p:cNvPr id="1188" name="Shape 28"/>
          <p:cNvSpPr/>
          <p:nvPr/>
        </p:nvSpPr>
        <p:spPr>
          <a:xfrm>
            <a:off x="4407480" y="1774080"/>
            <a:ext cx="685440" cy="34704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189" name="Text 29"/>
          <p:cNvSpPr/>
          <p:nvPr/>
        </p:nvSpPr>
        <p:spPr>
          <a:xfrm>
            <a:off x="4434840" y="1847160"/>
            <a:ext cx="630720" cy="282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70" spc="-1" strike="noStrike">
                <a:solidFill>
                  <a:srgbClr val="f8fafc"/>
                </a:solidFill>
                <a:latin typeface="Aptos"/>
                <a:ea typeface="Aptos"/>
              </a:rPr>
              <a:t>0.4478</a:t>
            </a:r>
            <a:endParaRPr b="0" lang="en-GB" sz="670" spc="-1" strike="noStrike">
              <a:solidFill>
                <a:srgbClr val="ffffff"/>
              </a:solidFill>
              <a:latin typeface="Arial"/>
            </a:endParaRPr>
          </a:p>
        </p:txBody>
      </p:sp>
      <p:sp>
        <p:nvSpPr>
          <p:cNvPr id="1190" name="Shape 30"/>
          <p:cNvSpPr/>
          <p:nvPr/>
        </p:nvSpPr>
        <p:spPr>
          <a:xfrm>
            <a:off x="5093280" y="1774080"/>
            <a:ext cx="914040" cy="34704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191" name="Text 31"/>
          <p:cNvSpPr/>
          <p:nvPr/>
        </p:nvSpPr>
        <p:spPr>
          <a:xfrm>
            <a:off x="5120640" y="1847160"/>
            <a:ext cx="859320" cy="282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70" spc="-1" strike="noStrike">
                <a:solidFill>
                  <a:srgbClr val="f8fafc"/>
                </a:solidFill>
                <a:latin typeface="Aptos"/>
                <a:ea typeface="Aptos"/>
              </a:rPr>
              <a:t>0.8082</a:t>
            </a:r>
            <a:endParaRPr b="0" lang="en-GB" sz="670" spc="-1" strike="noStrike">
              <a:solidFill>
                <a:srgbClr val="ffffff"/>
              </a:solidFill>
              <a:latin typeface="Arial"/>
            </a:endParaRPr>
          </a:p>
        </p:txBody>
      </p:sp>
      <p:sp>
        <p:nvSpPr>
          <p:cNvPr id="1192" name="Shape 32"/>
          <p:cNvSpPr/>
          <p:nvPr/>
        </p:nvSpPr>
        <p:spPr>
          <a:xfrm>
            <a:off x="475560" y="2121480"/>
            <a:ext cx="1737000" cy="34704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193" name="Text 33"/>
          <p:cNvSpPr/>
          <p:nvPr/>
        </p:nvSpPr>
        <p:spPr>
          <a:xfrm>
            <a:off x="502920" y="2194560"/>
            <a:ext cx="1682280" cy="282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670" spc="-1" strike="noStrike">
                <a:solidFill>
                  <a:srgbClr val="f8fafc"/>
                </a:solidFill>
                <a:latin typeface="Aptos"/>
                <a:ea typeface="Aptos"/>
              </a:rPr>
              <a:t>Baseline RF</a:t>
            </a:r>
            <a:endParaRPr b="0" lang="en-GB" sz="670" spc="-1" strike="noStrike">
              <a:solidFill>
                <a:srgbClr val="ffffff"/>
              </a:solidFill>
              <a:latin typeface="Arial"/>
            </a:endParaRPr>
          </a:p>
        </p:txBody>
      </p:sp>
      <p:sp>
        <p:nvSpPr>
          <p:cNvPr id="1194" name="Shape 34"/>
          <p:cNvSpPr/>
          <p:nvPr/>
        </p:nvSpPr>
        <p:spPr>
          <a:xfrm>
            <a:off x="2212920" y="2121480"/>
            <a:ext cx="731160" cy="34704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195" name="Text 35"/>
          <p:cNvSpPr/>
          <p:nvPr/>
        </p:nvSpPr>
        <p:spPr>
          <a:xfrm>
            <a:off x="2240280" y="2194560"/>
            <a:ext cx="676440" cy="282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70" spc="-1" strike="noStrike">
                <a:solidFill>
                  <a:srgbClr val="f8fafc"/>
                </a:solidFill>
                <a:latin typeface="Aptos"/>
                <a:ea typeface="Aptos"/>
              </a:rPr>
              <a:t>0.8627</a:t>
            </a:r>
            <a:endParaRPr b="0" lang="en-GB" sz="670" spc="-1" strike="noStrike">
              <a:solidFill>
                <a:srgbClr val="ffffff"/>
              </a:solidFill>
              <a:latin typeface="Arial"/>
            </a:endParaRPr>
          </a:p>
        </p:txBody>
      </p:sp>
      <p:sp>
        <p:nvSpPr>
          <p:cNvPr id="1196" name="Shape 36"/>
          <p:cNvSpPr/>
          <p:nvPr/>
        </p:nvSpPr>
        <p:spPr>
          <a:xfrm>
            <a:off x="2944440" y="2121480"/>
            <a:ext cx="731160" cy="34704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197" name="Text 37"/>
          <p:cNvSpPr/>
          <p:nvPr/>
        </p:nvSpPr>
        <p:spPr>
          <a:xfrm>
            <a:off x="2971800" y="2194560"/>
            <a:ext cx="676440" cy="282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70" spc="-1" strike="noStrike">
                <a:solidFill>
                  <a:srgbClr val="f8fafc"/>
                </a:solidFill>
                <a:latin typeface="Aptos"/>
                <a:ea typeface="Aptos"/>
              </a:rPr>
              <a:t>0.8750</a:t>
            </a:r>
            <a:endParaRPr b="0" lang="en-GB" sz="670" spc="-1" strike="noStrike">
              <a:solidFill>
                <a:srgbClr val="ffffff"/>
              </a:solidFill>
              <a:latin typeface="Arial"/>
            </a:endParaRPr>
          </a:p>
        </p:txBody>
      </p:sp>
      <p:sp>
        <p:nvSpPr>
          <p:cNvPr id="1198" name="Shape 38"/>
          <p:cNvSpPr/>
          <p:nvPr/>
        </p:nvSpPr>
        <p:spPr>
          <a:xfrm>
            <a:off x="3675960" y="2121480"/>
            <a:ext cx="731160" cy="34704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199" name="Text 39"/>
          <p:cNvSpPr/>
          <p:nvPr/>
        </p:nvSpPr>
        <p:spPr>
          <a:xfrm>
            <a:off x="3703320" y="2194560"/>
            <a:ext cx="676440" cy="282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70" spc="-1" strike="noStrike">
                <a:solidFill>
                  <a:srgbClr val="f8fafc"/>
                </a:solidFill>
                <a:latin typeface="Aptos"/>
                <a:ea typeface="Aptos"/>
              </a:rPr>
              <a:t>0.1707</a:t>
            </a:r>
            <a:endParaRPr b="0" lang="en-GB" sz="670" spc="-1" strike="noStrike">
              <a:solidFill>
                <a:srgbClr val="ffffff"/>
              </a:solidFill>
              <a:latin typeface="Arial"/>
            </a:endParaRPr>
          </a:p>
        </p:txBody>
      </p:sp>
      <p:sp>
        <p:nvSpPr>
          <p:cNvPr id="1200" name="Shape 40"/>
          <p:cNvSpPr/>
          <p:nvPr/>
        </p:nvSpPr>
        <p:spPr>
          <a:xfrm>
            <a:off x="4407480" y="2121480"/>
            <a:ext cx="685440" cy="34704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201" name="Text 41"/>
          <p:cNvSpPr/>
          <p:nvPr/>
        </p:nvSpPr>
        <p:spPr>
          <a:xfrm>
            <a:off x="4434840" y="2194560"/>
            <a:ext cx="630720" cy="282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70" spc="-1" strike="noStrike">
                <a:solidFill>
                  <a:srgbClr val="f8fafc"/>
                </a:solidFill>
                <a:latin typeface="Aptos"/>
                <a:ea typeface="Aptos"/>
              </a:rPr>
              <a:t>0.2857</a:t>
            </a:r>
            <a:endParaRPr b="0" lang="en-GB" sz="670" spc="-1" strike="noStrike">
              <a:solidFill>
                <a:srgbClr val="ffffff"/>
              </a:solidFill>
              <a:latin typeface="Arial"/>
            </a:endParaRPr>
          </a:p>
        </p:txBody>
      </p:sp>
      <p:sp>
        <p:nvSpPr>
          <p:cNvPr id="1202" name="Shape 42"/>
          <p:cNvSpPr/>
          <p:nvPr/>
        </p:nvSpPr>
        <p:spPr>
          <a:xfrm>
            <a:off x="5093280" y="2121480"/>
            <a:ext cx="914040" cy="34704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203" name="Text 43"/>
          <p:cNvSpPr/>
          <p:nvPr/>
        </p:nvSpPr>
        <p:spPr>
          <a:xfrm>
            <a:off x="5120640" y="2194560"/>
            <a:ext cx="859320" cy="282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70" spc="-1" strike="noStrike">
                <a:solidFill>
                  <a:srgbClr val="f8fafc"/>
                </a:solidFill>
                <a:latin typeface="Aptos"/>
                <a:ea typeface="Aptos"/>
              </a:rPr>
              <a:t>0.8607</a:t>
            </a:r>
            <a:endParaRPr b="0" lang="en-GB" sz="670" spc="-1" strike="noStrike">
              <a:solidFill>
                <a:srgbClr val="ffffff"/>
              </a:solidFill>
              <a:latin typeface="Arial"/>
            </a:endParaRPr>
          </a:p>
        </p:txBody>
      </p:sp>
      <p:sp>
        <p:nvSpPr>
          <p:cNvPr id="1204" name="Shape 44"/>
          <p:cNvSpPr/>
          <p:nvPr/>
        </p:nvSpPr>
        <p:spPr>
          <a:xfrm>
            <a:off x="475560" y="2468880"/>
            <a:ext cx="1737000" cy="34704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205" name="Text 45"/>
          <p:cNvSpPr/>
          <p:nvPr/>
        </p:nvSpPr>
        <p:spPr>
          <a:xfrm>
            <a:off x="502920" y="2541960"/>
            <a:ext cx="1682280" cy="282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670" spc="-1" strike="noStrike">
                <a:solidFill>
                  <a:srgbClr val="f8fafc"/>
                </a:solidFill>
                <a:latin typeface="Aptos"/>
                <a:ea typeface="Aptos"/>
              </a:rPr>
              <a:t>Tuned LR</a:t>
            </a:r>
            <a:endParaRPr b="0" lang="en-GB" sz="670" spc="-1" strike="noStrike">
              <a:solidFill>
                <a:srgbClr val="ffffff"/>
              </a:solidFill>
              <a:latin typeface="Arial"/>
            </a:endParaRPr>
          </a:p>
        </p:txBody>
      </p:sp>
      <p:sp>
        <p:nvSpPr>
          <p:cNvPr id="1206" name="Shape 46"/>
          <p:cNvSpPr/>
          <p:nvPr/>
        </p:nvSpPr>
        <p:spPr>
          <a:xfrm>
            <a:off x="2212920" y="2468880"/>
            <a:ext cx="731160" cy="34704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207" name="Text 47"/>
          <p:cNvSpPr/>
          <p:nvPr/>
        </p:nvSpPr>
        <p:spPr>
          <a:xfrm>
            <a:off x="2240280" y="2541960"/>
            <a:ext cx="676440" cy="282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670" spc="-1" strike="noStrike">
                <a:solidFill>
                  <a:srgbClr val="f8fafc"/>
                </a:solidFill>
                <a:latin typeface="Aptos"/>
                <a:ea typeface="Aptos"/>
              </a:rPr>
              <a:t>0.7804</a:t>
            </a:r>
            <a:endParaRPr b="0" lang="en-GB" sz="670" spc="-1" strike="noStrike">
              <a:solidFill>
                <a:srgbClr val="ffffff"/>
              </a:solidFill>
              <a:latin typeface="Arial"/>
            </a:endParaRPr>
          </a:p>
        </p:txBody>
      </p:sp>
      <p:sp>
        <p:nvSpPr>
          <p:cNvPr id="1208" name="Shape 48"/>
          <p:cNvSpPr/>
          <p:nvPr/>
        </p:nvSpPr>
        <p:spPr>
          <a:xfrm>
            <a:off x="2944440" y="2468880"/>
            <a:ext cx="731160" cy="34704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209" name="Text 49"/>
          <p:cNvSpPr/>
          <p:nvPr/>
        </p:nvSpPr>
        <p:spPr>
          <a:xfrm>
            <a:off x="2971800" y="2541960"/>
            <a:ext cx="676440" cy="282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670" spc="-1" strike="noStrike">
                <a:solidFill>
                  <a:srgbClr val="f8fafc"/>
                </a:solidFill>
                <a:latin typeface="Aptos"/>
                <a:ea typeface="Aptos"/>
              </a:rPr>
              <a:t>0.3913</a:t>
            </a:r>
            <a:endParaRPr b="0" lang="en-GB" sz="670" spc="-1" strike="noStrike">
              <a:solidFill>
                <a:srgbClr val="ffffff"/>
              </a:solidFill>
              <a:latin typeface="Arial"/>
            </a:endParaRPr>
          </a:p>
        </p:txBody>
      </p:sp>
      <p:sp>
        <p:nvSpPr>
          <p:cNvPr id="1210" name="Shape 50"/>
          <p:cNvSpPr/>
          <p:nvPr/>
        </p:nvSpPr>
        <p:spPr>
          <a:xfrm>
            <a:off x="3675960" y="2468880"/>
            <a:ext cx="731160" cy="34704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211" name="Text 51"/>
          <p:cNvSpPr/>
          <p:nvPr/>
        </p:nvSpPr>
        <p:spPr>
          <a:xfrm>
            <a:off x="3703320" y="2541960"/>
            <a:ext cx="676440" cy="282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670" spc="-1" strike="noStrike">
                <a:solidFill>
                  <a:srgbClr val="f8fafc"/>
                </a:solidFill>
                <a:latin typeface="Aptos"/>
                <a:ea typeface="Aptos"/>
              </a:rPr>
              <a:t>0.6585</a:t>
            </a:r>
            <a:endParaRPr b="0" lang="en-GB" sz="670" spc="-1" strike="noStrike">
              <a:solidFill>
                <a:srgbClr val="ffffff"/>
              </a:solidFill>
              <a:latin typeface="Arial"/>
            </a:endParaRPr>
          </a:p>
        </p:txBody>
      </p:sp>
      <p:sp>
        <p:nvSpPr>
          <p:cNvPr id="1212" name="Shape 52"/>
          <p:cNvSpPr/>
          <p:nvPr/>
        </p:nvSpPr>
        <p:spPr>
          <a:xfrm>
            <a:off x="4407480" y="2468880"/>
            <a:ext cx="685440" cy="34704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213" name="Text 53"/>
          <p:cNvSpPr/>
          <p:nvPr/>
        </p:nvSpPr>
        <p:spPr>
          <a:xfrm>
            <a:off x="4434840" y="2541960"/>
            <a:ext cx="630720" cy="282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670" spc="-1" strike="noStrike">
                <a:solidFill>
                  <a:srgbClr val="f8fafc"/>
                </a:solidFill>
                <a:latin typeface="Aptos"/>
                <a:ea typeface="Aptos"/>
              </a:rPr>
              <a:t>0.4909</a:t>
            </a:r>
            <a:endParaRPr b="0" lang="en-GB" sz="670" spc="-1" strike="noStrike">
              <a:solidFill>
                <a:srgbClr val="ffffff"/>
              </a:solidFill>
              <a:latin typeface="Arial"/>
            </a:endParaRPr>
          </a:p>
        </p:txBody>
      </p:sp>
      <p:sp>
        <p:nvSpPr>
          <p:cNvPr id="1214" name="Shape 54"/>
          <p:cNvSpPr/>
          <p:nvPr/>
        </p:nvSpPr>
        <p:spPr>
          <a:xfrm>
            <a:off x="5093280" y="2468880"/>
            <a:ext cx="914040" cy="34704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215" name="Text 55"/>
          <p:cNvSpPr/>
          <p:nvPr/>
        </p:nvSpPr>
        <p:spPr>
          <a:xfrm>
            <a:off x="5120640" y="2541960"/>
            <a:ext cx="859320" cy="282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670" spc="-1" strike="noStrike">
                <a:solidFill>
                  <a:srgbClr val="f8fafc"/>
                </a:solidFill>
                <a:latin typeface="Aptos"/>
                <a:ea typeface="Aptos"/>
              </a:rPr>
              <a:t>0.7990</a:t>
            </a:r>
            <a:endParaRPr b="0" lang="en-GB" sz="670" spc="-1" strike="noStrike">
              <a:solidFill>
                <a:srgbClr val="ffffff"/>
              </a:solidFill>
              <a:latin typeface="Arial"/>
            </a:endParaRPr>
          </a:p>
        </p:txBody>
      </p:sp>
      <p:sp>
        <p:nvSpPr>
          <p:cNvPr id="1216" name="Shape 56"/>
          <p:cNvSpPr/>
          <p:nvPr/>
        </p:nvSpPr>
        <p:spPr>
          <a:xfrm>
            <a:off x="475560" y="2816280"/>
            <a:ext cx="1737000" cy="34704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217" name="Text 57"/>
          <p:cNvSpPr/>
          <p:nvPr/>
        </p:nvSpPr>
        <p:spPr>
          <a:xfrm>
            <a:off x="502920" y="2889360"/>
            <a:ext cx="1682280" cy="282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670" spc="-1" strike="noStrike">
                <a:solidFill>
                  <a:srgbClr val="f8fafc"/>
                </a:solidFill>
                <a:latin typeface="Aptos"/>
                <a:ea typeface="Aptos"/>
              </a:rPr>
              <a:t>Tuned XGB</a:t>
            </a:r>
            <a:endParaRPr b="0" lang="en-GB" sz="670" spc="-1" strike="noStrike">
              <a:solidFill>
                <a:srgbClr val="ffffff"/>
              </a:solidFill>
              <a:latin typeface="Arial"/>
            </a:endParaRPr>
          </a:p>
        </p:txBody>
      </p:sp>
      <p:sp>
        <p:nvSpPr>
          <p:cNvPr id="1218" name="Shape 58"/>
          <p:cNvSpPr/>
          <p:nvPr/>
        </p:nvSpPr>
        <p:spPr>
          <a:xfrm>
            <a:off x="2212920" y="2816280"/>
            <a:ext cx="731160" cy="34704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219" name="Text 59"/>
          <p:cNvSpPr/>
          <p:nvPr/>
        </p:nvSpPr>
        <p:spPr>
          <a:xfrm>
            <a:off x="2240280" y="2889360"/>
            <a:ext cx="676440" cy="282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670" spc="-1" strike="noStrike">
                <a:solidFill>
                  <a:srgbClr val="f8fafc"/>
                </a:solidFill>
                <a:latin typeface="Aptos"/>
                <a:ea typeface="Aptos"/>
              </a:rPr>
              <a:t>0.8510</a:t>
            </a:r>
            <a:endParaRPr b="0" lang="en-GB" sz="670" spc="-1" strike="noStrike">
              <a:solidFill>
                <a:srgbClr val="ffffff"/>
              </a:solidFill>
              <a:latin typeface="Arial"/>
            </a:endParaRPr>
          </a:p>
        </p:txBody>
      </p:sp>
      <p:sp>
        <p:nvSpPr>
          <p:cNvPr id="1220" name="Shape 60"/>
          <p:cNvSpPr/>
          <p:nvPr/>
        </p:nvSpPr>
        <p:spPr>
          <a:xfrm>
            <a:off x="2944440" y="2816280"/>
            <a:ext cx="731160" cy="34704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221" name="Text 61"/>
          <p:cNvSpPr/>
          <p:nvPr/>
        </p:nvSpPr>
        <p:spPr>
          <a:xfrm>
            <a:off x="2971800" y="2889360"/>
            <a:ext cx="676440" cy="282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670" spc="-1" strike="noStrike">
                <a:solidFill>
                  <a:srgbClr val="f8fafc"/>
                </a:solidFill>
                <a:latin typeface="Aptos"/>
                <a:ea typeface="Aptos"/>
              </a:rPr>
              <a:t>0.5366</a:t>
            </a:r>
            <a:endParaRPr b="0" lang="en-GB" sz="670" spc="-1" strike="noStrike">
              <a:solidFill>
                <a:srgbClr val="ffffff"/>
              </a:solidFill>
              <a:latin typeface="Arial"/>
            </a:endParaRPr>
          </a:p>
        </p:txBody>
      </p:sp>
      <p:sp>
        <p:nvSpPr>
          <p:cNvPr id="1222" name="Shape 62"/>
          <p:cNvSpPr/>
          <p:nvPr/>
        </p:nvSpPr>
        <p:spPr>
          <a:xfrm>
            <a:off x="3675960" y="2816280"/>
            <a:ext cx="731160" cy="34704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223" name="Text 63"/>
          <p:cNvSpPr/>
          <p:nvPr/>
        </p:nvSpPr>
        <p:spPr>
          <a:xfrm>
            <a:off x="3703320" y="2889360"/>
            <a:ext cx="676440" cy="282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670" spc="-1" strike="noStrike">
                <a:solidFill>
                  <a:srgbClr val="f8fafc"/>
                </a:solidFill>
                <a:latin typeface="Aptos"/>
                <a:ea typeface="Aptos"/>
              </a:rPr>
              <a:t>0.5366</a:t>
            </a:r>
            <a:endParaRPr b="0" lang="en-GB" sz="670" spc="-1" strike="noStrike">
              <a:solidFill>
                <a:srgbClr val="ffffff"/>
              </a:solidFill>
              <a:latin typeface="Arial"/>
            </a:endParaRPr>
          </a:p>
        </p:txBody>
      </p:sp>
      <p:sp>
        <p:nvSpPr>
          <p:cNvPr id="1224" name="Shape 64"/>
          <p:cNvSpPr/>
          <p:nvPr/>
        </p:nvSpPr>
        <p:spPr>
          <a:xfrm>
            <a:off x="4407480" y="2816280"/>
            <a:ext cx="685440" cy="34704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225" name="Text 65"/>
          <p:cNvSpPr/>
          <p:nvPr/>
        </p:nvSpPr>
        <p:spPr>
          <a:xfrm>
            <a:off x="4434840" y="2889360"/>
            <a:ext cx="630720" cy="282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670" spc="-1" strike="noStrike">
                <a:solidFill>
                  <a:srgbClr val="f8fafc"/>
                </a:solidFill>
                <a:latin typeface="Aptos"/>
                <a:ea typeface="Aptos"/>
              </a:rPr>
              <a:t>0.5366</a:t>
            </a:r>
            <a:endParaRPr b="0" lang="en-GB" sz="670" spc="-1" strike="noStrike">
              <a:solidFill>
                <a:srgbClr val="ffffff"/>
              </a:solidFill>
              <a:latin typeface="Arial"/>
            </a:endParaRPr>
          </a:p>
        </p:txBody>
      </p:sp>
      <p:sp>
        <p:nvSpPr>
          <p:cNvPr id="1226" name="Shape 66"/>
          <p:cNvSpPr/>
          <p:nvPr/>
        </p:nvSpPr>
        <p:spPr>
          <a:xfrm>
            <a:off x="5093280" y="2816280"/>
            <a:ext cx="914040" cy="34704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227" name="Text 67"/>
          <p:cNvSpPr/>
          <p:nvPr/>
        </p:nvSpPr>
        <p:spPr>
          <a:xfrm>
            <a:off x="5120640" y="2889360"/>
            <a:ext cx="859320" cy="282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670" spc="-1" strike="noStrike">
                <a:solidFill>
                  <a:srgbClr val="f8fafc"/>
                </a:solidFill>
                <a:latin typeface="Aptos"/>
                <a:ea typeface="Aptos"/>
              </a:rPr>
              <a:t>0.8459</a:t>
            </a:r>
            <a:endParaRPr b="0" lang="en-GB" sz="670" spc="-1" strike="noStrike">
              <a:solidFill>
                <a:srgbClr val="ffffff"/>
              </a:solidFill>
              <a:latin typeface="Arial"/>
            </a:endParaRPr>
          </a:p>
        </p:txBody>
      </p:sp>
      <p:sp>
        <p:nvSpPr>
          <p:cNvPr id="1228" name="Shape 68"/>
          <p:cNvSpPr/>
          <p:nvPr/>
        </p:nvSpPr>
        <p:spPr>
          <a:xfrm>
            <a:off x="475560" y="3163680"/>
            <a:ext cx="1737000" cy="34704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229" name="Text 69"/>
          <p:cNvSpPr/>
          <p:nvPr/>
        </p:nvSpPr>
        <p:spPr>
          <a:xfrm>
            <a:off x="502920" y="3237120"/>
            <a:ext cx="1682280" cy="282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670" spc="-1" strike="noStrike">
                <a:solidFill>
                  <a:srgbClr val="f8fafc"/>
                </a:solidFill>
                <a:latin typeface="Aptos"/>
                <a:ea typeface="Aptos"/>
              </a:rPr>
              <a:t>Voting Hard</a:t>
            </a:r>
            <a:endParaRPr b="0" lang="en-GB" sz="670" spc="-1" strike="noStrike">
              <a:solidFill>
                <a:srgbClr val="ffffff"/>
              </a:solidFill>
              <a:latin typeface="Arial"/>
            </a:endParaRPr>
          </a:p>
        </p:txBody>
      </p:sp>
      <p:sp>
        <p:nvSpPr>
          <p:cNvPr id="1230" name="Shape 70"/>
          <p:cNvSpPr/>
          <p:nvPr/>
        </p:nvSpPr>
        <p:spPr>
          <a:xfrm>
            <a:off x="2212920" y="3163680"/>
            <a:ext cx="731160" cy="34704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231" name="Text 71"/>
          <p:cNvSpPr/>
          <p:nvPr/>
        </p:nvSpPr>
        <p:spPr>
          <a:xfrm>
            <a:off x="2240280" y="3237120"/>
            <a:ext cx="676440" cy="282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70" spc="-1" strike="noStrike">
                <a:solidFill>
                  <a:srgbClr val="f8fafc"/>
                </a:solidFill>
                <a:latin typeface="Aptos"/>
                <a:ea typeface="Aptos"/>
              </a:rPr>
              <a:t>0.8627</a:t>
            </a:r>
            <a:endParaRPr b="0" lang="en-GB" sz="670" spc="-1" strike="noStrike">
              <a:solidFill>
                <a:srgbClr val="ffffff"/>
              </a:solidFill>
              <a:latin typeface="Arial"/>
            </a:endParaRPr>
          </a:p>
        </p:txBody>
      </p:sp>
      <p:sp>
        <p:nvSpPr>
          <p:cNvPr id="1232" name="Shape 72"/>
          <p:cNvSpPr/>
          <p:nvPr/>
        </p:nvSpPr>
        <p:spPr>
          <a:xfrm>
            <a:off x="2944440" y="3163680"/>
            <a:ext cx="731160" cy="34704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233" name="Text 73"/>
          <p:cNvSpPr/>
          <p:nvPr/>
        </p:nvSpPr>
        <p:spPr>
          <a:xfrm>
            <a:off x="2971800" y="3237120"/>
            <a:ext cx="676440" cy="282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70" spc="-1" strike="noStrike">
                <a:solidFill>
                  <a:srgbClr val="f8fafc"/>
                </a:solidFill>
                <a:latin typeface="Aptos"/>
                <a:ea typeface="Aptos"/>
              </a:rPr>
              <a:t>0.5938</a:t>
            </a:r>
            <a:endParaRPr b="0" lang="en-GB" sz="670" spc="-1" strike="noStrike">
              <a:solidFill>
                <a:srgbClr val="ffffff"/>
              </a:solidFill>
              <a:latin typeface="Arial"/>
            </a:endParaRPr>
          </a:p>
        </p:txBody>
      </p:sp>
      <p:sp>
        <p:nvSpPr>
          <p:cNvPr id="1234" name="Shape 74"/>
          <p:cNvSpPr/>
          <p:nvPr/>
        </p:nvSpPr>
        <p:spPr>
          <a:xfrm>
            <a:off x="3675960" y="3163680"/>
            <a:ext cx="731160" cy="34704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235" name="Text 75"/>
          <p:cNvSpPr/>
          <p:nvPr/>
        </p:nvSpPr>
        <p:spPr>
          <a:xfrm>
            <a:off x="3703320" y="3237120"/>
            <a:ext cx="676440" cy="282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70" spc="-1" strike="noStrike">
                <a:solidFill>
                  <a:srgbClr val="f8fafc"/>
                </a:solidFill>
                <a:latin typeface="Aptos"/>
                <a:ea typeface="Aptos"/>
              </a:rPr>
              <a:t>0.4634</a:t>
            </a:r>
            <a:endParaRPr b="0" lang="en-GB" sz="670" spc="-1" strike="noStrike">
              <a:solidFill>
                <a:srgbClr val="ffffff"/>
              </a:solidFill>
              <a:latin typeface="Arial"/>
            </a:endParaRPr>
          </a:p>
        </p:txBody>
      </p:sp>
      <p:sp>
        <p:nvSpPr>
          <p:cNvPr id="1236" name="Shape 76"/>
          <p:cNvSpPr/>
          <p:nvPr/>
        </p:nvSpPr>
        <p:spPr>
          <a:xfrm>
            <a:off x="4407480" y="3163680"/>
            <a:ext cx="685440" cy="34704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237" name="Text 77"/>
          <p:cNvSpPr/>
          <p:nvPr/>
        </p:nvSpPr>
        <p:spPr>
          <a:xfrm>
            <a:off x="4434840" y="3237120"/>
            <a:ext cx="630720" cy="282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70" spc="-1" strike="noStrike">
                <a:solidFill>
                  <a:srgbClr val="f8fafc"/>
                </a:solidFill>
                <a:latin typeface="Aptos"/>
                <a:ea typeface="Aptos"/>
              </a:rPr>
              <a:t>0.5205</a:t>
            </a:r>
            <a:endParaRPr b="0" lang="en-GB" sz="670" spc="-1" strike="noStrike">
              <a:solidFill>
                <a:srgbClr val="ffffff"/>
              </a:solidFill>
              <a:latin typeface="Arial"/>
            </a:endParaRPr>
          </a:p>
        </p:txBody>
      </p:sp>
      <p:sp>
        <p:nvSpPr>
          <p:cNvPr id="1238" name="Shape 78"/>
          <p:cNvSpPr/>
          <p:nvPr/>
        </p:nvSpPr>
        <p:spPr>
          <a:xfrm>
            <a:off x="5093280" y="3163680"/>
            <a:ext cx="914040" cy="34704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239" name="Text 79"/>
          <p:cNvSpPr/>
          <p:nvPr/>
        </p:nvSpPr>
        <p:spPr>
          <a:xfrm>
            <a:off x="5120640" y="3237120"/>
            <a:ext cx="859320" cy="282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70" spc="-1" strike="noStrike">
                <a:solidFill>
                  <a:srgbClr val="f8fafc"/>
                </a:solidFill>
                <a:latin typeface="Aptos"/>
                <a:ea typeface="Aptos"/>
              </a:rPr>
              <a:t>N/A</a:t>
            </a:r>
            <a:endParaRPr b="0" lang="en-GB" sz="670" spc="-1" strike="noStrike">
              <a:solidFill>
                <a:srgbClr val="ffffff"/>
              </a:solidFill>
              <a:latin typeface="Arial"/>
            </a:endParaRPr>
          </a:p>
        </p:txBody>
      </p:sp>
      <p:sp>
        <p:nvSpPr>
          <p:cNvPr id="1240" name="Shape 80"/>
          <p:cNvSpPr/>
          <p:nvPr/>
        </p:nvSpPr>
        <p:spPr>
          <a:xfrm>
            <a:off x="475560" y="3511440"/>
            <a:ext cx="1737000" cy="34704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241" name="Text 81"/>
          <p:cNvSpPr/>
          <p:nvPr/>
        </p:nvSpPr>
        <p:spPr>
          <a:xfrm>
            <a:off x="502920" y="3584520"/>
            <a:ext cx="1682280" cy="282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670" spc="-1" strike="noStrike">
                <a:solidFill>
                  <a:srgbClr val="f8fafc"/>
                </a:solidFill>
                <a:latin typeface="Aptos"/>
                <a:ea typeface="Aptos"/>
              </a:rPr>
              <a:t>Adversarial LR</a:t>
            </a:r>
            <a:endParaRPr b="0" lang="en-GB" sz="670" spc="-1" strike="noStrike">
              <a:solidFill>
                <a:srgbClr val="ffffff"/>
              </a:solidFill>
              <a:latin typeface="Arial"/>
            </a:endParaRPr>
          </a:p>
        </p:txBody>
      </p:sp>
      <p:sp>
        <p:nvSpPr>
          <p:cNvPr id="1242" name="Shape 82"/>
          <p:cNvSpPr/>
          <p:nvPr/>
        </p:nvSpPr>
        <p:spPr>
          <a:xfrm>
            <a:off x="2212920" y="3511440"/>
            <a:ext cx="731160" cy="34704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243" name="Text 83"/>
          <p:cNvSpPr/>
          <p:nvPr/>
        </p:nvSpPr>
        <p:spPr>
          <a:xfrm>
            <a:off x="2240280" y="3584520"/>
            <a:ext cx="676440" cy="282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670" spc="-1" strike="noStrike">
                <a:solidFill>
                  <a:srgbClr val="f8fafc"/>
                </a:solidFill>
                <a:latin typeface="Aptos"/>
                <a:ea typeface="Aptos"/>
              </a:rPr>
              <a:t>0.6235</a:t>
            </a:r>
            <a:endParaRPr b="0" lang="en-GB" sz="670" spc="-1" strike="noStrike">
              <a:solidFill>
                <a:srgbClr val="ffffff"/>
              </a:solidFill>
              <a:latin typeface="Arial"/>
            </a:endParaRPr>
          </a:p>
        </p:txBody>
      </p:sp>
      <p:sp>
        <p:nvSpPr>
          <p:cNvPr id="1244" name="Shape 84"/>
          <p:cNvSpPr/>
          <p:nvPr/>
        </p:nvSpPr>
        <p:spPr>
          <a:xfrm>
            <a:off x="2944440" y="3511440"/>
            <a:ext cx="731160" cy="34704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245" name="Text 85"/>
          <p:cNvSpPr/>
          <p:nvPr/>
        </p:nvSpPr>
        <p:spPr>
          <a:xfrm>
            <a:off x="2971800" y="3584520"/>
            <a:ext cx="676440" cy="282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670" spc="-1" strike="noStrike">
                <a:solidFill>
                  <a:srgbClr val="f8fafc"/>
                </a:solidFill>
                <a:latin typeface="Aptos"/>
                <a:ea typeface="Aptos"/>
              </a:rPr>
              <a:t>0.2523</a:t>
            </a:r>
            <a:endParaRPr b="0" lang="en-GB" sz="670" spc="-1" strike="noStrike">
              <a:solidFill>
                <a:srgbClr val="ffffff"/>
              </a:solidFill>
              <a:latin typeface="Arial"/>
            </a:endParaRPr>
          </a:p>
        </p:txBody>
      </p:sp>
      <p:sp>
        <p:nvSpPr>
          <p:cNvPr id="1246" name="Shape 86"/>
          <p:cNvSpPr/>
          <p:nvPr/>
        </p:nvSpPr>
        <p:spPr>
          <a:xfrm>
            <a:off x="3675960" y="3511440"/>
            <a:ext cx="731160" cy="34704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247" name="Text 87"/>
          <p:cNvSpPr/>
          <p:nvPr/>
        </p:nvSpPr>
        <p:spPr>
          <a:xfrm>
            <a:off x="3703320" y="3584520"/>
            <a:ext cx="676440" cy="282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670" spc="-1" strike="noStrike">
                <a:solidFill>
                  <a:srgbClr val="f8fafc"/>
                </a:solidFill>
                <a:latin typeface="Aptos"/>
                <a:ea typeface="Aptos"/>
              </a:rPr>
              <a:t>0.6829</a:t>
            </a:r>
            <a:endParaRPr b="0" lang="en-GB" sz="670" spc="-1" strike="noStrike">
              <a:solidFill>
                <a:srgbClr val="ffffff"/>
              </a:solidFill>
              <a:latin typeface="Arial"/>
            </a:endParaRPr>
          </a:p>
        </p:txBody>
      </p:sp>
      <p:sp>
        <p:nvSpPr>
          <p:cNvPr id="1248" name="Shape 88"/>
          <p:cNvSpPr/>
          <p:nvPr/>
        </p:nvSpPr>
        <p:spPr>
          <a:xfrm>
            <a:off x="4407480" y="3511440"/>
            <a:ext cx="685440" cy="34704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249" name="Text 89"/>
          <p:cNvSpPr/>
          <p:nvPr/>
        </p:nvSpPr>
        <p:spPr>
          <a:xfrm>
            <a:off x="4434840" y="3584520"/>
            <a:ext cx="630720" cy="282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670" spc="-1" strike="noStrike">
                <a:solidFill>
                  <a:srgbClr val="f8fafc"/>
                </a:solidFill>
                <a:latin typeface="Aptos"/>
                <a:ea typeface="Aptos"/>
              </a:rPr>
              <a:t>0.3684</a:t>
            </a:r>
            <a:endParaRPr b="0" lang="en-GB" sz="670" spc="-1" strike="noStrike">
              <a:solidFill>
                <a:srgbClr val="ffffff"/>
              </a:solidFill>
              <a:latin typeface="Arial"/>
            </a:endParaRPr>
          </a:p>
        </p:txBody>
      </p:sp>
      <p:sp>
        <p:nvSpPr>
          <p:cNvPr id="1250" name="Shape 90"/>
          <p:cNvSpPr/>
          <p:nvPr/>
        </p:nvSpPr>
        <p:spPr>
          <a:xfrm>
            <a:off x="5093280" y="3511440"/>
            <a:ext cx="914040" cy="34704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251" name="Text 91"/>
          <p:cNvSpPr/>
          <p:nvPr/>
        </p:nvSpPr>
        <p:spPr>
          <a:xfrm>
            <a:off x="5120640" y="3584520"/>
            <a:ext cx="859320" cy="282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670" spc="-1" strike="noStrike">
                <a:solidFill>
                  <a:srgbClr val="f8fafc"/>
                </a:solidFill>
                <a:latin typeface="Aptos"/>
                <a:ea typeface="Aptos"/>
              </a:rPr>
              <a:t>0.6953</a:t>
            </a:r>
            <a:endParaRPr b="0" lang="en-GB" sz="670" spc="-1" strike="noStrike">
              <a:solidFill>
                <a:srgbClr val="ffffff"/>
              </a:solidFill>
              <a:latin typeface="Arial"/>
            </a:endParaRPr>
          </a:p>
        </p:txBody>
      </p:sp>
      <p:sp>
        <p:nvSpPr>
          <p:cNvPr id="1252" name="Shape 92"/>
          <p:cNvSpPr/>
          <p:nvPr/>
        </p:nvSpPr>
        <p:spPr>
          <a:xfrm>
            <a:off x="475560" y="3858840"/>
            <a:ext cx="1737000" cy="34704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253" name="Text 93"/>
          <p:cNvSpPr/>
          <p:nvPr/>
        </p:nvSpPr>
        <p:spPr>
          <a:xfrm>
            <a:off x="502920" y="3931920"/>
            <a:ext cx="1682280" cy="282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670" spc="-1" strike="noStrike">
                <a:solidFill>
                  <a:srgbClr val="f8fafc"/>
                </a:solidFill>
                <a:latin typeface="Aptos"/>
                <a:ea typeface="Aptos"/>
              </a:rPr>
              <a:t>Adversarial RF</a:t>
            </a:r>
            <a:endParaRPr b="0" lang="en-GB" sz="670" spc="-1" strike="noStrike">
              <a:solidFill>
                <a:srgbClr val="ffffff"/>
              </a:solidFill>
              <a:latin typeface="Arial"/>
            </a:endParaRPr>
          </a:p>
        </p:txBody>
      </p:sp>
      <p:sp>
        <p:nvSpPr>
          <p:cNvPr id="1254" name="Shape 94"/>
          <p:cNvSpPr/>
          <p:nvPr/>
        </p:nvSpPr>
        <p:spPr>
          <a:xfrm>
            <a:off x="2212920" y="3858840"/>
            <a:ext cx="731160" cy="34704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255" name="Text 95"/>
          <p:cNvSpPr/>
          <p:nvPr/>
        </p:nvSpPr>
        <p:spPr>
          <a:xfrm>
            <a:off x="2240280" y="3931920"/>
            <a:ext cx="676440" cy="282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70" spc="-1" strike="noStrike">
                <a:solidFill>
                  <a:srgbClr val="f8fafc"/>
                </a:solidFill>
                <a:latin typeface="Aptos"/>
                <a:ea typeface="Aptos"/>
              </a:rPr>
              <a:t>0.8275</a:t>
            </a:r>
            <a:endParaRPr b="0" lang="en-GB" sz="670" spc="-1" strike="noStrike">
              <a:solidFill>
                <a:srgbClr val="ffffff"/>
              </a:solidFill>
              <a:latin typeface="Arial"/>
            </a:endParaRPr>
          </a:p>
        </p:txBody>
      </p:sp>
      <p:sp>
        <p:nvSpPr>
          <p:cNvPr id="1256" name="Shape 96"/>
          <p:cNvSpPr/>
          <p:nvPr/>
        </p:nvSpPr>
        <p:spPr>
          <a:xfrm>
            <a:off x="2944440" y="3858840"/>
            <a:ext cx="731160" cy="34704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257" name="Text 97"/>
          <p:cNvSpPr/>
          <p:nvPr/>
        </p:nvSpPr>
        <p:spPr>
          <a:xfrm>
            <a:off x="2971800" y="3931920"/>
            <a:ext cx="676440" cy="282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70" spc="-1" strike="noStrike">
                <a:solidFill>
                  <a:srgbClr val="f8fafc"/>
                </a:solidFill>
                <a:latin typeface="Aptos"/>
                <a:ea typeface="Aptos"/>
              </a:rPr>
              <a:t>0.4595</a:t>
            </a:r>
            <a:endParaRPr b="0" lang="en-GB" sz="670" spc="-1" strike="noStrike">
              <a:solidFill>
                <a:srgbClr val="ffffff"/>
              </a:solidFill>
              <a:latin typeface="Arial"/>
            </a:endParaRPr>
          </a:p>
        </p:txBody>
      </p:sp>
      <p:sp>
        <p:nvSpPr>
          <p:cNvPr id="1258" name="Shape 98"/>
          <p:cNvSpPr/>
          <p:nvPr/>
        </p:nvSpPr>
        <p:spPr>
          <a:xfrm>
            <a:off x="3675960" y="3858840"/>
            <a:ext cx="731160" cy="34704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259" name="Text 99"/>
          <p:cNvSpPr/>
          <p:nvPr/>
        </p:nvSpPr>
        <p:spPr>
          <a:xfrm>
            <a:off x="3703320" y="3931920"/>
            <a:ext cx="676440" cy="282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70" spc="-1" strike="noStrike">
                <a:solidFill>
                  <a:srgbClr val="f8fafc"/>
                </a:solidFill>
                <a:latin typeface="Aptos"/>
                <a:ea typeface="Aptos"/>
              </a:rPr>
              <a:t>0.4146</a:t>
            </a:r>
            <a:endParaRPr b="0" lang="en-GB" sz="670" spc="-1" strike="noStrike">
              <a:solidFill>
                <a:srgbClr val="ffffff"/>
              </a:solidFill>
              <a:latin typeface="Arial"/>
            </a:endParaRPr>
          </a:p>
        </p:txBody>
      </p:sp>
      <p:sp>
        <p:nvSpPr>
          <p:cNvPr id="1260" name="Shape 100"/>
          <p:cNvSpPr/>
          <p:nvPr/>
        </p:nvSpPr>
        <p:spPr>
          <a:xfrm>
            <a:off x="4407480" y="3858840"/>
            <a:ext cx="685440" cy="34704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261" name="Text 101"/>
          <p:cNvSpPr/>
          <p:nvPr/>
        </p:nvSpPr>
        <p:spPr>
          <a:xfrm>
            <a:off x="4434840" y="3931920"/>
            <a:ext cx="630720" cy="282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70" spc="-1" strike="noStrike">
                <a:solidFill>
                  <a:srgbClr val="f8fafc"/>
                </a:solidFill>
                <a:latin typeface="Aptos"/>
                <a:ea typeface="Aptos"/>
              </a:rPr>
              <a:t>0.4359</a:t>
            </a:r>
            <a:endParaRPr b="0" lang="en-GB" sz="670" spc="-1" strike="noStrike">
              <a:solidFill>
                <a:srgbClr val="ffffff"/>
              </a:solidFill>
              <a:latin typeface="Arial"/>
            </a:endParaRPr>
          </a:p>
        </p:txBody>
      </p:sp>
      <p:sp>
        <p:nvSpPr>
          <p:cNvPr id="1262" name="Shape 102"/>
          <p:cNvSpPr/>
          <p:nvPr/>
        </p:nvSpPr>
        <p:spPr>
          <a:xfrm>
            <a:off x="5093280" y="3858840"/>
            <a:ext cx="914040" cy="34704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263" name="Text 103"/>
          <p:cNvSpPr/>
          <p:nvPr/>
        </p:nvSpPr>
        <p:spPr>
          <a:xfrm>
            <a:off x="5120640" y="3931920"/>
            <a:ext cx="859320" cy="282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70" spc="-1" strike="noStrike">
                <a:solidFill>
                  <a:srgbClr val="f8fafc"/>
                </a:solidFill>
                <a:latin typeface="Aptos"/>
                <a:ea typeface="Aptos"/>
              </a:rPr>
              <a:t>0.8165</a:t>
            </a:r>
            <a:endParaRPr b="0" lang="en-GB" sz="670" spc="-1" strike="noStrike">
              <a:solidFill>
                <a:srgbClr val="ffffff"/>
              </a:solidFill>
              <a:latin typeface="Arial"/>
            </a:endParaRPr>
          </a:p>
        </p:txBody>
      </p:sp>
      <p:sp>
        <p:nvSpPr>
          <p:cNvPr id="1264" name="Shape 104"/>
          <p:cNvSpPr/>
          <p:nvPr/>
        </p:nvSpPr>
        <p:spPr>
          <a:xfrm>
            <a:off x="6263640" y="1481400"/>
            <a:ext cx="5211720" cy="3154320"/>
          </a:xfrm>
          <a:prstGeom prst="roundRect">
            <a:avLst>
              <a:gd name="adj" fmla="val 3478"/>
            </a:avLst>
          </a:prstGeom>
          <a:solidFill>
            <a:srgbClr val="ffffff">
              <a:alpha val="5000"/>
            </a:srgbClr>
          </a:solidFill>
          <a:ln w="10160">
            <a:solidFill>
              <a:srgbClr val="334155">
                <a:alpha val="65000"/>
              </a:srgbClr>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pic>
        <p:nvPicPr>
          <p:cNvPr id="1265" name="Image 0" descr="/mnt/data/mi_ml_assets/phase5_standard_vs_drift_metrics.png"/>
          <p:cNvPicPr/>
          <p:nvPr/>
        </p:nvPicPr>
        <p:blipFill>
          <a:blip r:embed="rId1"/>
          <a:stretch/>
        </p:blipFill>
        <p:spPr>
          <a:xfrm>
            <a:off x="6263640" y="2090520"/>
            <a:ext cx="5211720" cy="1935720"/>
          </a:xfrm>
          <a:prstGeom prst="rect">
            <a:avLst/>
          </a:prstGeom>
          <a:ln w="0">
            <a:noFill/>
          </a:ln>
          <a:effectLst>
            <a:outerShdw algn="bl" blurRad="25560" dir="2700000" dist="50402" kx="0" ky="0" rotWithShape="0" sx="100000" sy="100000">
              <a:srgbClr val="000000">
                <a:alpha val="25000"/>
              </a:srgbClr>
            </a:outerShdw>
          </a:effectLst>
        </p:spPr>
      </p:pic>
      <p:sp>
        <p:nvSpPr>
          <p:cNvPr id="1266" name="Shape 105"/>
          <p:cNvSpPr/>
          <p:nvPr/>
        </p:nvSpPr>
        <p:spPr>
          <a:xfrm>
            <a:off x="6263640" y="4892040"/>
            <a:ext cx="5211720" cy="1545120"/>
          </a:xfrm>
          <a:prstGeom prst="roundRect">
            <a:avLst>
              <a:gd name="adj" fmla="val 4734"/>
            </a:avLst>
          </a:prstGeom>
          <a:solidFill>
            <a:srgbClr val="0b1a2e"/>
          </a:solidFill>
          <a:ln w="1016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267" name="Shape 106"/>
          <p:cNvSpPr/>
          <p:nvPr/>
        </p:nvSpPr>
        <p:spPr>
          <a:xfrm>
            <a:off x="6263640" y="4892040"/>
            <a:ext cx="3474360" cy="26496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268" name="Text 107"/>
          <p:cNvSpPr/>
          <p:nvPr/>
        </p:nvSpPr>
        <p:spPr>
          <a:xfrm>
            <a:off x="6291000" y="4965120"/>
            <a:ext cx="3419640" cy="173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660" spc="-1" strike="noStrike">
                <a:solidFill>
                  <a:srgbClr val="f8fafc"/>
                </a:solidFill>
                <a:latin typeface="Aptos"/>
                <a:ea typeface="Aptos"/>
              </a:rPr>
              <a:t>Failure mode</a:t>
            </a:r>
            <a:endParaRPr b="0" lang="en-GB" sz="660" spc="-1" strike="noStrike">
              <a:solidFill>
                <a:srgbClr val="ffffff"/>
              </a:solidFill>
              <a:latin typeface="Arial"/>
            </a:endParaRPr>
          </a:p>
        </p:txBody>
      </p:sp>
      <p:sp>
        <p:nvSpPr>
          <p:cNvPr id="1269" name="Shape 108"/>
          <p:cNvSpPr/>
          <p:nvPr/>
        </p:nvSpPr>
        <p:spPr>
          <a:xfrm>
            <a:off x="9738360" y="4892040"/>
            <a:ext cx="1737000" cy="26496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270" name="Text 109"/>
          <p:cNvSpPr/>
          <p:nvPr/>
        </p:nvSpPr>
        <p:spPr>
          <a:xfrm>
            <a:off x="9765720" y="4965120"/>
            <a:ext cx="1682280" cy="173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660" spc="-1" strike="noStrike">
                <a:solidFill>
                  <a:srgbClr val="f8fafc"/>
                </a:solidFill>
                <a:latin typeface="Aptos"/>
                <a:ea typeface="Aptos"/>
              </a:rPr>
              <a:t>Measured result</a:t>
            </a:r>
            <a:endParaRPr b="0" lang="en-GB" sz="660" spc="-1" strike="noStrike">
              <a:solidFill>
                <a:srgbClr val="ffffff"/>
              </a:solidFill>
              <a:latin typeface="Arial"/>
            </a:endParaRPr>
          </a:p>
        </p:txBody>
      </p:sp>
      <p:sp>
        <p:nvSpPr>
          <p:cNvPr id="1271" name="Shape 110"/>
          <p:cNvSpPr/>
          <p:nvPr/>
        </p:nvSpPr>
        <p:spPr>
          <a:xfrm>
            <a:off x="6263640" y="5157360"/>
            <a:ext cx="3474360" cy="24660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272" name="Text 111"/>
          <p:cNvSpPr/>
          <p:nvPr/>
        </p:nvSpPr>
        <p:spPr>
          <a:xfrm>
            <a:off x="6291000" y="5230440"/>
            <a:ext cx="3419640" cy="182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660" spc="-1" strike="noStrike">
                <a:solidFill>
                  <a:srgbClr val="f8fafc"/>
                </a:solidFill>
                <a:latin typeface="Aptos"/>
                <a:ea typeface="Aptos"/>
              </a:rPr>
              <a:t>Best recall standard</a:t>
            </a:r>
            <a:endParaRPr b="0" lang="en-GB" sz="660" spc="-1" strike="noStrike">
              <a:solidFill>
                <a:srgbClr val="ffffff"/>
              </a:solidFill>
              <a:latin typeface="Arial"/>
            </a:endParaRPr>
          </a:p>
        </p:txBody>
      </p:sp>
      <p:sp>
        <p:nvSpPr>
          <p:cNvPr id="1273" name="Shape 112"/>
          <p:cNvSpPr/>
          <p:nvPr/>
        </p:nvSpPr>
        <p:spPr>
          <a:xfrm>
            <a:off x="9738360" y="5157360"/>
            <a:ext cx="1737000" cy="24660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274" name="Text 113"/>
          <p:cNvSpPr/>
          <p:nvPr/>
        </p:nvSpPr>
        <p:spPr>
          <a:xfrm>
            <a:off x="9765720" y="5230440"/>
            <a:ext cx="1682280" cy="182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60" spc="-1" strike="noStrike">
                <a:solidFill>
                  <a:srgbClr val="f8fafc"/>
                </a:solidFill>
                <a:latin typeface="Aptos"/>
                <a:ea typeface="Aptos"/>
              </a:rPr>
              <a:t>0.6341</a:t>
            </a:r>
            <a:endParaRPr b="0" lang="en-GB" sz="660" spc="-1" strike="noStrike">
              <a:solidFill>
                <a:srgbClr val="ffffff"/>
              </a:solidFill>
              <a:latin typeface="Arial"/>
            </a:endParaRPr>
          </a:p>
        </p:txBody>
      </p:sp>
      <p:sp>
        <p:nvSpPr>
          <p:cNvPr id="1275" name="Shape 114"/>
          <p:cNvSpPr/>
          <p:nvPr/>
        </p:nvSpPr>
        <p:spPr>
          <a:xfrm>
            <a:off x="6263640" y="5403960"/>
            <a:ext cx="3474360" cy="24660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276" name="Text 115"/>
          <p:cNvSpPr/>
          <p:nvPr/>
        </p:nvSpPr>
        <p:spPr>
          <a:xfrm>
            <a:off x="6291000" y="5477400"/>
            <a:ext cx="3419640" cy="182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660" spc="-1" strike="noStrike">
                <a:solidFill>
                  <a:srgbClr val="f8fafc"/>
                </a:solidFill>
                <a:latin typeface="Aptos"/>
                <a:ea typeface="Aptos"/>
              </a:rPr>
              <a:t>Best recall drifted</a:t>
            </a:r>
            <a:endParaRPr b="0" lang="en-GB" sz="660" spc="-1" strike="noStrike">
              <a:solidFill>
                <a:srgbClr val="ffffff"/>
              </a:solidFill>
              <a:latin typeface="Arial"/>
            </a:endParaRPr>
          </a:p>
        </p:txBody>
      </p:sp>
      <p:sp>
        <p:nvSpPr>
          <p:cNvPr id="1277" name="Shape 116"/>
          <p:cNvSpPr/>
          <p:nvPr/>
        </p:nvSpPr>
        <p:spPr>
          <a:xfrm>
            <a:off x="9738360" y="5403960"/>
            <a:ext cx="1737000" cy="24660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278" name="Text 117"/>
          <p:cNvSpPr/>
          <p:nvPr/>
        </p:nvSpPr>
        <p:spPr>
          <a:xfrm>
            <a:off x="9765720" y="5477400"/>
            <a:ext cx="1682280" cy="182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60" spc="-1" strike="noStrike">
                <a:solidFill>
                  <a:srgbClr val="f8fafc"/>
                </a:solidFill>
                <a:latin typeface="Aptos"/>
                <a:ea typeface="Aptos"/>
              </a:rPr>
              <a:t>0.6829</a:t>
            </a:r>
            <a:endParaRPr b="0" lang="en-GB" sz="660" spc="-1" strike="noStrike">
              <a:solidFill>
                <a:srgbClr val="ffffff"/>
              </a:solidFill>
              <a:latin typeface="Arial"/>
            </a:endParaRPr>
          </a:p>
        </p:txBody>
      </p:sp>
      <p:sp>
        <p:nvSpPr>
          <p:cNvPr id="1279" name="Shape 118"/>
          <p:cNvSpPr/>
          <p:nvPr/>
        </p:nvSpPr>
        <p:spPr>
          <a:xfrm>
            <a:off x="6263640" y="5650920"/>
            <a:ext cx="3474360" cy="24660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280" name="Text 119"/>
          <p:cNvSpPr/>
          <p:nvPr/>
        </p:nvSpPr>
        <p:spPr>
          <a:xfrm>
            <a:off x="6291000" y="5724000"/>
            <a:ext cx="3419640" cy="182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660" spc="-1" strike="noStrike">
                <a:solidFill>
                  <a:srgbClr val="f8fafc"/>
                </a:solidFill>
                <a:latin typeface="Aptos"/>
                <a:ea typeface="Aptos"/>
              </a:rPr>
              <a:t>Tuned LR F1 → noisy LR F1</a:t>
            </a:r>
            <a:endParaRPr b="0" lang="en-GB" sz="660" spc="-1" strike="noStrike">
              <a:solidFill>
                <a:srgbClr val="ffffff"/>
              </a:solidFill>
              <a:latin typeface="Arial"/>
            </a:endParaRPr>
          </a:p>
        </p:txBody>
      </p:sp>
      <p:sp>
        <p:nvSpPr>
          <p:cNvPr id="1281" name="Shape 120"/>
          <p:cNvSpPr/>
          <p:nvPr/>
        </p:nvSpPr>
        <p:spPr>
          <a:xfrm>
            <a:off x="9738360" y="5650920"/>
            <a:ext cx="1737000" cy="24660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282" name="Text 121"/>
          <p:cNvSpPr/>
          <p:nvPr/>
        </p:nvSpPr>
        <p:spPr>
          <a:xfrm>
            <a:off x="9765720" y="5724000"/>
            <a:ext cx="1682280" cy="182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60" spc="-1" strike="noStrike">
                <a:solidFill>
                  <a:srgbClr val="f8fafc"/>
                </a:solidFill>
                <a:latin typeface="Aptos"/>
                <a:ea typeface="Aptos"/>
              </a:rPr>
              <a:t>0.4602 → 0.3378</a:t>
            </a:r>
            <a:endParaRPr b="0" lang="en-GB" sz="660" spc="-1" strike="noStrike">
              <a:solidFill>
                <a:srgbClr val="ffffff"/>
              </a:solidFill>
              <a:latin typeface="Arial"/>
            </a:endParaRPr>
          </a:p>
        </p:txBody>
      </p:sp>
      <p:sp>
        <p:nvSpPr>
          <p:cNvPr id="1283" name="Shape 122"/>
          <p:cNvSpPr/>
          <p:nvPr/>
        </p:nvSpPr>
        <p:spPr>
          <a:xfrm>
            <a:off x="6263640" y="5897880"/>
            <a:ext cx="3474360" cy="24660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284" name="Text 123"/>
          <p:cNvSpPr/>
          <p:nvPr/>
        </p:nvSpPr>
        <p:spPr>
          <a:xfrm>
            <a:off x="6291000" y="5970960"/>
            <a:ext cx="3419640" cy="182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660" spc="-1" strike="noStrike">
                <a:solidFill>
                  <a:srgbClr val="f8fafc"/>
                </a:solidFill>
                <a:latin typeface="Aptos"/>
                <a:ea typeface="Aptos"/>
              </a:rPr>
              <a:t>Label-noise F1 drop</a:t>
            </a:r>
            <a:endParaRPr b="0" lang="en-GB" sz="660" spc="-1" strike="noStrike">
              <a:solidFill>
                <a:srgbClr val="ffffff"/>
              </a:solidFill>
              <a:latin typeface="Arial"/>
            </a:endParaRPr>
          </a:p>
        </p:txBody>
      </p:sp>
      <p:sp>
        <p:nvSpPr>
          <p:cNvPr id="1285" name="Shape 124"/>
          <p:cNvSpPr/>
          <p:nvPr/>
        </p:nvSpPr>
        <p:spPr>
          <a:xfrm>
            <a:off x="9738360" y="5897880"/>
            <a:ext cx="1737000" cy="24660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286" name="Text 125"/>
          <p:cNvSpPr/>
          <p:nvPr/>
        </p:nvSpPr>
        <p:spPr>
          <a:xfrm>
            <a:off x="9765720" y="5970960"/>
            <a:ext cx="1682280" cy="182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60" spc="-1" strike="noStrike">
                <a:solidFill>
                  <a:srgbClr val="f8fafc"/>
                </a:solidFill>
                <a:latin typeface="Aptos"/>
                <a:ea typeface="Aptos"/>
              </a:rPr>
              <a:t>0.1224</a:t>
            </a:r>
            <a:endParaRPr b="0" lang="en-GB" sz="660" spc="-1" strike="noStrike">
              <a:solidFill>
                <a:srgbClr val="ffffff"/>
              </a:solidFill>
              <a:latin typeface="Arial"/>
            </a:endParaRPr>
          </a:p>
        </p:txBody>
      </p:sp>
      <p:sp>
        <p:nvSpPr>
          <p:cNvPr id="1287" name="Shape 126"/>
          <p:cNvSpPr/>
          <p:nvPr/>
        </p:nvSpPr>
        <p:spPr>
          <a:xfrm>
            <a:off x="6263640" y="6144840"/>
            <a:ext cx="3474360" cy="24660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288" name="Text 127"/>
          <p:cNvSpPr/>
          <p:nvPr/>
        </p:nvSpPr>
        <p:spPr>
          <a:xfrm>
            <a:off x="6291000" y="6217920"/>
            <a:ext cx="3419640" cy="182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660" spc="-1" strike="noStrike">
                <a:solidFill>
                  <a:srgbClr val="f8fafc"/>
                </a:solidFill>
                <a:latin typeface="Aptos"/>
                <a:ea typeface="Aptos"/>
              </a:rPr>
              <a:t>Avg tuned-model F1 drop under drift</a:t>
            </a:r>
            <a:endParaRPr b="0" lang="en-GB" sz="660" spc="-1" strike="noStrike">
              <a:solidFill>
                <a:srgbClr val="ffffff"/>
              </a:solidFill>
              <a:latin typeface="Arial"/>
            </a:endParaRPr>
          </a:p>
        </p:txBody>
      </p:sp>
      <p:sp>
        <p:nvSpPr>
          <p:cNvPr id="1289" name="Shape 128"/>
          <p:cNvSpPr/>
          <p:nvPr/>
        </p:nvSpPr>
        <p:spPr>
          <a:xfrm>
            <a:off x="9738360" y="6144840"/>
            <a:ext cx="1737000" cy="24660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290" name="Text 129"/>
          <p:cNvSpPr/>
          <p:nvPr/>
        </p:nvSpPr>
        <p:spPr>
          <a:xfrm>
            <a:off x="9765720" y="6217920"/>
            <a:ext cx="1682280" cy="182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60" spc="-1" strike="noStrike">
                <a:solidFill>
                  <a:srgbClr val="f8fafc"/>
                </a:solidFill>
                <a:latin typeface="Aptos"/>
                <a:ea typeface="Aptos"/>
              </a:rPr>
              <a:t>0.0093</a:t>
            </a:r>
            <a:endParaRPr b="0" lang="en-GB" sz="660" spc="-1" strike="noStrike">
              <a:solidFill>
                <a:srgbClr val="ffffff"/>
              </a:solidFill>
              <a:latin typeface="Arial"/>
            </a:endParaRPr>
          </a:p>
        </p:txBody>
      </p:sp>
      <p:sp>
        <p:nvSpPr>
          <p:cNvPr id="1291" name="Shape 130"/>
          <p:cNvSpPr/>
          <p:nvPr/>
        </p:nvSpPr>
        <p:spPr>
          <a:xfrm>
            <a:off x="502920" y="6555960"/>
            <a:ext cx="11201400" cy="360"/>
          </a:xfrm>
          <a:prstGeom prst="line">
            <a:avLst/>
          </a:prstGeom>
          <a:ln w="7620">
            <a:solidFill>
              <a:srgbClr val="334155">
                <a:alpha val="60000"/>
              </a:srgbClr>
            </a:solidFill>
            <a:round/>
          </a:ln>
        </p:spPr>
        <p:style>
          <a:lnRef idx="0"/>
          <a:fillRef idx="0"/>
          <a:effectRef idx="0"/>
          <a:fontRef idx="minor"/>
        </p:style>
        <p:txBody>
          <a:bodyPr lIns="90000" rIns="90000" tIns="-44640" bIns="-44640" anchor="t" anchorCtr="1">
            <a:noAutofit/>
          </a:bodyPr>
          <a:p>
            <a:endParaRPr b="0" lang="en-GB" sz="1800" spc="-1" strike="noStrike">
              <a:solidFill>
                <a:srgbClr val="ffffff"/>
              </a:solidFill>
              <a:latin typeface="Arial"/>
            </a:endParaRPr>
          </a:p>
        </p:txBody>
      </p:sp>
      <p:sp>
        <p:nvSpPr>
          <p:cNvPr id="1292" name="Text 131"/>
          <p:cNvSpPr/>
          <p:nvPr/>
        </p:nvSpPr>
        <p:spPr>
          <a:xfrm>
            <a:off x="530280" y="6602040"/>
            <a:ext cx="6217560" cy="145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650" spc="-1" strike="noStrike">
                <a:solidFill>
                  <a:srgbClr val="94a3b8"/>
                </a:solidFill>
                <a:latin typeface="Aptos"/>
                <a:ea typeface="Aptos"/>
              </a:rPr>
              <a:t>Clinical Outcome Prediction • Myocardial Infarction Complications</a:t>
            </a:r>
            <a:endParaRPr b="0" lang="en-GB" sz="650" spc="-1" strike="noStrike">
              <a:solidFill>
                <a:srgbClr val="ffffff"/>
              </a:solidFill>
              <a:latin typeface="Arial"/>
            </a:endParaRPr>
          </a:p>
        </p:txBody>
      </p:sp>
      <p:sp>
        <p:nvSpPr>
          <p:cNvPr id="1293" name="Text 132"/>
          <p:cNvSpPr/>
          <p:nvPr/>
        </p:nvSpPr>
        <p:spPr>
          <a:xfrm>
            <a:off x="11201400" y="6565320"/>
            <a:ext cx="502560" cy="2282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750" spc="-1" strike="noStrike">
                <a:solidFill>
                  <a:srgbClr val="94a3b8"/>
                </a:solidFill>
                <a:latin typeface="Aptos"/>
                <a:ea typeface="Aptos"/>
              </a:rPr>
              <a:t>15</a:t>
            </a:r>
            <a:endParaRPr b="0" lang="en-GB" sz="7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01f"/>
        </a:solidFill>
      </p:bgPr>
    </p:bg>
    <p:spTree>
      <p:nvGrpSpPr>
        <p:cNvPr id="1" name=""/>
        <p:cNvGrpSpPr/>
        <p:nvPr/>
      </p:nvGrpSpPr>
      <p:grpSpPr>
        <a:xfrm>
          <a:off x="0" y="0"/>
          <a:ext cx="0" cy="0"/>
          <a:chOff x="0" y="0"/>
          <a:chExt cx="0" cy="0"/>
        </a:xfrm>
      </p:grpSpPr>
      <p:sp>
        <p:nvSpPr>
          <p:cNvPr id="1294" name="Shape 0"/>
          <p:cNvSpPr/>
          <p:nvPr/>
        </p:nvSpPr>
        <p:spPr>
          <a:xfrm>
            <a:off x="0" y="0"/>
            <a:ext cx="12191400" cy="6857640"/>
          </a:xfrm>
          <a:prstGeom prst="rect">
            <a:avLst/>
          </a:prstGeom>
          <a:solidFill>
            <a:srgbClr val="06101f"/>
          </a:solidFill>
          <a:ln w="12700">
            <a:solidFill>
              <a:srgbClr val="06101f"/>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295" name="Shape 1"/>
          <p:cNvSpPr/>
          <p:nvPr/>
        </p:nvSpPr>
        <p:spPr>
          <a:xfrm>
            <a:off x="0" y="0"/>
            <a:ext cx="12191400" cy="6857640"/>
          </a:xfrm>
          <a:prstGeom prst="rect">
            <a:avLst/>
          </a:prstGeom>
          <a:solidFill>
            <a:srgbClr val="081629">
              <a:alpha val="85000"/>
            </a:srgbClr>
          </a:solidFill>
          <a:ln w="12700">
            <a:solidFill>
              <a:srgbClr val="081629">
                <a:alpha val="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296" name="Shape 2"/>
          <p:cNvSpPr/>
          <p:nvPr/>
        </p:nvSpPr>
        <p:spPr>
          <a:xfrm>
            <a:off x="-1554480" y="-1737360"/>
            <a:ext cx="5486040" cy="5486040"/>
          </a:xfrm>
          <a:prstGeom prst="arc">
            <a:avLst>
              <a:gd name="adj1" fmla="val 16200000"/>
              <a:gd name="adj2" fmla="val 0"/>
            </a:avLst>
          </a:prstGeom>
          <a:noFill/>
          <a:ln w="13970">
            <a:solidFill>
              <a:srgbClr val="14b8a6">
                <a:alpha val="3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297" name="Shape 3"/>
          <p:cNvSpPr/>
          <p:nvPr/>
        </p:nvSpPr>
        <p:spPr>
          <a:xfrm>
            <a:off x="7680960" y="3840480"/>
            <a:ext cx="5486040" cy="5486040"/>
          </a:xfrm>
          <a:prstGeom prst="arc">
            <a:avLst>
              <a:gd name="adj1" fmla="val 16200000"/>
              <a:gd name="adj2" fmla="val 0"/>
            </a:avLst>
          </a:prstGeom>
          <a:noFill/>
          <a:ln w="12700">
            <a:solidFill>
              <a:srgbClr val="f59e0b">
                <a:alpha val="22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298" name="Text 4"/>
          <p:cNvSpPr/>
          <p:nvPr/>
        </p:nvSpPr>
        <p:spPr>
          <a:xfrm>
            <a:off x="567000" y="347400"/>
            <a:ext cx="594324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50" spc="-1" strike="noStrike">
                <a:solidFill>
                  <a:srgbClr val="14b8a6"/>
                </a:solidFill>
                <a:latin typeface="Aptos"/>
                <a:ea typeface="Aptos"/>
              </a:rPr>
              <a:t>BEST MODEL SELECTION</a:t>
            </a:r>
            <a:endParaRPr b="0" lang="en-GB" sz="850" spc="-1" strike="noStrike">
              <a:solidFill>
                <a:srgbClr val="ffffff"/>
              </a:solidFill>
              <a:latin typeface="Arial"/>
            </a:endParaRPr>
          </a:p>
        </p:txBody>
      </p:sp>
      <p:sp>
        <p:nvSpPr>
          <p:cNvPr id="1299" name="Text 5"/>
          <p:cNvSpPr/>
          <p:nvPr/>
        </p:nvSpPr>
        <p:spPr>
          <a:xfrm>
            <a:off x="548640" y="658440"/>
            <a:ext cx="10926720" cy="5940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400" spc="-1" strike="noStrike">
                <a:solidFill>
                  <a:srgbClr val="f8fafc"/>
                </a:solidFill>
                <a:latin typeface="Aptos Display"/>
                <a:ea typeface="Aptos Display"/>
              </a:rPr>
              <a:t>Recommended model depends on the decision objective</a:t>
            </a:r>
            <a:endParaRPr b="0" lang="en-GB" sz="2400" spc="-1" strike="noStrike">
              <a:solidFill>
                <a:srgbClr val="ffffff"/>
              </a:solidFill>
              <a:latin typeface="Arial"/>
            </a:endParaRPr>
          </a:p>
        </p:txBody>
      </p:sp>
      <p:sp>
        <p:nvSpPr>
          <p:cNvPr id="1300" name="Text 6"/>
          <p:cNvSpPr/>
          <p:nvPr/>
        </p:nvSpPr>
        <p:spPr>
          <a:xfrm>
            <a:off x="567000" y="1216080"/>
            <a:ext cx="1051524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50" spc="-1" strike="noStrike">
                <a:solidFill>
                  <a:srgbClr val="94a3b8"/>
                </a:solidFill>
                <a:latin typeface="Aptos"/>
                <a:ea typeface="Aptos"/>
              </a:rPr>
              <a:t>For clinical use, the best model is not simply the highest accuracy model.</a:t>
            </a:r>
            <a:endParaRPr b="0" lang="en-GB" sz="1050" spc="-1" strike="noStrike">
              <a:solidFill>
                <a:srgbClr val="ffffff"/>
              </a:solidFill>
              <a:latin typeface="Arial"/>
            </a:endParaRPr>
          </a:p>
        </p:txBody>
      </p:sp>
      <p:sp>
        <p:nvSpPr>
          <p:cNvPr id="1301" name="Shape 7"/>
          <p:cNvSpPr/>
          <p:nvPr/>
        </p:nvSpPr>
        <p:spPr>
          <a:xfrm>
            <a:off x="658440" y="1572840"/>
            <a:ext cx="3382920" cy="1325520"/>
          </a:xfrm>
          <a:prstGeom prst="roundRect">
            <a:avLst>
              <a:gd name="adj" fmla="val 8276"/>
            </a:avLst>
          </a:prstGeom>
          <a:solidFill>
            <a:srgbClr val="0b1a2e">
              <a:alpha val="95000"/>
            </a:srgbClr>
          </a:solidFill>
          <a:ln w="13970">
            <a:solidFill>
              <a:srgbClr val="22c55e">
                <a:alpha val="6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302" name="Shape 8"/>
          <p:cNvSpPr/>
          <p:nvPr/>
        </p:nvSpPr>
        <p:spPr>
          <a:xfrm>
            <a:off x="658440" y="1572840"/>
            <a:ext cx="72720" cy="1325520"/>
          </a:xfrm>
          <a:prstGeom prst="rect">
            <a:avLst/>
          </a:prstGeom>
          <a:solidFill>
            <a:srgbClr val="22c55e"/>
          </a:solidFill>
          <a:ln w="12700">
            <a:solidFill>
              <a:srgbClr val="22c55e"/>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303" name="Text 9"/>
          <p:cNvSpPr/>
          <p:nvPr/>
        </p:nvSpPr>
        <p:spPr>
          <a:xfrm>
            <a:off x="859680" y="1774080"/>
            <a:ext cx="306288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720" spc="-1" strike="noStrike">
                <a:solidFill>
                  <a:srgbClr val="94a3b8"/>
                </a:solidFill>
                <a:latin typeface="Aptos"/>
                <a:ea typeface="Aptos"/>
              </a:rPr>
              <a:t>BALANCED ACADEMIC WINNER</a:t>
            </a:r>
            <a:endParaRPr b="0" lang="en-GB" sz="720" spc="-1" strike="noStrike">
              <a:solidFill>
                <a:srgbClr val="ffffff"/>
              </a:solidFill>
              <a:latin typeface="Arial"/>
            </a:endParaRPr>
          </a:p>
        </p:txBody>
      </p:sp>
      <p:sp>
        <p:nvSpPr>
          <p:cNvPr id="1304" name="Text 10"/>
          <p:cNvSpPr/>
          <p:nvPr/>
        </p:nvSpPr>
        <p:spPr>
          <a:xfrm>
            <a:off x="859680" y="2011680"/>
            <a:ext cx="3062880" cy="328680"/>
          </a:xfrm>
          <a:prstGeom prst="rect">
            <a:avLst/>
          </a:prstGeom>
          <a:noFill/>
          <a:ln w="0">
            <a:noFill/>
          </a:ln>
        </p:spPr>
        <p:style>
          <a:lnRef idx="0"/>
          <a:fillRef idx="0"/>
          <a:effectRef idx="0"/>
          <a:fontRef idx="minor"/>
        </p:style>
        <p:txBody>
          <a:bodyPr lIns="0" rIns="0" tIns="0" bIns="0" anchor="ctr">
            <a:normAutofit fontScale="96666"/>
          </a:bodyPr>
          <a:p>
            <a:pPr defTabSz="914400">
              <a:lnSpc>
                <a:spcPct val="100000"/>
              </a:lnSpc>
              <a:tabLst>
                <a:tab algn="l" pos="0"/>
              </a:tabLst>
            </a:pPr>
            <a:r>
              <a:rPr b="1" lang="en-US" sz="2300" spc="-1" strike="noStrike">
                <a:solidFill>
                  <a:srgbClr val="f8fafc"/>
                </a:solidFill>
                <a:latin typeface="Aptos Display"/>
                <a:ea typeface="Aptos Display"/>
              </a:rPr>
              <a:t>XGB @ 0.325</a:t>
            </a:r>
            <a:endParaRPr b="0" lang="en-GB" sz="2300" spc="-1" strike="noStrike">
              <a:solidFill>
                <a:srgbClr val="ffffff"/>
              </a:solidFill>
              <a:latin typeface="Arial"/>
            </a:endParaRPr>
          </a:p>
        </p:txBody>
      </p:sp>
      <p:sp>
        <p:nvSpPr>
          <p:cNvPr id="1305" name="Text 11"/>
          <p:cNvSpPr/>
          <p:nvPr/>
        </p:nvSpPr>
        <p:spPr>
          <a:xfrm>
            <a:off x="859680" y="2441520"/>
            <a:ext cx="3062880" cy="365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1" strike="noStrike">
                <a:solidFill>
                  <a:srgbClr val="94a3b8"/>
                </a:solidFill>
                <a:latin typeface="Aptos"/>
                <a:ea typeface="Aptos"/>
              </a:rPr>
              <a:t>F1 = 0.5679, Recall = 0.5610, Precision = 0.5750, AUC = 0.8668</a:t>
            </a:r>
            <a:endParaRPr b="0" lang="en-GB" sz="850" spc="-1" strike="noStrike">
              <a:solidFill>
                <a:srgbClr val="ffffff"/>
              </a:solidFill>
              <a:latin typeface="Arial"/>
            </a:endParaRPr>
          </a:p>
        </p:txBody>
      </p:sp>
      <p:sp>
        <p:nvSpPr>
          <p:cNvPr id="1306" name="Shape 12"/>
          <p:cNvSpPr/>
          <p:nvPr/>
        </p:nvSpPr>
        <p:spPr>
          <a:xfrm>
            <a:off x="4407480" y="1572840"/>
            <a:ext cx="3382920" cy="1325520"/>
          </a:xfrm>
          <a:prstGeom prst="roundRect">
            <a:avLst>
              <a:gd name="adj" fmla="val 8276"/>
            </a:avLst>
          </a:prstGeom>
          <a:solidFill>
            <a:srgbClr val="0b1a2e">
              <a:alpha val="95000"/>
            </a:srgbClr>
          </a:solidFill>
          <a:ln w="13970">
            <a:solidFill>
              <a:srgbClr val="f59e0b">
                <a:alpha val="6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307" name="Shape 13"/>
          <p:cNvSpPr/>
          <p:nvPr/>
        </p:nvSpPr>
        <p:spPr>
          <a:xfrm>
            <a:off x="4407480" y="1572840"/>
            <a:ext cx="72720" cy="1325520"/>
          </a:xfrm>
          <a:prstGeom prst="rect">
            <a:avLst/>
          </a:prstGeom>
          <a:solidFill>
            <a:srgbClr val="f59e0b"/>
          </a:solidFill>
          <a:ln w="12700">
            <a:solidFill>
              <a:srgbClr val="f59e0b"/>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1308" name="Text 14"/>
          <p:cNvSpPr/>
          <p:nvPr/>
        </p:nvSpPr>
        <p:spPr>
          <a:xfrm>
            <a:off x="4608720" y="1774080"/>
            <a:ext cx="306288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720" spc="-1" strike="noStrike">
                <a:solidFill>
                  <a:srgbClr val="94a3b8"/>
                </a:solidFill>
                <a:latin typeface="Aptos"/>
                <a:ea typeface="Aptos"/>
              </a:rPr>
              <a:t>CLINICAL SCREENING WINNER</a:t>
            </a:r>
            <a:endParaRPr b="0" lang="en-GB" sz="720" spc="-1" strike="noStrike">
              <a:solidFill>
                <a:srgbClr val="ffffff"/>
              </a:solidFill>
              <a:latin typeface="Arial"/>
            </a:endParaRPr>
          </a:p>
        </p:txBody>
      </p:sp>
      <p:sp>
        <p:nvSpPr>
          <p:cNvPr id="1309" name="Text 15"/>
          <p:cNvSpPr/>
          <p:nvPr/>
        </p:nvSpPr>
        <p:spPr>
          <a:xfrm>
            <a:off x="4608720" y="2011680"/>
            <a:ext cx="3062880" cy="328680"/>
          </a:xfrm>
          <a:prstGeom prst="rect">
            <a:avLst/>
          </a:prstGeom>
          <a:noFill/>
          <a:ln w="0">
            <a:noFill/>
          </a:ln>
        </p:spPr>
        <p:style>
          <a:lnRef idx="0"/>
          <a:fillRef idx="0"/>
          <a:effectRef idx="0"/>
          <a:fontRef idx="minor"/>
        </p:style>
        <p:txBody>
          <a:bodyPr lIns="0" rIns="0" tIns="0" bIns="0" anchor="ctr">
            <a:normAutofit fontScale="96666"/>
          </a:bodyPr>
          <a:p>
            <a:pPr defTabSz="914400">
              <a:lnSpc>
                <a:spcPct val="100000"/>
              </a:lnSpc>
              <a:tabLst>
                <a:tab algn="l" pos="0"/>
              </a:tabLst>
            </a:pPr>
            <a:r>
              <a:rPr b="1" lang="en-US" sz="2300" spc="-1" strike="noStrike">
                <a:solidFill>
                  <a:srgbClr val="f8fafc"/>
                </a:solidFill>
                <a:latin typeface="Aptos Display"/>
                <a:ea typeface="Aptos Display"/>
              </a:rPr>
              <a:t>XGB @ 0.164</a:t>
            </a:r>
            <a:endParaRPr b="0" lang="en-GB" sz="2300" spc="-1" strike="noStrike">
              <a:solidFill>
                <a:srgbClr val="ffffff"/>
              </a:solidFill>
              <a:latin typeface="Arial"/>
            </a:endParaRPr>
          </a:p>
        </p:txBody>
      </p:sp>
      <p:sp>
        <p:nvSpPr>
          <p:cNvPr id="1310" name="Text 16"/>
          <p:cNvSpPr/>
          <p:nvPr/>
        </p:nvSpPr>
        <p:spPr>
          <a:xfrm>
            <a:off x="4608720" y="2441520"/>
            <a:ext cx="3062880" cy="365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1" strike="noStrike">
                <a:solidFill>
                  <a:srgbClr val="94a3b8"/>
                </a:solidFill>
                <a:latin typeface="Aptos"/>
                <a:ea typeface="Aptos"/>
              </a:rPr>
              <a:t>Recall = 0.7805, F1 = 0.5517, Precision = 0.4267, AUC = 0.8668</a:t>
            </a:r>
            <a:endParaRPr b="0" lang="en-GB" sz="850" spc="-1" strike="noStrike">
              <a:solidFill>
                <a:srgbClr val="ffffff"/>
              </a:solidFill>
              <a:latin typeface="Arial"/>
            </a:endParaRPr>
          </a:p>
        </p:txBody>
      </p:sp>
      <p:sp>
        <p:nvSpPr>
          <p:cNvPr id="1311" name="Shape 17"/>
          <p:cNvSpPr/>
          <p:nvPr/>
        </p:nvSpPr>
        <p:spPr>
          <a:xfrm>
            <a:off x="8156520" y="1572840"/>
            <a:ext cx="3382920" cy="1325520"/>
          </a:xfrm>
          <a:prstGeom prst="roundRect">
            <a:avLst>
              <a:gd name="adj" fmla="val 8276"/>
            </a:avLst>
          </a:prstGeom>
          <a:solidFill>
            <a:srgbClr val="0b1a2e">
              <a:alpha val="95000"/>
            </a:srgbClr>
          </a:solidFill>
          <a:ln w="13970">
            <a:solidFill>
              <a:srgbClr val="14b8a6">
                <a:alpha val="6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312" name="Shape 18"/>
          <p:cNvSpPr/>
          <p:nvPr/>
        </p:nvSpPr>
        <p:spPr>
          <a:xfrm>
            <a:off x="8156520" y="1572840"/>
            <a:ext cx="72720" cy="1325520"/>
          </a:xfrm>
          <a:prstGeom prst="rect">
            <a:avLst/>
          </a:prstGeom>
          <a:solidFill>
            <a:srgbClr val="14b8a6"/>
          </a:solidFill>
          <a:ln w="12700">
            <a:solidFill>
              <a:srgbClr val="14b8a6"/>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313" name="Text 19"/>
          <p:cNvSpPr/>
          <p:nvPr/>
        </p:nvSpPr>
        <p:spPr>
          <a:xfrm>
            <a:off x="8357760" y="1774080"/>
            <a:ext cx="306288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720" spc="-1" strike="noStrike">
                <a:solidFill>
                  <a:srgbClr val="94a3b8"/>
                </a:solidFill>
                <a:latin typeface="Aptos"/>
                <a:ea typeface="Aptos"/>
              </a:rPr>
              <a:t>DEFAULT-TABLE WINNER</a:t>
            </a:r>
            <a:endParaRPr b="0" lang="en-GB" sz="720" spc="-1" strike="noStrike">
              <a:solidFill>
                <a:srgbClr val="ffffff"/>
              </a:solidFill>
              <a:latin typeface="Arial"/>
            </a:endParaRPr>
          </a:p>
        </p:txBody>
      </p:sp>
      <p:sp>
        <p:nvSpPr>
          <p:cNvPr id="1314" name="Text 20"/>
          <p:cNvSpPr/>
          <p:nvPr/>
        </p:nvSpPr>
        <p:spPr>
          <a:xfrm>
            <a:off x="8357760" y="2011680"/>
            <a:ext cx="3062880" cy="328680"/>
          </a:xfrm>
          <a:prstGeom prst="rect">
            <a:avLst/>
          </a:prstGeom>
          <a:noFill/>
          <a:ln w="0">
            <a:noFill/>
          </a:ln>
        </p:spPr>
        <p:style>
          <a:lnRef idx="0"/>
          <a:fillRef idx="0"/>
          <a:effectRef idx="0"/>
          <a:fontRef idx="minor"/>
        </p:style>
        <p:txBody>
          <a:bodyPr lIns="0" rIns="0" tIns="0" bIns="0" anchor="ctr">
            <a:normAutofit fontScale="96666"/>
          </a:bodyPr>
          <a:p>
            <a:pPr defTabSz="914400">
              <a:lnSpc>
                <a:spcPct val="100000"/>
              </a:lnSpc>
              <a:tabLst>
                <a:tab algn="l" pos="0"/>
              </a:tabLst>
            </a:pPr>
            <a:r>
              <a:rPr b="1" lang="en-US" sz="2300" spc="-1" strike="noStrike">
                <a:solidFill>
                  <a:srgbClr val="f8fafc"/>
                </a:solidFill>
                <a:latin typeface="Aptos Display"/>
                <a:ea typeface="Aptos Display"/>
              </a:rPr>
              <a:t>Voting Hard</a:t>
            </a:r>
            <a:endParaRPr b="0" lang="en-GB" sz="2300" spc="-1" strike="noStrike">
              <a:solidFill>
                <a:srgbClr val="ffffff"/>
              </a:solidFill>
              <a:latin typeface="Arial"/>
            </a:endParaRPr>
          </a:p>
        </p:txBody>
      </p:sp>
      <p:sp>
        <p:nvSpPr>
          <p:cNvPr id="1315" name="Text 21"/>
          <p:cNvSpPr/>
          <p:nvPr/>
        </p:nvSpPr>
        <p:spPr>
          <a:xfrm>
            <a:off x="8357760" y="2441520"/>
            <a:ext cx="3062880" cy="365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1" strike="noStrike">
                <a:solidFill>
                  <a:srgbClr val="94a3b8"/>
                </a:solidFill>
                <a:latin typeface="Aptos"/>
                <a:ea typeface="Aptos"/>
              </a:rPr>
              <a:t>F1 = 0.5397, Accuracy = 0.8863, Precision = 0.7727</a:t>
            </a:r>
            <a:endParaRPr b="0" lang="en-GB" sz="850" spc="-1" strike="noStrike">
              <a:solidFill>
                <a:srgbClr val="ffffff"/>
              </a:solidFill>
              <a:latin typeface="Arial"/>
            </a:endParaRPr>
          </a:p>
        </p:txBody>
      </p:sp>
      <p:sp>
        <p:nvSpPr>
          <p:cNvPr id="1316" name="Shape 22"/>
          <p:cNvSpPr/>
          <p:nvPr/>
        </p:nvSpPr>
        <p:spPr>
          <a:xfrm>
            <a:off x="914400" y="3611880"/>
            <a:ext cx="10149480" cy="2020320"/>
          </a:xfrm>
          <a:prstGeom prst="roundRect">
            <a:avLst>
              <a:gd name="adj" fmla="val 3620"/>
            </a:avLst>
          </a:prstGeom>
          <a:solidFill>
            <a:srgbClr val="0b1a2e"/>
          </a:solidFill>
          <a:ln w="1016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317" name="Shape 23"/>
          <p:cNvSpPr/>
          <p:nvPr/>
        </p:nvSpPr>
        <p:spPr>
          <a:xfrm>
            <a:off x="914400" y="3611880"/>
            <a:ext cx="3840120" cy="292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318" name="Text 24"/>
          <p:cNvSpPr/>
          <p:nvPr/>
        </p:nvSpPr>
        <p:spPr>
          <a:xfrm>
            <a:off x="941760" y="3684960"/>
            <a:ext cx="378540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40" spc="-1" strike="noStrike">
                <a:solidFill>
                  <a:srgbClr val="f8fafc"/>
                </a:solidFill>
                <a:latin typeface="Aptos"/>
                <a:ea typeface="Aptos"/>
              </a:rPr>
              <a:t>Why final recommendation is threshold-tuned XGBoost</a:t>
            </a:r>
            <a:endParaRPr b="0" lang="en-GB" sz="740" spc="-1" strike="noStrike">
              <a:solidFill>
                <a:srgbClr val="ffffff"/>
              </a:solidFill>
              <a:latin typeface="Arial"/>
            </a:endParaRPr>
          </a:p>
        </p:txBody>
      </p:sp>
      <p:sp>
        <p:nvSpPr>
          <p:cNvPr id="1319" name="Shape 25"/>
          <p:cNvSpPr/>
          <p:nvPr/>
        </p:nvSpPr>
        <p:spPr>
          <a:xfrm>
            <a:off x="4754880" y="3611880"/>
            <a:ext cx="6309000" cy="292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320" name="Text 26"/>
          <p:cNvSpPr/>
          <p:nvPr/>
        </p:nvSpPr>
        <p:spPr>
          <a:xfrm>
            <a:off x="4782240" y="3684960"/>
            <a:ext cx="625428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40" spc="-1" strike="noStrike">
                <a:solidFill>
                  <a:srgbClr val="f8fafc"/>
                </a:solidFill>
                <a:latin typeface="Aptos"/>
                <a:ea typeface="Aptos"/>
              </a:rPr>
              <a:t>Evidence</a:t>
            </a:r>
            <a:endParaRPr b="0" lang="en-GB" sz="740" spc="-1" strike="noStrike">
              <a:solidFill>
                <a:srgbClr val="ffffff"/>
              </a:solidFill>
              <a:latin typeface="Arial"/>
            </a:endParaRPr>
          </a:p>
        </p:txBody>
      </p:sp>
      <p:sp>
        <p:nvSpPr>
          <p:cNvPr id="1321" name="Shape 27"/>
          <p:cNvSpPr/>
          <p:nvPr/>
        </p:nvSpPr>
        <p:spPr>
          <a:xfrm>
            <a:off x="914400" y="3904560"/>
            <a:ext cx="3840120" cy="42012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322" name="Text 28"/>
          <p:cNvSpPr/>
          <p:nvPr/>
        </p:nvSpPr>
        <p:spPr>
          <a:xfrm>
            <a:off x="941760" y="3977640"/>
            <a:ext cx="3785400" cy="356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740" spc="-1" strike="noStrike">
                <a:solidFill>
                  <a:srgbClr val="f8fafc"/>
                </a:solidFill>
                <a:latin typeface="Aptos"/>
                <a:ea typeface="Aptos"/>
              </a:rPr>
              <a:t>Best tunable clinical trade-off</a:t>
            </a:r>
            <a:endParaRPr b="0" lang="en-GB" sz="740" spc="-1" strike="noStrike">
              <a:solidFill>
                <a:srgbClr val="ffffff"/>
              </a:solidFill>
              <a:latin typeface="Arial"/>
            </a:endParaRPr>
          </a:p>
        </p:txBody>
      </p:sp>
      <p:sp>
        <p:nvSpPr>
          <p:cNvPr id="1323" name="Shape 29"/>
          <p:cNvSpPr/>
          <p:nvPr/>
        </p:nvSpPr>
        <p:spPr>
          <a:xfrm>
            <a:off x="4754880" y="3904560"/>
            <a:ext cx="6309000" cy="42012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324" name="Text 30"/>
          <p:cNvSpPr/>
          <p:nvPr/>
        </p:nvSpPr>
        <p:spPr>
          <a:xfrm>
            <a:off x="4782240" y="3977640"/>
            <a:ext cx="6254280" cy="356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40" spc="-1" strike="noStrike">
                <a:solidFill>
                  <a:srgbClr val="f8fafc"/>
                </a:solidFill>
                <a:latin typeface="Aptos"/>
                <a:ea typeface="Aptos"/>
              </a:rPr>
              <a:t>Same AUC = 0.8668 while threshold controls recall vs precision</a:t>
            </a:r>
            <a:endParaRPr b="0" lang="en-GB" sz="740" spc="-1" strike="noStrike">
              <a:solidFill>
                <a:srgbClr val="ffffff"/>
              </a:solidFill>
              <a:latin typeface="Arial"/>
            </a:endParaRPr>
          </a:p>
        </p:txBody>
      </p:sp>
      <p:sp>
        <p:nvSpPr>
          <p:cNvPr id="1325" name="Shape 31"/>
          <p:cNvSpPr/>
          <p:nvPr/>
        </p:nvSpPr>
        <p:spPr>
          <a:xfrm>
            <a:off x="914400" y="4325040"/>
            <a:ext cx="3840120" cy="42012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326" name="Text 32"/>
          <p:cNvSpPr/>
          <p:nvPr/>
        </p:nvSpPr>
        <p:spPr>
          <a:xfrm>
            <a:off x="941760" y="4398120"/>
            <a:ext cx="3785400" cy="356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740" spc="-1" strike="noStrike">
                <a:solidFill>
                  <a:srgbClr val="f8fafc"/>
                </a:solidFill>
                <a:latin typeface="Aptos"/>
                <a:ea typeface="Aptos"/>
              </a:rPr>
              <a:t>Best F1 policy observed</a:t>
            </a:r>
            <a:endParaRPr b="0" lang="en-GB" sz="740" spc="-1" strike="noStrike">
              <a:solidFill>
                <a:srgbClr val="ffffff"/>
              </a:solidFill>
              <a:latin typeface="Arial"/>
            </a:endParaRPr>
          </a:p>
        </p:txBody>
      </p:sp>
      <p:sp>
        <p:nvSpPr>
          <p:cNvPr id="1327" name="Shape 33"/>
          <p:cNvSpPr/>
          <p:nvPr/>
        </p:nvSpPr>
        <p:spPr>
          <a:xfrm>
            <a:off x="4754880" y="4325040"/>
            <a:ext cx="6309000" cy="42012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328" name="Text 34"/>
          <p:cNvSpPr/>
          <p:nvPr/>
        </p:nvSpPr>
        <p:spPr>
          <a:xfrm>
            <a:off x="4782240" y="4398120"/>
            <a:ext cx="6254280" cy="356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40" spc="-1" strike="noStrike">
                <a:solidFill>
                  <a:srgbClr val="f8fafc"/>
                </a:solidFill>
                <a:latin typeface="Aptos"/>
                <a:ea typeface="Aptos"/>
              </a:rPr>
              <a:t>Best-F1 threshold improves F1 from 0.4762 to 0.5679</a:t>
            </a:r>
            <a:endParaRPr b="0" lang="en-GB" sz="740" spc="-1" strike="noStrike">
              <a:solidFill>
                <a:srgbClr val="ffffff"/>
              </a:solidFill>
              <a:latin typeface="Arial"/>
            </a:endParaRPr>
          </a:p>
        </p:txBody>
      </p:sp>
      <p:sp>
        <p:nvSpPr>
          <p:cNvPr id="1329" name="Shape 35"/>
          <p:cNvSpPr/>
          <p:nvPr/>
        </p:nvSpPr>
        <p:spPr>
          <a:xfrm>
            <a:off x="914400" y="4745880"/>
            <a:ext cx="3840120" cy="42012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330" name="Text 36"/>
          <p:cNvSpPr/>
          <p:nvPr/>
        </p:nvSpPr>
        <p:spPr>
          <a:xfrm>
            <a:off x="941760" y="4818960"/>
            <a:ext cx="3785400" cy="356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740" spc="-1" strike="noStrike">
                <a:solidFill>
                  <a:srgbClr val="f8fafc"/>
                </a:solidFill>
                <a:latin typeface="Aptos"/>
                <a:ea typeface="Aptos"/>
              </a:rPr>
              <a:t>Clinically safest policy</a:t>
            </a:r>
            <a:endParaRPr b="0" lang="en-GB" sz="740" spc="-1" strike="noStrike">
              <a:solidFill>
                <a:srgbClr val="ffffff"/>
              </a:solidFill>
              <a:latin typeface="Arial"/>
            </a:endParaRPr>
          </a:p>
        </p:txBody>
      </p:sp>
      <p:sp>
        <p:nvSpPr>
          <p:cNvPr id="1331" name="Shape 37"/>
          <p:cNvSpPr/>
          <p:nvPr/>
        </p:nvSpPr>
        <p:spPr>
          <a:xfrm>
            <a:off x="4754880" y="4745880"/>
            <a:ext cx="6309000" cy="42012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332" name="Text 38"/>
          <p:cNvSpPr/>
          <p:nvPr/>
        </p:nvSpPr>
        <p:spPr>
          <a:xfrm>
            <a:off x="4782240" y="4818960"/>
            <a:ext cx="6254280" cy="356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40" spc="-1" strike="noStrike">
                <a:solidFill>
                  <a:srgbClr val="f8fafc"/>
                </a:solidFill>
                <a:latin typeface="Aptos"/>
                <a:ea typeface="Aptos"/>
              </a:rPr>
              <a:t>Clinical threshold detects 78.05% of mortalities</a:t>
            </a:r>
            <a:endParaRPr b="0" lang="en-GB" sz="740" spc="-1" strike="noStrike">
              <a:solidFill>
                <a:srgbClr val="ffffff"/>
              </a:solidFill>
              <a:latin typeface="Arial"/>
            </a:endParaRPr>
          </a:p>
        </p:txBody>
      </p:sp>
      <p:sp>
        <p:nvSpPr>
          <p:cNvPr id="1333" name="Shape 39"/>
          <p:cNvSpPr/>
          <p:nvPr/>
        </p:nvSpPr>
        <p:spPr>
          <a:xfrm>
            <a:off x="914400" y="5166360"/>
            <a:ext cx="3840120" cy="42012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334" name="Text 40"/>
          <p:cNvSpPr/>
          <p:nvPr/>
        </p:nvSpPr>
        <p:spPr>
          <a:xfrm>
            <a:off x="941760" y="5239440"/>
            <a:ext cx="3785400" cy="356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740" spc="-1" strike="noStrike">
                <a:solidFill>
                  <a:srgbClr val="f8fafc"/>
                </a:solidFill>
                <a:latin typeface="Aptos"/>
                <a:ea typeface="Aptos"/>
              </a:rPr>
              <a:t>More deployable than hard voting</a:t>
            </a:r>
            <a:endParaRPr b="0" lang="en-GB" sz="740" spc="-1" strike="noStrike">
              <a:solidFill>
                <a:srgbClr val="ffffff"/>
              </a:solidFill>
              <a:latin typeface="Arial"/>
            </a:endParaRPr>
          </a:p>
        </p:txBody>
      </p:sp>
      <p:sp>
        <p:nvSpPr>
          <p:cNvPr id="1335" name="Shape 41"/>
          <p:cNvSpPr/>
          <p:nvPr/>
        </p:nvSpPr>
        <p:spPr>
          <a:xfrm>
            <a:off x="4754880" y="5166360"/>
            <a:ext cx="6309000" cy="42012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336" name="Text 42"/>
          <p:cNvSpPr/>
          <p:nvPr/>
        </p:nvSpPr>
        <p:spPr>
          <a:xfrm>
            <a:off x="4782240" y="5239440"/>
            <a:ext cx="6254280" cy="356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40" spc="-1" strike="noStrike">
                <a:solidFill>
                  <a:srgbClr val="f8fafc"/>
                </a:solidFill>
                <a:latin typeface="Aptos"/>
                <a:ea typeface="Aptos"/>
              </a:rPr>
              <a:t>Outputs probabilities, enabling calibrated risk thresholds</a:t>
            </a:r>
            <a:endParaRPr b="0" lang="en-GB" sz="740" spc="-1" strike="noStrike">
              <a:solidFill>
                <a:srgbClr val="ffffff"/>
              </a:solidFill>
              <a:latin typeface="Arial"/>
            </a:endParaRPr>
          </a:p>
        </p:txBody>
      </p:sp>
      <p:sp>
        <p:nvSpPr>
          <p:cNvPr id="1337" name="Shape 43"/>
          <p:cNvSpPr/>
          <p:nvPr/>
        </p:nvSpPr>
        <p:spPr>
          <a:xfrm>
            <a:off x="502920" y="6555960"/>
            <a:ext cx="11201400" cy="360"/>
          </a:xfrm>
          <a:prstGeom prst="line">
            <a:avLst/>
          </a:prstGeom>
          <a:ln w="7620">
            <a:solidFill>
              <a:srgbClr val="334155">
                <a:alpha val="60000"/>
              </a:srgbClr>
            </a:solidFill>
            <a:round/>
          </a:ln>
        </p:spPr>
        <p:style>
          <a:lnRef idx="0"/>
          <a:fillRef idx="0"/>
          <a:effectRef idx="0"/>
          <a:fontRef idx="minor"/>
        </p:style>
        <p:txBody>
          <a:bodyPr lIns="90000" rIns="90000" tIns="-44640" bIns="-44640" anchor="t" anchorCtr="1">
            <a:noAutofit/>
          </a:bodyPr>
          <a:p>
            <a:endParaRPr b="0" lang="en-GB" sz="1800" spc="-1" strike="noStrike">
              <a:solidFill>
                <a:srgbClr val="ffffff"/>
              </a:solidFill>
              <a:latin typeface="Arial"/>
            </a:endParaRPr>
          </a:p>
        </p:txBody>
      </p:sp>
      <p:sp>
        <p:nvSpPr>
          <p:cNvPr id="1338" name="Text 44"/>
          <p:cNvSpPr/>
          <p:nvPr/>
        </p:nvSpPr>
        <p:spPr>
          <a:xfrm>
            <a:off x="530280" y="6602040"/>
            <a:ext cx="6217560" cy="145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650" spc="-1" strike="noStrike">
                <a:solidFill>
                  <a:srgbClr val="94a3b8"/>
                </a:solidFill>
                <a:latin typeface="Aptos"/>
                <a:ea typeface="Aptos"/>
              </a:rPr>
              <a:t>Clinical Outcome Prediction • Myocardial Infarction Complications</a:t>
            </a:r>
            <a:endParaRPr b="0" lang="en-GB" sz="650" spc="-1" strike="noStrike">
              <a:solidFill>
                <a:srgbClr val="ffffff"/>
              </a:solidFill>
              <a:latin typeface="Arial"/>
            </a:endParaRPr>
          </a:p>
        </p:txBody>
      </p:sp>
      <p:sp>
        <p:nvSpPr>
          <p:cNvPr id="1339" name="Text 45"/>
          <p:cNvSpPr/>
          <p:nvPr/>
        </p:nvSpPr>
        <p:spPr>
          <a:xfrm>
            <a:off x="11201400" y="6565320"/>
            <a:ext cx="502560" cy="2282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750" spc="-1" strike="noStrike">
                <a:solidFill>
                  <a:srgbClr val="94a3b8"/>
                </a:solidFill>
                <a:latin typeface="Aptos"/>
                <a:ea typeface="Aptos"/>
              </a:rPr>
              <a:t>16</a:t>
            </a:r>
            <a:endParaRPr b="0" lang="en-GB" sz="7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01f"/>
        </a:solidFill>
      </p:bgPr>
    </p:bg>
    <p:spTree>
      <p:nvGrpSpPr>
        <p:cNvPr id="1" name=""/>
        <p:cNvGrpSpPr/>
        <p:nvPr/>
      </p:nvGrpSpPr>
      <p:grpSpPr>
        <a:xfrm>
          <a:off x="0" y="0"/>
          <a:ext cx="0" cy="0"/>
          <a:chOff x="0" y="0"/>
          <a:chExt cx="0" cy="0"/>
        </a:xfrm>
      </p:grpSpPr>
      <p:sp>
        <p:nvSpPr>
          <p:cNvPr id="1340" name="Shape 0"/>
          <p:cNvSpPr/>
          <p:nvPr/>
        </p:nvSpPr>
        <p:spPr>
          <a:xfrm>
            <a:off x="0" y="0"/>
            <a:ext cx="12191400" cy="6857640"/>
          </a:xfrm>
          <a:prstGeom prst="rect">
            <a:avLst/>
          </a:prstGeom>
          <a:solidFill>
            <a:srgbClr val="06101f"/>
          </a:solidFill>
          <a:ln w="12700">
            <a:solidFill>
              <a:srgbClr val="06101f"/>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341" name="Shape 1"/>
          <p:cNvSpPr/>
          <p:nvPr/>
        </p:nvSpPr>
        <p:spPr>
          <a:xfrm>
            <a:off x="0" y="0"/>
            <a:ext cx="12191400" cy="6857640"/>
          </a:xfrm>
          <a:prstGeom prst="rect">
            <a:avLst/>
          </a:prstGeom>
          <a:solidFill>
            <a:srgbClr val="081629">
              <a:alpha val="85000"/>
            </a:srgbClr>
          </a:solidFill>
          <a:ln w="12700">
            <a:solidFill>
              <a:srgbClr val="081629">
                <a:alpha val="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342" name="Shape 2"/>
          <p:cNvSpPr/>
          <p:nvPr/>
        </p:nvSpPr>
        <p:spPr>
          <a:xfrm>
            <a:off x="-1554480" y="-1737360"/>
            <a:ext cx="5486040" cy="5486040"/>
          </a:xfrm>
          <a:prstGeom prst="arc">
            <a:avLst>
              <a:gd name="adj1" fmla="val 16200000"/>
              <a:gd name="adj2" fmla="val 0"/>
            </a:avLst>
          </a:prstGeom>
          <a:noFill/>
          <a:ln w="13970">
            <a:solidFill>
              <a:srgbClr val="14b8a6">
                <a:alpha val="3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343" name="Shape 3"/>
          <p:cNvSpPr/>
          <p:nvPr/>
        </p:nvSpPr>
        <p:spPr>
          <a:xfrm>
            <a:off x="7680960" y="3840480"/>
            <a:ext cx="5486040" cy="5486040"/>
          </a:xfrm>
          <a:prstGeom prst="arc">
            <a:avLst>
              <a:gd name="adj1" fmla="val 16200000"/>
              <a:gd name="adj2" fmla="val 0"/>
            </a:avLst>
          </a:prstGeom>
          <a:noFill/>
          <a:ln w="12700">
            <a:solidFill>
              <a:srgbClr val="f59e0b">
                <a:alpha val="22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344" name="Text 4"/>
          <p:cNvSpPr/>
          <p:nvPr/>
        </p:nvSpPr>
        <p:spPr>
          <a:xfrm>
            <a:off x="567000" y="347400"/>
            <a:ext cx="594324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50" spc="-1" strike="noStrike">
                <a:solidFill>
                  <a:srgbClr val="14b8a6"/>
                </a:solidFill>
                <a:latin typeface="Aptos"/>
                <a:ea typeface="Aptos"/>
              </a:rPr>
              <a:t>LITERATURE GROUNDING</a:t>
            </a:r>
            <a:endParaRPr b="0" lang="en-GB" sz="850" spc="-1" strike="noStrike">
              <a:solidFill>
                <a:srgbClr val="ffffff"/>
              </a:solidFill>
              <a:latin typeface="Arial"/>
            </a:endParaRPr>
          </a:p>
        </p:txBody>
      </p:sp>
      <p:sp>
        <p:nvSpPr>
          <p:cNvPr id="1345" name="Text 5"/>
          <p:cNvSpPr/>
          <p:nvPr/>
        </p:nvSpPr>
        <p:spPr>
          <a:xfrm>
            <a:off x="548640" y="658440"/>
            <a:ext cx="10926720" cy="5940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400" spc="-1" strike="noStrike">
                <a:solidFill>
                  <a:srgbClr val="f8fafc"/>
                </a:solidFill>
                <a:latin typeface="Aptos Display"/>
                <a:ea typeface="Aptos Display"/>
              </a:rPr>
              <a:t>How the project aligns with medical ML research</a:t>
            </a:r>
            <a:endParaRPr b="0" lang="en-GB" sz="2400" spc="-1" strike="noStrike">
              <a:solidFill>
                <a:srgbClr val="ffffff"/>
              </a:solidFill>
              <a:latin typeface="Arial"/>
            </a:endParaRPr>
          </a:p>
        </p:txBody>
      </p:sp>
      <p:sp>
        <p:nvSpPr>
          <p:cNvPr id="1346" name="Text 6"/>
          <p:cNvSpPr/>
          <p:nvPr/>
        </p:nvSpPr>
        <p:spPr>
          <a:xfrm>
            <a:off x="567000" y="1216080"/>
            <a:ext cx="1051524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50" spc="-1" strike="noStrike">
                <a:solidFill>
                  <a:srgbClr val="94a3b8"/>
                </a:solidFill>
                <a:latin typeface="Aptos"/>
                <a:ea typeface="Aptos"/>
              </a:rPr>
              <a:t>The literature review supports the notebook’s emphasis on tree ensembles, imbalance handling, and interpretability.</a:t>
            </a:r>
            <a:endParaRPr b="0" lang="en-GB" sz="1050" spc="-1" strike="noStrike">
              <a:solidFill>
                <a:srgbClr val="ffffff"/>
              </a:solidFill>
              <a:latin typeface="Arial"/>
            </a:endParaRPr>
          </a:p>
        </p:txBody>
      </p:sp>
      <p:sp>
        <p:nvSpPr>
          <p:cNvPr id="1347" name="Shape 7"/>
          <p:cNvSpPr/>
          <p:nvPr/>
        </p:nvSpPr>
        <p:spPr>
          <a:xfrm>
            <a:off x="530280" y="1490400"/>
            <a:ext cx="11109600" cy="2953080"/>
          </a:xfrm>
          <a:prstGeom prst="roundRect">
            <a:avLst>
              <a:gd name="adj" fmla="val 2477"/>
            </a:avLst>
          </a:prstGeom>
          <a:solidFill>
            <a:srgbClr val="0b1a2e"/>
          </a:solidFill>
          <a:ln w="1016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348" name="Shape 8"/>
          <p:cNvSpPr/>
          <p:nvPr/>
        </p:nvSpPr>
        <p:spPr>
          <a:xfrm>
            <a:off x="530280" y="1490400"/>
            <a:ext cx="2194200" cy="301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349" name="Text 9"/>
          <p:cNvSpPr/>
          <p:nvPr/>
        </p:nvSpPr>
        <p:spPr>
          <a:xfrm>
            <a:off x="557640" y="1563480"/>
            <a:ext cx="2139480" cy="209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650" spc="-1" strike="noStrike">
                <a:solidFill>
                  <a:srgbClr val="f8fafc"/>
                </a:solidFill>
                <a:latin typeface="Aptos"/>
                <a:ea typeface="Aptos"/>
              </a:rPr>
              <a:t>Study theme</a:t>
            </a:r>
            <a:endParaRPr b="0" lang="en-GB" sz="650" spc="-1" strike="noStrike">
              <a:solidFill>
                <a:srgbClr val="ffffff"/>
              </a:solidFill>
              <a:latin typeface="Arial"/>
            </a:endParaRPr>
          </a:p>
        </p:txBody>
      </p:sp>
      <p:sp>
        <p:nvSpPr>
          <p:cNvPr id="1350" name="Shape 10"/>
          <p:cNvSpPr/>
          <p:nvPr/>
        </p:nvSpPr>
        <p:spPr>
          <a:xfrm>
            <a:off x="2724840" y="1490400"/>
            <a:ext cx="3977280" cy="301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351" name="Text 11"/>
          <p:cNvSpPr/>
          <p:nvPr/>
        </p:nvSpPr>
        <p:spPr>
          <a:xfrm>
            <a:off x="2752200" y="1563480"/>
            <a:ext cx="3922560" cy="209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650" spc="-1" strike="noStrike">
                <a:solidFill>
                  <a:srgbClr val="f8fafc"/>
                </a:solidFill>
                <a:latin typeface="Aptos"/>
                <a:ea typeface="Aptos"/>
              </a:rPr>
              <a:t>Reported benchmark</a:t>
            </a:r>
            <a:endParaRPr b="0" lang="en-GB" sz="650" spc="-1" strike="noStrike">
              <a:solidFill>
                <a:srgbClr val="ffffff"/>
              </a:solidFill>
              <a:latin typeface="Arial"/>
            </a:endParaRPr>
          </a:p>
        </p:txBody>
      </p:sp>
      <p:sp>
        <p:nvSpPr>
          <p:cNvPr id="1352" name="Shape 12"/>
          <p:cNvSpPr/>
          <p:nvPr/>
        </p:nvSpPr>
        <p:spPr>
          <a:xfrm>
            <a:off x="6702480" y="1490400"/>
            <a:ext cx="4937400" cy="301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353" name="Text 13"/>
          <p:cNvSpPr/>
          <p:nvPr/>
        </p:nvSpPr>
        <p:spPr>
          <a:xfrm>
            <a:off x="6729840" y="1563480"/>
            <a:ext cx="4882680" cy="209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650" spc="-1" strike="noStrike">
                <a:solidFill>
                  <a:srgbClr val="f8fafc"/>
                </a:solidFill>
                <a:latin typeface="Aptos"/>
                <a:ea typeface="Aptos"/>
              </a:rPr>
              <a:t>Relation to our project</a:t>
            </a:r>
            <a:endParaRPr b="0" lang="en-GB" sz="650" spc="-1" strike="noStrike">
              <a:solidFill>
                <a:srgbClr val="ffffff"/>
              </a:solidFill>
              <a:latin typeface="Arial"/>
            </a:endParaRPr>
          </a:p>
        </p:txBody>
      </p:sp>
      <p:sp>
        <p:nvSpPr>
          <p:cNvPr id="1354" name="Shape 14"/>
          <p:cNvSpPr/>
          <p:nvPr/>
        </p:nvSpPr>
        <p:spPr>
          <a:xfrm>
            <a:off x="530280" y="1792080"/>
            <a:ext cx="2194200" cy="52092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355" name="Text 15"/>
          <p:cNvSpPr/>
          <p:nvPr/>
        </p:nvSpPr>
        <p:spPr>
          <a:xfrm>
            <a:off x="557640" y="1865520"/>
            <a:ext cx="2139480" cy="4568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650" spc="-1" strike="noStrike">
                <a:solidFill>
                  <a:srgbClr val="f8fafc"/>
                </a:solidFill>
                <a:latin typeface="Aptos"/>
                <a:ea typeface="Aptos"/>
              </a:rPr>
              <a:t>Golovenkin et al. 2020</a:t>
            </a:r>
            <a:endParaRPr b="0" lang="en-GB" sz="650" spc="-1" strike="noStrike">
              <a:solidFill>
                <a:srgbClr val="ffffff"/>
              </a:solidFill>
              <a:latin typeface="Arial"/>
            </a:endParaRPr>
          </a:p>
        </p:txBody>
      </p:sp>
      <p:sp>
        <p:nvSpPr>
          <p:cNvPr id="1356" name="Shape 16"/>
          <p:cNvSpPr/>
          <p:nvPr/>
        </p:nvSpPr>
        <p:spPr>
          <a:xfrm>
            <a:off x="2724840" y="1792080"/>
            <a:ext cx="3977280" cy="52092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357" name="Text 17"/>
          <p:cNvSpPr/>
          <p:nvPr/>
        </p:nvSpPr>
        <p:spPr>
          <a:xfrm>
            <a:off x="2752200" y="1865520"/>
            <a:ext cx="3922560" cy="4568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650" spc="-1" strike="noStrike">
                <a:solidFill>
                  <a:srgbClr val="f8fafc"/>
                </a:solidFill>
                <a:latin typeface="Aptos"/>
                <a:ea typeface="Aptos"/>
              </a:rPr>
              <a:t>MI complications: F1 roughly 0.45–0.78 depending on outcome</a:t>
            </a:r>
            <a:endParaRPr b="0" lang="en-GB" sz="650" spc="-1" strike="noStrike">
              <a:solidFill>
                <a:srgbClr val="ffffff"/>
              </a:solidFill>
              <a:latin typeface="Arial"/>
            </a:endParaRPr>
          </a:p>
        </p:txBody>
      </p:sp>
      <p:sp>
        <p:nvSpPr>
          <p:cNvPr id="1358" name="Shape 18"/>
          <p:cNvSpPr/>
          <p:nvPr/>
        </p:nvSpPr>
        <p:spPr>
          <a:xfrm>
            <a:off x="6702480" y="1792080"/>
            <a:ext cx="4937400" cy="52092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359" name="Text 19"/>
          <p:cNvSpPr/>
          <p:nvPr/>
        </p:nvSpPr>
        <p:spPr>
          <a:xfrm>
            <a:off x="6729840" y="1865520"/>
            <a:ext cx="4882680" cy="4568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650" spc="-1" strike="noStrike">
                <a:solidFill>
                  <a:srgbClr val="f8fafc"/>
                </a:solidFill>
                <a:latin typeface="Aptos"/>
                <a:ea typeface="Aptos"/>
              </a:rPr>
              <a:t>Same high-dimensional MI complication domain; our XGB threshold F1 0.568 fits the realistic range</a:t>
            </a:r>
            <a:endParaRPr b="0" lang="en-GB" sz="650" spc="-1" strike="noStrike">
              <a:solidFill>
                <a:srgbClr val="ffffff"/>
              </a:solidFill>
              <a:latin typeface="Arial"/>
            </a:endParaRPr>
          </a:p>
        </p:txBody>
      </p:sp>
      <p:sp>
        <p:nvSpPr>
          <p:cNvPr id="1360" name="Shape 20"/>
          <p:cNvSpPr/>
          <p:nvPr/>
        </p:nvSpPr>
        <p:spPr>
          <a:xfrm>
            <a:off x="530280" y="2313360"/>
            <a:ext cx="2194200" cy="52092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361" name="Text 21"/>
          <p:cNvSpPr/>
          <p:nvPr/>
        </p:nvSpPr>
        <p:spPr>
          <a:xfrm>
            <a:off x="557640" y="2386440"/>
            <a:ext cx="2139480" cy="4568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650" spc="-1" strike="noStrike">
                <a:solidFill>
                  <a:srgbClr val="f8fafc"/>
                </a:solidFill>
                <a:latin typeface="Aptos"/>
                <a:ea typeface="Aptos"/>
              </a:rPr>
              <a:t>Soleimani et al. 2025</a:t>
            </a:r>
            <a:endParaRPr b="0" lang="en-GB" sz="650" spc="-1" strike="noStrike">
              <a:solidFill>
                <a:srgbClr val="ffffff"/>
              </a:solidFill>
              <a:latin typeface="Arial"/>
            </a:endParaRPr>
          </a:p>
        </p:txBody>
      </p:sp>
      <p:sp>
        <p:nvSpPr>
          <p:cNvPr id="1362" name="Shape 22"/>
          <p:cNvSpPr/>
          <p:nvPr/>
        </p:nvSpPr>
        <p:spPr>
          <a:xfrm>
            <a:off x="2724840" y="2313360"/>
            <a:ext cx="3977280" cy="52092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363" name="Text 23"/>
          <p:cNvSpPr/>
          <p:nvPr/>
        </p:nvSpPr>
        <p:spPr>
          <a:xfrm>
            <a:off x="2752200" y="2386440"/>
            <a:ext cx="3922560" cy="4568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50" spc="-1" strike="noStrike">
                <a:solidFill>
                  <a:srgbClr val="f8fafc"/>
                </a:solidFill>
                <a:latin typeface="Aptos"/>
                <a:ea typeface="Aptos"/>
              </a:rPr>
              <a:t>RF AUC = 0.924; XGBoost AUC = 0.905; LR-LASSO AUC = 0.893</a:t>
            </a:r>
            <a:endParaRPr b="0" lang="en-GB" sz="650" spc="-1" strike="noStrike">
              <a:solidFill>
                <a:srgbClr val="ffffff"/>
              </a:solidFill>
              <a:latin typeface="Arial"/>
            </a:endParaRPr>
          </a:p>
        </p:txBody>
      </p:sp>
      <p:sp>
        <p:nvSpPr>
          <p:cNvPr id="1364" name="Shape 24"/>
          <p:cNvSpPr/>
          <p:nvPr/>
        </p:nvSpPr>
        <p:spPr>
          <a:xfrm>
            <a:off x="6702480" y="2313360"/>
            <a:ext cx="4937400" cy="52092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365" name="Text 25"/>
          <p:cNvSpPr/>
          <p:nvPr/>
        </p:nvSpPr>
        <p:spPr>
          <a:xfrm>
            <a:off x="6729840" y="2386440"/>
            <a:ext cx="4882680" cy="4568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50" spc="-1" strike="noStrike">
                <a:solidFill>
                  <a:srgbClr val="f8fafc"/>
                </a:solidFill>
                <a:latin typeface="Aptos"/>
                <a:ea typeface="Aptos"/>
              </a:rPr>
              <a:t>Confirms tree ensembles are strong on tabular AMI data</a:t>
            </a:r>
            <a:endParaRPr b="0" lang="en-GB" sz="650" spc="-1" strike="noStrike">
              <a:solidFill>
                <a:srgbClr val="ffffff"/>
              </a:solidFill>
              <a:latin typeface="Arial"/>
            </a:endParaRPr>
          </a:p>
        </p:txBody>
      </p:sp>
      <p:sp>
        <p:nvSpPr>
          <p:cNvPr id="1366" name="Shape 26"/>
          <p:cNvSpPr/>
          <p:nvPr/>
        </p:nvSpPr>
        <p:spPr>
          <a:xfrm>
            <a:off x="530280" y="2834640"/>
            <a:ext cx="2194200" cy="52092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367" name="Text 27"/>
          <p:cNvSpPr/>
          <p:nvPr/>
        </p:nvSpPr>
        <p:spPr>
          <a:xfrm>
            <a:off x="557640" y="2907720"/>
            <a:ext cx="2139480" cy="4568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650" spc="-1" strike="noStrike">
                <a:solidFill>
                  <a:srgbClr val="f8fafc"/>
                </a:solidFill>
                <a:latin typeface="Aptos"/>
                <a:ea typeface="Aptos"/>
              </a:rPr>
              <a:t>Diakou et al. 2022</a:t>
            </a:r>
            <a:endParaRPr b="0" lang="en-GB" sz="650" spc="-1" strike="noStrike">
              <a:solidFill>
                <a:srgbClr val="ffffff"/>
              </a:solidFill>
              <a:latin typeface="Arial"/>
            </a:endParaRPr>
          </a:p>
        </p:txBody>
      </p:sp>
      <p:sp>
        <p:nvSpPr>
          <p:cNvPr id="1368" name="Shape 28"/>
          <p:cNvSpPr/>
          <p:nvPr/>
        </p:nvSpPr>
        <p:spPr>
          <a:xfrm>
            <a:off x="2724840" y="2834640"/>
            <a:ext cx="3977280" cy="52092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369" name="Text 29"/>
          <p:cNvSpPr/>
          <p:nvPr/>
        </p:nvSpPr>
        <p:spPr>
          <a:xfrm>
            <a:off x="2752200" y="2907720"/>
            <a:ext cx="3922560" cy="4568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650" spc="-1" strike="noStrike">
                <a:solidFill>
                  <a:srgbClr val="f8fafc"/>
                </a:solidFill>
                <a:latin typeface="Aptos"/>
                <a:ea typeface="Aptos"/>
              </a:rPr>
              <a:t>Same database; F1 around 0.54 and AUC &lt;0.77 under standard preprocessing</a:t>
            </a:r>
            <a:endParaRPr b="0" lang="en-GB" sz="650" spc="-1" strike="noStrike">
              <a:solidFill>
                <a:srgbClr val="ffffff"/>
              </a:solidFill>
              <a:latin typeface="Arial"/>
            </a:endParaRPr>
          </a:p>
        </p:txBody>
      </p:sp>
      <p:sp>
        <p:nvSpPr>
          <p:cNvPr id="1370" name="Shape 30"/>
          <p:cNvSpPr/>
          <p:nvPr/>
        </p:nvSpPr>
        <p:spPr>
          <a:xfrm>
            <a:off x="6702480" y="2834640"/>
            <a:ext cx="4937400" cy="52092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371" name="Text 31"/>
          <p:cNvSpPr/>
          <p:nvPr/>
        </p:nvSpPr>
        <p:spPr>
          <a:xfrm>
            <a:off x="6729840" y="2907720"/>
            <a:ext cx="4882680" cy="4568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650" spc="-1" strike="noStrike">
                <a:solidFill>
                  <a:srgbClr val="f8fafc"/>
                </a:solidFill>
                <a:latin typeface="Aptos"/>
                <a:ea typeface="Aptos"/>
              </a:rPr>
              <a:t>Our thresholded XGB F1 0.568 and AUC 0.8668 are competitive</a:t>
            </a:r>
            <a:endParaRPr b="0" lang="en-GB" sz="650" spc="-1" strike="noStrike">
              <a:solidFill>
                <a:srgbClr val="ffffff"/>
              </a:solidFill>
              <a:latin typeface="Arial"/>
            </a:endParaRPr>
          </a:p>
        </p:txBody>
      </p:sp>
      <p:sp>
        <p:nvSpPr>
          <p:cNvPr id="1372" name="Shape 32"/>
          <p:cNvSpPr/>
          <p:nvPr/>
        </p:nvSpPr>
        <p:spPr>
          <a:xfrm>
            <a:off x="530280" y="3355920"/>
            <a:ext cx="2194200" cy="52092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373" name="Text 33"/>
          <p:cNvSpPr/>
          <p:nvPr/>
        </p:nvSpPr>
        <p:spPr>
          <a:xfrm>
            <a:off x="557640" y="3429000"/>
            <a:ext cx="2139480" cy="4568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650" spc="-1" strike="noStrike">
                <a:solidFill>
                  <a:srgbClr val="f8fafc"/>
                </a:solidFill>
                <a:latin typeface="Aptos"/>
                <a:ea typeface="Aptos"/>
              </a:rPr>
              <a:t>Zhang et al. 2025</a:t>
            </a:r>
            <a:endParaRPr b="0" lang="en-GB" sz="650" spc="-1" strike="noStrike">
              <a:solidFill>
                <a:srgbClr val="ffffff"/>
              </a:solidFill>
              <a:latin typeface="Arial"/>
            </a:endParaRPr>
          </a:p>
        </p:txBody>
      </p:sp>
      <p:sp>
        <p:nvSpPr>
          <p:cNvPr id="1374" name="Shape 34"/>
          <p:cNvSpPr/>
          <p:nvPr/>
        </p:nvSpPr>
        <p:spPr>
          <a:xfrm>
            <a:off x="2724840" y="3355920"/>
            <a:ext cx="3977280" cy="52092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375" name="Text 35"/>
          <p:cNvSpPr/>
          <p:nvPr/>
        </p:nvSpPr>
        <p:spPr>
          <a:xfrm>
            <a:off x="2752200" y="3429000"/>
            <a:ext cx="3922560" cy="4568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50" spc="-1" strike="noStrike">
                <a:solidFill>
                  <a:srgbClr val="f8fafc"/>
                </a:solidFill>
                <a:latin typeface="Aptos"/>
                <a:ea typeface="Aptos"/>
              </a:rPr>
              <a:t>LightGBM + SMOTE + Boruta + GSCV best; AUPRC emphasized</a:t>
            </a:r>
            <a:endParaRPr b="0" lang="en-GB" sz="650" spc="-1" strike="noStrike">
              <a:solidFill>
                <a:srgbClr val="ffffff"/>
              </a:solidFill>
              <a:latin typeface="Arial"/>
            </a:endParaRPr>
          </a:p>
        </p:txBody>
      </p:sp>
      <p:sp>
        <p:nvSpPr>
          <p:cNvPr id="1376" name="Shape 36"/>
          <p:cNvSpPr/>
          <p:nvPr/>
        </p:nvSpPr>
        <p:spPr>
          <a:xfrm>
            <a:off x="6702480" y="3355920"/>
            <a:ext cx="4937400" cy="52092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377" name="Text 37"/>
          <p:cNvSpPr/>
          <p:nvPr/>
        </p:nvSpPr>
        <p:spPr>
          <a:xfrm>
            <a:off x="6729840" y="3429000"/>
            <a:ext cx="4882680" cy="4568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50" spc="-1" strike="noStrike">
                <a:solidFill>
                  <a:srgbClr val="f8fafc"/>
                </a:solidFill>
                <a:latin typeface="Aptos"/>
                <a:ea typeface="Aptos"/>
              </a:rPr>
              <a:t>Supports future work: LightGBM, stronger feature selection, and PR-focused metrics</a:t>
            </a:r>
            <a:endParaRPr b="0" lang="en-GB" sz="650" spc="-1" strike="noStrike">
              <a:solidFill>
                <a:srgbClr val="ffffff"/>
              </a:solidFill>
              <a:latin typeface="Arial"/>
            </a:endParaRPr>
          </a:p>
        </p:txBody>
      </p:sp>
      <p:sp>
        <p:nvSpPr>
          <p:cNvPr id="1378" name="Shape 38"/>
          <p:cNvSpPr/>
          <p:nvPr/>
        </p:nvSpPr>
        <p:spPr>
          <a:xfrm>
            <a:off x="530280" y="3877200"/>
            <a:ext cx="2194200" cy="52092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379" name="Text 39"/>
          <p:cNvSpPr/>
          <p:nvPr/>
        </p:nvSpPr>
        <p:spPr>
          <a:xfrm>
            <a:off x="557640" y="3950280"/>
            <a:ext cx="2139480" cy="4568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650" spc="-1" strike="noStrike">
                <a:solidFill>
                  <a:srgbClr val="f8fafc"/>
                </a:solidFill>
                <a:latin typeface="Aptos"/>
                <a:ea typeface="Aptos"/>
              </a:rPr>
              <a:t>Lee et al. 2021</a:t>
            </a:r>
            <a:endParaRPr b="0" lang="en-GB" sz="650" spc="-1" strike="noStrike">
              <a:solidFill>
                <a:srgbClr val="ffffff"/>
              </a:solidFill>
              <a:latin typeface="Arial"/>
            </a:endParaRPr>
          </a:p>
        </p:txBody>
      </p:sp>
      <p:sp>
        <p:nvSpPr>
          <p:cNvPr id="1380" name="Shape 40"/>
          <p:cNvSpPr/>
          <p:nvPr/>
        </p:nvSpPr>
        <p:spPr>
          <a:xfrm>
            <a:off x="2724840" y="3877200"/>
            <a:ext cx="3977280" cy="52092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381" name="Text 41"/>
          <p:cNvSpPr/>
          <p:nvPr/>
        </p:nvSpPr>
        <p:spPr>
          <a:xfrm>
            <a:off x="2752200" y="3950280"/>
            <a:ext cx="3922560" cy="4568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50" spc="-1" strike="noStrike">
                <a:solidFill>
                  <a:srgbClr val="f8fafc"/>
                </a:solidFill>
                <a:latin typeface="Aptos"/>
                <a:ea typeface="Aptos"/>
              </a:rPr>
              <a:t>ML outperformed TIMI/GRACE for NSTEMI long-term mortality, AUC up to 0.840</a:t>
            </a:r>
            <a:endParaRPr b="0" lang="en-GB" sz="650" spc="-1" strike="noStrike">
              <a:solidFill>
                <a:srgbClr val="ffffff"/>
              </a:solidFill>
              <a:latin typeface="Arial"/>
            </a:endParaRPr>
          </a:p>
        </p:txBody>
      </p:sp>
      <p:sp>
        <p:nvSpPr>
          <p:cNvPr id="1382" name="Shape 42"/>
          <p:cNvSpPr/>
          <p:nvPr/>
        </p:nvSpPr>
        <p:spPr>
          <a:xfrm>
            <a:off x="6702480" y="3877200"/>
            <a:ext cx="4937400" cy="52092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383" name="Text 43"/>
          <p:cNvSpPr/>
          <p:nvPr/>
        </p:nvSpPr>
        <p:spPr>
          <a:xfrm>
            <a:off x="6729840" y="3950280"/>
            <a:ext cx="4882680" cy="4568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50" spc="-1" strike="noStrike">
                <a:solidFill>
                  <a:srgbClr val="f8fafc"/>
                </a:solidFill>
                <a:latin typeface="Aptos"/>
                <a:ea typeface="Aptos"/>
              </a:rPr>
              <a:t>Our AUC results are in a clinically plausible range but still need external validation</a:t>
            </a:r>
            <a:endParaRPr b="0" lang="en-GB" sz="650" spc="-1" strike="noStrike">
              <a:solidFill>
                <a:srgbClr val="ffffff"/>
              </a:solidFill>
              <a:latin typeface="Arial"/>
            </a:endParaRPr>
          </a:p>
        </p:txBody>
      </p:sp>
      <p:sp>
        <p:nvSpPr>
          <p:cNvPr id="1384" name="Shape 44"/>
          <p:cNvSpPr/>
          <p:nvPr/>
        </p:nvSpPr>
        <p:spPr>
          <a:xfrm>
            <a:off x="502920" y="6555960"/>
            <a:ext cx="11201400" cy="360"/>
          </a:xfrm>
          <a:prstGeom prst="line">
            <a:avLst/>
          </a:prstGeom>
          <a:ln w="7620">
            <a:solidFill>
              <a:srgbClr val="334155">
                <a:alpha val="60000"/>
              </a:srgbClr>
            </a:solidFill>
            <a:round/>
          </a:ln>
        </p:spPr>
        <p:style>
          <a:lnRef idx="0"/>
          <a:fillRef idx="0"/>
          <a:effectRef idx="0"/>
          <a:fontRef idx="minor"/>
        </p:style>
        <p:txBody>
          <a:bodyPr lIns="90000" rIns="90000" tIns="-44640" bIns="-44640" anchor="t" anchorCtr="1">
            <a:noAutofit/>
          </a:bodyPr>
          <a:p>
            <a:endParaRPr b="0" lang="en-GB" sz="1800" spc="-1" strike="noStrike">
              <a:solidFill>
                <a:srgbClr val="ffffff"/>
              </a:solidFill>
              <a:latin typeface="Arial"/>
            </a:endParaRPr>
          </a:p>
        </p:txBody>
      </p:sp>
      <p:sp>
        <p:nvSpPr>
          <p:cNvPr id="1385" name="Text 45"/>
          <p:cNvSpPr/>
          <p:nvPr/>
        </p:nvSpPr>
        <p:spPr>
          <a:xfrm>
            <a:off x="530280" y="6602040"/>
            <a:ext cx="6217560" cy="145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650" spc="-1" strike="noStrike">
                <a:solidFill>
                  <a:srgbClr val="94a3b8"/>
                </a:solidFill>
                <a:latin typeface="Aptos"/>
                <a:ea typeface="Aptos"/>
              </a:rPr>
              <a:t>Clinical Outcome Prediction • Myocardial Infarction Complications</a:t>
            </a:r>
            <a:endParaRPr b="0" lang="en-GB" sz="650" spc="-1" strike="noStrike">
              <a:solidFill>
                <a:srgbClr val="ffffff"/>
              </a:solidFill>
              <a:latin typeface="Arial"/>
            </a:endParaRPr>
          </a:p>
        </p:txBody>
      </p:sp>
      <p:sp>
        <p:nvSpPr>
          <p:cNvPr id="1386" name="Text 46"/>
          <p:cNvSpPr/>
          <p:nvPr/>
        </p:nvSpPr>
        <p:spPr>
          <a:xfrm>
            <a:off x="11201400" y="6565320"/>
            <a:ext cx="502560" cy="2282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750" spc="-1" strike="noStrike">
                <a:solidFill>
                  <a:srgbClr val="94a3b8"/>
                </a:solidFill>
                <a:latin typeface="Aptos"/>
                <a:ea typeface="Aptos"/>
              </a:rPr>
              <a:t>17</a:t>
            </a:r>
            <a:endParaRPr b="0" lang="en-GB" sz="7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01f"/>
        </a:solidFill>
      </p:bgPr>
    </p:bg>
    <p:spTree>
      <p:nvGrpSpPr>
        <p:cNvPr id="1" name=""/>
        <p:cNvGrpSpPr/>
        <p:nvPr/>
      </p:nvGrpSpPr>
      <p:grpSpPr>
        <a:xfrm>
          <a:off x="0" y="0"/>
          <a:ext cx="0" cy="0"/>
          <a:chOff x="0" y="0"/>
          <a:chExt cx="0" cy="0"/>
        </a:xfrm>
      </p:grpSpPr>
      <p:sp>
        <p:nvSpPr>
          <p:cNvPr id="1387" name="Shape 0"/>
          <p:cNvSpPr/>
          <p:nvPr/>
        </p:nvSpPr>
        <p:spPr>
          <a:xfrm>
            <a:off x="0" y="0"/>
            <a:ext cx="12191400" cy="6857640"/>
          </a:xfrm>
          <a:prstGeom prst="rect">
            <a:avLst/>
          </a:prstGeom>
          <a:solidFill>
            <a:srgbClr val="06101f"/>
          </a:solidFill>
          <a:ln w="12700">
            <a:solidFill>
              <a:srgbClr val="06101f"/>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388" name="Shape 1"/>
          <p:cNvSpPr/>
          <p:nvPr/>
        </p:nvSpPr>
        <p:spPr>
          <a:xfrm>
            <a:off x="0" y="0"/>
            <a:ext cx="12191400" cy="6857640"/>
          </a:xfrm>
          <a:prstGeom prst="rect">
            <a:avLst/>
          </a:prstGeom>
          <a:solidFill>
            <a:srgbClr val="081629">
              <a:alpha val="85000"/>
            </a:srgbClr>
          </a:solidFill>
          <a:ln w="12700">
            <a:solidFill>
              <a:srgbClr val="081629">
                <a:alpha val="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389" name="Shape 2"/>
          <p:cNvSpPr/>
          <p:nvPr/>
        </p:nvSpPr>
        <p:spPr>
          <a:xfrm>
            <a:off x="-1554480" y="-1737360"/>
            <a:ext cx="5486040" cy="5486040"/>
          </a:xfrm>
          <a:prstGeom prst="arc">
            <a:avLst>
              <a:gd name="adj1" fmla="val 16200000"/>
              <a:gd name="adj2" fmla="val 0"/>
            </a:avLst>
          </a:prstGeom>
          <a:noFill/>
          <a:ln w="13970">
            <a:solidFill>
              <a:srgbClr val="14b8a6">
                <a:alpha val="3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390" name="Shape 3"/>
          <p:cNvSpPr/>
          <p:nvPr/>
        </p:nvSpPr>
        <p:spPr>
          <a:xfrm>
            <a:off x="7680960" y="3840480"/>
            <a:ext cx="5486040" cy="5486040"/>
          </a:xfrm>
          <a:prstGeom prst="arc">
            <a:avLst>
              <a:gd name="adj1" fmla="val 16200000"/>
              <a:gd name="adj2" fmla="val 0"/>
            </a:avLst>
          </a:prstGeom>
          <a:noFill/>
          <a:ln w="12700">
            <a:solidFill>
              <a:srgbClr val="f59e0b">
                <a:alpha val="22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391" name="Text 4"/>
          <p:cNvSpPr/>
          <p:nvPr/>
        </p:nvSpPr>
        <p:spPr>
          <a:xfrm>
            <a:off x="567000" y="347400"/>
            <a:ext cx="594324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50" spc="-1" strike="noStrike">
                <a:solidFill>
                  <a:srgbClr val="14b8a6"/>
                </a:solidFill>
                <a:latin typeface="Aptos"/>
                <a:ea typeface="Aptos"/>
              </a:rPr>
              <a:t>HONEST LIMITATIONS</a:t>
            </a:r>
            <a:endParaRPr b="0" lang="en-GB" sz="850" spc="-1" strike="noStrike">
              <a:solidFill>
                <a:srgbClr val="ffffff"/>
              </a:solidFill>
              <a:latin typeface="Arial"/>
            </a:endParaRPr>
          </a:p>
        </p:txBody>
      </p:sp>
      <p:sp>
        <p:nvSpPr>
          <p:cNvPr id="1392" name="Text 5"/>
          <p:cNvSpPr/>
          <p:nvPr/>
        </p:nvSpPr>
        <p:spPr>
          <a:xfrm>
            <a:off x="548640" y="658440"/>
            <a:ext cx="10926720" cy="5940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400" spc="-1" strike="noStrike">
                <a:solidFill>
                  <a:srgbClr val="f8fafc"/>
                </a:solidFill>
                <a:latin typeface="Aptos Display"/>
                <a:ea typeface="Aptos Display"/>
              </a:rPr>
              <a:t>What failed, and why it matters</a:t>
            </a:r>
            <a:endParaRPr b="0" lang="en-GB" sz="2400" spc="-1" strike="noStrike">
              <a:solidFill>
                <a:srgbClr val="ffffff"/>
              </a:solidFill>
              <a:latin typeface="Arial"/>
            </a:endParaRPr>
          </a:p>
        </p:txBody>
      </p:sp>
      <p:sp>
        <p:nvSpPr>
          <p:cNvPr id="1393" name="Text 6"/>
          <p:cNvSpPr/>
          <p:nvPr/>
        </p:nvSpPr>
        <p:spPr>
          <a:xfrm>
            <a:off x="567000" y="1216080"/>
            <a:ext cx="1051524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50" spc="-1" strike="noStrike">
                <a:solidFill>
                  <a:srgbClr val="94a3b8"/>
                </a:solidFill>
                <a:latin typeface="Aptos"/>
                <a:ea typeface="Aptos"/>
              </a:rPr>
              <a:t>The project demonstrates technical progress while remaining honest about clinical deployment limits.</a:t>
            </a:r>
            <a:endParaRPr b="0" lang="en-GB" sz="1050" spc="-1" strike="noStrike">
              <a:solidFill>
                <a:srgbClr val="ffffff"/>
              </a:solidFill>
              <a:latin typeface="Arial"/>
            </a:endParaRPr>
          </a:p>
        </p:txBody>
      </p:sp>
      <p:sp>
        <p:nvSpPr>
          <p:cNvPr id="1394" name="Shape 7"/>
          <p:cNvSpPr/>
          <p:nvPr/>
        </p:nvSpPr>
        <p:spPr>
          <a:xfrm>
            <a:off x="685800" y="1508760"/>
            <a:ext cx="3382920" cy="1115280"/>
          </a:xfrm>
          <a:prstGeom prst="roundRect">
            <a:avLst>
              <a:gd name="adj" fmla="val 9836"/>
            </a:avLst>
          </a:prstGeom>
          <a:solidFill>
            <a:srgbClr val="10243d"/>
          </a:solidFill>
          <a:ln w="10160">
            <a:solidFill>
              <a:srgbClr val="334155">
                <a:alpha val="6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395" name="Text 8"/>
          <p:cNvSpPr/>
          <p:nvPr/>
        </p:nvSpPr>
        <p:spPr>
          <a:xfrm>
            <a:off x="850320" y="1654920"/>
            <a:ext cx="3053880" cy="209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00" spc="-1" strike="noStrike">
                <a:solidFill>
                  <a:srgbClr val="f43f5e"/>
                </a:solidFill>
                <a:latin typeface="Aptos"/>
                <a:ea typeface="Aptos"/>
              </a:rPr>
              <a:t>Persistent recall gap</a:t>
            </a:r>
            <a:endParaRPr b="0" lang="en-GB" sz="900" spc="-1" strike="noStrike">
              <a:solidFill>
                <a:srgbClr val="ffffff"/>
              </a:solidFill>
              <a:latin typeface="Arial"/>
            </a:endParaRPr>
          </a:p>
        </p:txBody>
      </p:sp>
      <p:sp>
        <p:nvSpPr>
          <p:cNvPr id="1396" name="Text 9"/>
          <p:cNvSpPr/>
          <p:nvPr/>
        </p:nvSpPr>
        <p:spPr>
          <a:xfrm>
            <a:off x="850320" y="1956960"/>
            <a:ext cx="3053880" cy="5209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1" strike="noStrike">
                <a:solidFill>
                  <a:srgbClr val="f8fafc"/>
                </a:solidFill>
                <a:latin typeface="Aptos"/>
                <a:ea typeface="Aptos"/>
              </a:rPr>
              <a:t>Even the best standard recall is 0.6341, meaning 36.6% of mortalities are still missed at default policy.</a:t>
            </a:r>
            <a:endParaRPr b="0" lang="en-GB" sz="850" spc="-1" strike="noStrike">
              <a:solidFill>
                <a:srgbClr val="ffffff"/>
              </a:solidFill>
              <a:latin typeface="Arial"/>
            </a:endParaRPr>
          </a:p>
        </p:txBody>
      </p:sp>
      <p:sp>
        <p:nvSpPr>
          <p:cNvPr id="1397" name="Shape 10"/>
          <p:cNvSpPr/>
          <p:nvPr/>
        </p:nvSpPr>
        <p:spPr>
          <a:xfrm>
            <a:off x="4434840" y="1508760"/>
            <a:ext cx="3382920" cy="1115280"/>
          </a:xfrm>
          <a:prstGeom prst="roundRect">
            <a:avLst>
              <a:gd name="adj" fmla="val 9836"/>
            </a:avLst>
          </a:prstGeom>
          <a:solidFill>
            <a:srgbClr val="10243d"/>
          </a:solidFill>
          <a:ln w="10160">
            <a:solidFill>
              <a:srgbClr val="334155">
                <a:alpha val="6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398" name="Text 11"/>
          <p:cNvSpPr/>
          <p:nvPr/>
        </p:nvSpPr>
        <p:spPr>
          <a:xfrm>
            <a:off x="4599360" y="1654920"/>
            <a:ext cx="3053880" cy="209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00" spc="-1" strike="noStrike">
                <a:solidFill>
                  <a:srgbClr val="f59e0b"/>
                </a:solidFill>
                <a:latin typeface="Aptos"/>
                <a:ea typeface="Aptos"/>
              </a:rPr>
              <a:t>SVM tuning pitfall</a:t>
            </a:r>
            <a:endParaRPr b="0" lang="en-GB" sz="900" spc="-1" strike="noStrike">
              <a:solidFill>
                <a:srgbClr val="ffffff"/>
              </a:solidFill>
              <a:latin typeface="Arial"/>
            </a:endParaRPr>
          </a:p>
        </p:txBody>
      </p:sp>
      <p:sp>
        <p:nvSpPr>
          <p:cNvPr id="1399" name="Text 12"/>
          <p:cNvSpPr/>
          <p:nvPr/>
        </p:nvSpPr>
        <p:spPr>
          <a:xfrm>
            <a:off x="4599360" y="1956960"/>
            <a:ext cx="3053880" cy="5209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1" strike="noStrike">
                <a:solidFill>
                  <a:srgbClr val="f8fafc"/>
                </a:solidFill>
                <a:latin typeface="Aptos"/>
                <a:ea typeface="Aptos"/>
              </a:rPr>
              <a:t>Tuned SVM recall collapsed from 0.6098 to 0.1463, showing that HPO can optimize the wrong behavior.</a:t>
            </a:r>
            <a:endParaRPr b="0" lang="en-GB" sz="850" spc="-1" strike="noStrike">
              <a:solidFill>
                <a:srgbClr val="ffffff"/>
              </a:solidFill>
              <a:latin typeface="Arial"/>
            </a:endParaRPr>
          </a:p>
        </p:txBody>
      </p:sp>
      <p:sp>
        <p:nvSpPr>
          <p:cNvPr id="1400" name="Shape 13"/>
          <p:cNvSpPr/>
          <p:nvPr/>
        </p:nvSpPr>
        <p:spPr>
          <a:xfrm>
            <a:off x="8183880" y="1508760"/>
            <a:ext cx="3382920" cy="1115280"/>
          </a:xfrm>
          <a:prstGeom prst="roundRect">
            <a:avLst>
              <a:gd name="adj" fmla="val 9836"/>
            </a:avLst>
          </a:prstGeom>
          <a:solidFill>
            <a:srgbClr val="10243d"/>
          </a:solidFill>
          <a:ln w="10160">
            <a:solidFill>
              <a:srgbClr val="334155">
                <a:alpha val="6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401" name="Text 14"/>
          <p:cNvSpPr/>
          <p:nvPr/>
        </p:nvSpPr>
        <p:spPr>
          <a:xfrm>
            <a:off x="8348400" y="1654920"/>
            <a:ext cx="3053880" cy="209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00" spc="-1" strike="noStrike">
                <a:solidFill>
                  <a:srgbClr val="a78bfa"/>
                </a:solidFill>
                <a:latin typeface="Aptos"/>
                <a:ea typeface="Aptos"/>
              </a:rPr>
              <a:t>Label-noise amplification</a:t>
            </a:r>
            <a:endParaRPr b="0" lang="en-GB" sz="900" spc="-1" strike="noStrike">
              <a:solidFill>
                <a:srgbClr val="ffffff"/>
              </a:solidFill>
              <a:latin typeface="Arial"/>
            </a:endParaRPr>
          </a:p>
        </p:txBody>
      </p:sp>
      <p:sp>
        <p:nvSpPr>
          <p:cNvPr id="1402" name="Text 15"/>
          <p:cNvSpPr/>
          <p:nvPr/>
        </p:nvSpPr>
        <p:spPr>
          <a:xfrm>
            <a:off x="8348400" y="1956960"/>
            <a:ext cx="3053880" cy="5209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1" strike="noStrike">
                <a:solidFill>
                  <a:srgbClr val="f8fafc"/>
                </a:solidFill>
                <a:latin typeface="Aptos"/>
                <a:ea typeface="Aptos"/>
              </a:rPr>
              <a:t>15% label flips reduced LR F1 from 0.4602 to 0.3378; SMOTE can amplify corrupted minority examples.</a:t>
            </a:r>
            <a:endParaRPr b="0" lang="en-GB" sz="850" spc="-1" strike="noStrike">
              <a:solidFill>
                <a:srgbClr val="ffffff"/>
              </a:solidFill>
              <a:latin typeface="Arial"/>
            </a:endParaRPr>
          </a:p>
        </p:txBody>
      </p:sp>
      <p:sp>
        <p:nvSpPr>
          <p:cNvPr id="1403" name="Shape 16"/>
          <p:cNvSpPr/>
          <p:nvPr/>
        </p:nvSpPr>
        <p:spPr>
          <a:xfrm>
            <a:off x="685800" y="3063240"/>
            <a:ext cx="3382920" cy="1115280"/>
          </a:xfrm>
          <a:prstGeom prst="roundRect">
            <a:avLst>
              <a:gd name="adj" fmla="val 9836"/>
            </a:avLst>
          </a:prstGeom>
          <a:solidFill>
            <a:srgbClr val="10243d"/>
          </a:solidFill>
          <a:ln w="10160">
            <a:solidFill>
              <a:srgbClr val="334155">
                <a:alpha val="6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404" name="Text 17"/>
          <p:cNvSpPr/>
          <p:nvPr/>
        </p:nvSpPr>
        <p:spPr>
          <a:xfrm>
            <a:off x="850320" y="3209400"/>
            <a:ext cx="3053880" cy="209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00" spc="-1" strike="noStrike">
                <a:solidFill>
                  <a:srgbClr val="38bdf8"/>
                </a:solidFill>
                <a:latin typeface="Aptos"/>
                <a:ea typeface="Aptos"/>
              </a:rPr>
              <a:t>Missingness risk</a:t>
            </a:r>
            <a:endParaRPr b="0" lang="en-GB" sz="900" spc="-1" strike="noStrike">
              <a:solidFill>
                <a:srgbClr val="ffffff"/>
              </a:solidFill>
              <a:latin typeface="Arial"/>
            </a:endParaRPr>
          </a:p>
        </p:txBody>
      </p:sp>
      <p:sp>
        <p:nvSpPr>
          <p:cNvPr id="1405" name="Text 18"/>
          <p:cNvSpPr/>
          <p:nvPr/>
        </p:nvSpPr>
        <p:spPr>
          <a:xfrm>
            <a:off x="850320" y="3511440"/>
            <a:ext cx="3053880" cy="5209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1" strike="noStrike">
                <a:solidFill>
                  <a:srgbClr val="f8fafc"/>
                </a:solidFill>
                <a:latin typeface="Aptos"/>
                <a:ea typeface="Aptos"/>
              </a:rPr>
              <a:t>103 feature columns contained missing values and 11 had more than 20% missingness.</a:t>
            </a:r>
            <a:endParaRPr b="0" lang="en-GB" sz="850" spc="-1" strike="noStrike">
              <a:solidFill>
                <a:srgbClr val="ffffff"/>
              </a:solidFill>
              <a:latin typeface="Arial"/>
            </a:endParaRPr>
          </a:p>
        </p:txBody>
      </p:sp>
      <p:sp>
        <p:nvSpPr>
          <p:cNvPr id="1406" name="Shape 19"/>
          <p:cNvSpPr/>
          <p:nvPr/>
        </p:nvSpPr>
        <p:spPr>
          <a:xfrm>
            <a:off x="4434840" y="3063240"/>
            <a:ext cx="3382920" cy="1115280"/>
          </a:xfrm>
          <a:prstGeom prst="roundRect">
            <a:avLst>
              <a:gd name="adj" fmla="val 9836"/>
            </a:avLst>
          </a:prstGeom>
          <a:solidFill>
            <a:srgbClr val="10243d"/>
          </a:solidFill>
          <a:ln w="10160">
            <a:solidFill>
              <a:srgbClr val="334155">
                <a:alpha val="6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407" name="Text 20"/>
          <p:cNvSpPr/>
          <p:nvPr/>
        </p:nvSpPr>
        <p:spPr>
          <a:xfrm>
            <a:off x="4599360" y="3209400"/>
            <a:ext cx="3053880" cy="209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00" spc="-1" strike="noStrike">
                <a:solidFill>
                  <a:srgbClr val="f43f5e"/>
                </a:solidFill>
                <a:latin typeface="Aptos"/>
                <a:ea typeface="Aptos"/>
              </a:rPr>
              <a:t>No external validation</a:t>
            </a:r>
            <a:endParaRPr b="0" lang="en-GB" sz="900" spc="-1" strike="noStrike">
              <a:solidFill>
                <a:srgbClr val="ffffff"/>
              </a:solidFill>
              <a:latin typeface="Arial"/>
            </a:endParaRPr>
          </a:p>
        </p:txBody>
      </p:sp>
      <p:sp>
        <p:nvSpPr>
          <p:cNvPr id="1408" name="Text 21"/>
          <p:cNvSpPr/>
          <p:nvPr/>
        </p:nvSpPr>
        <p:spPr>
          <a:xfrm>
            <a:off x="4599360" y="3511440"/>
            <a:ext cx="3053880" cy="5209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1" strike="noStrike">
                <a:solidFill>
                  <a:srgbClr val="f8fafc"/>
                </a:solidFill>
                <a:latin typeface="Aptos"/>
                <a:ea typeface="Aptos"/>
              </a:rPr>
              <a:t>The model is tested internally only; hospital-to-hospital generalization remains unproven.</a:t>
            </a:r>
            <a:endParaRPr b="0" lang="en-GB" sz="850" spc="-1" strike="noStrike">
              <a:solidFill>
                <a:srgbClr val="ffffff"/>
              </a:solidFill>
              <a:latin typeface="Arial"/>
            </a:endParaRPr>
          </a:p>
        </p:txBody>
      </p:sp>
      <p:sp>
        <p:nvSpPr>
          <p:cNvPr id="1409" name="Shape 22"/>
          <p:cNvSpPr/>
          <p:nvPr/>
        </p:nvSpPr>
        <p:spPr>
          <a:xfrm>
            <a:off x="8183880" y="3063240"/>
            <a:ext cx="3382920" cy="1115280"/>
          </a:xfrm>
          <a:prstGeom prst="roundRect">
            <a:avLst>
              <a:gd name="adj" fmla="val 9836"/>
            </a:avLst>
          </a:prstGeom>
          <a:solidFill>
            <a:srgbClr val="10243d"/>
          </a:solidFill>
          <a:ln w="10160">
            <a:solidFill>
              <a:srgbClr val="334155">
                <a:alpha val="6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410" name="Text 23"/>
          <p:cNvSpPr/>
          <p:nvPr/>
        </p:nvSpPr>
        <p:spPr>
          <a:xfrm>
            <a:off x="8348400" y="3209400"/>
            <a:ext cx="3053880" cy="209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00" spc="-1" strike="noStrike">
                <a:solidFill>
                  <a:srgbClr val="14b8a6"/>
                </a:solidFill>
                <a:latin typeface="Aptos"/>
                <a:ea typeface="Aptos"/>
              </a:rPr>
              <a:t>Interpretability gap</a:t>
            </a:r>
            <a:endParaRPr b="0" lang="en-GB" sz="900" spc="-1" strike="noStrike">
              <a:solidFill>
                <a:srgbClr val="ffffff"/>
              </a:solidFill>
              <a:latin typeface="Arial"/>
            </a:endParaRPr>
          </a:p>
        </p:txBody>
      </p:sp>
      <p:sp>
        <p:nvSpPr>
          <p:cNvPr id="1411" name="Text 24"/>
          <p:cNvSpPr/>
          <p:nvPr/>
        </p:nvSpPr>
        <p:spPr>
          <a:xfrm>
            <a:off x="8348400" y="3511440"/>
            <a:ext cx="3053880" cy="5209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1" strike="noStrike">
                <a:solidFill>
                  <a:srgbClr val="f8fafc"/>
                </a:solidFill>
                <a:latin typeface="Aptos"/>
                <a:ea typeface="Aptos"/>
              </a:rPr>
              <a:t>High-performing models need SHAP/LIME explanations before clinical trust is realistic.</a:t>
            </a:r>
            <a:endParaRPr b="0" lang="en-GB" sz="850" spc="-1" strike="noStrike">
              <a:solidFill>
                <a:srgbClr val="ffffff"/>
              </a:solidFill>
              <a:latin typeface="Arial"/>
            </a:endParaRPr>
          </a:p>
        </p:txBody>
      </p:sp>
      <p:sp>
        <p:nvSpPr>
          <p:cNvPr id="1412" name="Text 25"/>
          <p:cNvSpPr/>
          <p:nvPr/>
        </p:nvSpPr>
        <p:spPr>
          <a:xfrm>
            <a:off x="960120" y="5440680"/>
            <a:ext cx="10286640" cy="36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pc="-1" strike="noStrike">
                <a:solidFill>
                  <a:srgbClr val="f8fafc"/>
                </a:solidFill>
                <a:latin typeface="Aptos Display"/>
                <a:ea typeface="Aptos Display"/>
              </a:rPr>
              <a:t>Key maturity statement: this is a strong academic ML pipeline, not yet a deployable clinical device.</a:t>
            </a:r>
            <a:endParaRPr b="0" lang="en-GB" sz="1800" spc="-1" strike="noStrike">
              <a:solidFill>
                <a:srgbClr val="ffffff"/>
              </a:solidFill>
              <a:latin typeface="Arial"/>
            </a:endParaRPr>
          </a:p>
        </p:txBody>
      </p:sp>
      <p:sp>
        <p:nvSpPr>
          <p:cNvPr id="1413" name="Shape 26"/>
          <p:cNvSpPr/>
          <p:nvPr/>
        </p:nvSpPr>
        <p:spPr>
          <a:xfrm>
            <a:off x="502920" y="6555960"/>
            <a:ext cx="11201400" cy="360"/>
          </a:xfrm>
          <a:prstGeom prst="line">
            <a:avLst/>
          </a:prstGeom>
          <a:ln w="7620">
            <a:solidFill>
              <a:srgbClr val="334155">
                <a:alpha val="60000"/>
              </a:srgbClr>
            </a:solidFill>
            <a:round/>
          </a:ln>
        </p:spPr>
        <p:style>
          <a:lnRef idx="0"/>
          <a:fillRef idx="0"/>
          <a:effectRef idx="0"/>
          <a:fontRef idx="minor"/>
        </p:style>
        <p:txBody>
          <a:bodyPr lIns="90000" rIns="90000" tIns="-44640" bIns="-44640" anchor="t" anchorCtr="1">
            <a:noAutofit/>
          </a:bodyPr>
          <a:p>
            <a:endParaRPr b="0" lang="en-GB" sz="1800" spc="-1" strike="noStrike">
              <a:solidFill>
                <a:srgbClr val="ffffff"/>
              </a:solidFill>
              <a:latin typeface="Arial"/>
            </a:endParaRPr>
          </a:p>
        </p:txBody>
      </p:sp>
      <p:sp>
        <p:nvSpPr>
          <p:cNvPr id="1414" name="Text 27"/>
          <p:cNvSpPr/>
          <p:nvPr/>
        </p:nvSpPr>
        <p:spPr>
          <a:xfrm>
            <a:off x="530280" y="6602040"/>
            <a:ext cx="6217560" cy="145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650" spc="-1" strike="noStrike">
                <a:solidFill>
                  <a:srgbClr val="94a3b8"/>
                </a:solidFill>
                <a:latin typeface="Aptos"/>
                <a:ea typeface="Aptos"/>
              </a:rPr>
              <a:t>Clinical Outcome Prediction • Myocardial Infarction Complications</a:t>
            </a:r>
            <a:endParaRPr b="0" lang="en-GB" sz="650" spc="-1" strike="noStrike">
              <a:solidFill>
                <a:srgbClr val="ffffff"/>
              </a:solidFill>
              <a:latin typeface="Arial"/>
            </a:endParaRPr>
          </a:p>
        </p:txBody>
      </p:sp>
      <p:sp>
        <p:nvSpPr>
          <p:cNvPr id="1415" name="Text 28"/>
          <p:cNvSpPr/>
          <p:nvPr/>
        </p:nvSpPr>
        <p:spPr>
          <a:xfrm>
            <a:off x="11201400" y="6565320"/>
            <a:ext cx="502560" cy="2282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750" spc="-1" strike="noStrike">
                <a:solidFill>
                  <a:srgbClr val="94a3b8"/>
                </a:solidFill>
                <a:latin typeface="Aptos"/>
                <a:ea typeface="Aptos"/>
              </a:rPr>
              <a:t>18</a:t>
            </a:r>
            <a:endParaRPr b="0" lang="en-GB" sz="7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01f"/>
        </a:solidFill>
      </p:bgPr>
    </p:bg>
    <p:spTree>
      <p:nvGrpSpPr>
        <p:cNvPr id="1" name=""/>
        <p:cNvGrpSpPr/>
        <p:nvPr/>
      </p:nvGrpSpPr>
      <p:grpSpPr>
        <a:xfrm>
          <a:off x="0" y="0"/>
          <a:ext cx="0" cy="0"/>
          <a:chOff x="0" y="0"/>
          <a:chExt cx="0" cy="0"/>
        </a:xfrm>
      </p:grpSpPr>
      <p:sp>
        <p:nvSpPr>
          <p:cNvPr id="1416" name="Shape 0"/>
          <p:cNvSpPr/>
          <p:nvPr/>
        </p:nvSpPr>
        <p:spPr>
          <a:xfrm>
            <a:off x="0" y="0"/>
            <a:ext cx="12191400" cy="6857640"/>
          </a:xfrm>
          <a:prstGeom prst="rect">
            <a:avLst/>
          </a:prstGeom>
          <a:solidFill>
            <a:srgbClr val="06101f"/>
          </a:solidFill>
          <a:ln w="12700">
            <a:solidFill>
              <a:srgbClr val="06101f"/>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417" name="Shape 1"/>
          <p:cNvSpPr/>
          <p:nvPr/>
        </p:nvSpPr>
        <p:spPr>
          <a:xfrm>
            <a:off x="0" y="0"/>
            <a:ext cx="12191400" cy="6857640"/>
          </a:xfrm>
          <a:prstGeom prst="rect">
            <a:avLst/>
          </a:prstGeom>
          <a:solidFill>
            <a:srgbClr val="081629">
              <a:alpha val="85000"/>
            </a:srgbClr>
          </a:solidFill>
          <a:ln w="12700">
            <a:solidFill>
              <a:srgbClr val="081629">
                <a:alpha val="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418" name="Shape 2"/>
          <p:cNvSpPr/>
          <p:nvPr/>
        </p:nvSpPr>
        <p:spPr>
          <a:xfrm>
            <a:off x="-1554480" y="-1737360"/>
            <a:ext cx="5486040" cy="5486040"/>
          </a:xfrm>
          <a:prstGeom prst="arc">
            <a:avLst>
              <a:gd name="adj1" fmla="val 16200000"/>
              <a:gd name="adj2" fmla="val 0"/>
            </a:avLst>
          </a:prstGeom>
          <a:noFill/>
          <a:ln w="13970">
            <a:solidFill>
              <a:srgbClr val="14b8a6">
                <a:alpha val="3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419" name="Shape 3"/>
          <p:cNvSpPr/>
          <p:nvPr/>
        </p:nvSpPr>
        <p:spPr>
          <a:xfrm>
            <a:off x="7680960" y="3840480"/>
            <a:ext cx="5486040" cy="5486040"/>
          </a:xfrm>
          <a:prstGeom prst="arc">
            <a:avLst>
              <a:gd name="adj1" fmla="val 16200000"/>
              <a:gd name="adj2" fmla="val 0"/>
            </a:avLst>
          </a:prstGeom>
          <a:noFill/>
          <a:ln w="12700">
            <a:solidFill>
              <a:srgbClr val="f59e0b">
                <a:alpha val="22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420" name="Text 4"/>
          <p:cNvSpPr/>
          <p:nvPr/>
        </p:nvSpPr>
        <p:spPr>
          <a:xfrm>
            <a:off x="567000" y="347400"/>
            <a:ext cx="594324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50" spc="-1" strike="noStrike">
                <a:solidFill>
                  <a:srgbClr val="14b8a6"/>
                </a:solidFill>
                <a:latin typeface="Aptos"/>
                <a:ea typeface="Aptos"/>
              </a:rPr>
              <a:t>RECOMMENDATIONS</a:t>
            </a:r>
            <a:endParaRPr b="0" lang="en-GB" sz="850" spc="-1" strike="noStrike">
              <a:solidFill>
                <a:srgbClr val="ffffff"/>
              </a:solidFill>
              <a:latin typeface="Arial"/>
            </a:endParaRPr>
          </a:p>
        </p:txBody>
      </p:sp>
      <p:sp>
        <p:nvSpPr>
          <p:cNvPr id="1421" name="Text 5"/>
          <p:cNvSpPr/>
          <p:nvPr/>
        </p:nvSpPr>
        <p:spPr>
          <a:xfrm>
            <a:off x="548640" y="658440"/>
            <a:ext cx="10926720" cy="5940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400" spc="-1" strike="noStrike">
                <a:solidFill>
                  <a:srgbClr val="f8fafc"/>
                </a:solidFill>
                <a:latin typeface="Aptos Display"/>
                <a:ea typeface="Aptos Display"/>
              </a:rPr>
              <a:t>How to turn the notebook into a stronger research pipeline</a:t>
            </a:r>
            <a:endParaRPr b="0" lang="en-GB" sz="2400" spc="-1" strike="noStrike">
              <a:solidFill>
                <a:srgbClr val="ffffff"/>
              </a:solidFill>
              <a:latin typeface="Arial"/>
            </a:endParaRPr>
          </a:p>
        </p:txBody>
      </p:sp>
      <p:sp>
        <p:nvSpPr>
          <p:cNvPr id="1422" name="Text 6"/>
          <p:cNvSpPr/>
          <p:nvPr/>
        </p:nvSpPr>
        <p:spPr>
          <a:xfrm>
            <a:off x="567000" y="1216080"/>
            <a:ext cx="1051524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50" spc="-1" strike="noStrike">
                <a:solidFill>
                  <a:srgbClr val="94a3b8"/>
                </a:solidFill>
                <a:latin typeface="Aptos"/>
                <a:ea typeface="Aptos"/>
              </a:rPr>
              <a:t>The next iteration should focus on reliability, clinical alignment, and interpretability.</a:t>
            </a:r>
            <a:endParaRPr b="0" lang="en-GB" sz="1050" spc="-1" strike="noStrike">
              <a:solidFill>
                <a:srgbClr val="ffffff"/>
              </a:solidFill>
              <a:latin typeface="Arial"/>
            </a:endParaRPr>
          </a:p>
        </p:txBody>
      </p:sp>
      <p:sp>
        <p:nvSpPr>
          <p:cNvPr id="1423" name="Shape 7"/>
          <p:cNvSpPr/>
          <p:nvPr/>
        </p:nvSpPr>
        <p:spPr>
          <a:xfrm>
            <a:off x="658440" y="1481400"/>
            <a:ext cx="10972440" cy="3858480"/>
          </a:xfrm>
          <a:prstGeom prst="roundRect">
            <a:avLst>
              <a:gd name="adj" fmla="val 1896"/>
            </a:avLst>
          </a:prstGeom>
          <a:solidFill>
            <a:srgbClr val="0b1a2e"/>
          </a:solidFill>
          <a:ln w="1016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424" name="Shape 8"/>
          <p:cNvSpPr/>
          <p:nvPr/>
        </p:nvSpPr>
        <p:spPr>
          <a:xfrm>
            <a:off x="658440" y="1481400"/>
            <a:ext cx="731160" cy="292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425" name="Text 9"/>
          <p:cNvSpPr/>
          <p:nvPr/>
        </p:nvSpPr>
        <p:spPr>
          <a:xfrm>
            <a:off x="685800" y="1554480"/>
            <a:ext cx="67644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20" spc="-1" strike="noStrike">
                <a:solidFill>
                  <a:srgbClr val="f8fafc"/>
                </a:solidFill>
                <a:latin typeface="Aptos"/>
                <a:ea typeface="Aptos"/>
              </a:rPr>
              <a:t>Priority</a:t>
            </a:r>
            <a:endParaRPr b="0" lang="en-GB" sz="720" spc="-1" strike="noStrike">
              <a:solidFill>
                <a:srgbClr val="ffffff"/>
              </a:solidFill>
              <a:latin typeface="Arial"/>
            </a:endParaRPr>
          </a:p>
        </p:txBody>
      </p:sp>
      <p:sp>
        <p:nvSpPr>
          <p:cNvPr id="1426" name="Shape 10"/>
          <p:cNvSpPr/>
          <p:nvPr/>
        </p:nvSpPr>
        <p:spPr>
          <a:xfrm>
            <a:off x="1389960" y="1481400"/>
            <a:ext cx="4754520" cy="292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427" name="Text 11"/>
          <p:cNvSpPr/>
          <p:nvPr/>
        </p:nvSpPr>
        <p:spPr>
          <a:xfrm>
            <a:off x="1417320" y="1554480"/>
            <a:ext cx="469980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20" spc="-1" strike="noStrike">
                <a:solidFill>
                  <a:srgbClr val="f8fafc"/>
                </a:solidFill>
                <a:latin typeface="Aptos"/>
                <a:ea typeface="Aptos"/>
              </a:rPr>
              <a:t>Recommendation</a:t>
            </a:r>
            <a:endParaRPr b="0" lang="en-GB" sz="720" spc="-1" strike="noStrike">
              <a:solidFill>
                <a:srgbClr val="ffffff"/>
              </a:solidFill>
              <a:latin typeface="Arial"/>
            </a:endParaRPr>
          </a:p>
        </p:txBody>
      </p:sp>
      <p:sp>
        <p:nvSpPr>
          <p:cNvPr id="1428" name="Shape 12"/>
          <p:cNvSpPr/>
          <p:nvPr/>
        </p:nvSpPr>
        <p:spPr>
          <a:xfrm>
            <a:off x="6144840" y="1481400"/>
            <a:ext cx="5486040" cy="292320"/>
          </a:xfrm>
          <a:prstGeom prst="rect">
            <a:avLst/>
          </a:prstGeom>
          <a:solidFill>
            <a:srgbClr val="132b46"/>
          </a:solidFill>
          <a:ln w="3810">
            <a:solidFill>
              <a:srgbClr val="334155">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429" name="Text 13"/>
          <p:cNvSpPr/>
          <p:nvPr/>
        </p:nvSpPr>
        <p:spPr>
          <a:xfrm>
            <a:off x="6172200" y="1554480"/>
            <a:ext cx="543132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20" spc="-1" strike="noStrike">
                <a:solidFill>
                  <a:srgbClr val="f8fafc"/>
                </a:solidFill>
                <a:latin typeface="Aptos"/>
                <a:ea typeface="Aptos"/>
              </a:rPr>
              <a:t>Expected impact</a:t>
            </a:r>
            <a:endParaRPr b="0" lang="en-GB" sz="720" spc="-1" strike="noStrike">
              <a:solidFill>
                <a:srgbClr val="ffffff"/>
              </a:solidFill>
              <a:latin typeface="Arial"/>
            </a:endParaRPr>
          </a:p>
        </p:txBody>
      </p:sp>
      <p:sp>
        <p:nvSpPr>
          <p:cNvPr id="1430" name="Shape 14"/>
          <p:cNvSpPr/>
          <p:nvPr/>
        </p:nvSpPr>
        <p:spPr>
          <a:xfrm>
            <a:off x="658440" y="1774080"/>
            <a:ext cx="731160" cy="50256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431" name="Text 15"/>
          <p:cNvSpPr/>
          <p:nvPr/>
        </p:nvSpPr>
        <p:spPr>
          <a:xfrm>
            <a:off x="685800" y="1847160"/>
            <a:ext cx="676440" cy="438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720" spc="-1" strike="noStrike">
                <a:solidFill>
                  <a:srgbClr val="f8fafc"/>
                </a:solidFill>
                <a:latin typeface="Aptos"/>
                <a:ea typeface="Aptos"/>
              </a:rPr>
              <a:t>1</a:t>
            </a:r>
            <a:endParaRPr b="0" lang="en-GB" sz="720" spc="-1" strike="noStrike">
              <a:solidFill>
                <a:srgbClr val="ffffff"/>
              </a:solidFill>
              <a:latin typeface="Arial"/>
            </a:endParaRPr>
          </a:p>
        </p:txBody>
      </p:sp>
      <p:sp>
        <p:nvSpPr>
          <p:cNvPr id="1432" name="Shape 16"/>
          <p:cNvSpPr/>
          <p:nvPr/>
        </p:nvSpPr>
        <p:spPr>
          <a:xfrm>
            <a:off x="1389960" y="1774080"/>
            <a:ext cx="4754520" cy="50256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433" name="Text 17"/>
          <p:cNvSpPr/>
          <p:nvPr/>
        </p:nvSpPr>
        <p:spPr>
          <a:xfrm>
            <a:off x="1417320" y="1847160"/>
            <a:ext cx="4699800" cy="4384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20" spc="-1" strike="noStrike">
                <a:solidFill>
                  <a:srgbClr val="f8fafc"/>
                </a:solidFill>
                <a:latin typeface="Aptos"/>
                <a:ea typeface="Aptos"/>
              </a:rPr>
              <a:t>Temporal holdout instead of random split</a:t>
            </a:r>
            <a:endParaRPr b="0" lang="en-GB" sz="720" spc="-1" strike="noStrike">
              <a:solidFill>
                <a:srgbClr val="ffffff"/>
              </a:solidFill>
              <a:latin typeface="Arial"/>
            </a:endParaRPr>
          </a:p>
        </p:txBody>
      </p:sp>
      <p:sp>
        <p:nvSpPr>
          <p:cNvPr id="1434" name="Shape 18"/>
          <p:cNvSpPr/>
          <p:nvPr/>
        </p:nvSpPr>
        <p:spPr>
          <a:xfrm>
            <a:off x="6144840" y="1774080"/>
            <a:ext cx="5486040" cy="50256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435" name="Text 19"/>
          <p:cNvSpPr/>
          <p:nvPr/>
        </p:nvSpPr>
        <p:spPr>
          <a:xfrm>
            <a:off x="6172200" y="1847160"/>
            <a:ext cx="5431320" cy="4384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20" spc="-1" strike="noStrike">
                <a:solidFill>
                  <a:srgbClr val="f8fafc"/>
                </a:solidFill>
                <a:latin typeface="Aptos"/>
                <a:ea typeface="Aptos"/>
              </a:rPr>
              <a:t>More realistic deployment estimate and drift detection</a:t>
            </a:r>
            <a:endParaRPr b="0" lang="en-GB" sz="720" spc="-1" strike="noStrike">
              <a:solidFill>
                <a:srgbClr val="ffffff"/>
              </a:solidFill>
              <a:latin typeface="Arial"/>
            </a:endParaRPr>
          </a:p>
        </p:txBody>
      </p:sp>
      <p:sp>
        <p:nvSpPr>
          <p:cNvPr id="1436" name="Shape 20"/>
          <p:cNvSpPr/>
          <p:nvPr/>
        </p:nvSpPr>
        <p:spPr>
          <a:xfrm>
            <a:off x="658440" y="2277000"/>
            <a:ext cx="731160" cy="50256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437" name="Text 21"/>
          <p:cNvSpPr/>
          <p:nvPr/>
        </p:nvSpPr>
        <p:spPr>
          <a:xfrm>
            <a:off x="685800" y="2350080"/>
            <a:ext cx="676440" cy="438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720" spc="-1" strike="noStrike">
                <a:solidFill>
                  <a:srgbClr val="f8fafc"/>
                </a:solidFill>
                <a:latin typeface="Aptos"/>
                <a:ea typeface="Aptos"/>
              </a:rPr>
              <a:t>2</a:t>
            </a:r>
            <a:endParaRPr b="0" lang="en-GB" sz="720" spc="-1" strike="noStrike">
              <a:solidFill>
                <a:srgbClr val="ffffff"/>
              </a:solidFill>
              <a:latin typeface="Arial"/>
            </a:endParaRPr>
          </a:p>
        </p:txBody>
      </p:sp>
      <p:sp>
        <p:nvSpPr>
          <p:cNvPr id="1438" name="Shape 22"/>
          <p:cNvSpPr/>
          <p:nvPr/>
        </p:nvSpPr>
        <p:spPr>
          <a:xfrm>
            <a:off x="1389960" y="2277000"/>
            <a:ext cx="4754520" cy="50256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439" name="Text 23"/>
          <p:cNvSpPr/>
          <p:nvPr/>
        </p:nvSpPr>
        <p:spPr>
          <a:xfrm>
            <a:off x="1417320" y="2350080"/>
            <a:ext cx="4699800" cy="4384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20" spc="-1" strike="noStrike">
                <a:solidFill>
                  <a:srgbClr val="f8fafc"/>
                </a:solidFill>
                <a:latin typeface="Aptos"/>
                <a:ea typeface="Aptos"/>
              </a:rPr>
              <a:t>Recall-optimized HPO using recall or Fβ scoring</a:t>
            </a:r>
            <a:endParaRPr b="0" lang="en-GB" sz="720" spc="-1" strike="noStrike">
              <a:solidFill>
                <a:srgbClr val="ffffff"/>
              </a:solidFill>
              <a:latin typeface="Arial"/>
            </a:endParaRPr>
          </a:p>
        </p:txBody>
      </p:sp>
      <p:sp>
        <p:nvSpPr>
          <p:cNvPr id="1440" name="Shape 24"/>
          <p:cNvSpPr/>
          <p:nvPr/>
        </p:nvSpPr>
        <p:spPr>
          <a:xfrm>
            <a:off x="6144840" y="2277000"/>
            <a:ext cx="5486040" cy="50256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441" name="Text 25"/>
          <p:cNvSpPr/>
          <p:nvPr/>
        </p:nvSpPr>
        <p:spPr>
          <a:xfrm>
            <a:off x="6172200" y="2350080"/>
            <a:ext cx="5431320" cy="4384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20" spc="-1" strike="noStrike">
                <a:solidFill>
                  <a:srgbClr val="f8fafc"/>
                </a:solidFill>
                <a:latin typeface="Aptos"/>
                <a:ea typeface="Aptos"/>
              </a:rPr>
              <a:t>Prevents SVM-style recall collapse and aligns with clinical risk</a:t>
            </a:r>
            <a:endParaRPr b="0" lang="en-GB" sz="720" spc="-1" strike="noStrike">
              <a:solidFill>
                <a:srgbClr val="ffffff"/>
              </a:solidFill>
              <a:latin typeface="Arial"/>
            </a:endParaRPr>
          </a:p>
        </p:txBody>
      </p:sp>
      <p:sp>
        <p:nvSpPr>
          <p:cNvPr id="1442" name="Shape 26"/>
          <p:cNvSpPr/>
          <p:nvPr/>
        </p:nvSpPr>
        <p:spPr>
          <a:xfrm>
            <a:off x="658440" y="2779920"/>
            <a:ext cx="731160" cy="50256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443" name="Text 27"/>
          <p:cNvSpPr/>
          <p:nvPr/>
        </p:nvSpPr>
        <p:spPr>
          <a:xfrm>
            <a:off x="685800" y="2853000"/>
            <a:ext cx="676440" cy="438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720" spc="-1" strike="noStrike">
                <a:solidFill>
                  <a:srgbClr val="f8fafc"/>
                </a:solidFill>
                <a:latin typeface="Aptos"/>
                <a:ea typeface="Aptos"/>
              </a:rPr>
              <a:t>3</a:t>
            </a:r>
            <a:endParaRPr b="0" lang="en-GB" sz="720" spc="-1" strike="noStrike">
              <a:solidFill>
                <a:srgbClr val="ffffff"/>
              </a:solidFill>
              <a:latin typeface="Arial"/>
            </a:endParaRPr>
          </a:p>
        </p:txBody>
      </p:sp>
      <p:sp>
        <p:nvSpPr>
          <p:cNvPr id="1444" name="Shape 28"/>
          <p:cNvSpPr/>
          <p:nvPr/>
        </p:nvSpPr>
        <p:spPr>
          <a:xfrm>
            <a:off x="1389960" y="2779920"/>
            <a:ext cx="4754520" cy="50256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445" name="Text 29"/>
          <p:cNvSpPr/>
          <p:nvPr/>
        </p:nvSpPr>
        <p:spPr>
          <a:xfrm>
            <a:off x="1417320" y="2853000"/>
            <a:ext cx="4699800" cy="4384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20" spc="-1" strike="noStrike">
                <a:solidFill>
                  <a:srgbClr val="f8fafc"/>
                </a:solidFill>
                <a:latin typeface="Aptos"/>
                <a:ea typeface="Aptos"/>
              </a:rPr>
              <a:t>Cleanlab/confident learning before SMOTE</a:t>
            </a:r>
            <a:endParaRPr b="0" lang="en-GB" sz="720" spc="-1" strike="noStrike">
              <a:solidFill>
                <a:srgbClr val="ffffff"/>
              </a:solidFill>
              <a:latin typeface="Arial"/>
            </a:endParaRPr>
          </a:p>
        </p:txBody>
      </p:sp>
      <p:sp>
        <p:nvSpPr>
          <p:cNvPr id="1446" name="Shape 30"/>
          <p:cNvSpPr/>
          <p:nvPr/>
        </p:nvSpPr>
        <p:spPr>
          <a:xfrm>
            <a:off x="6144840" y="2779920"/>
            <a:ext cx="5486040" cy="502560"/>
          </a:xfrm>
          <a:prstGeom prst="rect">
            <a:avLst/>
          </a:prstGeom>
          <a:solidFill>
            <a:srgbClr val="123d3b">
              <a:alpha val="95000"/>
            </a:srgbClr>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447" name="Text 31"/>
          <p:cNvSpPr/>
          <p:nvPr/>
        </p:nvSpPr>
        <p:spPr>
          <a:xfrm>
            <a:off x="6172200" y="2853000"/>
            <a:ext cx="5431320" cy="4384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20" spc="-1" strike="noStrike">
                <a:solidFill>
                  <a:srgbClr val="f8fafc"/>
                </a:solidFill>
                <a:latin typeface="Aptos"/>
                <a:ea typeface="Aptos"/>
              </a:rPr>
              <a:t>Detects mislabeled examples before synthetic oversampling amplifies noise</a:t>
            </a:r>
            <a:endParaRPr b="0" lang="en-GB" sz="720" spc="-1" strike="noStrike">
              <a:solidFill>
                <a:srgbClr val="ffffff"/>
              </a:solidFill>
              <a:latin typeface="Arial"/>
            </a:endParaRPr>
          </a:p>
        </p:txBody>
      </p:sp>
      <p:sp>
        <p:nvSpPr>
          <p:cNvPr id="1448" name="Shape 32"/>
          <p:cNvSpPr/>
          <p:nvPr/>
        </p:nvSpPr>
        <p:spPr>
          <a:xfrm>
            <a:off x="658440" y="3282840"/>
            <a:ext cx="731160" cy="50256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449" name="Text 33"/>
          <p:cNvSpPr/>
          <p:nvPr/>
        </p:nvSpPr>
        <p:spPr>
          <a:xfrm>
            <a:off x="685800" y="3355920"/>
            <a:ext cx="676440" cy="438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720" spc="-1" strike="noStrike">
                <a:solidFill>
                  <a:srgbClr val="f8fafc"/>
                </a:solidFill>
                <a:latin typeface="Aptos"/>
                <a:ea typeface="Aptos"/>
              </a:rPr>
              <a:t>4</a:t>
            </a:r>
            <a:endParaRPr b="0" lang="en-GB" sz="720" spc="-1" strike="noStrike">
              <a:solidFill>
                <a:srgbClr val="ffffff"/>
              </a:solidFill>
              <a:latin typeface="Arial"/>
            </a:endParaRPr>
          </a:p>
        </p:txBody>
      </p:sp>
      <p:sp>
        <p:nvSpPr>
          <p:cNvPr id="1450" name="Shape 34"/>
          <p:cNvSpPr/>
          <p:nvPr/>
        </p:nvSpPr>
        <p:spPr>
          <a:xfrm>
            <a:off x="1389960" y="3282840"/>
            <a:ext cx="4754520" cy="50256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451" name="Text 35"/>
          <p:cNvSpPr/>
          <p:nvPr/>
        </p:nvSpPr>
        <p:spPr>
          <a:xfrm>
            <a:off x="1417320" y="3355920"/>
            <a:ext cx="4699800" cy="4384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20" spc="-1" strike="noStrike">
                <a:solidFill>
                  <a:srgbClr val="f8fafc"/>
                </a:solidFill>
                <a:latin typeface="Aptos"/>
                <a:ea typeface="Aptos"/>
              </a:rPr>
              <a:t>LightGBM/CatBoost + calibrated probabilities</a:t>
            </a:r>
            <a:endParaRPr b="0" lang="en-GB" sz="720" spc="-1" strike="noStrike">
              <a:solidFill>
                <a:srgbClr val="ffffff"/>
              </a:solidFill>
              <a:latin typeface="Arial"/>
            </a:endParaRPr>
          </a:p>
        </p:txBody>
      </p:sp>
      <p:sp>
        <p:nvSpPr>
          <p:cNvPr id="1452" name="Shape 36"/>
          <p:cNvSpPr/>
          <p:nvPr/>
        </p:nvSpPr>
        <p:spPr>
          <a:xfrm>
            <a:off x="6144840" y="3282840"/>
            <a:ext cx="5486040" cy="50256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453" name="Text 37"/>
          <p:cNvSpPr/>
          <p:nvPr/>
        </p:nvSpPr>
        <p:spPr>
          <a:xfrm>
            <a:off x="6172200" y="3355920"/>
            <a:ext cx="5431320" cy="4384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20" spc="-1" strike="noStrike">
                <a:solidFill>
                  <a:srgbClr val="f8fafc"/>
                </a:solidFill>
                <a:latin typeface="Aptos"/>
                <a:ea typeface="Aptos"/>
              </a:rPr>
              <a:t>Stronger tabular performance and more reliable thresholding</a:t>
            </a:r>
            <a:endParaRPr b="0" lang="en-GB" sz="720" spc="-1" strike="noStrike">
              <a:solidFill>
                <a:srgbClr val="ffffff"/>
              </a:solidFill>
              <a:latin typeface="Arial"/>
            </a:endParaRPr>
          </a:p>
        </p:txBody>
      </p:sp>
      <p:sp>
        <p:nvSpPr>
          <p:cNvPr id="1454" name="Shape 38"/>
          <p:cNvSpPr/>
          <p:nvPr/>
        </p:nvSpPr>
        <p:spPr>
          <a:xfrm>
            <a:off x="658440" y="3785760"/>
            <a:ext cx="731160" cy="50256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455" name="Text 39"/>
          <p:cNvSpPr/>
          <p:nvPr/>
        </p:nvSpPr>
        <p:spPr>
          <a:xfrm>
            <a:off x="685800" y="3858840"/>
            <a:ext cx="676440" cy="438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720" spc="-1" strike="noStrike">
                <a:solidFill>
                  <a:srgbClr val="f8fafc"/>
                </a:solidFill>
                <a:latin typeface="Aptos"/>
                <a:ea typeface="Aptos"/>
              </a:rPr>
              <a:t>5</a:t>
            </a:r>
            <a:endParaRPr b="0" lang="en-GB" sz="720" spc="-1" strike="noStrike">
              <a:solidFill>
                <a:srgbClr val="ffffff"/>
              </a:solidFill>
              <a:latin typeface="Arial"/>
            </a:endParaRPr>
          </a:p>
        </p:txBody>
      </p:sp>
      <p:sp>
        <p:nvSpPr>
          <p:cNvPr id="1456" name="Shape 40"/>
          <p:cNvSpPr/>
          <p:nvPr/>
        </p:nvSpPr>
        <p:spPr>
          <a:xfrm>
            <a:off x="1389960" y="3785760"/>
            <a:ext cx="4754520" cy="50256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457" name="Text 41"/>
          <p:cNvSpPr/>
          <p:nvPr/>
        </p:nvSpPr>
        <p:spPr>
          <a:xfrm>
            <a:off x="1417320" y="3858840"/>
            <a:ext cx="4699800" cy="4384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20" spc="-1" strike="noStrike">
                <a:solidFill>
                  <a:srgbClr val="f8fafc"/>
                </a:solidFill>
                <a:latin typeface="Aptos"/>
                <a:ea typeface="Aptos"/>
              </a:rPr>
              <a:t>SHAP explanations for top predictors</a:t>
            </a:r>
            <a:endParaRPr b="0" lang="en-GB" sz="720" spc="-1" strike="noStrike">
              <a:solidFill>
                <a:srgbClr val="ffffff"/>
              </a:solidFill>
              <a:latin typeface="Arial"/>
            </a:endParaRPr>
          </a:p>
        </p:txBody>
      </p:sp>
      <p:sp>
        <p:nvSpPr>
          <p:cNvPr id="1458" name="Shape 42"/>
          <p:cNvSpPr/>
          <p:nvPr/>
        </p:nvSpPr>
        <p:spPr>
          <a:xfrm>
            <a:off x="6144840" y="3785760"/>
            <a:ext cx="5486040" cy="50256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459" name="Text 43"/>
          <p:cNvSpPr/>
          <p:nvPr/>
        </p:nvSpPr>
        <p:spPr>
          <a:xfrm>
            <a:off x="6172200" y="3858840"/>
            <a:ext cx="5431320" cy="4384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20" spc="-1" strike="noStrike">
                <a:solidFill>
                  <a:srgbClr val="f8fafc"/>
                </a:solidFill>
                <a:latin typeface="Aptos"/>
                <a:ea typeface="Aptos"/>
              </a:rPr>
              <a:t>Improves clinical trust and detects impossible feature behavior</a:t>
            </a:r>
            <a:endParaRPr b="0" lang="en-GB" sz="720" spc="-1" strike="noStrike">
              <a:solidFill>
                <a:srgbClr val="ffffff"/>
              </a:solidFill>
              <a:latin typeface="Arial"/>
            </a:endParaRPr>
          </a:p>
        </p:txBody>
      </p:sp>
      <p:sp>
        <p:nvSpPr>
          <p:cNvPr id="1460" name="Shape 44"/>
          <p:cNvSpPr/>
          <p:nvPr/>
        </p:nvSpPr>
        <p:spPr>
          <a:xfrm>
            <a:off x="658440" y="4288680"/>
            <a:ext cx="731160" cy="50256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461" name="Text 45"/>
          <p:cNvSpPr/>
          <p:nvPr/>
        </p:nvSpPr>
        <p:spPr>
          <a:xfrm>
            <a:off x="685800" y="4361760"/>
            <a:ext cx="676440" cy="438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720" spc="-1" strike="noStrike">
                <a:solidFill>
                  <a:srgbClr val="f8fafc"/>
                </a:solidFill>
                <a:latin typeface="Aptos"/>
                <a:ea typeface="Aptos"/>
              </a:rPr>
              <a:t>6</a:t>
            </a:r>
            <a:endParaRPr b="0" lang="en-GB" sz="720" spc="-1" strike="noStrike">
              <a:solidFill>
                <a:srgbClr val="ffffff"/>
              </a:solidFill>
              <a:latin typeface="Arial"/>
            </a:endParaRPr>
          </a:p>
        </p:txBody>
      </p:sp>
      <p:sp>
        <p:nvSpPr>
          <p:cNvPr id="1462" name="Shape 46"/>
          <p:cNvSpPr/>
          <p:nvPr/>
        </p:nvSpPr>
        <p:spPr>
          <a:xfrm>
            <a:off x="1389960" y="4288680"/>
            <a:ext cx="4754520" cy="50256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463" name="Text 47"/>
          <p:cNvSpPr/>
          <p:nvPr/>
        </p:nvSpPr>
        <p:spPr>
          <a:xfrm>
            <a:off x="1417320" y="4361760"/>
            <a:ext cx="4699800" cy="4384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20" spc="-1" strike="noStrike">
                <a:solidFill>
                  <a:srgbClr val="f8fafc"/>
                </a:solidFill>
                <a:latin typeface="Aptos"/>
                <a:ea typeface="Aptos"/>
              </a:rPr>
              <a:t>AUPRC and calibration curves</a:t>
            </a:r>
            <a:endParaRPr b="0" lang="en-GB" sz="720" spc="-1" strike="noStrike">
              <a:solidFill>
                <a:srgbClr val="ffffff"/>
              </a:solidFill>
              <a:latin typeface="Arial"/>
            </a:endParaRPr>
          </a:p>
        </p:txBody>
      </p:sp>
      <p:sp>
        <p:nvSpPr>
          <p:cNvPr id="1464" name="Shape 48"/>
          <p:cNvSpPr/>
          <p:nvPr/>
        </p:nvSpPr>
        <p:spPr>
          <a:xfrm>
            <a:off x="6144840" y="4288680"/>
            <a:ext cx="5486040" cy="502560"/>
          </a:xfrm>
          <a:prstGeom prst="rect">
            <a:avLst/>
          </a:prstGeom>
          <a:solidFill>
            <a:srgbClr val="10243d"/>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465" name="Text 49"/>
          <p:cNvSpPr/>
          <p:nvPr/>
        </p:nvSpPr>
        <p:spPr>
          <a:xfrm>
            <a:off x="6172200" y="4361760"/>
            <a:ext cx="5431320" cy="4384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20" spc="-1" strike="noStrike">
                <a:solidFill>
                  <a:srgbClr val="f8fafc"/>
                </a:solidFill>
                <a:latin typeface="Aptos"/>
                <a:ea typeface="Aptos"/>
              </a:rPr>
              <a:t>Better evaluation under severe class imbalance than ROC-AUC alone</a:t>
            </a:r>
            <a:endParaRPr b="0" lang="en-GB" sz="720" spc="-1" strike="noStrike">
              <a:solidFill>
                <a:srgbClr val="ffffff"/>
              </a:solidFill>
              <a:latin typeface="Arial"/>
            </a:endParaRPr>
          </a:p>
        </p:txBody>
      </p:sp>
      <p:sp>
        <p:nvSpPr>
          <p:cNvPr id="1466" name="Shape 50"/>
          <p:cNvSpPr/>
          <p:nvPr/>
        </p:nvSpPr>
        <p:spPr>
          <a:xfrm>
            <a:off x="658440" y="4791600"/>
            <a:ext cx="731160" cy="50256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467" name="Text 51"/>
          <p:cNvSpPr/>
          <p:nvPr/>
        </p:nvSpPr>
        <p:spPr>
          <a:xfrm>
            <a:off x="685800" y="4864680"/>
            <a:ext cx="676440" cy="438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720" spc="-1" strike="noStrike">
                <a:solidFill>
                  <a:srgbClr val="f8fafc"/>
                </a:solidFill>
                <a:latin typeface="Aptos"/>
                <a:ea typeface="Aptos"/>
              </a:rPr>
              <a:t>7</a:t>
            </a:r>
            <a:endParaRPr b="0" lang="en-GB" sz="720" spc="-1" strike="noStrike">
              <a:solidFill>
                <a:srgbClr val="ffffff"/>
              </a:solidFill>
              <a:latin typeface="Arial"/>
            </a:endParaRPr>
          </a:p>
        </p:txBody>
      </p:sp>
      <p:sp>
        <p:nvSpPr>
          <p:cNvPr id="1468" name="Shape 52"/>
          <p:cNvSpPr/>
          <p:nvPr/>
        </p:nvSpPr>
        <p:spPr>
          <a:xfrm>
            <a:off x="1389960" y="4791600"/>
            <a:ext cx="4754520" cy="50256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469" name="Text 53"/>
          <p:cNvSpPr/>
          <p:nvPr/>
        </p:nvSpPr>
        <p:spPr>
          <a:xfrm>
            <a:off x="1417320" y="4864680"/>
            <a:ext cx="4699800" cy="4384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20" spc="-1" strike="noStrike">
                <a:solidFill>
                  <a:srgbClr val="f8fafc"/>
                </a:solidFill>
                <a:latin typeface="Aptos"/>
                <a:ea typeface="Aptos"/>
              </a:rPr>
              <a:t>External validation across hospitals</a:t>
            </a:r>
            <a:endParaRPr b="0" lang="en-GB" sz="720" spc="-1" strike="noStrike">
              <a:solidFill>
                <a:srgbClr val="ffffff"/>
              </a:solidFill>
              <a:latin typeface="Arial"/>
            </a:endParaRPr>
          </a:p>
        </p:txBody>
      </p:sp>
      <p:sp>
        <p:nvSpPr>
          <p:cNvPr id="1470" name="Shape 54"/>
          <p:cNvSpPr/>
          <p:nvPr/>
        </p:nvSpPr>
        <p:spPr>
          <a:xfrm>
            <a:off x="6144840" y="4791600"/>
            <a:ext cx="5486040" cy="502560"/>
          </a:xfrm>
          <a:prstGeom prst="rect">
            <a:avLst/>
          </a:prstGeom>
          <a:solidFill>
            <a:srgbClr val="0b1a2e"/>
          </a:solidFill>
          <a:ln w="3175">
            <a:solidFill>
              <a:srgbClr val="334155">
                <a:alpha val="4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471" name="Text 55"/>
          <p:cNvSpPr/>
          <p:nvPr/>
        </p:nvSpPr>
        <p:spPr>
          <a:xfrm>
            <a:off x="6172200" y="4864680"/>
            <a:ext cx="5431320" cy="4384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20" spc="-1" strike="noStrike">
                <a:solidFill>
                  <a:srgbClr val="f8fafc"/>
                </a:solidFill>
                <a:latin typeface="Aptos"/>
                <a:ea typeface="Aptos"/>
              </a:rPr>
              <a:t>Tests generalizability and reduces single-dataset bias</a:t>
            </a:r>
            <a:endParaRPr b="0" lang="en-GB" sz="720" spc="-1" strike="noStrike">
              <a:solidFill>
                <a:srgbClr val="ffffff"/>
              </a:solidFill>
              <a:latin typeface="Arial"/>
            </a:endParaRPr>
          </a:p>
        </p:txBody>
      </p:sp>
      <p:sp>
        <p:nvSpPr>
          <p:cNvPr id="1472" name="Shape 56"/>
          <p:cNvSpPr/>
          <p:nvPr/>
        </p:nvSpPr>
        <p:spPr>
          <a:xfrm>
            <a:off x="502920" y="6555960"/>
            <a:ext cx="11201400" cy="360"/>
          </a:xfrm>
          <a:prstGeom prst="line">
            <a:avLst/>
          </a:prstGeom>
          <a:ln w="7620">
            <a:solidFill>
              <a:srgbClr val="334155">
                <a:alpha val="60000"/>
              </a:srgbClr>
            </a:solidFill>
            <a:round/>
          </a:ln>
        </p:spPr>
        <p:style>
          <a:lnRef idx="0"/>
          <a:fillRef idx="0"/>
          <a:effectRef idx="0"/>
          <a:fontRef idx="minor"/>
        </p:style>
        <p:txBody>
          <a:bodyPr lIns="90000" rIns="90000" tIns="-44640" bIns="-44640" anchor="t" anchorCtr="1">
            <a:noAutofit/>
          </a:bodyPr>
          <a:p>
            <a:endParaRPr b="0" lang="en-GB" sz="1800" spc="-1" strike="noStrike">
              <a:solidFill>
                <a:srgbClr val="ffffff"/>
              </a:solidFill>
              <a:latin typeface="Arial"/>
            </a:endParaRPr>
          </a:p>
        </p:txBody>
      </p:sp>
      <p:sp>
        <p:nvSpPr>
          <p:cNvPr id="1473" name="Text 57"/>
          <p:cNvSpPr/>
          <p:nvPr/>
        </p:nvSpPr>
        <p:spPr>
          <a:xfrm>
            <a:off x="530280" y="6602040"/>
            <a:ext cx="6217560" cy="145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650" spc="-1" strike="noStrike">
                <a:solidFill>
                  <a:srgbClr val="94a3b8"/>
                </a:solidFill>
                <a:latin typeface="Aptos"/>
                <a:ea typeface="Aptos"/>
              </a:rPr>
              <a:t>Clinical Outcome Prediction • Myocardial Infarction Complications</a:t>
            </a:r>
            <a:endParaRPr b="0" lang="en-GB" sz="650" spc="-1" strike="noStrike">
              <a:solidFill>
                <a:srgbClr val="ffffff"/>
              </a:solidFill>
              <a:latin typeface="Arial"/>
            </a:endParaRPr>
          </a:p>
        </p:txBody>
      </p:sp>
      <p:sp>
        <p:nvSpPr>
          <p:cNvPr id="1474" name="Text 58"/>
          <p:cNvSpPr/>
          <p:nvPr/>
        </p:nvSpPr>
        <p:spPr>
          <a:xfrm>
            <a:off x="11201400" y="6565320"/>
            <a:ext cx="502560" cy="2282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750" spc="-1" strike="noStrike">
                <a:solidFill>
                  <a:srgbClr val="94a3b8"/>
                </a:solidFill>
                <a:latin typeface="Aptos"/>
                <a:ea typeface="Aptos"/>
              </a:rPr>
              <a:t>19</a:t>
            </a:r>
            <a:endParaRPr b="0" lang="en-GB" sz="7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01f"/>
        </a:solidFill>
      </p:bgPr>
    </p:bg>
    <p:spTree>
      <p:nvGrpSpPr>
        <p:cNvPr id="1" name=""/>
        <p:cNvGrpSpPr/>
        <p:nvPr/>
      </p:nvGrpSpPr>
      <p:grpSpPr>
        <a:xfrm>
          <a:off x="0" y="0"/>
          <a:ext cx="0" cy="0"/>
          <a:chOff x="0" y="0"/>
          <a:chExt cx="0" cy="0"/>
        </a:xfrm>
      </p:grpSpPr>
      <p:sp>
        <p:nvSpPr>
          <p:cNvPr id="1475" name="Shape 0"/>
          <p:cNvSpPr/>
          <p:nvPr/>
        </p:nvSpPr>
        <p:spPr>
          <a:xfrm>
            <a:off x="0" y="0"/>
            <a:ext cx="12191400" cy="6857640"/>
          </a:xfrm>
          <a:prstGeom prst="rect">
            <a:avLst/>
          </a:prstGeom>
          <a:solidFill>
            <a:srgbClr val="06101f"/>
          </a:solidFill>
          <a:ln w="12700">
            <a:solidFill>
              <a:srgbClr val="06101f"/>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476" name="Shape 1"/>
          <p:cNvSpPr/>
          <p:nvPr/>
        </p:nvSpPr>
        <p:spPr>
          <a:xfrm>
            <a:off x="0" y="0"/>
            <a:ext cx="12191400" cy="6857640"/>
          </a:xfrm>
          <a:prstGeom prst="rect">
            <a:avLst/>
          </a:prstGeom>
          <a:solidFill>
            <a:srgbClr val="081629">
              <a:alpha val="85000"/>
            </a:srgbClr>
          </a:solidFill>
          <a:ln w="12700">
            <a:solidFill>
              <a:srgbClr val="081629">
                <a:alpha val="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477" name="Shape 2"/>
          <p:cNvSpPr/>
          <p:nvPr/>
        </p:nvSpPr>
        <p:spPr>
          <a:xfrm>
            <a:off x="-1554480" y="-1737360"/>
            <a:ext cx="5486040" cy="5486040"/>
          </a:xfrm>
          <a:prstGeom prst="arc">
            <a:avLst>
              <a:gd name="adj1" fmla="val 16200000"/>
              <a:gd name="adj2" fmla="val 0"/>
            </a:avLst>
          </a:prstGeom>
          <a:noFill/>
          <a:ln w="13970">
            <a:solidFill>
              <a:srgbClr val="14b8a6">
                <a:alpha val="3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478" name="Shape 3"/>
          <p:cNvSpPr/>
          <p:nvPr/>
        </p:nvSpPr>
        <p:spPr>
          <a:xfrm>
            <a:off x="7680960" y="3840480"/>
            <a:ext cx="5486040" cy="5486040"/>
          </a:xfrm>
          <a:prstGeom prst="arc">
            <a:avLst>
              <a:gd name="adj1" fmla="val 16200000"/>
              <a:gd name="adj2" fmla="val 0"/>
            </a:avLst>
          </a:prstGeom>
          <a:noFill/>
          <a:ln w="12700">
            <a:solidFill>
              <a:srgbClr val="f59e0b">
                <a:alpha val="22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479" name="Text 4"/>
          <p:cNvSpPr/>
          <p:nvPr/>
        </p:nvSpPr>
        <p:spPr>
          <a:xfrm>
            <a:off x="567000" y="347400"/>
            <a:ext cx="594324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50" spc="-1" strike="noStrike">
                <a:solidFill>
                  <a:srgbClr val="14b8a6"/>
                </a:solidFill>
                <a:latin typeface="Aptos"/>
                <a:ea typeface="Aptos"/>
              </a:rPr>
              <a:t>FINAL CONCLUSION</a:t>
            </a:r>
            <a:endParaRPr b="0" lang="en-GB" sz="850" spc="-1" strike="noStrike">
              <a:solidFill>
                <a:srgbClr val="ffffff"/>
              </a:solidFill>
              <a:latin typeface="Arial"/>
            </a:endParaRPr>
          </a:p>
        </p:txBody>
      </p:sp>
      <p:sp>
        <p:nvSpPr>
          <p:cNvPr id="1480" name="Text 5"/>
          <p:cNvSpPr/>
          <p:nvPr/>
        </p:nvSpPr>
        <p:spPr>
          <a:xfrm>
            <a:off x="548640" y="658440"/>
            <a:ext cx="10926720" cy="5940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400" spc="-1" strike="noStrike">
                <a:solidFill>
                  <a:srgbClr val="f8fafc"/>
                </a:solidFill>
                <a:latin typeface="Aptos Display"/>
                <a:ea typeface="Aptos Display"/>
              </a:rPr>
              <a:t>A strong ML pipeline with a clinically realistic model decision</a:t>
            </a:r>
            <a:endParaRPr b="0" lang="en-GB" sz="2400" spc="-1" strike="noStrike">
              <a:solidFill>
                <a:srgbClr val="ffffff"/>
              </a:solidFill>
              <a:latin typeface="Arial"/>
            </a:endParaRPr>
          </a:p>
        </p:txBody>
      </p:sp>
      <p:sp>
        <p:nvSpPr>
          <p:cNvPr id="1481" name="Text 6"/>
          <p:cNvSpPr/>
          <p:nvPr/>
        </p:nvSpPr>
        <p:spPr>
          <a:xfrm>
            <a:off x="567000" y="1216080"/>
            <a:ext cx="1051524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50" spc="-1" strike="noStrike">
                <a:solidFill>
                  <a:srgbClr val="94a3b8"/>
                </a:solidFill>
                <a:latin typeface="Aptos"/>
                <a:ea typeface="Aptos"/>
              </a:rPr>
              <a:t>The best answer is not “one model wins”; it is “choose the model and threshold for the clinical objective.”</a:t>
            </a:r>
            <a:endParaRPr b="0" lang="en-GB" sz="1050" spc="-1" strike="noStrike">
              <a:solidFill>
                <a:srgbClr val="ffffff"/>
              </a:solidFill>
              <a:latin typeface="Arial"/>
            </a:endParaRPr>
          </a:p>
        </p:txBody>
      </p:sp>
      <p:sp>
        <p:nvSpPr>
          <p:cNvPr id="1482" name="Shape 7"/>
          <p:cNvSpPr/>
          <p:nvPr/>
        </p:nvSpPr>
        <p:spPr>
          <a:xfrm>
            <a:off x="777240" y="1627560"/>
            <a:ext cx="3337200" cy="1261440"/>
          </a:xfrm>
          <a:prstGeom prst="roundRect">
            <a:avLst>
              <a:gd name="adj" fmla="val 8696"/>
            </a:avLst>
          </a:prstGeom>
          <a:solidFill>
            <a:srgbClr val="0b1a2e">
              <a:alpha val="95000"/>
            </a:srgbClr>
          </a:solidFill>
          <a:ln w="13970">
            <a:solidFill>
              <a:srgbClr val="22c55e">
                <a:alpha val="6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483" name="Shape 8"/>
          <p:cNvSpPr/>
          <p:nvPr/>
        </p:nvSpPr>
        <p:spPr>
          <a:xfrm>
            <a:off x="777240" y="1627560"/>
            <a:ext cx="72720" cy="1261440"/>
          </a:xfrm>
          <a:prstGeom prst="rect">
            <a:avLst/>
          </a:prstGeom>
          <a:solidFill>
            <a:srgbClr val="22c55e"/>
          </a:solidFill>
          <a:ln w="12700">
            <a:solidFill>
              <a:srgbClr val="22c55e"/>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484" name="Text 9"/>
          <p:cNvSpPr/>
          <p:nvPr/>
        </p:nvSpPr>
        <p:spPr>
          <a:xfrm>
            <a:off x="978480" y="1828800"/>
            <a:ext cx="301716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720" spc="-1" strike="noStrike">
                <a:solidFill>
                  <a:srgbClr val="94a3b8"/>
                </a:solidFill>
                <a:latin typeface="Aptos"/>
                <a:ea typeface="Aptos"/>
              </a:rPr>
              <a:t>MAIN RESULT</a:t>
            </a:r>
            <a:endParaRPr b="0" lang="en-GB" sz="720" spc="-1" strike="noStrike">
              <a:solidFill>
                <a:srgbClr val="ffffff"/>
              </a:solidFill>
              <a:latin typeface="Arial"/>
            </a:endParaRPr>
          </a:p>
        </p:txBody>
      </p:sp>
      <p:sp>
        <p:nvSpPr>
          <p:cNvPr id="1485" name="Text 10"/>
          <p:cNvSpPr/>
          <p:nvPr/>
        </p:nvSpPr>
        <p:spPr>
          <a:xfrm>
            <a:off x="978480" y="2066400"/>
            <a:ext cx="3017160" cy="328680"/>
          </a:xfrm>
          <a:prstGeom prst="rect">
            <a:avLst/>
          </a:prstGeom>
          <a:noFill/>
          <a:ln w="0">
            <a:noFill/>
          </a:ln>
        </p:spPr>
        <p:style>
          <a:lnRef idx="0"/>
          <a:fillRef idx="0"/>
          <a:effectRef idx="0"/>
          <a:fontRef idx="minor"/>
        </p:style>
        <p:txBody>
          <a:bodyPr lIns="0" rIns="0" tIns="0" bIns="0" anchor="ctr">
            <a:normAutofit fontScale="96666"/>
          </a:bodyPr>
          <a:p>
            <a:pPr defTabSz="914400">
              <a:lnSpc>
                <a:spcPct val="100000"/>
              </a:lnSpc>
              <a:tabLst>
                <a:tab algn="l" pos="0"/>
              </a:tabLst>
            </a:pPr>
            <a:r>
              <a:rPr b="1" lang="en-US" sz="2300" spc="-1" strike="noStrike">
                <a:solidFill>
                  <a:srgbClr val="f8fafc"/>
                </a:solidFill>
                <a:latin typeface="Aptos Display"/>
                <a:ea typeface="Aptos Display"/>
              </a:rPr>
              <a:t>XGB + threshold</a:t>
            </a:r>
            <a:endParaRPr b="0" lang="en-GB" sz="2300" spc="-1" strike="noStrike">
              <a:solidFill>
                <a:srgbClr val="ffffff"/>
              </a:solidFill>
              <a:latin typeface="Arial"/>
            </a:endParaRPr>
          </a:p>
        </p:txBody>
      </p:sp>
      <p:sp>
        <p:nvSpPr>
          <p:cNvPr id="1486" name="Text 11"/>
          <p:cNvSpPr/>
          <p:nvPr/>
        </p:nvSpPr>
        <p:spPr>
          <a:xfrm>
            <a:off x="978480" y="2496240"/>
            <a:ext cx="3017160" cy="301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1" strike="noStrike">
                <a:solidFill>
                  <a:srgbClr val="94a3b8"/>
                </a:solidFill>
                <a:latin typeface="Aptos"/>
                <a:ea typeface="Aptos"/>
              </a:rPr>
              <a:t>Best-F1 threshold: F1 0.5679; Clinical threshold: Recall 0.7805</a:t>
            </a:r>
            <a:endParaRPr b="0" lang="en-GB" sz="850" spc="-1" strike="noStrike">
              <a:solidFill>
                <a:srgbClr val="ffffff"/>
              </a:solidFill>
              <a:latin typeface="Arial"/>
            </a:endParaRPr>
          </a:p>
        </p:txBody>
      </p:sp>
      <p:sp>
        <p:nvSpPr>
          <p:cNvPr id="1487" name="Shape 12"/>
          <p:cNvSpPr/>
          <p:nvPr/>
        </p:nvSpPr>
        <p:spPr>
          <a:xfrm>
            <a:off x="4434840" y="1627560"/>
            <a:ext cx="3337200" cy="1261440"/>
          </a:xfrm>
          <a:prstGeom prst="roundRect">
            <a:avLst>
              <a:gd name="adj" fmla="val 8696"/>
            </a:avLst>
          </a:prstGeom>
          <a:solidFill>
            <a:srgbClr val="0b1a2e">
              <a:alpha val="95000"/>
            </a:srgbClr>
          </a:solidFill>
          <a:ln w="13970">
            <a:solidFill>
              <a:srgbClr val="f59e0b">
                <a:alpha val="6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488" name="Shape 13"/>
          <p:cNvSpPr/>
          <p:nvPr/>
        </p:nvSpPr>
        <p:spPr>
          <a:xfrm>
            <a:off x="4434840" y="1627560"/>
            <a:ext cx="72720" cy="1261440"/>
          </a:xfrm>
          <a:prstGeom prst="rect">
            <a:avLst/>
          </a:prstGeom>
          <a:solidFill>
            <a:srgbClr val="f59e0b"/>
          </a:solidFill>
          <a:ln w="12700">
            <a:solidFill>
              <a:srgbClr val="f59e0b"/>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1489" name="Text 14"/>
          <p:cNvSpPr/>
          <p:nvPr/>
        </p:nvSpPr>
        <p:spPr>
          <a:xfrm>
            <a:off x="4636080" y="1828800"/>
            <a:ext cx="301716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720" spc="-1" strike="noStrike">
                <a:solidFill>
                  <a:srgbClr val="94a3b8"/>
                </a:solidFill>
                <a:latin typeface="Aptos"/>
                <a:ea typeface="Aptos"/>
              </a:rPr>
              <a:t>MOST IMPORTANT INSIGHT</a:t>
            </a:r>
            <a:endParaRPr b="0" lang="en-GB" sz="720" spc="-1" strike="noStrike">
              <a:solidFill>
                <a:srgbClr val="ffffff"/>
              </a:solidFill>
              <a:latin typeface="Arial"/>
            </a:endParaRPr>
          </a:p>
        </p:txBody>
      </p:sp>
      <p:sp>
        <p:nvSpPr>
          <p:cNvPr id="1490" name="Text 15"/>
          <p:cNvSpPr/>
          <p:nvPr/>
        </p:nvSpPr>
        <p:spPr>
          <a:xfrm>
            <a:off x="4636080" y="2066400"/>
            <a:ext cx="3017160" cy="328680"/>
          </a:xfrm>
          <a:prstGeom prst="rect">
            <a:avLst/>
          </a:prstGeom>
          <a:noFill/>
          <a:ln w="0">
            <a:noFill/>
          </a:ln>
        </p:spPr>
        <p:style>
          <a:lnRef idx="0"/>
          <a:fillRef idx="0"/>
          <a:effectRef idx="0"/>
          <a:fontRef idx="minor"/>
        </p:style>
        <p:txBody>
          <a:bodyPr lIns="0" rIns="0" tIns="0" bIns="0" anchor="ctr">
            <a:normAutofit fontScale="77777"/>
          </a:bodyPr>
          <a:p>
            <a:pPr defTabSz="914400">
              <a:lnSpc>
                <a:spcPct val="100000"/>
              </a:lnSpc>
              <a:tabLst>
                <a:tab algn="l" pos="0"/>
              </a:tabLst>
            </a:pPr>
            <a:r>
              <a:rPr b="1" lang="en-US" sz="2300" spc="-1" strike="noStrike">
                <a:solidFill>
                  <a:srgbClr val="f8fafc"/>
                </a:solidFill>
                <a:latin typeface="Aptos Display"/>
                <a:ea typeface="Aptos Display"/>
              </a:rPr>
              <a:t>Accuracy is misleading</a:t>
            </a:r>
            <a:endParaRPr b="0" lang="en-GB" sz="2300" spc="-1" strike="noStrike">
              <a:solidFill>
                <a:srgbClr val="ffffff"/>
              </a:solidFill>
              <a:latin typeface="Arial"/>
            </a:endParaRPr>
          </a:p>
        </p:txBody>
      </p:sp>
      <p:sp>
        <p:nvSpPr>
          <p:cNvPr id="1491" name="Text 16"/>
          <p:cNvSpPr/>
          <p:nvPr/>
        </p:nvSpPr>
        <p:spPr>
          <a:xfrm>
            <a:off x="4636080" y="2496240"/>
            <a:ext cx="3017160" cy="301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1" strike="noStrike">
                <a:solidFill>
                  <a:srgbClr val="94a3b8"/>
                </a:solidFill>
                <a:latin typeface="Aptos"/>
                <a:ea typeface="Aptos"/>
              </a:rPr>
              <a:t>Best default accuracy 0.8863 still misses 58.5% of deaths in Voting Hard</a:t>
            </a:r>
            <a:endParaRPr b="0" lang="en-GB" sz="850" spc="-1" strike="noStrike">
              <a:solidFill>
                <a:srgbClr val="ffffff"/>
              </a:solidFill>
              <a:latin typeface="Arial"/>
            </a:endParaRPr>
          </a:p>
        </p:txBody>
      </p:sp>
      <p:sp>
        <p:nvSpPr>
          <p:cNvPr id="1492" name="Shape 17"/>
          <p:cNvSpPr/>
          <p:nvPr/>
        </p:nvSpPr>
        <p:spPr>
          <a:xfrm>
            <a:off x="8092440" y="1627560"/>
            <a:ext cx="3337200" cy="1261440"/>
          </a:xfrm>
          <a:prstGeom prst="roundRect">
            <a:avLst>
              <a:gd name="adj" fmla="val 8696"/>
            </a:avLst>
          </a:prstGeom>
          <a:solidFill>
            <a:srgbClr val="0b1a2e">
              <a:alpha val="95000"/>
            </a:srgbClr>
          </a:solidFill>
          <a:ln w="13970">
            <a:solidFill>
              <a:srgbClr val="f43f5e">
                <a:alpha val="65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493" name="Shape 18"/>
          <p:cNvSpPr/>
          <p:nvPr/>
        </p:nvSpPr>
        <p:spPr>
          <a:xfrm>
            <a:off x="8092440" y="1627560"/>
            <a:ext cx="72720" cy="1261440"/>
          </a:xfrm>
          <a:prstGeom prst="rect">
            <a:avLst/>
          </a:prstGeom>
          <a:solidFill>
            <a:srgbClr val="f43f5e"/>
          </a:solidFill>
          <a:ln w="12700">
            <a:solidFill>
              <a:srgbClr val="f43f5e"/>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494" name="Text 19"/>
          <p:cNvSpPr/>
          <p:nvPr/>
        </p:nvSpPr>
        <p:spPr>
          <a:xfrm>
            <a:off x="8293680" y="1828800"/>
            <a:ext cx="301716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720" spc="-1" strike="noStrike">
                <a:solidFill>
                  <a:srgbClr val="94a3b8"/>
                </a:solidFill>
                <a:latin typeface="Aptos"/>
                <a:ea typeface="Aptos"/>
              </a:rPr>
              <a:t>DEPLOYMENT CAVEAT</a:t>
            </a:r>
            <a:endParaRPr b="0" lang="en-GB" sz="720" spc="-1" strike="noStrike">
              <a:solidFill>
                <a:srgbClr val="ffffff"/>
              </a:solidFill>
              <a:latin typeface="Arial"/>
            </a:endParaRPr>
          </a:p>
        </p:txBody>
      </p:sp>
      <p:sp>
        <p:nvSpPr>
          <p:cNvPr id="1495" name="Text 20"/>
          <p:cNvSpPr/>
          <p:nvPr/>
        </p:nvSpPr>
        <p:spPr>
          <a:xfrm>
            <a:off x="8293680" y="2066400"/>
            <a:ext cx="3017160" cy="328680"/>
          </a:xfrm>
          <a:prstGeom prst="rect">
            <a:avLst/>
          </a:prstGeom>
          <a:noFill/>
          <a:ln w="0">
            <a:noFill/>
          </a:ln>
        </p:spPr>
        <p:style>
          <a:lnRef idx="0"/>
          <a:fillRef idx="0"/>
          <a:effectRef idx="0"/>
          <a:fontRef idx="minor"/>
        </p:style>
        <p:txBody>
          <a:bodyPr lIns="0" rIns="0" tIns="0" bIns="0" anchor="ctr">
            <a:normAutofit fontScale="96666"/>
          </a:bodyPr>
          <a:p>
            <a:pPr defTabSz="914400">
              <a:lnSpc>
                <a:spcPct val="100000"/>
              </a:lnSpc>
              <a:tabLst>
                <a:tab algn="l" pos="0"/>
              </a:tabLst>
            </a:pPr>
            <a:r>
              <a:rPr b="1" lang="en-US" sz="2300" spc="-1" strike="noStrike">
                <a:solidFill>
                  <a:srgbClr val="f8fafc"/>
                </a:solidFill>
                <a:latin typeface="Aptos Display"/>
                <a:ea typeface="Aptos Display"/>
              </a:rPr>
              <a:t>Validate first</a:t>
            </a:r>
            <a:endParaRPr b="0" lang="en-GB" sz="2300" spc="-1" strike="noStrike">
              <a:solidFill>
                <a:srgbClr val="ffffff"/>
              </a:solidFill>
              <a:latin typeface="Arial"/>
            </a:endParaRPr>
          </a:p>
        </p:txBody>
      </p:sp>
      <p:sp>
        <p:nvSpPr>
          <p:cNvPr id="1496" name="Text 21"/>
          <p:cNvSpPr/>
          <p:nvPr/>
        </p:nvSpPr>
        <p:spPr>
          <a:xfrm>
            <a:off x="8293680" y="2496240"/>
            <a:ext cx="3017160" cy="301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1" strike="noStrike">
                <a:solidFill>
                  <a:srgbClr val="94a3b8"/>
                </a:solidFill>
                <a:latin typeface="Aptos"/>
                <a:ea typeface="Aptos"/>
              </a:rPr>
              <a:t>Needs temporal split, external validation, calibration, and explainability</a:t>
            </a:r>
            <a:endParaRPr b="0" lang="en-GB" sz="850" spc="-1" strike="noStrike">
              <a:solidFill>
                <a:srgbClr val="ffffff"/>
              </a:solidFill>
              <a:latin typeface="Arial"/>
            </a:endParaRPr>
          </a:p>
        </p:txBody>
      </p:sp>
      <p:sp>
        <p:nvSpPr>
          <p:cNvPr id="1497" name="Shape 22"/>
          <p:cNvSpPr/>
          <p:nvPr/>
        </p:nvSpPr>
        <p:spPr>
          <a:xfrm>
            <a:off x="914400" y="3749040"/>
            <a:ext cx="10332360" cy="1416960"/>
          </a:xfrm>
          <a:prstGeom prst="roundRect">
            <a:avLst>
              <a:gd name="adj" fmla="val 9677"/>
            </a:avLst>
          </a:prstGeom>
          <a:solidFill>
            <a:srgbClr val="10243d"/>
          </a:solidFill>
          <a:ln w="12700">
            <a:solidFill>
              <a:srgbClr val="14b8a6">
                <a:alpha val="7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498" name="Text 23"/>
          <p:cNvSpPr/>
          <p:nvPr/>
        </p:nvSpPr>
        <p:spPr>
          <a:xfrm>
            <a:off x="1143000" y="3950280"/>
            <a:ext cx="987516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900" spc="-1" strike="noStrike">
                <a:solidFill>
                  <a:srgbClr val="14b8a6"/>
                </a:solidFill>
                <a:latin typeface="Aptos"/>
                <a:ea typeface="Aptos"/>
              </a:rPr>
              <a:t>Final message</a:t>
            </a:r>
            <a:endParaRPr b="0" lang="en-GB" sz="900" spc="-1" strike="noStrike">
              <a:solidFill>
                <a:srgbClr val="ffffff"/>
              </a:solidFill>
              <a:latin typeface="Arial"/>
            </a:endParaRPr>
          </a:p>
        </p:txBody>
      </p:sp>
      <p:sp>
        <p:nvSpPr>
          <p:cNvPr id="1499" name="Text 24"/>
          <p:cNvSpPr/>
          <p:nvPr/>
        </p:nvSpPr>
        <p:spPr>
          <a:xfrm>
            <a:off x="1143000" y="4316040"/>
            <a:ext cx="9875160" cy="502560"/>
          </a:xfrm>
          <a:prstGeom prst="rect">
            <a:avLst/>
          </a:prstGeom>
          <a:noFill/>
          <a:ln w="0">
            <a:noFill/>
          </a:ln>
        </p:spPr>
        <p:style>
          <a:lnRef idx="0"/>
          <a:fillRef idx="0"/>
          <a:effectRef idx="0"/>
          <a:fontRef idx="minor"/>
        </p:style>
        <p:txBody>
          <a:bodyPr lIns="0" rIns="0" tIns="0" bIns="0" anchor="ctr">
            <a:normAutofit fontScale="68333"/>
          </a:bodyPr>
          <a:p>
            <a:pPr algn="ctr" defTabSz="914400">
              <a:lnSpc>
                <a:spcPct val="100000"/>
              </a:lnSpc>
              <a:tabLst>
                <a:tab algn="l" pos="0"/>
              </a:tabLst>
            </a:pPr>
            <a:r>
              <a:rPr b="1" lang="en-US" sz="1620" spc="-1" strike="noStrike">
                <a:solidFill>
                  <a:srgbClr val="f8fafc"/>
                </a:solidFill>
                <a:latin typeface="Aptos Display"/>
                <a:ea typeface="Aptos Display"/>
              </a:rPr>
              <a:t>The project successfully moves from raw MI data to a defensible, numerically justified final model recommendation: threshold-tuned XGBoost for clinical screening, supported by rigorous EDA, leakage control, cross-validation, feature selection, robustness testing, and honest limitation analysis.</a:t>
            </a:r>
            <a:endParaRPr b="0" lang="en-GB" sz="1620" spc="-1" strike="noStrike">
              <a:solidFill>
                <a:srgbClr val="ffffff"/>
              </a:solidFill>
              <a:latin typeface="Arial"/>
            </a:endParaRPr>
          </a:p>
        </p:txBody>
      </p:sp>
      <p:sp>
        <p:nvSpPr>
          <p:cNvPr id="1500" name="Text 25"/>
          <p:cNvSpPr/>
          <p:nvPr/>
        </p:nvSpPr>
        <p:spPr>
          <a:xfrm>
            <a:off x="777240" y="5989320"/>
            <a:ext cx="10789560" cy="292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000" spc="-1" strike="noStrike">
                <a:solidFill>
                  <a:srgbClr val="f8fafc"/>
                </a:solidFill>
                <a:latin typeface="Aptos Display"/>
                <a:ea typeface="Aptos Display"/>
              </a:rPr>
              <a:t>Thank you</a:t>
            </a:r>
            <a:endParaRPr b="0" lang="en-GB" sz="2000" spc="-1" strike="noStrike">
              <a:solidFill>
                <a:srgbClr val="ffffff"/>
              </a:solidFill>
              <a:latin typeface="Arial"/>
            </a:endParaRPr>
          </a:p>
        </p:txBody>
      </p:sp>
      <p:sp>
        <p:nvSpPr>
          <p:cNvPr id="1501" name="Shape 26"/>
          <p:cNvSpPr/>
          <p:nvPr/>
        </p:nvSpPr>
        <p:spPr>
          <a:xfrm>
            <a:off x="502920" y="6555960"/>
            <a:ext cx="11201400" cy="360"/>
          </a:xfrm>
          <a:prstGeom prst="line">
            <a:avLst/>
          </a:prstGeom>
          <a:ln w="7620">
            <a:solidFill>
              <a:srgbClr val="334155">
                <a:alpha val="60000"/>
              </a:srgbClr>
            </a:solidFill>
            <a:round/>
          </a:ln>
        </p:spPr>
        <p:style>
          <a:lnRef idx="0"/>
          <a:fillRef idx="0"/>
          <a:effectRef idx="0"/>
          <a:fontRef idx="minor"/>
        </p:style>
        <p:txBody>
          <a:bodyPr lIns="90000" rIns="90000" tIns="-44640" bIns="-44640" anchor="t" anchorCtr="1">
            <a:noAutofit/>
          </a:bodyPr>
          <a:p>
            <a:endParaRPr b="0" lang="en-GB" sz="1800" spc="-1" strike="noStrike">
              <a:solidFill>
                <a:srgbClr val="ffffff"/>
              </a:solidFill>
              <a:latin typeface="Arial"/>
            </a:endParaRPr>
          </a:p>
        </p:txBody>
      </p:sp>
      <p:sp>
        <p:nvSpPr>
          <p:cNvPr id="1502" name="Text 27"/>
          <p:cNvSpPr/>
          <p:nvPr/>
        </p:nvSpPr>
        <p:spPr>
          <a:xfrm>
            <a:off x="530280" y="6602040"/>
            <a:ext cx="6217560" cy="145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650" spc="-1" strike="noStrike">
                <a:solidFill>
                  <a:srgbClr val="94a3b8"/>
                </a:solidFill>
                <a:latin typeface="Aptos"/>
                <a:ea typeface="Aptos"/>
              </a:rPr>
              <a:t>Clinical Outcome Prediction • Myocardial Infarction Complications</a:t>
            </a:r>
            <a:endParaRPr b="0" lang="en-GB" sz="650" spc="-1" strike="noStrike">
              <a:solidFill>
                <a:srgbClr val="ffffff"/>
              </a:solidFill>
              <a:latin typeface="Arial"/>
            </a:endParaRPr>
          </a:p>
        </p:txBody>
      </p:sp>
      <p:sp>
        <p:nvSpPr>
          <p:cNvPr id="1503" name="Text 28"/>
          <p:cNvSpPr/>
          <p:nvPr/>
        </p:nvSpPr>
        <p:spPr>
          <a:xfrm>
            <a:off x="11201400" y="6565320"/>
            <a:ext cx="502560" cy="2282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750" spc="-1" strike="noStrike">
                <a:solidFill>
                  <a:srgbClr val="94a3b8"/>
                </a:solidFill>
                <a:latin typeface="Aptos"/>
                <a:ea typeface="Aptos"/>
              </a:rPr>
              <a:t>20</a:t>
            </a:r>
            <a:endParaRPr b="0" lang="en-GB" sz="7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01f"/>
        </a:solidFill>
      </p:bgPr>
    </p:bg>
    <p:spTree>
      <p:nvGrpSpPr>
        <p:cNvPr id="1" name=""/>
        <p:cNvGrpSpPr/>
        <p:nvPr/>
      </p:nvGrpSpPr>
      <p:grpSpPr>
        <a:xfrm>
          <a:off x="0" y="0"/>
          <a:ext cx="0" cy="0"/>
          <a:chOff x="0" y="0"/>
          <a:chExt cx="0" cy="0"/>
        </a:xfrm>
      </p:grpSpPr>
      <p:sp>
        <p:nvSpPr>
          <p:cNvPr id="1504" name="Shape 0"/>
          <p:cNvSpPr/>
          <p:nvPr/>
        </p:nvSpPr>
        <p:spPr>
          <a:xfrm>
            <a:off x="0" y="0"/>
            <a:ext cx="12191400" cy="6857640"/>
          </a:xfrm>
          <a:prstGeom prst="rect">
            <a:avLst/>
          </a:prstGeom>
          <a:solidFill>
            <a:srgbClr val="06101f"/>
          </a:solidFill>
          <a:ln w="12700">
            <a:solidFill>
              <a:srgbClr val="06101f"/>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505" name="Shape 1"/>
          <p:cNvSpPr/>
          <p:nvPr/>
        </p:nvSpPr>
        <p:spPr>
          <a:xfrm>
            <a:off x="0" y="0"/>
            <a:ext cx="12191400" cy="6857640"/>
          </a:xfrm>
          <a:prstGeom prst="rect">
            <a:avLst/>
          </a:prstGeom>
          <a:solidFill>
            <a:srgbClr val="081629">
              <a:alpha val="85000"/>
            </a:srgbClr>
          </a:solidFill>
          <a:ln w="12700">
            <a:solidFill>
              <a:srgbClr val="081629">
                <a:alpha val="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506" name="Shape 2"/>
          <p:cNvSpPr/>
          <p:nvPr/>
        </p:nvSpPr>
        <p:spPr>
          <a:xfrm>
            <a:off x="-1554480" y="-1737360"/>
            <a:ext cx="5486040" cy="5486040"/>
          </a:xfrm>
          <a:prstGeom prst="arc">
            <a:avLst>
              <a:gd name="adj1" fmla="val 16200000"/>
              <a:gd name="adj2" fmla="val 0"/>
            </a:avLst>
          </a:prstGeom>
          <a:noFill/>
          <a:ln w="13970">
            <a:solidFill>
              <a:srgbClr val="14b8a6">
                <a:alpha val="30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507" name="Shape 3"/>
          <p:cNvSpPr/>
          <p:nvPr/>
        </p:nvSpPr>
        <p:spPr>
          <a:xfrm>
            <a:off x="7680960" y="3840480"/>
            <a:ext cx="5486040" cy="5486040"/>
          </a:xfrm>
          <a:prstGeom prst="arc">
            <a:avLst>
              <a:gd name="adj1" fmla="val 16200000"/>
              <a:gd name="adj2" fmla="val 0"/>
            </a:avLst>
          </a:prstGeom>
          <a:noFill/>
          <a:ln w="12700">
            <a:solidFill>
              <a:srgbClr val="f59e0b">
                <a:alpha val="22000"/>
              </a:srgbClr>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508" name="Text 4"/>
          <p:cNvSpPr/>
          <p:nvPr/>
        </p:nvSpPr>
        <p:spPr>
          <a:xfrm>
            <a:off x="567000" y="347400"/>
            <a:ext cx="594324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50" spc="-1" strike="noStrike">
                <a:solidFill>
                  <a:srgbClr val="14b8a6"/>
                </a:solidFill>
                <a:latin typeface="Aptos"/>
                <a:ea typeface="Aptos"/>
              </a:rPr>
              <a:t>BACKUP SLIDE</a:t>
            </a:r>
            <a:endParaRPr b="0" lang="en-GB" sz="850" spc="-1" strike="noStrike">
              <a:solidFill>
                <a:srgbClr val="ffffff"/>
              </a:solidFill>
              <a:latin typeface="Arial"/>
            </a:endParaRPr>
          </a:p>
        </p:txBody>
      </p:sp>
      <p:sp>
        <p:nvSpPr>
          <p:cNvPr id="1509" name="Text 5"/>
          <p:cNvSpPr/>
          <p:nvPr/>
        </p:nvSpPr>
        <p:spPr>
          <a:xfrm>
            <a:off x="548640" y="658440"/>
            <a:ext cx="10926720" cy="5940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400" spc="-1" strike="noStrike">
                <a:solidFill>
                  <a:srgbClr val="f8fafc"/>
                </a:solidFill>
                <a:latin typeface="Aptos Display"/>
                <a:ea typeface="Aptos Display"/>
              </a:rPr>
              <a:t>Detailed ROC curves and full confusion matrices</a:t>
            </a:r>
            <a:endParaRPr b="0" lang="en-GB" sz="2400" spc="-1" strike="noStrike">
              <a:solidFill>
                <a:srgbClr val="ffffff"/>
              </a:solidFill>
              <a:latin typeface="Arial"/>
            </a:endParaRPr>
          </a:p>
        </p:txBody>
      </p:sp>
      <p:sp>
        <p:nvSpPr>
          <p:cNvPr id="1510" name="Text 6"/>
          <p:cNvSpPr/>
          <p:nvPr/>
        </p:nvSpPr>
        <p:spPr>
          <a:xfrm>
            <a:off x="567000" y="1216080"/>
            <a:ext cx="1051524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50" spc="-1" strike="noStrike">
                <a:solidFill>
                  <a:srgbClr val="94a3b8"/>
                </a:solidFill>
                <a:latin typeface="Aptos"/>
                <a:ea typeface="Aptos"/>
              </a:rPr>
              <a:t>Use only if the professor asks for additional visual evidence during Q&amp;A.</a:t>
            </a:r>
            <a:endParaRPr b="0" lang="en-GB" sz="1050" spc="-1" strike="noStrike">
              <a:solidFill>
                <a:srgbClr val="ffffff"/>
              </a:solidFill>
              <a:latin typeface="Arial"/>
            </a:endParaRPr>
          </a:p>
        </p:txBody>
      </p:sp>
      <p:sp>
        <p:nvSpPr>
          <p:cNvPr id="1511" name="Shape 7"/>
          <p:cNvSpPr/>
          <p:nvPr/>
        </p:nvSpPr>
        <p:spPr>
          <a:xfrm>
            <a:off x="658440" y="1600200"/>
            <a:ext cx="5303160" cy="4480200"/>
          </a:xfrm>
          <a:prstGeom prst="roundRect">
            <a:avLst>
              <a:gd name="adj" fmla="val 2449"/>
            </a:avLst>
          </a:prstGeom>
          <a:solidFill>
            <a:srgbClr val="ffffff">
              <a:alpha val="5000"/>
            </a:srgbClr>
          </a:solidFill>
          <a:ln w="10160">
            <a:solidFill>
              <a:srgbClr val="334155">
                <a:alpha val="65000"/>
              </a:srgbClr>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pic>
        <p:nvPicPr>
          <p:cNvPr id="1512" name="Image 0" descr="/mnt/data/mi_ml_assets/phase5_roc_all.png"/>
          <p:cNvPicPr/>
          <p:nvPr/>
        </p:nvPicPr>
        <p:blipFill>
          <a:blip r:embed="rId1"/>
          <a:stretch/>
        </p:blipFill>
        <p:spPr>
          <a:xfrm>
            <a:off x="658440" y="1922760"/>
            <a:ext cx="5303160" cy="3835440"/>
          </a:xfrm>
          <a:prstGeom prst="rect">
            <a:avLst/>
          </a:prstGeom>
          <a:ln w="0">
            <a:noFill/>
          </a:ln>
          <a:effectLst>
            <a:outerShdw algn="bl" blurRad="25560" dir="2700000" dist="50402" kx="0" ky="0" rotWithShape="0" sx="100000" sy="100000">
              <a:srgbClr val="000000">
                <a:alpha val="25000"/>
              </a:srgbClr>
            </a:outerShdw>
          </a:effectLst>
        </p:spPr>
      </p:pic>
      <p:sp>
        <p:nvSpPr>
          <p:cNvPr id="1513" name="Shape 8"/>
          <p:cNvSpPr/>
          <p:nvPr/>
        </p:nvSpPr>
        <p:spPr>
          <a:xfrm>
            <a:off x="6217920" y="1600200"/>
            <a:ext cx="5303160" cy="4480200"/>
          </a:xfrm>
          <a:prstGeom prst="roundRect">
            <a:avLst>
              <a:gd name="adj" fmla="val 2449"/>
            </a:avLst>
          </a:prstGeom>
          <a:solidFill>
            <a:srgbClr val="ffffff">
              <a:alpha val="5000"/>
            </a:srgbClr>
          </a:solidFill>
          <a:ln w="10160">
            <a:solidFill>
              <a:srgbClr val="334155">
                <a:alpha val="65000"/>
              </a:srgbClr>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pic>
        <p:nvPicPr>
          <p:cNvPr id="1514" name="Image 1" descr="/mnt/data/mi_ml_assets/phase5_confusion_all.png"/>
          <p:cNvPicPr/>
          <p:nvPr/>
        </p:nvPicPr>
        <p:blipFill>
          <a:blip r:embed="rId2"/>
          <a:stretch/>
        </p:blipFill>
        <p:spPr>
          <a:xfrm>
            <a:off x="6217920" y="2786760"/>
            <a:ext cx="5303160" cy="2107080"/>
          </a:xfrm>
          <a:prstGeom prst="rect">
            <a:avLst/>
          </a:prstGeom>
          <a:ln w="0">
            <a:noFill/>
          </a:ln>
          <a:effectLst>
            <a:outerShdw algn="bl" blurRad="25560" dir="2700000" dist="50402" kx="0" ky="0" rotWithShape="0" sx="100000" sy="100000">
              <a:srgbClr val="000000">
                <a:alpha val="25000"/>
              </a:srgbClr>
            </a:outerShdw>
          </a:effectLst>
        </p:spPr>
      </p:pic>
      <p:sp>
        <p:nvSpPr>
          <p:cNvPr id="1515" name="Shape 9"/>
          <p:cNvSpPr/>
          <p:nvPr/>
        </p:nvSpPr>
        <p:spPr>
          <a:xfrm>
            <a:off x="502920" y="6555960"/>
            <a:ext cx="11201400" cy="360"/>
          </a:xfrm>
          <a:prstGeom prst="line">
            <a:avLst/>
          </a:prstGeom>
          <a:ln w="7620">
            <a:solidFill>
              <a:srgbClr val="334155">
                <a:alpha val="60000"/>
              </a:srgbClr>
            </a:solidFill>
            <a:round/>
          </a:ln>
        </p:spPr>
        <p:style>
          <a:lnRef idx="0"/>
          <a:fillRef idx="0"/>
          <a:effectRef idx="0"/>
          <a:fontRef idx="minor"/>
        </p:style>
        <p:txBody>
          <a:bodyPr lIns="90000" rIns="90000" tIns="-44640" bIns="-44640" anchor="t" anchorCtr="1">
            <a:noAutofit/>
          </a:bodyPr>
          <a:p>
            <a:endParaRPr b="0" lang="en-GB" sz="1800" spc="-1" strike="noStrike">
              <a:solidFill>
                <a:srgbClr val="ffffff"/>
              </a:solidFill>
              <a:latin typeface="Arial"/>
            </a:endParaRPr>
          </a:p>
        </p:txBody>
      </p:sp>
      <p:sp>
        <p:nvSpPr>
          <p:cNvPr id="1516" name="Text 10"/>
          <p:cNvSpPr/>
          <p:nvPr/>
        </p:nvSpPr>
        <p:spPr>
          <a:xfrm>
            <a:off x="530280" y="6602040"/>
            <a:ext cx="6217560" cy="145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650" spc="-1" strike="noStrike">
                <a:solidFill>
                  <a:srgbClr val="94a3b8"/>
                </a:solidFill>
                <a:latin typeface="Aptos"/>
                <a:ea typeface="Aptos"/>
              </a:rPr>
              <a:t>Clinical Outcome Prediction • Myocardial Infarction Complications</a:t>
            </a:r>
            <a:endParaRPr b="0" lang="en-GB" sz="650" spc="-1" strike="noStrike">
              <a:solidFill>
                <a:srgbClr val="ffffff"/>
              </a:solidFill>
              <a:latin typeface="Arial"/>
            </a:endParaRPr>
          </a:p>
        </p:txBody>
      </p:sp>
      <p:sp>
        <p:nvSpPr>
          <p:cNvPr id="1517" name="Text 11"/>
          <p:cNvSpPr/>
          <p:nvPr/>
        </p:nvSpPr>
        <p:spPr>
          <a:xfrm>
            <a:off x="11201400" y="6565320"/>
            <a:ext cx="502560" cy="2282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750" spc="-1" strike="noStrike">
                <a:solidFill>
                  <a:srgbClr val="94a3b8"/>
                </a:solidFill>
                <a:latin typeface="Aptos"/>
                <a:ea typeface="Aptos"/>
              </a:rPr>
              <a:t>21</a:t>
            </a:r>
            <a:endParaRPr b="0" lang="en-GB" sz="7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pitchFamily="0" charset="1"/>
        <a:ea typeface=""/>
        <a:cs typeface=""/>
      </a:majorFont>
      <a:minorFont>
        <a:latin typeface="Apto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TotalTime>
  <Application>LibreOffice/24.2.4.2$Windows_X86_64 LibreOffice_project/51a6219feb6075d9a4c46691dcfe0cd9c4fff3c2</Application>
  <AppVersion>15.0000</AppVersion>
  <Words>0</Words>
  <Paragraphs>0</Paragraphs>
  <Company>Effat University</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2026-04-25T20:03:48Z</dcterms:created>
  <dc:creator>OpenAI</dc:creator>
  <dc:description/>
  <dc:language>en-GB</dc:language>
  <cp:lastModifiedBy/>
  <dcterms:modified xsi:type="dcterms:W3CDTF">2026-04-25T23:37:16Z</dcterms:modified>
  <cp:revision>2</cp:revision>
  <dc:subject>Machine Learning Final Project Presentation</dc:subject>
  <dc:title>Clinical Outcome Prediction — Myocardial Infarction Complications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21</vt:i4>
  </property>
  <property fmtid="{D5CDD505-2E9C-101B-9397-08002B2CF9AE}" pid="3" name="PresentationFormat">
    <vt:lpwstr>On-screen Show (16:9)</vt:lpwstr>
  </property>
  <property fmtid="{D5CDD505-2E9C-101B-9397-08002B2CF9AE}" pid="4" name="Slides">
    <vt:i4>21</vt:i4>
  </property>
</Properties>
</file>